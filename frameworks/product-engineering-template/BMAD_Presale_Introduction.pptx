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 snapToObjects="1">
      <p:cViewPr varScale="1">
        <p:scale>
          <a:sx n="126" d="100"/>
          <a:sy n="126" d="100"/>
        </p:scale>
        <p:origin x="232" y="2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2194560"/>
            <a:ext cx="109728" cy="246888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B400"/>
                </a:solidFill>
                <a:latin typeface="Calibri"/>
              </a:rPr>
              <a:t>FOR PRESALE &amp; SOLUTIONS CONSULTING TEAMS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Agentic AI cho Team Tư vấn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CADCFC"/>
                </a:solidFill>
                <a:latin typeface="Calibri"/>
              </a:rPr>
              <a:t>Đề xuất một framework đa-agent dựa trên triết lý BMAD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160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F4B400"/>
                </a:solidFill>
                <a:latin typeface="Calibri"/>
              </a:rPr>
              <a:t>BMAD = Breakthrough Method for Agile AI-Driven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120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1">
                <a:solidFill>
                  <a:srgbClr val="CADCFC"/>
                </a:solidFill>
                <a:latin typeface="Calibri"/>
              </a:rPr>
              <a:t>Triết lý · Cơ chế · Ứng dụng thực tế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436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CADCFC"/>
                </a:solidFill>
                <a:latin typeface="Calibri"/>
              </a:rPr>
              <a:t>Tuan M. Pham   · 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Bối cảnh &amp; người trình bày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291840" cy="31089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F4B400"/>
                </a:solidFill>
                <a:latin typeface="Calibri"/>
              </a:rPr>
              <a:t>NGƯỜI TRÌNH BÀY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1E2761"/>
                </a:solidFill>
                <a:latin typeface="Calibri"/>
              </a:rPr>
              <a:t>Tuan M. Pham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666666"/>
                </a:solidFill>
                <a:latin typeface="Calibri"/>
              </a:rPr>
              <a:t>Product Engineer · AI Builder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71800"/>
            <a:ext cx="2926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Đã thử nghiệm một framework đa-agent</a:t>
            </a:r>
          </a:p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BMAD-inspired cho dự án thật.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463040"/>
            <a:ext cx="749807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dirty="0" err="1">
                <a:solidFill>
                  <a:srgbClr val="1E2761"/>
                </a:solidFill>
                <a:latin typeface="Calibri"/>
              </a:rPr>
              <a:t>Mục</a:t>
            </a:r>
            <a:r>
              <a:rPr lang="en-US" sz="1800" b="1" i="0" dirty="0">
                <a:solidFill>
                  <a:srgbClr val="1E2761"/>
                </a:solidFill>
                <a:latin typeface="Calibri"/>
              </a:rPr>
              <a:t> </a:t>
            </a:r>
            <a:r>
              <a:rPr lang="en-US" sz="1800" b="1" i="0" dirty="0" err="1">
                <a:solidFill>
                  <a:srgbClr val="1E2761"/>
                </a:solidFill>
                <a:latin typeface="Calibri"/>
              </a:rPr>
              <a:t>tiêu</a:t>
            </a:r>
            <a:r>
              <a:rPr lang="en-US" sz="1800" b="1" i="0" dirty="0">
                <a:solidFill>
                  <a:srgbClr val="1E2761"/>
                </a:solidFill>
                <a:latin typeface="Calibri"/>
              </a:rPr>
              <a:t> </a:t>
            </a:r>
            <a:r>
              <a:rPr lang="en-US" sz="1800" b="1" i="0" dirty="0" err="1">
                <a:solidFill>
                  <a:srgbClr val="1E2761"/>
                </a:solidFill>
                <a:latin typeface="Calibri"/>
              </a:rPr>
              <a:t>bài</a:t>
            </a:r>
            <a:r>
              <a:rPr lang="en-US" sz="1800" b="1" i="0" dirty="0">
                <a:solidFill>
                  <a:srgbClr val="1E2761"/>
                </a:solidFill>
                <a:latin typeface="Calibri"/>
              </a:rPr>
              <a:t> </a:t>
            </a:r>
            <a:r>
              <a:rPr lang="en-US" sz="1800" b="1" i="0" dirty="0" err="1">
                <a:solidFill>
                  <a:srgbClr val="1E2761"/>
                </a:solidFill>
                <a:latin typeface="Calibri"/>
              </a:rPr>
              <a:t>trình</a:t>
            </a:r>
            <a:r>
              <a:rPr lang="en-US" sz="1800" b="1" i="0" dirty="0">
                <a:solidFill>
                  <a:srgbClr val="1E2761"/>
                </a:solidFill>
                <a:latin typeface="Calibri"/>
              </a:rPr>
              <a:t> </a:t>
            </a:r>
            <a:r>
              <a:rPr lang="en-US" sz="1800" b="1" i="0" dirty="0" err="1">
                <a:solidFill>
                  <a:srgbClr val="1E2761"/>
                </a:solidFill>
                <a:latin typeface="Calibri"/>
              </a:rPr>
              <a:t>bày</a:t>
            </a:r>
            <a:endParaRPr sz="1800" b="1" i="0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06240" y="2011680"/>
            <a:ext cx="7498079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Team Tư vấn ngày càng phải xử lý nhiều dữ liệu, ràng buộc pháp lý, kiến trúc phức tạp.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AI hiện tại đa số được dùng như công cụ cá nhân — chưa khai thác sức mạnh đội ngũ.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Agentic AI cho phép xây dựng một “team chuyên gia ảo” phối hợp như team người thật.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Bài này mượn triết lý của BMAD (Breakthrough Method for Agile AI-Driven Development) để đề xuất framework cho Tư vấn.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▸  </a:t>
            </a:r>
            <a:r>
              <a:rPr sz="1500">
                <a:solidFill>
                  <a:srgbClr val="1A1A1A"/>
                </a:solidFill>
                <a:latin typeface="Calibri"/>
              </a:rPr>
              <a:t>Không đi sâu kỹ thuật — tập trung vào triết lý và cách vận hành.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Mục tiêu của bài trình bày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Sau buổi này, bạn sẽ…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73152" cy="2286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916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Hiểu Agentic AI là gì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33832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Phân biệt rõ AI hỗ trợ cá nhân (chatbot) và AI vận hành như một đội ngũ chuyên gia.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554480"/>
            <a:ext cx="365760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60" y="1554480"/>
            <a:ext cx="73152" cy="2286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6916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Hiểu BMAD &amp; triết lý multi-agent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331720"/>
            <a:ext cx="33832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Vì sao chia nhỏ vai trò, vì sao cần Orchestrator, vì sao cần lane discipline.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365760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554480"/>
            <a:ext cx="73152" cy="2286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69164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16916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Hình dung được cách build “team AI tư vấn”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31720"/>
            <a:ext cx="33832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Gồm Legal Expert, Data Expert, Solution Architect, BA… phối hợp giải bài toán.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05072"/>
            <a:ext cx="365760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4005072"/>
            <a:ext cx="73152" cy="2286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41422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14223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Biết các lựa chọn tooling thay thế tmux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82312"/>
            <a:ext cx="33832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Từ no-code (Claude Projects) đến custom web app — chọn theo độ chín của team.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4005072"/>
            <a:ext cx="365760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51960" y="4005072"/>
            <a:ext cx="73152" cy="2286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34840" y="41422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libr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414223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Hình dung mô hình làm việc tương lai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782312"/>
            <a:ext cx="33832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Một team có thể chỉ còn một human Team Leader, phần còn lại là agents.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4005072"/>
            <a:ext cx="365760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46720" y="4005072"/>
            <a:ext cx="73152" cy="2286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29600" y="4142232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libr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14223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Có lộ trình tự thử nghiệm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782312"/>
            <a:ext cx="33832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Vài bước đơn giản để bắt đầu áp dụng cho công việc presale của chính bạn.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4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Chương trình hôm nay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371600" cy="7132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62763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PHẦN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554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Agentic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288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Từ chatbot đến đội ngũ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6642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Slide 5-9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371600" cy="7132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45059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PHẦN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237744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Triết lý BMAD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65176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Specialization · Orchestration · Phase gates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48716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Slide 10-14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371600" cy="7132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327355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PHẦN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320040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Cơ chế hoạt động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4747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Cách 9 agents phối hợp trong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31012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Slide 15-19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93192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3931920"/>
            <a:ext cx="1371600" cy="7132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7200" y="409651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PHẦN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02336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Áp dụng cho team Tư vấn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11680" y="42976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Đề xuất team AI cho Presale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413308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Slide 20-28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5488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4754880"/>
            <a:ext cx="1371600" cy="7132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491947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PHẦN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8463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Lựa chọn công nghệ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1206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Thay tmux bằng gì cho team bạn?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495604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Slide 29-34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57784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7200" y="5577840"/>
            <a:ext cx="1371600" cy="7132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5742432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PHẦN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56692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Tương lai &amp; Lộ trình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5943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Mô hình team 1 người + lộ trình áp dụng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5779008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Slide 35-40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73152" cy="21031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B400"/>
                </a:solidFill>
                <a:latin typeface="Calibri"/>
              </a:rPr>
              <a:t>PHẦN 1 —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Từ Chatbot đến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Đội ngũ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Khi AI không chỉ là “trợ lý cá nhân” mà trở thành một team biết phối hợp.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5 / 40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6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Agentic AI là gì?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Một câu định nghĩa ngắn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Agentic AI là AI có thể tự lập kế hoạch, gọi công cụ,</a:t>
            </a:r>
          </a:p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phối hợp với AI khác, và hoàn thành công việc nhiều bước — không chỉ trả lời.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383280"/>
            <a:ext cx="3566160" cy="23774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3383280"/>
            <a:ext cx="356616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45643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Tự ra quyết định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32918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Quyết định bước tiếp theo dựa trên ngữ cảnh, không cần human chỉ từng bước.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3383280"/>
            <a:ext cx="3566160" cy="23774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97680" y="3383280"/>
            <a:ext cx="356616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345643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Dùng công cụ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023360"/>
            <a:ext cx="32918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Đọc file, gọi API, chạy code, tra cứu web — như một nhân viên thật.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20" y="3383280"/>
            <a:ext cx="3566160" cy="23774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3383280"/>
            <a:ext cx="356616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3456432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Phối hợp đa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23360"/>
            <a:ext cx="32918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Nhiều agents đóng vai chuyên gia khác nhau, làm việc trên cùng một bài toán.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1">
                <a:solidFill>
                  <a:srgbClr val="F4B400"/>
                </a:solidFill>
                <a:latin typeface="Calibri"/>
              </a:rPr>
              <a:t>Khác chatbot: chatbot trả lời 1 câu. Agent hoàn thành 1 công việc.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7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Chat-AI vs Agentic-AI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86400" cy="64008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CHAT-AI  (ChatGPT, Claude.ai)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00" cy="42062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9377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Bạn hỏi → AI trả lời.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Mỗi lượt là một câu trả lời độc lập.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Không tự gọi công cụ trừ khi bạn yêu cầu rõ.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Khó duy trì context cho task nhiều bước.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Là “trợ lý cá nhân” của bạn.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666666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Phù hợp: hỏi nhanh, viết draft ngắn.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6400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AGENTIC-AI  (BMAD, CrewAI, LangGraph)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011680"/>
            <a:ext cx="5486400" cy="42062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194560"/>
            <a:ext cx="49377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4B400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Bạn giao mục tiêu → AI tự chia bước.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4B400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Nhiều vai trò cùng làm việc trên cùng project.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4B400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Tự đọc file, chạy code, gọi API.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4B400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Có Orchestrator điều phối — như team lead.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4B400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Là một “đội ngũ chuyên gia ảo”.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F4B400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Phù hợp: dự án nhiều ngày, nhiều artifact.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1">
                <a:solidFill>
                  <a:srgbClr val="1E2761"/>
                </a:solidFill>
                <a:latin typeface="Calibri"/>
              </a:rPr>
              <a:t>Một bên là “công cụ”. Một bên là “đội ngũ”.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8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4 cấp độ trưởng thành của AI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00584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0992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4B400"/>
                </a:solidFill>
                <a:latin typeface="Calibri"/>
              </a:rPr>
              <a:t>L1</a:t>
            </a:r>
          </a:p>
        </p:txBody>
      </p:sp>
      <p:sp>
        <p:nvSpPr>
          <p:cNvPr id="8" name="Rectangle 7"/>
          <p:cNvSpPr/>
          <p:nvPr/>
        </p:nvSpPr>
        <p:spPr>
          <a:xfrm>
            <a:off x="1600200" y="1417320"/>
            <a:ext cx="10058400" cy="10058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783080" y="152704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87452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Hỏi-đáp 1 lượt. Bạn copy-paste kết quả thủ công.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70992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  <a:latin typeface="Calibri"/>
              </a:rPr>
              <a:t>Ví dụ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192024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ChatGPT, Claude.ai trên web.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06040"/>
            <a:ext cx="100584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89864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4B400"/>
                </a:solidFill>
                <a:latin typeface="Calibri"/>
              </a:rPr>
              <a:t>L2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00200" y="2606040"/>
            <a:ext cx="10058400" cy="10058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83080" y="271576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Tool-using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06324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AI tự gọi tool (search, code, file). Vẫn 1 phiên.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89864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  <a:latin typeface="Calibri"/>
              </a:rPr>
              <a:t>Ví dụ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0896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Claude với MCP, ChatGPT với Custom GPT.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794760"/>
            <a:ext cx="100584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" y="408736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4B400"/>
                </a:solidFill>
                <a:latin typeface="Calibri"/>
              </a:rPr>
              <a:t>L3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3794760"/>
            <a:ext cx="10058400" cy="10058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83080" y="390448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Single-agent autonomous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83080" y="425196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AI tự lên kế hoạch nhiều bước, tự thực thi cho đến khi xong.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08736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  <a:latin typeface="Calibri"/>
              </a:rPr>
              <a:t>Ví dụ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29768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Claude Code, Cursor agent, Devin.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983480"/>
            <a:ext cx="1005840" cy="10058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" y="5276088"/>
            <a:ext cx="1005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>
                <a:solidFill>
                  <a:srgbClr val="F4B400"/>
                </a:solidFill>
                <a:latin typeface="Calibri"/>
              </a:rPr>
              <a:t>L4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00200" y="4983480"/>
            <a:ext cx="10058400" cy="10058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83080" y="509320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Multi-agent 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83080" y="544068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Nhiều agent đóng vai khác nhau, phối hợp qua Orchestrator.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27608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666666"/>
                </a:solidFill>
                <a:latin typeface="Calibri"/>
              </a:rPr>
              <a:t>Ví dụ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4864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1A1A1A"/>
                </a:solidFill>
                <a:latin typeface="Calibri"/>
              </a:rPr>
              <a:t>BMAD framework, CrewAI, LangGraph, AutoGen.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9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Vì sao Team Presale cần quan tâm?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4B400"/>
                </a:solidFill>
                <a:latin typeface="Calibri"/>
              </a:rPr>
              <a:t>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8191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Tốc độ phản hồi RFP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3429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Một RFP 50 trang có thể được phân tích, mapping yêu cầu, drafted solution trong vài giờ thay vì vài ngày.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417320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62272" y="15270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4B400"/>
                </a:solidFill>
                <a:latin typeface="Calibri"/>
              </a:rPr>
              <a:t>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58191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Đa chuyên môn cùng lúc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194560"/>
            <a:ext cx="3429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Pháp lý, data, kiến trúc, BA, pricing — agents cùng review một solution mà không cần xếp lịch họp.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4" y="1417320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84464" y="15270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4B400"/>
                </a:solidFill>
                <a:latin typeface="Calibri"/>
              </a:rP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33104" y="158191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Knowledge không bị mất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194560"/>
            <a:ext cx="3429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Mọi solution past đều có thể được “học lại” bởi agents. Không phụ thuộc trí nhớ cá nhân.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76472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4B400"/>
                </a:solidFill>
                <a:latin typeface="Calibri"/>
              </a:rPr>
              <a:t>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941064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Chất lượng đồng đều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2"/>
            <a:ext cx="3429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Junior trong team Presale có thể tạo proposal đạt chất lượng senior, nhờ team agents hỗ trợ.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776472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62272" y="3886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4B400"/>
                </a:solidFill>
                <a:latin typeface="Calibri"/>
              </a:rPr>
              <a:t>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3941064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Tiết kiệm chi phí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553712"/>
            <a:ext cx="3429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Một số đầu việc lặp đi lặp lại (compliance check, pricing draft) được agents xử lý.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1584" y="3776472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84464" y="3886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>
                <a:solidFill>
                  <a:srgbClr val="F4B400"/>
                </a:solidFill>
                <a:latin typeface="Calibri"/>
              </a:rPr>
              <a:t>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33104" y="3941064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Chuẩn bị cho cạnh tranh sắp tới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553712"/>
            <a:ext cx="342900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Các đối thủ cũng đang dùng AI. Câu hỏi không phải “có hay không”, mà là “mình tổ chức thế nào”.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73152" cy="21031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B400"/>
                </a:solidFill>
                <a:latin typeface="Calibri"/>
              </a:rPr>
              <a:t>PHẦN 2 — BMAD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Triết lý BMAD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Breakthrough Method for Agile AI-Driven Development — và 4 ý tưởng cốt lõi chúng ta sẽ mượn.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10 / 40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11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BMAD là gì?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12801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20700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4B400"/>
                </a:solidFill>
                <a:latin typeface="Calibri"/>
              </a:rPr>
              <a:t>BMAD = Breakthrough Method for Agile AI-Driven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2763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CADCFC"/>
                </a:solidFill>
                <a:latin typeface="Calibri"/>
              </a:rPr>
              <a:t>Open-source framework by Brian “BMad” Madison · github.com/bmad-code-org/BMAD-METHOD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Một trong những framework đa-agent đầu tiên cho phát triển phần mềm theo phong cách agentic.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E2761"/>
                </a:solidFill>
                <a:latin typeface="Calibri"/>
              </a:rPr>
              <a:t>4 đặc trưng cốt lõi của BMAD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17520"/>
            <a:ext cx="2743200" cy="29260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73152" cy="292608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154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154680"/>
            <a:ext cx="1874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Specialized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31920"/>
            <a:ext cx="24688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Mỗi agent có persona, kỹ năng, output rõ ràng — Analyst, PM, Architect, Scrum Master, Dev, QA, UX Expert…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9272" y="3017520"/>
            <a:ext cx="2743200" cy="29260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19272" y="3017520"/>
            <a:ext cx="73152" cy="292608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02152" y="3154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96512" y="3154680"/>
            <a:ext cx="1874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Two-Phase 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3931920"/>
            <a:ext cx="24688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Planning Phase (Analyst → PM → Architect tạo PRD, Architecture) rồi Development Phase (SM → Dev → QA).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81344" y="3017520"/>
            <a:ext cx="2743200" cy="29260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1344" y="3017520"/>
            <a:ext cx="73152" cy="292608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64224" y="3154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3154680"/>
            <a:ext cx="1874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Document-Driven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3931920"/>
            <a:ext cx="24688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Agents truyền nhau qua tài liệu chuẩn (PRD, Architecture, Story) — không chat ad-hoc.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43416" y="3017520"/>
            <a:ext cx="2743200" cy="29260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43416" y="3017520"/>
            <a:ext cx="73152" cy="292608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26296" y="315468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F4B400"/>
                </a:solidFill>
                <a:latin typeface="Calibr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0656" y="3154680"/>
            <a:ext cx="18745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Context-Engineered Stories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6296" y="3931920"/>
            <a:ext cx="2468880" cy="1920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Scrum Master agent biến plan thành story siêu chi tiết, đảm bảo Dev không “mất context” khi code.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Trong deck này, chúng ta MƯỢN 4 ý tưởng trên để đề xuất một framework cho team Tư vấn.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12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Triết lý BMAD #1 — Chuyên môn hoá &gt; Đa năng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00" cy="48463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486400" cy="54864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48132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Một “super AI” làm tất cả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Một prompt phải dài và mô tả mọi tình huống.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Khó debug khi sai — không biết “bước nào”.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Context bị chen lấn, AI dễ quên.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Không scale: việc to hơn không chia được.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666666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Không reuse: mỗi project là 1 prompt khổng lồ.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00" cy="48463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48640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0" y="1481328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Nhiều agents chuyên môn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03120"/>
            <a:ext cx="50292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4B400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Mỗi agent có 1 vai trò rõ ràng (PM, BA, BE, QA…).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4B400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Prompt từng agent ngắn, dễ chỉnh.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4B400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Debug được — biết “lỗi xảy ra ở agent nào”.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4B400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Scale được — thêm agent khi cần.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4B400"/>
                </a:solidFill>
                <a:latin typeface="Calibri"/>
              </a:rPr>
              <a:t>▸  </a:t>
            </a:r>
            <a:r>
              <a:rPr sz="1400">
                <a:solidFill>
                  <a:srgbClr val="1A1A1A"/>
                </a:solidFill>
                <a:latin typeface="Calibri"/>
              </a:rPr>
              <a:t>Reuse được — agents prompt có thể dùng lại cho mọi project.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13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4 nguyên tắc chúng ta mượn từ BMAD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143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097280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4B400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554480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Một agent — một vai trò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965960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Không có “Universal Agent”. Mỗi agent có file prompt riêng, output riêng, lane riêng.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11247120" cy="1143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697480"/>
            <a:ext cx="1097280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4B400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834640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Orchestrator điều phối, không thực thi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3246120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Orchestrator chỉ ra quyết định: ai làm gì, khi nào, output nằm ở đâu. Không tự code, không tự test.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40"/>
            <a:ext cx="11247120" cy="1143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977640"/>
            <a:ext cx="1097280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429768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4B400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4114800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Phase gates — không nhảy cóc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526280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Discovery → Solution Design → Backlog → Implementation Plan → Build → Test → Delivery. Mỗi gate cần artifact pass.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257800"/>
            <a:ext cx="11247120" cy="1143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5257800"/>
            <a:ext cx="1097280" cy="1143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1097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F4B400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394960"/>
            <a:ext cx="97840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Mọi artifact đều là 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806440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PRD, design, code, test report, bug report — tất cả là file. Không nói miệng. Truy vết được toàn bộ.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14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Phase-gated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1428162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1428162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938528"/>
            <a:ext cx="142816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133672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383280"/>
            <a:ext cx="133672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Calibri"/>
              </a:rPr>
              <a:t>PM, BA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59682" y="1828800"/>
            <a:ext cx="1428162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59682" y="1828800"/>
            <a:ext cx="1428162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59682" y="1938528"/>
            <a:ext cx="142816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05402" y="2514600"/>
            <a:ext cx="133672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SOLUTION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5402" y="3383280"/>
            <a:ext cx="133672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Calibri"/>
              </a:rPr>
              <a:t>SA, UX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70724" y="1828800"/>
            <a:ext cx="1428162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770724" y="1828800"/>
            <a:ext cx="1428162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770724" y="1938528"/>
            <a:ext cx="142816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PHASE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6444" y="2514600"/>
            <a:ext cx="133672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BACKLOG &amp; SPEC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6444" y="3383280"/>
            <a:ext cx="133672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Calibri"/>
              </a:rPr>
              <a:t>PM, BA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81766" y="1828800"/>
            <a:ext cx="1428162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381766" y="1828800"/>
            <a:ext cx="1428162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381766" y="1938528"/>
            <a:ext cx="142816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7486" y="2514600"/>
            <a:ext cx="133672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IMPL.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7486" y="3383280"/>
            <a:ext cx="133672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Calibri"/>
              </a:rPr>
              <a:t>SA, BE, FE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2808" y="1828800"/>
            <a:ext cx="1428162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92808" y="1828800"/>
            <a:ext cx="1428162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92808" y="1938528"/>
            <a:ext cx="142816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38528" y="2514600"/>
            <a:ext cx="133672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BUILD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8528" y="3383280"/>
            <a:ext cx="133672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Calibri"/>
              </a:rPr>
              <a:t>BE, FE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03850" y="1828800"/>
            <a:ext cx="1428162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03850" y="1828800"/>
            <a:ext cx="1428162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03850" y="1938528"/>
            <a:ext cx="142816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PHASE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9570" y="2514600"/>
            <a:ext cx="133672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TEST &amp; 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9570" y="3383280"/>
            <a:ext cx="133672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Calibri"/>
              </a:rPr>
              <a:t>QA, BE/FE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14892" y="1828800"/>
            <a:ext cx="1428162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214892" y="1828800"/>
            <a:ext cx="1428162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14892" y="1938528"/>
            <a:ext cx="142816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PHASE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60612" y="2514600"/>
            <a:ext cx="133672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1E2761"/>
                </a:solidFill>
                <a:latin typeface="Calibri"/>
              </a:rPr>
              <a:t>DELIVERY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60612" y="3383280"/>
            <a:ext cx="133672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Calibri"/>
              </a:rPr>
              <a:t>DELIVERY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Giữa mỗi phase là một quality gate — chỉ qua khi artifact đã pass review.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5212080"/>
            <a:ext cx="7589520" cy="9144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60320" y="534924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Ví dụ: không thể vào BUILD nếu Implementation Plan chưa được Orchestrator approve.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5669280"/>
            <a:ext cx="7040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QA luôn có quyền veto một build — không pass test thì rollback, không release.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73152" cy="21031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B400"/>
                </a:solidFill>
                <a:latin typeface="Calibri"/>
              </a:rPr>
              <a:t>PHẦN 3 — CƠ CHẾ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9 Agents, 1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Ví dụ một implementation BMAD-inspired (PaneC) cho dev team — trước khi áp cho Tư vấn.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15 / 40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16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PaneC — một implementation BMAD-inspired cho dev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657600" cy="14173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40080" y="1691640"/>
            <a:ext cx="822960" cy="82296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Orches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581912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Orchestrator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8424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Điều phối toàn bộ, không thực thi.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417320"/>
            <a:ext cx="3657600" cy="14173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34840" y="169164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1581912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Product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98424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Discovery, scope, priority.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3657600" cy="14173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0" y="1691640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1581912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Business Analyst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1984248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Yêu cầu chi tiết, user story.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53512"/>
            <a:ext cx="3657600" cy="14173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0080" y="3227832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118104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Solution Architect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52044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Kiến trúc, kỹ thuật, ràng buộc.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2953512"/>
            <a:ext cx="3657600" cy="14173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34840" y="3227832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118104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UX Designer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52044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Flow, wireframe, design system.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2953512"/>
            <a:ext cx="3657600" cy="14173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229600" y="3227832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3118104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Backend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520440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API, database, business logic.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89704"/>
            <a:ext cx="3657600" cy="14173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0080" y="4764024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654296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5056632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UI, UX implement, integration.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0" y="4489704"/>
            <a:ext cx="3657600" cy="14173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434840" y="4764024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94960" y="4654296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Quality Assurance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94960" y="5056632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Test plan, bug report, retest.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4489704"/>
            <a:ext cx="3657600" cy="14173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229600" y="4764024"/>
            <a:ext cx="822960" cy="82296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654296"/>
            <a:ext cx="2423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Delivery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9720" y="5056632"/>
            <a:ext cx="24231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Release, port, dependency, env.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Mỗi agent là một file prompt + một LLM model. Orches và Deli là cấp “lead”.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17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Workflow: Discovery →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Một bài toán thật được “chuyền tay” qua các agents như thế nào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4B40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7276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Orches nhận brief từ human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920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Phân loại bài toán, tạo todo list, chọn agent phù hợp cho phase Discovery.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223113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4B400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4942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PM + BA cùng phase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9689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PM viết PRD, BA viết user story. Orches review artifact trước khi sang phase 1.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07792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4B400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260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SA + UX phase Solution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7355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SA propose architecture, UX vẽ wireframe. Orches kiểm tra consistency với PRD.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584448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4B400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0273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PM + BA refine backlog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5020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Chuẩn hoá ticket, định nghĩa acceptance criteria. Implementation plan được phê duyệt.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261104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4B400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79392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BE + FE vào phase 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62686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Code song song theo plan. Mỗi commit có thể được QA pick lên test sớm.</a:t>
            </a:r>
          </a:p>
        </p:txBody>
      </p:sp>
      <p:sp>
        <p:nvSpPr>
          <p:cNvPr id="22" name="Oval 21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4B400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95604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QA test, viết BUG_REPORT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035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Bug được retest. Chỉ khi VERDICT: PASS, phase 5 mới đóng.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5614416"/>
            <a:ext cx="502920" cy="5029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F4B400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32704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Deli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980176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Kiểm port, dependency, env. Đóng gói release. Báo cáo cho Orches.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18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Agents giao tiếp với nhau như thế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Câu trả lời ngắn: qua file + qua Orchestrator. Không qua chat trực tiếp.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91440" cy="7772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Tất cả là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64592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PRD.md, ARCHITECTURE.md, BACKLOG.md, BUG_REPORT.md, TEST_REPORT.md. Mỗi agent đọc/ghi file của mình.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1124712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91440" cy="7772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Orchestrator là “message bus”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56032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Khi BE cần input từ SA, BE ghi câu hỏi vào INBOX.md → Orches phân phối → SA trả lời.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83280"/>
            <a:ext cx="1124712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7200" y="3383280"/>
            <a:ext cx="91440" cy="7772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4747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Lane discipline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47472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Mỗi agent chỉ được ghi vào lane của mình. PM không được sửa code, BE không được sửa PRD.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97680"/>
            <a:ext cx="1124712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4297680"/>
            <a:ext cx="91440" cy="7772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Phase gate trước khi pass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38912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Trước khi sang phase mới, artifact phải pass review của Orches (hoặc QA cho test gate).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12080"/>
            <a:ext cx="1124712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5212080"/>
            <a:ext cx="91440" cy="7772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530352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Heartbeat &amp; auto-wake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5303520"/>
            <a:ext cx="6675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Agents im lặng quá lâu sẽ được Orches “gọi dậy” tự động — không ai bị bỏ quên.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19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Quality gates &amp; lane discipline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Quality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Mỗi phase có 1 artifact cần pass mới sang phase sau.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219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PRD pass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65176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91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Design pass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310896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1363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Backlog pass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56616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5661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935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Plan pass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" y="402336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0233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507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Build done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448056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4805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5079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TEST_REPORT: PASS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4937760"/>
            <a:ext cx="274320" cy="27432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4B400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651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Release 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3716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Lane discipline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Mỗi agent chỉ được ghi vào phạm vi file của mình.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19456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22402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docs/discovery/PRD.md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65176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2697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docs/discovery/USER_STORIES.md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10896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3154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docs/design/ARCHITECTURE.md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56616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UX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36118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docs/design/UX/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02336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40690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backend/, api/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48056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5262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frontend/, web/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93776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QA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9834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docs/qa/, TEST_REPORT.md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394960"/>
            <a:ext cx="640080" cy="29260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Deli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44068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onsolas"/>
              </a:rPr>
              <a:t>deploy/, ports.yaml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64008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Vi phạm lane → hệ thống chặn ở 4 lớp: PATH guard, PreToolUse hook, Orchestrator review, post-commit lint.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73152" cy="21031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B400"/>
                </a:solidFill>
                <a:latin typeface="Calibri"/>
              </a:rPr>
              <a:t>PHẦN 4 — ĐỀ XUẤT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Framework BMAD-inspired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cho Team Tư vấn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Mượn 4 ý tưởng cốt lõi của BMAD và thiết kế lại đội ngũ cho công việc Presale.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20 / 40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21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Team Tư vấn truyền thống — trước khi có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743200" cy="11887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9047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Presale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Tổng chỉ huy bid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371600"/>
            <a:ext cx="2743200" cy="11887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56432" y="150876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149047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Business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92024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Hiểu yêu cầu KH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371600"/>
            <a:ext cx="2743200" cy="11887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318504" y="150876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4" y="149047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Solution Architect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92024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Vẽ kiến trúc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3416" y="1371600"/>
            <a:ext cx="2743200" cy="11887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80576" y="1508760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9256" y="1490472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Legal Expert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1920240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Pháp lý, hợp đồng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79192"/>
            <a:ext cx="2743200" cy="11887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94360" y="2816352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79806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Data Expert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227832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Dữ liệu, AI/BI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9272" y="2679192"/>
            <a:ext cx="2743200" cy="11887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456432" y="2816352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5112" y="279806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Security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6432" y="3227832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Bảo mật, compliance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81344" y="2679192"/>
            <a:ext cx="2743200" cy="11887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318504" y="2816352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87184" y="279806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Pricing Lead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3227832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Giá, margin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43416" y="2679192"/>
            <a:ext cx="2743200" cy="11887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180576" y="2816352"/>
            <a:ext cx="777240" cy="3200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49256" y="2798064"/>
            <a:ext cx="1645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Project Manager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3227832"/>
            <a:ext cx="246888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Lịch, nhân sự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Vấn đề thường gặp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663440"/>
            <a:ext cx="109728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Lịch họp dày, mỗi expert chỉ tham gia 20-30% bid.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Mỗi RFP lại làm lại mapping, knowledge dễ thất lạc.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Thời gian phản hồi dài, dễ trễ deadline với KH lớn.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Junior khó tự làm proposal đạt chuẩn senior.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22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Đề xuất của chúng ta: AI Consulting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BMAD-inspired · 8 agents + 1 Orchestrator + 1 human Team Lead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3657600" cy="13716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94360" y="1810512"/>
            <a:ext cx="822960" cy="82296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Orches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4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Orchestrator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574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Điều phối bid, phân việc, 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1554480"/>
            <a:ext cx="3657600" cy="13716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389120" y="1810512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69164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Presale Lead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0574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Owner của bid, viết exec summary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657600" cy="13716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83880" y="1810512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169164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Business 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057400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Phân tích RFP, mapping yêu cầu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44952"/>
            <a:ext cx="3657600" cy="13716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4360" y="3300984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18211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Solution Architect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547872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Đề xuất kiến trúc, công nghệ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3044952"/>
            <a:ext cx="3657600" cy="13716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389120" y="3300984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318211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Legal Expert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3547872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Rà ràng buộc pháp lý, hợp đồng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044952"/>
            <a:ext cx="3657600" cy="13716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183880" y="3300984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3182112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Data Expert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547872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Mô hình data, AI/BI, ROI dữ liệu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535424"/>
            <a:ext cx="3657600" cy="13716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94360" y="4791456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Sec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672584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038344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ISO, GDPR, ngành dọc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4535424"/>
            <a:ext cx="3657600" cy="13716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4389120" y="4791456"/>
            <a:ext cx="822960" cy="82296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4672584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Pricing Analyst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5038344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Cost model, margin, T&amp;C giá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4535424"/>
            <a:ext cx="3657600" cy="13716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183880" y="4791456"/>
            <a:ext cx="822960" cy="822960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4672584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Industry Specialist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5038344"/>
            <a:ext cx="2468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Hiểu domain KH (banking, retail…)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Team này có thể 'on-call 24/7'. Bạn — human Team Lead — chỉ ra quyết định cuối cùng.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23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Vai trò chi tiết (1/2)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32120" cy="23774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532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Presale Lead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5270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Owner toàn bộ bid. Viết executive summary, soạn message gửi KH, theo dõi todo.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vào: RFP, brief từ Sales.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ra: Bid plan, exec summary, status update.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532120" cy="23774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532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Business Analyst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0" y="15270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57400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Đọc RFP, tách yêu cầu thành checklist; mapping với năng lực công ty; xác định gap.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10896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vào: RFP, knowledge base.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ra: Requirement matrix, gap analysis.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5532120" cy="23774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5532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Solution Architect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0416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SA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Đề xuất kiến trúc tham chiếu; chọn công nghệ; ràng buộc kỹ thuật; rủi ro tích hợp.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vào: requirement matrix.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ra: Architecture doc, tech stack, risk list.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931920"/>
            <a:ext cx="5532120" cy="23774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931920"/>
            <a:ext cx="5532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402336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Legal Expert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07040" y="40416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72000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Rà điều khoản hợp đồng, ràng buộc luật ngành; flag clauses rủi ro; đề xuất câu trả lời.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62356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vào: RFP T&amp;C, contract template.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ra: Legal review note, redline.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24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Vai trò chi tiết (2/2)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32120" cy="23774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532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Data Expert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15270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Đánh giá data flow, mô hình dữ liệu, khả năng áp dụng AI/BI; ước tính ROI dữ liệu.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0896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vào: business problem, sample data.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ra: data model proposal, ROI estimate.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17320"/>
            <a:ext cx="5532120" cy="23774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417320"/>
            <a:ext cx="5532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50876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Security &amp; Compliance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0" y="15270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Sec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57400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Kiểm checklist ISO/GDPR/ngành dọc; rà yêu cầu bảo mật trong RFP; flag rủi 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10896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vào: RFP security clauses.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ra: Compliance matrix, security risk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5532120" cy="23774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5532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Pricing Analyst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40416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PrL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Build cost model (man-month, infra, license); margin scenarios; điều khoản giá.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62356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vào: scope từ SA + BA.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ra: cost sheet, pricing options, margin %.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2200" y="3931920"/>
            <a:ext cx="5532120" cy="23774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72200" y="3931920"/>
            <a:ext cx="5532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55080" y="402336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Industry Specialist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07040" y="404164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572000"/>
            <a:ext cx="52578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Hiểu domain KH (banking, retail, gov, healthcare); cung cấp insight, case study.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623560"/>
            <a:ext cx="5257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vào: KH info, ngành.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Đầu ra: industry brief, talking points, references.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25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Workflow tư vấn: RFP →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329651" cy="20116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1329651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938528"/>
            <a:ext cx="13296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4B400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12382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RFP intake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123821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1A1A1A"/>
                </a:solidFill>
                <a:latin typeface="Calibri"/>
              </a:rPr>
              <a:t>PreM + BA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8291" y="1828800"/>
            <a:ext cx="1329651" cy="20116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878291" y="1828800"/>
            <a:ext cx="1329651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78291" y="1938528"/>
            <a:ext cx="13296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4B400"/>
                </a:solidFill>
                <a:latin typeface="Calibri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4011" y="2560320"/>
            <a:ext cx="12382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Phân tích yêu cầu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4011" y="3337560"/>
            <a:ext cx="123821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1A1A1A"/>
                </a:solidFill>
                <a:latin typeface="Calibri"/>
              </a:rPr>
              <a:t>BA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9383" y="1828800"/>
            <a:ext cx="1329651" cy="20116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99383" y="1828800"/>
            <a:ext cx="1329651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99383" y="1938528"/>
            <a:ext cx="13296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4B400"/>
                </a:solidFill>
                <a:latin typeface="Calibri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5103" y="2560320"/>
            <a:ext cx="12382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Solution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5103" y="3337560"/>
            <a:ext cx="123821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1A1A1A"/>
                </a:solidFill>
                <a:latin typeface="Calibri"/>
              </a:rPr>
              <a:t>SA + 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20475" y="1828800"/>
            <a:ext cx="1329651" cy="20116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20475" y="1828800"/>
            <a:ext cx="1329651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20475" y="1938528"/>
            <a:ext cx="13296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4B400"/>
                </a:solidFill>
                <a:latin typeface="Calibri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6195" y="2560320"/>
            <a:ext cx="12382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Legal &amp; Security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6195" y="3337560"/>
            <a:ext cx="123821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1A1A1A"/>
                </a:solidFill>
                <a:latin typeface="Calibri"/>
              </a:rPr>
              <a:t>LE + Sec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1567" y="1828800"/>
            <a:ext cx="1329651" cy="20116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41567" y="1828800"/>
            <a:ext cx="1329651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41567" y="1938528"/>
            <a:ext cx="13296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4B400"/>
                </a:solidFill>
                <a:latin typeface="Calibri"/>
              </a:rPr>
              <a:t>STEP 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87287" y="2560320"/>
            <a:ext cx="12382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Pricing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7287" y="3337560"/>
            <a:ext cx="123821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1A1A1A"/>
                </a:solidFill>
                <a:latin typeface="Calibri"/>
              </a:rPr>
              <a:t>PrL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62659" y="1828800"/>
            <a:ext cx="1329651" cy="20116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62659" y="1828800"/>
            <a:ext cx="1329651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62659" y="1938528"/>
            <a:ext cx="13296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4B400"/>
                </a:solidFill>
                <a:latin typeface="Calibri"/>
              </a:rPr>
              <a:t>STEP 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08379" y="2560320"/>
            <a:ext cx="12382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Industry tailoring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8379" y="3337560"/>
            <a:ext cx="123821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1A1A1A"/>
                </a:solidFill>
                <a:latin typeface="Calibri"/>
              </a:rPr>
              <a:t>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983751" y="1828800"/>
            <a:ext cx="1329651" cy="20116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983751" y="1828800"/>
            <a:ext cx="1329651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83751" y="1938528"/>
            <a:ext cx="13296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4B400"/>
                </a:solidFill>
                <a:latin typeface="Calibri"/>
              </a:rPr>
              <a:t>STEP 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9471" y="2560320"/>
            <a:ext cx="12382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Proposal draft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29471" y="3337560"/>
            <a:ext cx="123821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1A1A1A"/>
                </a:solidFill>
                <a:latin typeface="Calibri"/>
              </a:rPr>
              <a:t>PreM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404843" y="1828800"/>
            <a:ext cx="1329651" cy="201168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404843" y="1828800"/>
            <a:ext cx="1329651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404843" y="1938528"/>
            <a:ext cx="1329651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4B400"/>
                </a:solidFill>
                <a:latin typeface="Calibri"/>
              </a:rPr>
              <a:t>STEP 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50563" y="2560320"/>
            <a:ext cx="1238211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E2761"/>
                </a:solidFill>
                <a:latin typeface="Calibri"/>
              </a:rPr>
              <a:t>Human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50563" y="3337560"/>
            <a:ext cx="123821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 i="1">
                <a:solidFill>
                  <a:srgbClr val="1A1A1A"/>
                </a:solidFill>
                <a:latin typeface="Calibri"/>
              </a:rPr>
              <a:t>Team Lead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97680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Mỗi bước = 1 artifact. Orchestrator phân việc, review, không tự viết proposal.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371600" y="5029200"/>
            <a:ext cx="9418320" cy="12801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645920" y="5212080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Artifact tham khảo: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45920" y="5532120"/>
            <a:ext cx="8869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onsolas"/>
              </a:rPr>
              <a:t>rfp_intake.md · requirement_matrix.md · architecture.md · legal_review.md · pricing_sheet.xlsx · industry_brief.md · proposal_draft.docx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26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Use case 1 — Phân tích RFP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RFP 60 trang từ ngân hàng nội địa. Yêu cầu trả lời trong 5 ngày.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5532120" cy="4572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532120" cy="54864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664208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Trước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5 ngày + 3 expert họp 4 lần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43200"/>
            <a:ext cx="49834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BA đọc thủ công, copy-paste vào Excel.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SA chờ BA xong mới bắt đầu kiến trúc.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Legal review chậm vì không có người đọc trước.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Nhiều yêu cầu bị bỏ sót, phải clarify với KH.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554480"/>
            <a:ext cx="5532120" cy="4572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172200" y="1554480"/>
            <a:ext cx="5532120" cy="54864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664208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Sau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194560"/>
            <a:ext cx="5532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E2761"/>
                </a:solidFill>
                <a:latin typeface="Calibri"/>
              </a:rPr>
              <a:t>2 ngày + 1 buổi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743200"/>
            <a:ext cx="4983480" cy="3291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BA agent parse RFP, tạo requirement matrix.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SA agent đề xuất kiến trúc dựa trên matrix.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LE agent đọc đồng thời, mark clause rủi ro.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1E2761"/>
                </a:solidFill>
                <a:latin typeface="Calibri"/>
              </a:rPr>
              <a:t>▸  </a:t>
            </a:r>
            <a:r>
              <a:rPr sz="1300">
                <a:solidFill>
                  <a:srgbClr val="1A1A1A"/>
                </a:solidFill>
                <a:latin typeface="Calibri"/>
              </a:rPr>
              <a:t>Human chỉ review checklist và phê duyệt.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27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Use case 2 — Solution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KH muốn đề xuất kiến trúc cho hệ thống core mới — multi-cloud + on-prem.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47120" cy="7315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737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4B400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75564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SA agent đọc requirement matrix, ràng buộc bảo mật, ngân sách.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11247120" cy="7315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94360" y="2606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4B400"/>
                </a:solidFill>
                <a:latin typeface="Calibri"/>
              </a:rPr>
              <a:t>ĐỀ XUẤT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62432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SA agent generate 2-3 phương án kiến trúc tham chiếu (k8s on-prem, hybrid cloud, full SaaS).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11247120" cy="7315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4B400"/>
                </a:solidFill>
                <a:latin typeface="Calibri"/>
              </a:rPr>
              <a:t>CROSS-REVIEW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49300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DE agent đánh giá data flow; Sec agent check compliance; PrL agent ước tính cost.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60520"/>
            <a:ext cx="11247120" cy="7315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94360" y="43434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4B400"/>
                </a:solidFill>
                <a:latin typeface="Calibri"/>
              </a:rPr>
              <a:t>SYNTHESIS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36168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PreM agent gộp thành 1 architecture doc + comparison table cho human 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11247120" cy="7315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94360" y="52120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4B400"/>
                </a:solidFill>
                <a:latin typeface="Calibri"/>
              </a:rPr>
              <a:t>HUMAN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230368"/>
            <a:ext cx="9326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Team Lead duyệt phương án final, có thể yêu cầu agents điều chỉnh.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1">
                <a:solidFill>
                  <a:srgbClr val="1E2761"/>
                </a:solidFill>
                <a:latin typeface="Calibri"/>
              </a:rPr>
              <a:t>Điểm cốt lõi: 4 expert agents review song song, không chờ nhau.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28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Use case 3 — Viết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Proposal cuối cùng cần ghép nhiều phần — từ executive summary đến T&amp;C giá.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703320" cy="1051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73152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819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6002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PreM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65960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Tóm tắt 1-page, value proposition rõ ràng.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508760"/>
            <a:ext cx="3703320" cy="1051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79392" y="1508760"/>
            <a:ext cx="73152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62272" y="15819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Hiểu vấn đề KH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93992" y="16002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BA +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1965960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Bối cảnh, pain points, mục tiêu KH muốn đạt.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1508760"/>
            <a:ext cx="3703320" cy="1051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4" y="1508760"/>
            <a:ext cx="73152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4" y="15819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Giải pháp đề xuất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616184" y="1600200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SA + 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1965960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Architecture, công nghệ, data, AI/BI.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79192"/>
            <a:ext cx="3703320" cy="1051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" y="2679192"/>
            <a:ext cx="73152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275234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Tuân thủ &amp; Bảo mật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71800" y="27706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LE + Sec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36392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Compliance matrix, response cho clause.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9392" y="2679192"/>
            <a:ext cx="3703320" cy="1051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279392" y="2679192"/>
            <a:ext cx="73152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62272" y="275234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Kế hoạch triển khai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93992" y="27706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PreM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3136392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Milestone, team, risk plan.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01584" y="2679192"/>
            <a:ext cx="3703320" cy="1051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01584" y="2679192"/>
            <a:ext cx="73152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84464" y="2752344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Đầu tư &amp; T&amp;C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16184" y="27706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PrL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4464" y="3136392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Cost sheet, pricing option, T&amp;C giá.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849624"/>
            <a:ext cx="3703320" cy="1051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7200" y="3849624"/>
            <a:ext cx="73152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3922776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Case study &amp; ref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71800" y="394106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306824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Reference KH cùng ngành, hình minh hoạ.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9392" y="3849624"/>
            <a:ext cx="3703320" cy="1051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279392" y="3849624"/>
            <a:ext cx="73152" cy="10515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462272" y="3922776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E2761"/>
                </a:solidFill>
                <a:latin typeface="Calibri"/>
              </a:rPr>
              <a:t>Phụ lục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793992" y="3941064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PreM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62272" y="4306824"/>
            <a:ext cx="34290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Bio team, SLA, hợp đồng mẫu.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Orchestrator ráp các phần lại, kiểm tra tone &amp; terminology nhất quán trước khi human review.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29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ROI ước tính cho team Presale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2743200" cy="27432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 i="0">
                <a:solidFill>
                  <a:srgbClr val="1E2761"/>
                </a:solidFill>
                <a:latin typeface="Calibri"/>
              </a:rP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giảm thời gian tạo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Calibri"/>
              </a:rPr>
              <a:t>Từ 5 ngày → 2 ngày trên bid trung bình.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554480"/>
            <a:ext cx="2743200" cy="27432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19272" y="182880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 i="0">
                <a:solidFill>
                  <a:srgbClr val="1E2761"/>
                </a:solidFill>
                <a:latin typeface="Calibri"/>
              </a:rPr>
              <a:t>2×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971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số bid xử lý song song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2152" y="347472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Calibri"/>
              </a:rPr>
              <a:t>Cùng số nhân sự, capacity gấp đôi.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1554480"/>
            <a:ext cx="2743200" cy="27432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81344" y="182880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 i="0">
                <a:solidFill>
                  <a:srgbClr val="1E2761"/>
                </a:solidFill>
                <a:latin typeface="Calibri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971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độ đồng đều chất lượng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47472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Calibri"/>
              </a:rPr>
              <a:t>Junior cũng tạo được output mức senior.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43416" y="1554480"/>
            <a:ext cx="2743200" cy="27432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43416" y="1828800"/>
            <a:ext cx="2743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600" b="1" i="0">
                <a:solidFill>
                  <a:srgbClr val="1E2761"/>
                </a:solidFill>
                <a:latin typeface="Calibri"/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9718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E2761"/>
                </a:solidFill>
                <a:latin typeface="Calibri"/>
              </a:rPr>
              <a:t>giảm chi phí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3474720"/>
            <a:ext cx="23774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1A1A1A"/>
                </a:solidFill>
                <a:latin typeface="Calibri"/>
              </a:rPr>
              <a:t>Bớt họp, expert dùng AI chuẩn bị trước.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Đây là số ước tính từ các nhóm đã thử nghiệm — kết quả thật có thể dao động ±20%.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5394960"/>
            <a:ext cx="9418320" cy="9144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645920" y="5486400"/>
            <a:ext cx="8869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Lưu ý quan trọng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5760720"/>
            <a:ext cx="8869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1">
                <a:solidFill>
                  <a:srgbClr val="1A1A1A"/>
                </a:solidFill>
                <a:latin typeface="Calibri"/>
              </a:rPr>
              <a:t>Lợi ích lớn nhất không phải nhanh hơn — mà là chất lượng đồng đều và knowledge tích luỹ.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73152" cy="21031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B400"/>
                </a:solidFill>
                <a:latin typeface="Calibri"/>
              </a:rPr>
              <a:t>PHẦN 5 — 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Thay tmux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bằng gì?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Bạn không cần là kỹ sư DevOps để build được team AI. Có nhiều cách.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30 / 40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31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Lựa chọn A — No-code / Light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Phù hợp: team Presale chưa có developer hỗ trợ. Bắt đầu trong 1-2 ngày.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8191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Claude Projects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Anthropic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Tạo nhiều “project”, mỗi project là một agent (BA, SA, Legal…) với system prompt riêng.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dễ, sẵn UI.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chưa có orchestrator tự động — phải copy-paste.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58191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Custom GPTs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0" y="1600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OpenAI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Tương tự — mỗi Custom GPT đóng vai một expert. Có thể attach knowledge base.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sẵn marketplace, có Actions.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không multi-agent gốc.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00507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Notion AI + Templates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0233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Notion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Một workspace = một “team”. Dùng AI block để thực thi mỗi vai trò trong từng page.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kết hợp tài liệu sẵn.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AI khá chung, không chuyên sâu.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93192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93192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00507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Gemini Gems / Copilot Agents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40233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Google / 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52628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Tạo các “Gem” / “Agent” cá nhân hoá. Tích hợp với Drive / SharePoint.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48640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gắn liền dữ liệu công ty.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phụ thuộc license enterprise.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32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Lựa chọn B — Workflow automation / Low-code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Phù hợp: team có 1-2 “power user” quen kéo flow. Tự động hoá thật, không cần code nhiều.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8191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n8n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Open-source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Tự host được, có node LLM, node HTTP, dễ build pipeline “RFP intake → BA → SA”.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tự host, miễn phí.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cần 1 dev setup.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58191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Make.com (Integromat)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0" y="1600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SaaS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Visual flow, sẵn 1000+ connector. Dùng module OpenAI/Anthropic làm “agent”.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nhanh, đẹp UI.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chi phí scale theo operations.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00507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Zapier Agents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0233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SaaS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Zapier mới ra agents — định nghĩa nhiệm vụ, Zap tự thực thi qua các app.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kết nối rất rộng.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ít quyền điều phối deep.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93192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93192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00507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Microsoft Power Automate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40233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52628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Phù hợp tổ chức đã dùng M365. Có Copilot Studio để build agent.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48640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enterprise grade.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license + curve khá dày.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33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Lựa chọn C — Python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Phù hợp: có dev hỗ trợ. Kiểm soát sâu, scale tốt, dễ tích hợp tool nội bộ.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8191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CrewAI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Open-source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Định nghĩa “crew” gồm role, task, process. Mỗi role là 1 agent với LLM riêng.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cú pháp dễ đọc, gần BMAD.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cộng đồng còn mới.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158191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LangGraph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49840" y="1600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LangChain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10312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Mô hình state graph — agents là node, edge là chuyển trạng thái.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06324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rất uyển chuyển.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học hơi nặng.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3192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93192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400507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AutoGen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40233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Microsoft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Multi-agent conversation framework. Hỗ trợ group chat, role-play.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backed by MSR.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hơi nặng cấu hình.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931920"/>
            <a:ext cx="5532120" cy="22860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72200" y="3931920"/>
            <a:ext cx="5532120" cy="4572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55080" y="4005072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Claude Agent SDK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49840" y="40233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000" b="1">
                <a:solidFill>
                  <a:srgbClr val="1E2761"/>
                </a:solidFill>
                <a:latin typeface="Calibri"/>
              </a:rPr>
              <a:t>Anthropic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4526280"/>
            <a:ext cx="5257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SDK chính thức từ Anthropic — dễ tạo subagent, gọi tool, quản lý context.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486400"/>
            <a:ext cx="5257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Pros: tích hợp tốt với Claude.</a:t>
            </a:r>
          </a:p>
          <a:p>
            <a:pPr algn="l"/>
            <a:r>
              <a:rPr sz="1100" b="0" i="1">
                <a:solidFill>
                  <a:srgbClr val="666666"/>
                </a:solidFill>
                <a:latin typeface="Calibri"/>
              </a:rPr>
              <a:t>Cons: cần code Python/TS.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34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Lựa chọn D — Custom web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Phù hợp: doanh nghiệp muốn “sản phẩm hoá” team agents — share toàn công ty, có audit 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Stack gợi 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0574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Next.js + Tailwind + shadcn/ui — dashboard và chat UI.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6517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6974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Node/Python — quản lý session, agent, queue.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918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3375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LangGraph hoặc CrewAI làm core orchestration.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9776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Postgres + pgvector cho RAG nội bộ.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461772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Claude API + fallback OpenAI/Gemini.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Auth &amp;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25780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SSO + log mọi tool-call để compliance.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15544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Calibri"/>
              </a:rPr>
              <a:t>Trade-off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011680"/>
            <a:ext cx="5029200" cy="18288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0" y="21031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Pros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246888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Tuỳ biến hoàn toàn theo quy trình công ty.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Share toàn team, audit, RBAC sẵn.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1E2761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Dữ liệu trong tầm kiểm soát.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4023360"/>
            <a:ext cx="5029200" cy="182880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0" y="4114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4B400"/>
                </a:solidFill>
                <a:latin typeface="Calibri"/>
              </a:rPr>
              <a:t>Cons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4480560"/>
            <a:ext cx="4663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4B400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Cần đội dev maintain.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4B400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Thời gian build: 6-12 tuần MVP.</a:t>
            </a:r>
          </a:p>
          <a:p>
            <a:pPr algn="l">
              <a:spcAft>
                <a:spcPts val="600"/>
              </a:spcAft>
            </a:pPr>
            <a:r>
              <a:rPr sz="1200" b="1">
                <a:solidFill>
                  <a:srgbClr val="F4B400"/>
                </a:solidFill>
                <a:latin typeface="Calibri"/>
              </a:rPr>
              <a:t>▸  </a:t>
            </a:r>
            <a:r>
              <a:rPr sz="1200">
                <a:solidFill>
                  <a:srgbClr val="1A1A1A"/>
                </a:solidFill>
                <a:latin typeface="Calibri"/>
              </a:rPr>
              <a:t>Chi phí hosting và LLM hàng tháng.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35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So sánh nhanh — chọn lựa chọn nào?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210312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Tiêu chí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417320"/>
            <a:ext cx="22860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 · No-code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1417320"/>
            <a:ext cx="22860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 · Workflow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417320"/>
            <a:ext cx="22860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 · Framework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1417320"/>
            <a:ext cx="2286000" cy="5029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0" y="1554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 · Custom 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20240"/>
            <a:ext cx="210312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0574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Cần biết code?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92024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51760" y="20574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Không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192024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37760" y="20574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Ít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192024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0" y="20574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Có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92024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09760" y="20574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Có (team)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42316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25603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Setup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42316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651760" y="25603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1-2 ngày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46320" y="242316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37760" y="25603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1 tuần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242316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23760" y="25603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2-4 tuần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242316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509760" y="25603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6-12 tuần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2926080"/>
            <a:ext cx="210312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3063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Chi phí khởi đầu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292608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651760" y="30632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Thấp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92608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37760" y="30632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Thấp-TB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320" y="292608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23760" y="30632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Thấp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18320" y="292608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09760" y="30632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Cao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342900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48640" y="35661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Tuỳ biến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0320" y="342900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65176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Thấp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342900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3776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TB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342900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2376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Cao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342900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509760" y="356616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Rất cao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3931920"/>
            <a:ext cx="210312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40690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Multi-agent thật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0320" y="393192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651760" y="40690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Hạn chế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46320" y="393192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937760" y="40690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TB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393192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223760" y="40690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Có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393192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509760" y="406908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434840"/>
            <a:ext cx="21031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48640" y="45720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Audit / RBAC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0320" y="443484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2651760" y="4572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Hạn chế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846320" y="443484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4937760" y="4572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TB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132320" y="443484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223760" y="4572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Tự build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418320" y="4434840"/>
            <a:ext cx="228600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509760" y="457200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Có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57200" y="4937760"/>
            <a:ext cx="210312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48640" y="50749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E2761"/>
                </a:solidFill>
                <a:latin typeface="Calibri"/>
              </a:rPr>
              <a:t>Phù hợp khi…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0320" y="493776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2651760" y="5074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Thử nghiệm cá nhân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846320" y="493776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937760" y="5074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Pilot team 5-10 người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132320" y="493776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223760" y="5074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Tổ chức 20-50 người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418320" y="4937760"/>
            <a:ext cx="2286000" cy="50292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509760" y="507492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1A1A1A"/>
                </a:solidFill>
                <a:latin typeface="Calibri"/>
              </a:rPr>
              <a:t>Sản phẩm hoá toàn công 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1">
                <a:solidFill>
                  <a:srgbClr val="1E2761"/>
                </a:solidFill>
                <a:latin typeface="Calibri"/>
              </a:rPr>
              <a:t>Gợi ý: bắt đầu A để học khái niệm → B/C khi pilot → D khi muốn sản phẩm hoá.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377440"/>
            <a:ext cx="73152" cy="210312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B400"/>
                </a:solidFill>
                <a:latin typeface="Calibri"/>
              </a:rPr>
              <a:t>PHẦN 6 — TƯƠNG LAI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9728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Mô hình team</a:t>
            </a:r>
          </a:p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1 người + N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CADCFC"/>
                </a:solidFill>
                <a:latin typeface="Calibri"/>
              </a:rPr>
              <a:t>Một viễn cảnh không xa: bạn là Team Leader, phần còn lại là agents.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36 / 40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37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Mô hình tương lai — Team Leader is Human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0515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666666"/>
                </a:solidFill>
                <a:latin typeface="Calibri"/>
              </a:rPr>
              <a:t>Bạn không bị thay thế — bạn được nhân lên.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3840480" y="2148840"/>
            <a:ext cx="0" cy="1691640"/>
          </a:xfrm>
          <a:prstGeom prst="line">
            <a:avLst/>
          </a:prstGeom>
          <a:ln w="15875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3840480" y="2644309"/>
            <a:ext cx="1196170" cy="1196171"/>
          </a:xfrm>
          <a:prstGeom prst="line">
            <a:avLst/>
          </a:prstGeom>
          <a:ln w="15875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3840480"/>
            <a:ext cx="1691640" cy="0"/>
          </a:xfrm>
          <a:prstGeom prst="line">
            <a:avLst/>
          </a:prstGeom>
          <a:ln w="15875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40480" y="3840480"/>
            <a:ext cx="1196170" cy="1196170"/>
          </a:xfrm>
          <a:prstGeom prst="line">
            <a:avLst/>
          </a:prstGeom>
          <a:ln w="15875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40480" y="3840480"/>
            <a:ext cx="0" cy="1691640"/>
          </a:xfrm>
          <a:prstGeom prst="line">
            <a:avLst/>
          </a:prstGeom>
          <a:ln w="15875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644309" y="3840480"/>
            <a:ext cx="1196171" cy="1196170"/>
          </a:xfrm>
          <a:prstGeom prst="line">
            <a:avLst/>
          </a:prstGeom>
          <a:ln w="15875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148840" y="3840480"/>
            <a:ext cx="1691640" cy="0"/>
          </a:xfrm>
          <a:prstGeom prst="line">
            <a:avLst/>
          </a:prstGeom>
          <a:ln w="15875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 flipV="1">
            <a:off x="2644309" y="2644309"/>
            <a:ext cx="1196171" cy="1196171"/>
          </a:xfrm>
          <a:prstGeom prst="line">
            <a:avLst/>
          </a:prstGeom>
          <a:ln w="15875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127248" y="3127248"/>
            <a:ext cx="1426464" cy="1426464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</a:rPr>
              <a:t>YOU</a:t>
            </a:r>
          </a:p>
          <a:p>
            <a:pPr algn="ctr"/>
            <a:r>
              <a:rPr sz="1000">
                <a:solidFill>
                  <a:srgbClr val="1E2761"/>
                </a:solidFill>
                <a:latin typeface="Calibri"/>
              </a:rPr>
              <a:t>Team Lead</a:t>
            </a:r>
          </a:p>
        </p:txBody>
      </p:sp>
      <p:sp>
        <p:nvSpPr>
          <p:cNvPr id="16" name="Oval 15"/>
          <p:cNvSpPr/>
          <p:nvPr/>
        </p:nvSpPr>
        <p:spPr>
          <a:xfrm>
            <a:off x="3401568" y="1709928"/>
            <a:ext cx="877824" cy="8778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BA</a:t>
            </a:r>
          </a:p>
        </p:txBody>
      </p:sp>
      <p:sp>
        <p:nvSpPr>
          <p:cNvPr id="17" name="Oval 16"/>
          <p:cNvSpPr/>
          <p:nvPr/>
        </p:nvSpPr>
        <p:spPr>
          <a:xfrm>
            <a:off x="4597738" y="2205397"/>
            <a:ext cx="877824" cy="8778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SA</a:t>
            </a:r>
          </a:p>
        </p:txBody>
      </p:sp>
      <p:sp>
        <p:nvSpPr>
          <p:cNvPr id="18" name="Oval 17"/>
          <p:cNvSpPr/>
          <p:nvPr/>
        </p:nvSpPr>
        <p:spPr>
          <a:xfrm>
            <a:off x="5093208" y="3401568"/>
            <a:ext cx="877824" cy="8778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Legal</a:t>
            </a:r>
          </a:p>
        </p:txBody>
      </p:sp>
      <p:sp>
        <p:nvSpPr>
          <p:cNvPr id="19" name="Oval 18"/>
          <p:cNvSpPr/>
          <p:nvPr/>
        </p:nvSpPr>
        <p:spPr>
          <a:xfrm>
            <a:off x="4597738" y="4597738"/>
            <a:ext cx="877824" cy="8778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0" name="Oval 19"/>
          <p:cNvSpPr/>
          <p:nvPr/>
        </p:nvSpPr>
        <p:spPr>
          <a:xfrm>
            <a:off x="3401568" y="5093208"/>
            <a:ext cx="877824" cy="8778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Sec</a:t>
            </a:r>
          </a:p>
        </p:txBody>
      </p:sp>
      <p:sp>
        <p:nvSpPr>
          <p:cNvPr id="21" name="Oval 20"/>
          <p:cNvSpPr/>
          <p:nvPr/>
        </p:nvSpPr>
        <p:spPr>
          <a:xfrm>
            <a:off x="2205397" y="4597738"/>
            <a:ext cx="877824" cy="8778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PrL</a:t>
            </a:r>
          </a:p>
        </p:txBody>
      </p:sp>
      <p:sp>
        <p:nvSpPr>
          <p:cNvPr id="22" name="Oval 21"/>
          <p:cNvSpPr/>
          <p:nvPr/>
        </p:nvSpPr>
        <p:spPr>
          <a:xfrm>
            <a:off x="1709928" y="3401568"/>
            <a:ext cx="877824" cy="8778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IS</a:t>
            </a:r>
          </a:p>
        </p:txBody>
      </p:sp>
      <p:sp>
        <p:nvSpPr>
          <p:cNvPr id="23" name="Oval 22"/>
          <p:cNvSpPr/>
          <p:nvPr/>
        </p:nvSpPr>
        <p:spPr>
          <a:xfrm>
            <a:off x="2205397" y="2205397"/>
            <a:ext cx="877824" cy="877824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15544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Calibri"/>
              </a:rPr>
              <a:t>Vai trò bạn thay đổi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194560"/>
            <a:ext cx="484632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949440" y="2194560"/>
            <a:ext cx="73152" cy="7772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0" y="22860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Từ “người làm”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57860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→ “người phán xét và định hướng”.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063240"/>
            <a:ext cx="484632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949440" y="3063240"/>
            <a:ext cx="73152" cy="7772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0" y="31546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Từ chờ team họp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44728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→ giao việc cho agents, chỉ duyệt output.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3931920"/>
            <a:ext cx="484632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949440" y="3931920"/>
            <a:ext cx="73152" cy="7772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32320" y="402336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Từ giới hạn tay người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31596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→ tốc độ × N agents song song.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4800600"/>
            <a:ext cx="4846320" cy="77724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949440" y="4800600"/>
            <a:ext cx="73152" cy="77724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0" y="489204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E2761"/>
                </a:solidFill>
                <a:latin typeface="Calibri"/>
              </a:rPr>
              <a:t>Từ knowledge cá nhân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5184648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→ knowledge của cả team được tích luỹ.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1">
                <a:solidFill>
                  <a:srgbClr val="1E2761"/>
                </a:solidFill>
                <a:latin typeface="Calibri"/>
              </a:rPr>
              <a:t>Human ra quyết định cuối cùng · Agents làm phần nặng · Tốc độ × 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38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Lộ trình triển khai cho team Presale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4B400"/>
                </a:solidFill>
                <a:latin typeface="Calibri"/>
              </a:rPr>
              <a:t>Tuần 1-2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087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Cá nhân thử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8308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Mỗi presale tự tạo 2-3 Claude Projects / Custom GPTs (BA, SA, Legal). Dùng cho bid hiện tại để cảm nhận.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4028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24231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4B400"/>
                </a:solidFill>
                <a:latin typeface="Calibri"/>
              </a:rPr>
              <a:t>Tuần 3-4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3317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Định nghĩa quy trình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60604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Họp team 1 buổi — vẽ workflow RFP → Proposal. Chốt artifact và owner cho từng bước.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2461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4B400"/>
                </a:solidFill>
                <a:latin typeface="Calibri"/>
              </a:rPr>
              <a:t>Tháng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31546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Pilot trên 1-2 bid thật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42900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Chọn 1-2 bid không-quá-quan-trọng để chạy thử full flow. Đo thời gian, chất lượng, vấn đề gặp phải.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4B400"/>
                </a:solidFill>
                <a:latin typeface="Calibri"/>
              </a:rPr>
              <a:t>Tháng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977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Chuẩn hoá knowledge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425196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Số hoá best-practice, case study, T&amp;C mẫu — làm input cho agents. Đây là tài sản dài hạn.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0916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48640" y="48920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4B400"/>
                </a:solidFill>
                <a:latin typeface="Calibri"/>
              </a:rPr>
              <a:t>Tháng 4-6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8006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Chọn tooling phù hợp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507492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Dựa trên pilot, quyết định: tiếp tục no-code, lên workflow tool, hay build app.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532120"/>
            <a:ext cx="11247120" cy="713232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57150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0" rIns="73152" bIns="0" rtlCol="0" anchor="ctr"/>
          <a:lstStyle/>
          <a:p>
            <a:pPr algn="ctr"/>
            <a:r>
              <a:rPr sz="1100" b="1">
                <a:solidFill>
                  <a:srgbClr val="F4B400"/>
                </a:solidFill>
                <a:latin typeface="Calibri"/>
              </a:rPr>
              <a:t>Tháng 6+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56235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Scale &amp; sản phẩm hoá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897880"/>
            <a:ext cx="9509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Mở rộng cho toàn team, đo metric, tinh chỉnh prompt, cập nhật model.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i="1">
                <a:solidFill>
                  <a:srgbClr val="666666"/>
                </a:solidFill>
                <a:latin typeface="Calibri"/>
              </a:rPr>
              <a:t>Bí quyết: bắt đầu nhỏ, đo nhanh, sửa nhanh — không cần “đại dự án AI”.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>
                <a:solidFill>
                  <a:srgbClr val="666666"/>
                </a:solidFill>
                <a:latin typeface="Calibri"/>
              </a:rPr>
              <a:t>BMAD Presale Introduction ·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666666"/>
                </a:solidFill>
                <a:latin typeface="Calibri"/>
              </a:rPr>
              <a:t>39 / 40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502920"/>
            <a:ext cx="164592" cy="164592"/>
          </a:xfrm>
          <a:prstGeom prst="ellipse">
            <a:avLst/>
          </a:prstGeom>
          <a:solidFill>
            <a:srgbClr val="F4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13232" y="365760"/>
            <a:ext cx="10972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>
                <a:solidFill>
                  <a:srgbClr val="1E2761"/>
                </a:solidFill>
                <a:latin typeface="Calibri"/>
              </a:rPr>
              <a:t>Rủi ro &amp; lưu ý quan trọng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73152" cy="219456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Bảo mật dữ liệu KH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Không upload RFP nhạy cảm lên LLM public. Dùng tier enterprise hoặc self-host.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417320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79392" y="1417320"/>
            <a:ext cx="73152" cy="219456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62272" y="155448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Hallucination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62272" y="20574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Agent vẫn có thể bịa số liệu. Mọi output cần human review trước khi gửi KH.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4" y="1417320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01584" y="1417320"/>
            <a:ext cx="73152" cy="219456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84464" y="1554480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Phụ thuộc tooling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0574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Đừng khoá cứng vào 1 vendor. Giữ prompt &amp; artifact ở định dạng mở (Markdown).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76472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3776472"/>
            <a:ext cx="73152" cy="219456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913632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Knowledge bias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16552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Agent giỏi nhất khi có knowledge base tốt. Garbage in → garbage out.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79392" y="3776472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79392" y="3776472"/>
            <a:ext cx="73152" cy="219456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62272" y="3913632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Resistance trong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4416552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Một số người sợ thay thế. Trả lời thẳng: AI làm phần nặng, người định hướng.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01584" y="3776472"/>
            <a:ext cx="3703320" cy="2194560"/>
          </a:xfrm>
          <a:prstGeom prst="rect">
            <a:avLst/>
          </a:prstGeom>
          <a:solidFill>
            <a:srgbClr val="F6F8FC"/>
          </a:solidFill>
          <a:ln w="9525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01584" y="3776472"/>
            <a:ext cx="73152" cy="219456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84464" y="3913632"/>
            <a:ext cx="342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E2761"/>
                </a:solidFill>
                <a:latin typeface="Calibri"/>
              </a:rPr>
              <a:t>Cost runaway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416552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LLM tính theo token — track chi phí mỗi bid. Đặt ngân sách rõ ràng từ đầu.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09728" cy="182880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28016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4B400"/>
                </a:solidFill>
                <a:latin typeface="Calibri"/>
              </a:rPr>
              <a:t>KẾT LUẬN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Bắt đầu nhỏ. Tổ chức bài bản.</a:t>
            </a:r>
          </a:p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Nghĩ về team — không chỉ về AI.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libri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033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Agentic AI là một team chuyên gia ảo — không phải một chatbot to hơn.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2062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libri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51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BMAD (Breakthrough Method for Agile AI-Driven Development) cho ta 4 ý tưởng nền — chuyên môn hoá, two-phase, document-driven, context-engineered.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75488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4B400"/>
                </a:solidFill>
                <a:latin typeface="Calibri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00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Đừng đợi “công nghệ đủ chín”. Bắt đầu với Claude Projects hôm nay, scale dần.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F4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5532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Calibri"/>
              </a:rPr>
              <a:t>Q&amp;A · Cảm ơn bạn đã lắng nghe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1E2761"/>
                </a:solidFill>
                <a:latin typeface="Calibri"/>
              </a:rPr>
              <a:t>Tuan M. Pham · phmtuan84@gmail.com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 i="0">
                <a:solidFill>
                  <a:srgbClr val="CADCFC"/>
                </a:solidFill>
                <a:latin typeface="Calibri"/>
              </a:rPr>
              <a:t>40 / 40 · v1.0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5265</Words>
  <Application>Microsoft Macintosh PowerPoint</Application>
  <PresentationFormat>Widescreen</PresentationFormat>
  <Paragraphs>797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Office</cp:lastModifiedBy>
  <cp:revision>3</cp:revision>
  <dcterms:created xsi:type="dcterms:W3CDTF">2013-01-27T09:14:16Z</dcterms:created>
  <dcterms:modified xsi:type="dcterms:W3CDTF">2026-05-26T02:23:08Z</dcterms:modified>
  <cp:category/>
</cp:coreProperties>
</file>