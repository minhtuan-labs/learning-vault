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2"/>
  </p:notesMasterIdLst>
  <p:sldIdLst>
    <p:sldId id="256" r:id="rId2"/>
    <p:sldId id="295" r:id="rId3"/>
    <p:sldId id="294"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8" r:id="rId32"/>
    <p:sldId id="289" r:id="rId33"/>
    <p:sldId id="290" r:id="rId34"/>
    <p:sldId id="291" r:id="rId35"/>
    <p:sldId id="292" r:id="rId36"/>
    <p:sldId id="284" r:id="rId37"/>
    <p:sldId id="285" r:id="rId38"/>
    <p:sldId id="286" r:id="rId39"/>
    <p:sldId id="293" r:id="rId40"/>
    <p:sldId id="287" r:id="rId4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6" d="100"/>
          <a:sy n="126" d="100"/>
        </p:scale>
        <p:origin x="232" y="4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175838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2194560"/>
            <a:ext cx="12161520" cy="45720"/>
          </a:xfrm>
          <a:prstGeom prst="rect">
            <a:avLst/>
          </a:prstGeom>
          <a:solidFill>
            <a:srgbClr val="7CE38B"/>
          </a:solidFill>
          <a:ln w="12700">
            <a:solidFill>
              <a:srgbClr val="7CE38B"/>
            </a:solidFill>
            <a:prstDash val="solid"/>
          </a:ln>
        </p:spPr>
        <p:txBody>
          <a:bodyPr/>
          <a:lstStyle/>
          <a:p>
            <a:endParaRPr/>
          </a:p>
        </p:txBody>
      </p:sp>
      <p:sp>
        <p:nvSpPr>
          <p:cNvPr id="3" name="Text 1"/>
          <p:cNvSpPr/>
          <p:nvPr/>
        </p:nvSpPr>
        <p:spPr>
          <a:xfrm>
            <a:off x="548640" y="914400"/>
            <a:ext cx="10972800" cy="548640"/>
          </a:xfrm>
          <a:prstGeom prst="rect">
            <a:avLst/>
          </a:prstGeom>
          <a:noFill/>
          <a:ln/>
        </p:spPr>
        <p:txBody>
          <a:bodyPr wrap="square" lIns="0" tIns="0" rIns="0" bIns="0" rtlCol="0" anchor="ctr"/>
          <a:lstStyle/>
          <a:p>
            <a:pPr marL="0" indent="0">
              <a:buNone/>
            </a:pPr>
            <a:r>
              <a:rPr lang="en-US" sz="2200" b="1" dirty="0">
                <a:solidFill>
                  <a:srgbClr val="7CE38B"/>
                </a:solidFill>
                <a:latin typeface="Consolas" pitchFamily="34" charset="0"/>
                <a:ea typeface="Consolas" pitchFamily="34" charset="-122"/>
                <a:cs typeface="Consolas" pitchFamily="34" charset="-120"/>
              </a:rPr>
              <a:t>$ </a:t>
            </a:r>
            <a:r>
              <a:rPr lang="en-US" sz="2200" b="1" dirty="0">
                <a:solidFill>
                  <a:srgbClr val="E6EDF3"/>
                </a:solidFill>
                <a:latin typeface="Consolas" pitchFamily="34" charset="0"/>
                <a:ea typeface="Consolas" pitchFamily="34" charset="-122"/>
                <a:cs typeface="Consolas" pitchFamily="34" charset="-120"/>
              </a:rPr>
              <a:t>product-engineering-template</a:t>
            </a:r>
            <a:r>
              <a:rPr lang="en-US" sz="2200" dirty="0">
                <a:solidFill>
                  <a:srgbClr val="79C0FF"/>
                </a:solidFill>
                <a:latin typeface="Consolas" pitchFamily="34" charset="0"/>
                <a:ea typeface="Consolas" pitchFamily="34" charset="-122"/>
                <a:cs typeface="Consolas" pitchFamily="34" charset="-120"/>
              </a:rPr>
              <a:t> --start</a:t>
            </a:r>
            <a:endParaRPr lang="en-US" sz="2200" dirty="0"/>
          </a:p>
        </p:txBody>
      </p:sp>
      <p:sp>
        <p:nvSpPr>
          <p:cNvPr id="4" name="Text 2"/>
          <p:cNvSpPr/>
          <p:nvPr/>
        </p:nvSpPr>
        <p:spPr>
          <a:xfrm>
            <a:off x="548640" y="2560320"/>
            <a:ext cx="10972800" cy="1828800"/>
          </a:xfrm>
          <a:prstGeom prst="rect">
            <a:avLst/>
          </a:prstGeom>
          <a:noFill/>
          <a:ln/>
        </p:spPr>
        <p:txBody>
          <a:bodyPr wrap="square" lIns="0" tIns="0" rIns="0" bIns="0" rtlCol="0" anchor="ctr"/>
          <a:lstStyle/>
          <a:p>
            <a:pPr marL="0" indent="0">
              <a:lnSpc>
                <a:spcPct val="95000"/>
              </a:lnSpc>
              <a:buNone/>
            </a:pPr>
            <a:r>
              <a:rPr lang="en-US" sz="6000" b="1" kern="0" spc="200" dirty="0">
                <a:solidFill>
                  <a:srgbClr val="E6EDF3"/>
                </a:solidFill>
                <a:latin typeface="Consolas" pitchFamily="34" charset="0"/>
                <a:ea typeface="Consolas" pitchFamily="34" charset="-122"/>
                <a:cs typeface="Consolas" pitchFamily="34" charset="-120"/>
              </a:rPr>
              <a:t>PRODUCT ENGINEERING</a:t>
            </a:r>
            <a:endParaRPr lang="en-US" sz="6000" dirty="0"/>
          </a:p>
          <a:p>
            <a:pPr marL="0" indent="0">
              <a:lnSpc>
                <a:spcPct val="95000"/>
              </a:lnSpc>
              <a:buNone/>
            </a:pPr>
            <a:r>
              <a:rPr lang="en-US" sz="6000" b="1" kern="0" spc="200" dirty="0">
                <a:solidFill>
                  <a:srgbClr val="E6EDF3"/>
                </a:solidFill>
                <a:latin typeface="Consolas" pitchFamily="34" charset="0"/>
                <a:ea typeface="Consolas" pitchFamily="34" charset="-122"/>
                <a:cs typeface="Consolas" pitchFamily="34" charset="-120"/>
              </a:rPr>
              <a:t>AGENT FRAMEWORK</a:t>
            </a:r>
            <a:endParaRPr lang="en-US" sz="6000" dirty="0"/>
          </a:p>
        </p:txBody>
      </p:sp>
      <p:sp>
        <p:nvSpPr>
          <p:cNvPr id="5" name="Text 3"/>
          <p:cNvSpPr/>
          <p:nvPr/>
        </p:nvSpPr>
        <p:spPr>
          <a:xfrm>
            <a:off x="548640" y="4572000"/>
            <a:ext cx="10972800" cy="1005840"/>
          </a:xfrm>
          <a:prstGeom prst="rect">
            <a:avLst/>
          </a:prstGeom>
          <a:noFill/>
          <a:ln/>
        </p:spPr>
        <p:txBody>
          <a:bodyPr wrap="square" lIns="0" tIns="0" rIns="0" bIns="0" rtlCol="0" anchor="ctr"/>
          <a:lstStyle/>
          <a:p>
            <a:pPr marL="0" indent="0">
              <a:buNone/>
            </a:pPr>
            <a:r>
              <a:rPr lang="en-US" sz="1600" i="1" dirty="0">
                <a:solidFill>
                  <a:srgbClr val="8B949E"/>
                </a:solidFill>
                <a:latin typeface="Calibri" pitchFamily="34" charset="0"/>
                <a:ea typeface="Calibri" pitchFamily="34" charset="-122"/>
                <a:cs typeface="Calibri" pitchFamily="34" charset="-120"/>
              </a:rPr>
              <a:t>Một đội kỹ sư sản phẩm AI trên tmux — 9 vai trò, 9 pane, 9 model.</a:t>
            </a:r>
            <a:endParaRPr lang="en-US" sz="1600" dirty="0"/>
          </a:p>
          <a:p>
            <a:pPr marL="0" indent="0">
              <a:buNone/>
            </a:pPr>
            <a:r>
              <a:rPr lang="en-US" sz="1600" i="1" dirty="0">
                <a:solidFill>
                  <a:srgbClr val="8B949E"/>
                </a:solidFill>
                <a:latin typeface="Calibri" pitchFamily="34" charset="0"/>
                <a:ea typeface="Calibri" pitchFamily="34" charset="-122"/>
                <a:cs typeface="Calibri" pitchFamily="34" charset="-120"/>
              </a:rPr>
              <a:t>Học theo nguyên lý BMAD. Talk với Orchestrator, để cả đội cùng làm việc.</a:t>
            </a:r>
            <a:endParaRPr lang="en-US" sz="1600" dirty="0"/>
          </a:p>
        </p:txBody>
      </p:sp>
      <p:sp>
        <p:nvSpPr>
          <p:cNvPr id="6" name="Text 4"/>
          <p:cNvSpPr/>
          <p:nvPr/>
        </p:nvSpPr>
        <p:spPr>
          <a:xfrm>
            <a:off x="548640" y="6035040"/>
            <a:ext cx="10972800" cy="320040"/>
          </a:xfrm>
          <a:prstGeom prst="rect">
            <a:avLst/>
          </a:prstGeom>
          <a:noFill/>
          <a:ln/>
        </p:spPr>
        <p:txBody>
          <a:bodyPr wrap="square" lIns="0" tIns="0" rIns="0" bIns="0" rtlCol="0" anchor="ctr"/>
          <a:lstStyle/>
          <a:p>
            <a:pPr marL="0" indent="0">
              <a:buNone/>
            </a:pPr>
            <a:r>
              <a:rPr lang="en-US" sz="1200" dirty="0">
                <a:solidFill>
                  <a:srgbClr val="7CE38B"/>
                </a:solidFill>
                <a:latin typeface="Consolas" pitchFamily="34" charset="0"/>
                <a:ea typeface="Consolas" pitchFamily="34" charset="-122"/>
                <a:cs typeface="Consolas" pitchFamily="34" charset="-120"/>
              </a:rPr>
              <a:t>v10.12</a:t>
            </a:r>
            <a:r>
              <a:rPr lang="en-US" sz="1200" dirty="0">
                <a:solidFill>
                  <a:srgbClr val="8B949E"/>
                </a:solidFill>
                <a:latin typeface="Consolas" pitchFamily="34" charset="0"/>
                <a:ea typeface="Consolas" pitchFamily="34" charset="-122"/>
                <a:cs typeface="Consolas" pitchFamily="34" charset="-120"/>
              </a:rPr>
              <a:t>  •  </a:t>
            </a:r>
            <a:r>
              <a:rPr lang="en-US" sz="1200" dirty="0">
                <a:solidFill>
                  <a:srgbClr val="E6EDF3"/>
                </a:solidFill>
                <a:latin typeface="Consolas" pitchFamily="34" charset="0"/>
                <a:ea typeface="Consolas" pitchFamily="34" charset="-122"/>
                <a:cs typeface="Consolas" pitchFamily="34" charset="-120"/>
              </a:rPr>
              <a:t>Onboarding deck</a:t>
            </a:r>
            <a:r>
              <a:rPr lang="en-US" sz="1200" dirty="0">
                <a:solidFill>
                  <a:srgbClr val="8B949E"/>
                </a:solidFill>
                <a:latin typeface="Consolas" pitchFamily="34" charset="0"/>
                <a:ea typeface="Consolas" pitchFamily="34" charset="-122"/>
                <a:cs typeface="Consolas" pitchFamily="34" charset="-120"/>
              </a:rPr>
              <a:t>  •  </a:t>
            </a:r>
            <a:r>
              <a:rPr lang="en-US" sz="1200" dirty="0">
                <a:solidFill>
                  <a:srgbClr val="79C0FF"/>
                </a:solidFill>
                <a:latin typeface="Consolas" pitchFamily="34" charset="0"/>
                <a:ea typeface="Consolas" pitchFamily="34" charset="-122"/>
                <a:cs typeface="Consolas" pitchFamily="34" charset="-120"/>
              </a:rPr>
              <a:t>Tuan M. Pham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28600"/>
            <a:ext cx="8229600" cy="274320"/>
          </a:xfrm>
          <a:prstGeom prst="rect">
            <a:avLst/>
          </a:prstGeom>
          <a:noFill/>
        </p:spPr>
        <p:txBody>
          <a:bodyPr wrap="none" lIns="0" tIns="0">
            <a:spAutoFit/>
          </a:bodyPr>
          <a:lstStyle/>
          <a:p>
            <a:r>
              <a:rPr sz="1100">
                <a:solidFill>
                  <a:srgbClr val="2EA043"/>
                </a:solidFill>
                <a:latin typeface="Consolas"/>
              </a:rPr>
              <a:t>$ </a:t>
            </a:r>
            <a:r>
              <a:rPr sz="1100">
                <a:solidFill>
                  <a:srgbClr val="8B949E"/>
                </a:solidFill>
                <a:latin typeface="Consolas"/>
              </a:rPr>
              <a:t>01_traditional_team.md</a:t>
            </a:r>
          </a:p>
        </p:txBody>
      </p:sp>
      <p:sp>
        <p:nvSpPr>
          <p:cNvPr id="4" name="TextBox 3"/>
          <p:cNvSpPr txBox="1"/>
          <p:nvPr/>
        </p:nvSpPr>
        <p:spPr>
          <a:xfrm>
            <a:off x="365760" y="548640"/>
            <a:ext cx="11430000" cy="640080"/>
          </a:xfrm>
          <a:prstGeom prst="rect">
            <a:avLst/>
          </a:prstGeom>
          <a:noFill/>
        </p:spPr>
        <p:txBody>
          <a:bodyPr wrap="square" lIns="0" tIns="0" rIns="0" bIns="0" anchor="t">
            <a:spAutoFit/>
          </a:bodyPr>
          <a:lstStyle/>
          <a:p>
            <a:pPr algn="l"/>
            <a:r>
              <a:rPr sz="3000" b="0" i="0">
                <a:solidFill>
                  <a:srgbClr val="E6EDF3"/>
                </a:solidFill>
                <a:latin typeface="Consolas"/>
              </a:rPr>
              <a:t>Trước khi có AI: team 8 nhân sự, user là PM</a:t>
            </a:r>
          </a:p>
        </p:txBody>
      </p:sp>
      <p:sp>
        <p:nvSpPr>
          <p:cNvPr id="5" name="TextBox 4"/>
          <p:cNvSpPr txBox="1"/>
          <p:nvPr/>
        </p:nvSpPr>
        <p:spPr>
          <a:xfrm>
            <a:off x="365760" y="1143000"/>
            <a:ext cx="11430000" cy="365760"/>
          </a:xfrm>
          <a:prstGeom prst="rect">
            <a:avLst/>
          </a:prstGeom>
          <a:noFill/>
        </p:spPr>
        <p:txBody>
          <a:bodyPr wrap="square" lIns="0" tIns="0" rIns="0" bIns="0" anchor="t">
            <a:spAutoFit/>
          </a:bodyPr>
          <a:lstStyle/>
          <a:p>
            <a:pPr algn="l"/>
            <a:r>
              <a:rPr sz="1400" b="0" i="0">
                <a:solidFill>
                  <a:srgbClr val="8B949E"/>
                </a:solidFill>
                <a:latin typeface="Calibri"/>
              </a:rPr>
              <a:t>Workflow truyền thống — user phải tự coordinate, meetings overhead, weeks-to-months timeline</a:t>
            </a:r>
          </a:p>
        </p:txBody>
      </p:sp>
      <p:sp>
        <p:nvSpPr>
          <p:cNvPr id="6" name="Rounded Rectangle 5"/>
          <p:cNvSpPr/>
          <p:nvPr/>
        </p:nvSpPr>
        <p:spPr>
          <a:xfrm>
            <a:off x="4937760" y="1691640"/>
            <a:ext cx="2331720" cy="594360"/>
          </a:xfrm>
          <a:prstGeom prst="roundRect">
            <a:avLst>
              <a:gd name="adj" fmla="val 10000"/>
            </a:avLst>
          </a:prstGeom>
          <a:solidFill>
            <a:srgbClr val="1F262E"/>
          </a:solidFill>
          <a:ln w="19050">
            <a:solidFill>
              <a:srgbClr val="F1E05A"/>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200" b="1">
                <a:solidFill>
                  <a:srgbClr val="F1E05A"/>
                </a:solidFill>
                <a:latin typeface="Consolas"/>
              </a:rPr>
              <a:t>USER (Project Manager)
tự coordinate 8 nhân sự</a:t>
            </a:r>
          </a:p>
        </p:txBody>
      </p:sp>
      <p:cxnSp>
        <p:nvCxnSpPr>
          <p:cNvPr id="7" name="Connector 6"/>
          <p:cNvCxnSpPr/>
          <p:nvPr/>
        </p:nvCxnSpPr>
        <p:spPr>
          <a:xfrm>
            <a:off x="6099048" y="2286000"/>
            <a:ext cx="0" cy="274320"/>
          </a:xfrm>
          <a:prstGeom prst="line">
            <a:avLst/>
          </a:prstGeom>
          <a:ln w="25400">
            <a:solidFill>
              <a:srgbClr val="F1E0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457200" y="2560320"/>
            <a:ext cx="11247120" cy="1188720"/>
          </a:xfrm>
          <a:prstGeom prst="roundRect">
            <a:avLst>
              <a:gd name="adj" fmla="val 10000"/>
            </a:avLst>
          </a:prstGeom>
          <a:solidFill>
            <a:srgbClr val="161B22"/>
          </a:solidFill>
          <a:ln w="19050">
            <a:solidFill>
              <a:srgbClr val="FB8332"/>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a:p>
        </p:txBody>
      </p:sp>
      <p:sp>
        <p:nvSpPr>
          <p:cNvPr id="9" name="TextBox 8"/>
          <p:cNvSpPr txBox="1"/>
          <p:nvPr/>
        </p:nvSpPr>
        <p:spPr>
          <a:xfrm>
            <a:off x="640080" y="2651760"/>
            <a:ext cx="10881360" cy="274320"/>
          </a:xfrm>
          <a:prstGeom prst="rect">
            <a:avLst/>
          </a:prstGeom>
          <a:noFill/>
        </p:spPr>
        <p:txBody>
          <a:bodyPr wrap="square" lIns="0" tIns="0" rIns="0" bIns="0" anchor="t">
            <a:spAutoFit/>
          </a:bodyPr>
          <a:lstStyle/>
          <a:p>
            <a:pPr algn="l"/>
            <a:r>
              <a:rPr sz="1400" b="1" i="0">
                <a:solidFill>
                  <a:srgbClr val="FB8332"/>
                </a:solidFill>
                <a:latin typeface="Consolas"/>
              </a:rPr>
              <a:t>⚙ Coordination overhead</a:t>
            </a:r>
          </a:p>
        </p:txBody>
      </p:sp>
      <p:sp>
        <p:nvSpPr>
          <p:cNvPr id="10" name="TextBox 9"/>
          <p:cNvSpPr txBox="1"/>
          <p:nvPr/>
        </p:nvSpPr>
        <p:spPr>
          <a:xfrm>
            <a:off x="640080" y="2971800"/>
            <a:ext cx="10881360" cy="777240"/>
          </a:xfrm>
          <a:prstGeom prst="rect">
            <a:avLst/>
          </a:prstGeom>
          <a:noFill/>
        </p:spPr>
        <p:txBody>
          <a:bodyPr wrap="square" lIns="0" tIns="0" rIns="0" bIns="0" anchor="t">
            <a:spAutoFit/>
          </a:bodyPr>
          <a:lstStyle/>
          <a:p>
            <a:pPr algn="ctr"/>
            <a:r>
              <a:rPr sz="1100" b="0" i="0">
                <a:solidFill>
                  <a:srgbClr val="E6EDF3"/>
                </a:solidFill>
                <a:latin typeface="Consolas"/>
              </a:rPr>
              <a:t>Daily standup · Sprint planning · Backlog grooming · Tech sync · Design review</a:t>
            </a:r>
          </a:p>
          <a:p>
            <a:pPr algn="ctr"/>
            <a:r>
              <a:rPr sz="1100" b="0" i="0">
                <a:solidFill>
                  <a:srgbClr val="E6EDF3"/>
                </a:solidFill>
                <a:latin typeface="Consolas"/>
              </a:rPr>
              <a:t>Slack threads · Jira tickets · Email · PR review · Status reports</a:t>
            </a:r>
          </a:p>
          <a:p>
            <a:pPr algn="ctr"/>
            <a:r>
              <a:rPr sz="1100" b="0" i="0">
                <a:solidFill>
                  <a:srgbClr val="E6EDF3"/>
                </a:solidFill>
                <a:latin typeface="Consolas"/>
              </a:rPr>
              <a:t>→ User dành 30-40% thời gian chỉ để điều phối, chưa kể conflict resolution</a:t>
            </a:r>
          </a:p>
        </p:txBody>
      </p:sp>
      <p:cxnSp>
        <p:nvCxnSpPr>
          <p:cNvPr id="11" name="Connector 10"/>
          <p:cNvCxnSpPr/>
          <p:nvPr/>
        </p:nvCxnSpPr>
        <p:spPr>
          <a:xfrm>
            <a:off x="6099048" y="3749039"/>
            <a:ext cx="0" cy="274321"/>
          </a:xfrm>
          <a:prstGeom prst="line">
            <a:avLst/>
          </a:prstGeom>
          <a:ln w="25400">
            <a:solidFill>
              <a:srgbClr val="FB833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860907" y="4069080"/>
            <a:ext cx="1188720" cy="502920"/>
          </a:xfrm>
          <a:prstGeom prst="roundRect">
            <a:avLst>
              <a:gd name="adj" fmla="val 10000"/>
            </a:avLst>
          </a:prstGeom>
          <a:solidFill>
            <a:srgbClr val="1F262E"/>
          </a:solidFill>
          <a:ln w="19050">
            <a:solidFill>
              <a:srgbClr val="2EA043"/>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400" b="1">
                <a:solidFill>
                  <a:srgbClr val="7CE38B"/>
                </a:solidFill>
                <a:latin typeface="Consolas"/>
              </a:rPr>
              <a:t>PM</a:t>
            </a:r>
          </a:p>
        </p:txBody>
      </p:sp>
      <p:sp>
        <p:nvSpPr>
          <p:cNvPr id="13" name="TextBox 12"/>
          <p:cNvSpPr txBox="1"/>
          <p:nvPr/>
        </p:nvSpPr>
        <p:spPr>
          <a:xfrm>
            <a:off x="815187" y="4617720"/>
            <a:ext cx="1280160" cy="502920"/>
          </a:xfrm>
          <a:prstGeom prst="rect">
            <a:avLst/>
          </a:prstGeom>
          <a:noFill/>
        </p:spPr>
        <p:txBody>
          <a:bodyPr wrap="square" lIns="0" tIns="0" rIns="0" bIns="0" anchor="t">
            <a:spAutoFit/>
          </a:bodyPr>
          <a:lstStyle/>
          <a:p>
            <a:pPr algn="ctr"/>
            <a:r>
              <a:rPr sz="900" b="0" i="1">
                <a:solidFill>
                  <a:srgbClr val="8B949E"/>
                </a:solidFill>
                <a:latin typeface="Calibri"/>
              </a:rPr>
              <a:t>Product Manager</a:t>
            </a:r>
          </a:p>
        </p:txBody>
      </p:sp>
      <p:sp>
        <p:nvSpPr>
          <p:cNvPr id="14" name="Rounded Rectangle 13"/>
          <p:cNvSpPr/>
          <p:nvPr/>
        </p:nvSpPr>
        <p:spPr>
          <a:xfrm>
            <a:off x="2186787" y="4069080"/>
            <a:ext cx="1188720" cy="502920"/>
          </a:xfrm>
          <a:prstGeom prst="roundRect">
            <a:avLst>
              <a:gd name="adj" fmla="val 10000"/>
            </a:avLst>
          </a:prstGeom>
          <a:solidFill>
            <a:srgbClr val="1F262E"/>
          </a:solidFill>
          <a:ln w="19050">
            <a:solidFill>
              <a:srgbClr val="2EA043"/>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400" b="1">
                <a:solidFill>
                  <a:srgbClr val="7CE38B"/>
                </a:solidFill>
                <a:latin typeface="Consolas"/>
              </a:rPr>
              <a:t>SA</a:t>
            </a:r>
          </a:p>
        </p:txBody>
      </p:sp>
      <p:sp>
        <p:nvSpPr>
          <p:cNvPr id="15" name="TextBox 14"/>
          <p:cNvSpPr txBox="1"/>
          <p:nvPr/>
        </p:nvSpPr>
        <p:spPr>
          <a:xfrm>
            <a:off x="2141067" y="4617720"/>
            <a:ext cx="1280160" cy="502920"/>
          </a:xfrm>
          <a:prstGeom prst="rect">
            <a:avLst/>
          </a:prstGeom>
          <a:noFill/>
        </p:spPr>
        <p:txBody>
          <a:bodyPr wrap="square" lIns="0" tIns="0" rIns="0" bIns="0" anchor="t">
            <a:spAutoFit/>
          </a:bodyPr>
          <a:lstStyle/>
          <a:p>
            <a:pPr algn="ctr"/>
            <a:r>
              <a:rPr sz="900" b="0" i="1">
                <a:solidFill>
                  <a:srgbClr val="8B949E"/>
                </a:solidFill>
                <a:latin typeface="Calibri"/>
              </a:rPr>
              <a:t>Solution Architect</a:t>
            </a:r>
          </a:p>
        </p:txBody>
      </p:sp>
      <p:sp>
        <p:nvSpPr>
          <p:cNvPr id="16" name="Rounded Rectangle 15"/>
          <p:cNvSpPr/>
          <p:nvPr/>
        </p:nvSpPr>
        <p:spPr>
          <a:xfrm>
            <a:off x="3512667" y="4069080"/>
            <a:ext cx="1188720" cy="502920"/>
          </a:xfrm>
          <a:prstGeom prst="roundRect">
            <a:avLst>
              <a:gd name="adj" fmla="val 10000"/>
            </a:avLst>
          </a:prstGeom>
          <a:solidFill>
            <a:srgbClr val="1F262E"/>
          </a:solidFill>
          <a:ln w="19050">
            <a:solidFill>
              <a:srgbClr val="2EA043"/>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400" b="1">
                <a:solidFill>
                  <a:srgbClr val="7CE38B"/>
                </a:solidFill>
                <a:latin typeface="Consolas"/>
              </a:rPr>
              <a:t>BA</a:t>
            </a:r>
          </a:p>
        </p:txBody>
      </p:sp>
      <p:sp>
        <p:nvSpPr>
          <p:cNvPr id="17" name="TextBox 16"/>
          <p:cNvSpPr txBox="1"/>
          <p:nvPr/>
        </p:nvSpPr>
        <p:spPr>
          <a:xfrm>
            <a:off x="3466947" y="4617720"/>
            <a:ext cx="1280160" cy="502920"/>
          </a:xfrm>
          <a:prstGeom prst="rect">
            <a:avLst/>
          </a:prstGeom>
          <a:noFill/>
        </p:spPr>
        <p:txBody>
          <a:bodyPr wrap="square" lIns="0" tIns="0" rIns="0" bIns="0" anchor="t">
            <a:spAutoFit/>
          </a:bodyPr>
          <a:lstStyle/>
          <a:p>
            <a:pPr algn="ctr"/>
            <a:r>
              <a:rPr sz="900" b="0" i="1">
                <a:solidFill>
                  <a:srgbClr val="8B949E"/>
                </a:solidFill>
                <a:latin typeface="Calibri"/>
              </a:rPr>
              <a:t>Business Analyst</a:t>
            </a:r>
          </a:p>
        </p:txBody>
      </p:sp>
      <p:sp>
        <p:nvSpPr>
          <p:cNvPr id="18" name="Rounded Rectangle 17"/>
          <p:cNvSpPr/>
          <p:nvPr/>
        </p:nvSpPr>
        <p:spPr>
          <a:xfrm>
            <a:off x="4838547" y="4069080"/>
            <a:ext cx="1188720" cy="502920"/>
          </a:xfrm>
          <a:prstGeom prst="roundRect">
            <a:avLst>
              <a:gd name="adj" fmla="val 10000"/>
            </a:avLst>
          </a:prstGeom>
          <a:solidFill>
            <a:srgbClr val="1F262E"/>
          </a:solidFill>
          <a:ln w="19050">
            <a:solidFill>
              <a:srgbClr val="2EA043"/>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400" b="1">
                <a:solidFill>
                  <a:srgbClr val="7CE38B"/>
                </a:solidFill>
                <a:latin typeface="Consolas"/>
              </a:rPr>
              <a:t>UX</a:t>
            </a:r>
          </a:p>
        </p:txBody>
      </p:sp>
      <p:sp>
        <p:nvSpPr>
          <p:cNvPr id="19" name="TextBox 18"/>
          <p:cNvSpPr txBox="1"/>
          <p:nvPr/>
        </p:nvSpPr>
        <p:spPr>
          <a:xfrm>
            <a:off x="4792827" y="4617720"/>
            <a:ext cx="1280160" cy="502920"/>
          </a:xfrm>
          <a:prstGeom prst="rect">
            <a:avLst/>
          </a:prstGeom>
          <a:noFill/>
        </p:spPr>
        <p:txBody>
          <a:bodyPr wrap="square" lIns="0" tIns="0" rIns="0" bIns="0" anchor="t">
            <a:spAutoFit/>
          </a:bodyPr>
          <a:lstStyle/>
          <a:p>
            <a:pPr algn="ctr"/>
            <a:r>
              <a:rPr sz="900" b="0" i="1">
                <a:solidFill>
                  <a:srgbClr val="8B949E"/>
                </a:solidFill>
                <a:latin typeface="Calibri"/>
              </a:rPr>
              <a:t>UX Designer</a:t>
            </a:r>
          </a:p>
        </p:txBody>
      </p:sp>
      <p:sp>
        <p:nvSpPr>
          <p:cNvPr id="20" name="Rounded Rectangle 19"/>
          <p:cNvSpPr/>
          <p:nvPr/>
        </p:nvSpPr>
        <p:spPr>
          <a:xfrm>
            <a:off x="6164427" y="4069080"/>
            <a:ext cx="1188720" cy="502920"/>
          </a:xfrm>
          <a:prstGeom prst="roundRect">
            <a:avLst>
              <a:gd name="adj" fmla="val 10000"/>
            </a:avLst>
          </a:prstGeom>
          <a:solidFill>
            <a:srgbClr val="1F262E"/>
          </a:solidFill>
          <a:ln w="19050">
            <a:solidFill>
              <a:srgbClr val="2EA043"/>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400" b="1">
                <a:solidFill>
                  <a:srgbClr val="7CE38B"/>
                </a:solidFill>
                <a:latin typeface="Consolas"/>
              </a:rPr>
              <a:t>BE</a:t>
            </a:r>
          </a:p>
        </p:txBody>
      </p:sp>
      <p:sp>
        <p:nvSpPr>
          <p:cNvPr id="21" name="TextBox 20"/>
          <p:cNvSpPr txBox="1"/>
          <p:nvPr/>
        </p:nvSpPr>
        <p:spPr>
          <a:xfrm>
            <a:off x="6118707" y="4617720"/>
            <a:ext cx="1280160" cy="502920"/>
          </a:xfrm>
          <a:prstGeom prst="rect">
            <a:avLst/>
          </a:prstGeom>
          <a:noFill/>
        </p:spPr>
        <p:txBody>
          <a:bodyPr wrap="square" lIns="0" tIns="0" rIns="0" bIns="0" anchor="t">
            <a:spAutoFit/>
          </a:bodyPr>
          <a:lstStyle/>
          <a:p>
            <a:pPr algn="ctr"/>
            <a:r>
              <a:rPr sz="900" b="0" i="1">
                <a:solidFill>
                  <a:srgbClr val="8B949E"/>
                </a:solidFill>
                <a:latin typeface="Calibri"/>
              </a:rPr>
              <a:t>Backend Engineer</a:t>
            </a:r>
          </a:p>
        </p:txBody>
      </p:sp>
      <p:sp>
        <p:nvSpPr>
          <p:cNvPr id="22" name="Rounded Rectangle 21"/>
          <p:cNvSpPr/>
          <p:nvPr/>
        </p:nvSpPr>
        <p:spPr>
          <a:xfrm>
            <a:off x="7490307" y="4069080"/>
            <a:ext cx="1188720" cy="502920"/>
          </a:xfrm>
          <a:prstGeom prst="roundRect">
            <a:avLst>
              <a:gd name="adj" fmla="val 10000"/>
            </a:avLst>
          </a:prstGeom>
          <a:solidFill>
            <a:srgbClr val="1F262E"/>
          </a:solidFill>
          <a:ln w="19050">
            <a:solidFill>
              <a:srgbClr val="2EA043"/>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400" b="1">
                <a:solidFill>
                  <a:srgbClr val="7CE38B"/>
                </a:solidFill>
                <a:latin typeface="Consolas"/>
              </a:rPr>
              <a:t>FE</a:t>
            </a:r>
          </a:p>
        </p:txBody>
      </p:sp>
      <p:sp>
        <p:nvSpPr>
          <p:cNvPr id="23" name="TextBox 22"/>
          <p:cNvSpPr txBox="1"/>
          <p:nvPr/>
        </p:nvSpPr>
        <p:spPr>
          <a:xfrm>
            <a:off x="7444587" y="4617720"/>
            <a:ext cx="1280160" cy="502920"/>
          </a:xfrm>
          <a:prstGeom prst="rect">
            <a:avLst/>
          </a:prstGeom>
          <a:noFill/>
        </p:spPr>
        <p:txBody>
          <a:bodyPr wrap="square" lIns="0" tIns="0" rIns="0" bIns="0" anchor="t">
            <a:spAutoFit/>
          </a:bodyPr>
          <a:lstStyle/>
          <a:p>
            <a:pPr algn="ctr"/>
            <a:r>
              <a:rPr sz="900" b="0" i="1">
                <a:solidFill>
                  <a:srgbClr val="8B949E"/>
                </a:solidFill>
                <a:latin typeface="Calibri"/>
              </a:rPr>
              <a:t>Frontend Engineer</a:t>
            </a:r>
          </a:p>
        </p:txBody>
      </p:sp>
      <p:sp>
        <p:nvSpPr>
          <p:cNvPr id="24" name="Rounded Rectangle 23"/>
          <p:cNvSpPr/>
          <p:nvPr/>
        </p:nvSpPr>
        <p:spPr>
          <a:xfrm>
            <a:off x="8816187" y="4069080"/>
            <a:ext cx="1188720" cy="502920"/>
          </a:xfrm>
          <a:prstGeom prst="roundRect">
            <a:avLst>
              <a:gd name="adj" fmla="val 10000"/>
            </a:avLst>
          </a:prstGeom>
          <a:solidFill>
            <a:srgbClr val="1F262E"/>
          </a:solidFill>
          <a:ln w="19050">
            <a:solidFill>
              <a:srgbClr val="2EA043"/>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400" b="1">
                <a:solidFill>
                  <a:srgbClr val="7CE38B"/>
                </a:solidFill>
                <a:latin typeface="Consolas"/>
              </a:rPr>
              <a:t>QA</a:t>
            </a:r>
          </a:p>
        </p:txBody>
      </p:sp>
      <p:sp>
        <p:nvSpPr>
          <p:cNvPr id="25" name="TextBox 24"/>
          <p:cNvSpPr txBox="1"/>
          <p:nvPr/>
        </p:nvSpPr>
        <p:spPr>
          <a:xfrm>
            <a:off x="8770467" y="4617720"/>
            <a:ext cx="1280160" cy="502920"/>
          </a:xfrm>
          <a:prstGeom prst="rect">
            <a:avLst/>
          </a:prstGeom>
          <a:noFill/>
        </p:spPr>
        <p:txBody>
          <a:bodyPr wrap="square" lIns="0" tIns="0" rIns="0" bIns="0" anchor="t">
            <a:spAutoFit/>
          </a:bodyPr>
          <a:lstStyle/>
          <a:p>
            <a:pPr algn="ctr"/>
            <a:r>
              <a:rPr sz="900" b="0" i="1">
                <a:solidFill>
                  <a:srgbClr val="8B949E"/>
                </a:solidFill>
                <a:latin typeface="Calibri"/>
              </a:rPr>
              <a:t>Quality Assurance</a:t>
            </a:r>
          </a:p>
        </p:txBody>
      </p:sp>
      <p:sp>
        <p:nvSpPr>
          <p:cNvPr id="26" name="Rounded Rectangle 25"/>
          <p:cNvSpPr/>
          <p:nvPr/>
        </p:nvSpPr>
        <p:spPr>
          <a:xfrm>
            <a:off x="10142067" y="4069080"/>
            <a:ext cx="1188720" cy="502920"/>
          </a:xfrm>
          <a:prstGeom prst="roundRect">
            <a:avLst>
              <a:gd name="adj" fmla="val 10000"/>
            </a:avLst>
          </a:prstGeom>
          <a:solidFill>
            <a:srgbClr val="1F262E"/>
          </a:solidFill>
          <a:ln w="19050">
            <a:solidFill>
              <a:srgbClr val="2EA043"/>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400" b="1">
                <a:solidFill>
                  <a:srgbClr val="7CE38B"/>
                </a:solidFill>
                <a:latin typeface="Consolas"/>
              </a:rPr>
              <a:t>Del</a:t>
            </a:r>
          </a:p>
        </p:txBody>
      </p:sp>
      <p:sp>
        <p:nvSpPr>
          <p:cNvPr id="27" name="TextBox 26"/>
          <p:cNvSpPr txBox="1"/>
          <p:nvPr/>
        </p:nvSpPr>
        <p:spPr>
          <a:xfrm>
            <a:off x="10096347" y="4617720"/>
            <a:ext cx="1280160" cy="502920"/>
          </a:xfrm>
          <a:prstGeom prst="rect">
            <a:avLst/>
          </a:prstGeom>
          <a:noFill/>
        </p:spPr>
        <p:txBody>
          <a:bodyPr wrap="square" lIns="0" tIns="0" rIns="0" bIns="0" anchor="t">
            <a:spAutoFit/>
          </a:bodyPr>
          <a:lstStyle/>
          <a:p>
            <a:pPr algn="ctr"/>
            <a:r>
              <a:rPr sz="900" b="0" i="1">
                <a:solidFill>
                  <a:srgbClr val="8B949E"/>
                </a:solidFill>
                <a:latin typeface="Calibri"/>
              </a:rPr>
              <a:t>Delivery / DevOps</a:t>
            </a:r>
          </a:p>
        </p:txBody>
      </p:sp>
      <p:cxnSp>
        <p:nvCxnSpPr>
          <p:cNvPr id="28" name="Connector 27"/>
          <p:cNvCxnSpPr/>
          <p:nvPr/>
        </p:nvCxnSpPr>
        <p:spPr>
          <a:xfrm>
            <a:off x="6099048" y="5257800"/>
            <a:ext cx="0" cy="274320"/>
          </a:xfrm>
          <a:prstGeom prst="line">
            <a:avLst/>
          </a:prstGeom>
          <a:ln w="25400">
            <a:solidFill>
              <a:srgbClr val="8B949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4023360" y="5532120"/>
            <a:ext cx="4160520" cy="457200"/>
          </a:xfrm>
          <a:prstGeom prst="roundRect">
            <a:avLst>
              <a:gd name="adj" fmla="val 10000"/>
            </a:avLst>
          </a:prstGeom>
          <a:solidFill>
            <a:srgbClr val="1F262E"/>
          </a:solidFill>
          <a:ln w="19050">
            <a:solidFill>
              <a:srgbClr val="2EA043"/>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200" b="1">
                <a:solidFill>
                  <a:srgbClr val="E6EDF3"/>
                </a:solidFill>
                <a:latin typeface="Consolas"/>
              </a:rPr>
              <a:t>Running App (weeks → months)</a:t>
            </a:r>
          </a:p>
        </p:txBody>
      </p:sp>
      <p:sp>
        <p:nvSpPr>
          <p:cNvPr id="30" name="TextBox 29"/>
          <p:cNvSpPr txBox="1"/>
          <p:nvPr/>
        </p:nvSpPr>
        <p:spPr>
          <a:xfrm>
            <a:off x="365760" y="6126480"/>
            <a:ext cx="11430000" cy="274320"/>
          </a:xfrm>
          <a:prstGeom prst="rect">
            <a:avLst/>
          </a:prstGeom>
          <a:noFill/>
        </p:spPr>
        <p:txBody>
          <a:bodyPr wrap="square" lIns="0" tIns="0" rIns="0" bIns="0" anchor="t">
            <a:spAutoFit/>
          </a:bodyPr>
          <a:lstStyle/>
          <a:p>
            <a:pPr algn="ctr"/>
            <a:r>
              <a:rPr sz="1100" b="0" i="1">
                <a:solidFill>
                  <a:srgbClr val="F1E05A"/>
                </a:solidFill>
                <a:latin typeface="Calibri"/>
              </a:rPr>
              <a:t>→ Slide tiếp theo: thay 8 nhân sự bằng 8 AI agents · thêm Orches coordinator · user khỏi điều phối</a:t>
            </a:r>
          </a:p>
        </p:txBody>
      </p:sp>
      <p:sp>
        <p:nvSpPr>
          <p:cNvPr id="31" name="TextBox 30"/>
          <p:cNvSpPr txBox="1"/>
          <p:nvPr/>
        </p:nvSpPr>
        <p:spPr>
          <a:xfrm>
            <a:off x="365760" y="6492240"/>
            <a:ext cx="1097280" cy="228600"/>
          </a:xfrm>
          <a:prstGeom prst="rect">
            <a:avLst/>
          </a:prstGeom>
          <a:noFill/>
        </p:spPr>
        <p:txBody>
          <a:bodyPr wrap="square" lIns="0" tIns="0" rIns="0" bIns="0" anchor="t">
            <a:spAutoFit/>
          </a:bodyPr>
          <a:lstStyle/>
          <a:p>
            <a:pPr algn="l"/>
            <a:r>
              <a:rPr sz="900" b="0" i="0">
                <a:solidFill>
                  <a:srgbClr val="8B949E"/>
                </a:solidFill>
                <a:latin typeface="Consolas"/>
              </a:rPr>
              <a:t>v10.23</a:t>
            </a:r>
          </a:p>
        </p:txBody>
      </p:sp>
      <p:sp>
        <p:nvSpPr>
          <p:cNvPr id="32" name="TextBox 31"/>
          <p:cNvSpPr txBox="1"/>
          <p:nvPr/>
        </p:nvSpPr>
        <p:spPr>
          <a:xfrm>
            <a:off x="4572000" y="6492240"/>
            <a:ext cx="6400800" cy="228600"/>
          </a:xfrm>
          <a:prstGeom prst="rect">
            <a:avLst/>
          </a:prstGeom>
          <a:noFill/>
        </p:spPr>
        <p:txBody>
          <a:bodyPr wrap="square" lIns="0" tIns="0" rIns="0" bIns="0" anchor="t">
            <a:spAutoFit/>
          </a:bodyPr>
          <a:lstStyle/>
          <a:p>
            <a:pPr algn="ctr"/>
            <a:r>
              <a:rPr sz="900" b="0" i="0">
                <a:solidFill>
                  <a:srgbClr val="8B949E"/>
                </a:solidFill>
                <a:latin typeface="Consolas"/>
              </a:rPr>
              <a:t>Product Engineering Agent Framework</a:t>
            </a:r>
          </a:p>
        </p:txBody>
      </p:sp>
      <p:sp>
        <p:nvSpPr>
          <p:cNvPr id="33" name="TextBox 32"/>
          <p:cNvSpPr txBox="1"/>
          <p:nvPr/>
        </p:nvSpPr>
        <p:spPr>
          <a:xfrm>
            <a:off x="11338560" y="6492240"/>
            <a:ext cx="731520" cy="228600"/>
          </a:xfrm>
          <a:prstGeom prst="rect">
            <a:avLst/>
          </a:prstGeom>
          <a:noFill/>
        </p:spPr>
        <p:txBody>
          <a:bodyPr wrap="square" lIns="0" tIns="0" rIns="0" bIns="0" anchor="t">
            <a:spAutoFit/>
          </a:bodyPr>
          <a:lstStyle/>
          <a:p>
            <a:pPr algn="r"/>
            <a:r>
              <a:rPr sz="900" b="0" i="0">
                <a:solidFill>
                  <a:srgbClr val="8B949E"/>
                </a:solidFill>
                <a:latin typeface="Consolas"/>
              </a:rPr>
              <a:t>2 / 40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28600"/>
            <a:ext cx="8229600" cy="274320"/>
          </a:xfrm>
          <a:prstGeom prst="rect">
            <a:avLst/>
          </a:prstGeom>
          <a:noFill/>
        </p:spPr>
        <p:txBody>
          <a:bodyPr wrap="none" lIns="0" tIns="0">
            <a:spAutoFit/>
          </a:bodyPr>
          <a:lstStyle/>
          <a:p>
            <a:r>
              <a:rPr sz="1100">
                <a:solidFill>
                  <a:srgbClr val="2EA043"/>
                </a:solidFill>
                <a:latin typeface="Consolas"/>
              </a:rPr>
              <a:t>$ </a:t>
            </a:r>
            <a:r>
              <a:rPr sz="1100">
                <a:solidFill>
                  <a:srgbClr val="8B949E"/>
                </a:solidFill>
                <a:latin typeface="Consolas"/>
              </a:rPr>
              <a:t>01_team_workflow.md</a:t>
            </a:r>
          </a:p>
        </p:txBody>
      </p:sp>
      <p:sp>
        <p:nvSpPr>
          <p:cNvPr id="4" name="TextBox 3"/>
          <p:cNvSpPr txBox="1"/>
          <p:nvPr/>
        </p:nvSpPr>
        <p:spPr>
          <a:xfrm>
            <a:off x="365760" y="548640"/>
            <a:ext cx="11430000" cy="640080"/>
          </a:xfrm>
          <a:prstGeom prst="rect">
            <a:avLst/>
          </a:prstGeom>
          <a:noFill/>
        </p:spPr>
        <p:txBody>
          <a:bodyPr wrap="square" lIns="0" tIns="0" rIns="0" bIns="0" anchor="t">
            <a:spAutoFit/>
          </a:bodyPr>
          <a:lstStyle/>
          <a:p>
            <a:pPr algn="l"/>
            <a:r>
              <a:rPr sz="3000" b="0" i="0">
                <a:solidFill>
                  <a:srgbClr val="E6EDF3"/>
                </a:solidFill>
                <a:latin typeface="Consolas"/>
              </a:rPr>
              <a:t>9 agents, 1 workflow</a:t>
            </a:r>
          </a:p>
        </p:txBody>
      </p:sp>
      <p:sp>
        <p:nvSpPr>
          <p:cNvPr id="5" name="TextBox 4"/>
          <p:cNvSpPr txBox="1"/>
          <p:nvPr/>
        </p:nvSpPr>
        <p:spPr>
          <a:xfrm>
            <a:off x="365760" y="1143000"/>
            <a:ext cx="11430000" cy="365760"/>
          </a:xfrm>
          <a:prstGeom prst="rect">
            <a:avLst/>
          </a:prstGeom>
          <a:noFill/>
        </p:spPr>
        <p:txBody>
          <a:bodyPr wrap="square" lIns="0" tIns="0" rIns="0" bIns="0" anchor="t">
            <a:spAutoFit/>
          </a:bodyPr>
          <a:lstStyle/>
          <a:p>
            <a:pPr algn="l"/>
            <a:r>
              <a:rPr sz="1400" b="0" i="0">
                <a:solidFill>
                  <a:srgbClr val="8B949E"/>
                </a:solidFill>
                <a:latin typeface="Calibri"/>
              </a:rPr>
              <a:t>Bạn nói chuyện với Orches → Orches phân việc cho 8 specialist → live app</a:t>
            </a:r>
          </a:p>
        </p:txBody>
      </p:sp>
      <p:sp>
        <p:nvSpPr>
          <p:cNvPr id="6" name="Rounded Rectangle 5"/>
          <p:cNvSpPr/>
          <p:nvPr/>
        </p:nvSpPr>
        <p:spPr>
          <a:xfrm>
            <a:off x="5413248" y="1691640"/>
            <a:ext cx="1371600" cy="457200"/>
          </a:xfrm>
          <a:prstGeom prst="roundRect">
            <a:avLst>
              <a:gd name="adj" fmla="val 10000"/>
            </a:avLst>
          </a:prstGeom>
          <a:solidFill>
            <a:srgbClr val="1F262E"/>
          </a:solidFill>
          <a:ln w="19050">
            <a:solidFill>
              <a:srgbClr val="F1E05A"/>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400" b="1">
                <a:solidFill>
                  <a:srgbClr val="F1E05A"/>
                </a:solidFill>
                <a:latin typeface="Consolas"/>
              </a:rPr>
              <a:t>USER (bạn)</a:t>
            </a:r>
          </a:p>
        </p:txBody>
      </p:sp>
      <p:cxnSp>
        <p:nvCxnSpPr>
          <p:cNvPr id="7" name="Connector 6"/>
          <p:cNvCxnSpPr/>
          <p:nvPr/>
        </p:nvCxnSpPr>
        <p:spPr>
          <a:xfrm>
            <a:off x="6099048" y="2148840"/>
            <a:ext cx="0" cy="274320"/>
          </a:xfrm>
          <a:prstGeom prst="line">
            <a:avLst/>
          </a:prstGeom>
          <a:ln w="25400">
            <a:solidFill>
              <a:srgbClr val="F1E05A"/>
            </a:solidFill>
            <a:headEnd/>
            <a:tailEnd type="triangle" w="med" len="med"/>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263640" y="2194560"/>
            <a:ext cx="1828800" cy="182880"/>
          </a:xfrm>
          <a:prstGeom prst="rect">
            <a:avLst/>
          </a:prstGeom>
          <a:noFill/>
        </p:spPr>
        <p:txBody>
          <a:bodyPr wrap="square" lIns="0" tIns="0" rIns="0" bIns="0" anchor="t">
            <a:spAutoFit/>
          </a:bodyPr>
          <a:lstStyle/>
          <a:p>
            <a:pPr algn="l"/>
            <a:r>
              <a:rPr sz="900" b="0" i="1">
                <a:solidFill>
                  <a:srgbClr val="8B949E"/>
                </a:solidFill>
                <a:latin typeface="Consolas"/>
              </a:rPr>
              <a:t>chat (request)</a:t>
            </a:r>
          </a:p>
        </p:txBody>
      </p:sp>
      <p:sp>
        <p:nvSpPr>
          <p:cNvPr id="9" name="Rounded Rectangle 8"/>
          <p:cNvSpPr/>
          <p:nvPr/>
        </p:nvSpPr>
        <p:spPr>
          <a:xfrm>
            <a:off x="4937760" y="2423160"/>
            <a:ext cx="2331720" cy="640080"/>
          </a:xfrm>
          <a:prstGeom prst="roundRect">
            <a:avLst>
              <a:gd name="adj" fmla="val 10000"/>
            </a:avLst>
          </a:prstGeom>
          <a:solidFill>
            <a:srgbClr val="161B22"/>
          </a:solidFill>
          <a:ln w="19050">
            <a:solidFill>
              <a:srgbClr val="7CE38B"/>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200" b="1">
                <a:solidFill>
                  <a:srgbClr val="7CE38B"/>
                </a:solidFill>
                <a:latin typeface="Consolas"/>
              </a:rPr>
              <a:t>ORCHES
Coordinator · Pane 0 (Window OC)</a:t>
            </a:r>
          </a:p>
        </p:txBody>
      </p:sp>
      <p:cxnSp>
        <p:nvCxnSpPr>
          <p:cNvPr id="10" name="Connector 9"/>
          <p:cNvCxnSpPr/>
          <p:nvPr/>
        </p:nvCxnSpPr>
        <p:spPr>
          <a:xfrm>
            <a:off x="6099048" y="3063240"/>
            <a:ext cx="0" cy="457200"/>
          </a:xfrm>
          <a:prstGeom prst="line">
            <a:avLst/>
          </a:prstGeom>
          <a:ln w="25400">
            <a:solidFill>
              <a:srgbClr val="E6EDF3"/>
            </a:solidFill>
            <a:headEnd/>
            <a:tailEnd type="triangle" w="med" len="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263640" y="3154680"/>
            <a:ext cx="4114800" cy="182880"/>
          </a:xfrm>
          <a:prstGeom prst="rect">
            <a:avLst/>
          </a:prstGeom>
          <a:noFill/>
        </p:spPr>
        <p:txBody>
          <a:bodyPr wrap="square" lIns="0" tIns="0" rIns="0" bIns="0" anchor="t">
            <a:spAutoFit/>
          </a:bodyPr>
          <a:lstStyle/>
          <a:p>
            <a:pPr algn="l"/>
            <a:r>
              <a:rPr sz="900" b="0" i="1">
                <a:solidFill>
                  <a:srgbClr val="8B949E"/>
                </a:solidFill>
                <a:latin typeface="Consolas"/>
              </a:rPr>
              <a:t>route_to_pane.sh &lt;ROLE&gt; '...'</a:t>
            </a:r>
          </a:p>
        </p:txBody>
      </p:sp>
      <p:cxnSp>
        <p:nvCxnSpPr>
          <p:cNvPr id="12" name="Connector 11"/>
          <p:cNvCxnSpPr/>
          <p:nvPr/>
        </p:nvCxnSpPr>
        <p:spPr>
          <a:xfrm flipH="1">
            <a:off x="3017520" y="3520440"/>
            <a:ext cx="3081528" cy="0"/>
          </a:xfrm>
          <a:prstGeom prst="line">
            <a:avLst/>
          </a:prstGeom>
          <a:ln w="25400">
            <a:solidFill>
              <a:srgbClr val="E6EDF3"/>
            </a:solidFill>
            <a:headEnd/>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099048" y="3520440"/>
            <a:ext cx="3090672" cy="0"/>
          </a:xfrm>
          <a:prstGeom prst="line">
            <a:avLst/>
          </a:prstGeom>
          <a:ln w="25400">
            <a:solidFill>
              <a:srgbClr val="E6EDF3"/>
            </a:solidFill>
            <a:headEnd/>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3017520" y="3520440"/>
            <a:ext cx="0" cy="274320"/>
          </a:xfrm>
          <a:prstGeom prst="line">
            <a:avLst/>
          </a:prstGeom>
          <a:ln w="25400">
            <a:solidFill>
              <a:srgbClr val="E6EDF3"/>
            </a:solidFill>
            <a:headEnd/>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9189720" y="3520440"/>
            <a:ext cx="0" cy="274320"/>
          </a:xfrm>
          <a:prstGeom prst="line">
            <a:avLst/>
          </a:prstGeom>
          <a:ln w="25400">
            <a:solidFill>
              <a:srgbClr val="E6EDF3"/>
            </a:solidFill>
            <a:headEnd/>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65760" y="3794760"/>
            <a:ext cx="5303520" cy="1874519"/>
          </a:xfrm>
          <a:prstGeom prst="roundRect">
            <a:avLst>
              <a:gd name="adj" fmla="val 10000"/>
            </a:avLst>
          </a:prstGeom>
          <a:solidFill>
            <a:srgbClr val="1F262E"/>
          </a:solidFill>
          <a:ln w="19050">
            <a:solidFill>
              <a:srgbClr val="2EA043"/>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a:p>
        </p:txBody>
      </p:sp>
      <p:sp>
        <p:nvSpPr>
          <p:cNvPr id="17" name="TextBox 16"/>
          <p:cNvSpPr txBox="1"/>
          <p:nvPr/>
        </p:nvSpPr>
        <p:spPr>
          <a:xfrm>
            <a:off x="548640" y="3886200"/>
            <a:ext cx="4937759" cy="274320"/>
          </a:xfrm>
          <a:prstGeom prst="rect">
            <a:avLst/>
          </a:prstGeom>
          <a:noFill/>
        </p:spPr>
        <p:txBody>
          <a:bodyPr wrap="square" lIns="0" tIns="0" rIns="0" bIns="0" anchor="t">
            <a:spAutoFit/>
          </a:bodyPr>
          <a:lstStyle/>
          <a:p>
            <a:pPr algn="l"/>
            <a:r>
              <a:rPr sz="1300" b="1" i="0">
                <a:solidFill>
                  <a:srgbClr val="2EA043"/>
                </a:solidFill>
                <a:latin typeface="Consolas"/>
              </a:rPr>
              <a:t>DESIGN team · Window 1</a:t>
            </a:r>
          </a:p>
        </p:txBody>
      </p:sp>
      <p:sp>
        <p:nvSpPr>
          <p:cNvPr id="18" name="TextBox 17"/>
          <p:cNvSpPr txBox="1"/>
          <p:nvPr/>
        </p:nvSpPr>
        <p:spPr>
          <a:xfrm>
            <a:off x="548640" y="4160520"/>
            <a:ext cx="4937759" cy="228600"/>
          </a:xfrm>
          <a:prstGeom prst="rect">
            <a:avLst/>
          </a:prstGeom>
          <a:noFill/>
        </p:spPr>
        <p:txBody>
          <a:bodyPr wrap="square" lIns="0" tIns="0" rIns="0" bIns="0" anchor="t">
            <a:spAutoFit/>
          </a:bodyPr>
          <a:lstStyle/>
          <a:p>
            <a:pPr algn="l"/>
            <a:r>
              <a:rPr sz="1000" b="0" i="1">
                <a:solidFill>
                  <a:srgbClr val="8B949E"/>
                </a:solidFill>
                <a:latin typeface="Consolas"/>
              </a:rPr>
              <a:t>Phases 0-2: discover, design, spec</a:t>
            </a:r>
          </a:p>
        </p:txBody>
      </p:sp>
      <p:sp>
        <p:nvSpPr>
          <p:cNvPr id="19" name="Rounded Rectangle 18"/>
          <p:cNvSpPr/>
          <p:nvPr/>
        </p:nvSpPr>
        <p:spPr>
          <a:xfrm>
            <a:off x="685800" y="4507992"/>
            <a:ext cx="1097280" cy="502920"/>
          </a:xfrm>
          <a:prstGeom prst="roundRect">
            <a:avLst>
              <a:gd name="adj" fmla="val 10000"/>
            </a:avLst>
          </a:prstGeom>
          <a:solidFill>
            <a:srgbClr val="161B22"/>
          </a:solidFill>
          <a:ln w="19050">
            <a:solidFill>
              <a:srgbClr val="2EA043"/>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400" b="1">
                <a:solidFill>
                  <a:srgbClr val="7CE38B"/>
                </a:solidFill>
                <a:latin typeface="Consolas"/>
              </a:rPr>
              <a:t>PM</a:t>
            </a:r>
          </a:p>
        </p:txBody>
      </p:sp>
      <p:sp>
        <p:nvSpPr>
          <p:cNvPr id="20" name="Rounded Rectangle 19"/>
          <p:cNvSpPr/>
          <p:nvPr/>
        </p:nvSpPr>
        <p:spPr>
          <a:xfrm>
            <a:off x="1874520" y="4507992"/>
            <a:ext cx="1097280" cy="502920"/>
          </a:xfrm>
          <a:prstGeom prst="roundRect">
            <a:avLst>
              <a:gd name="adj" fmla="val 10000"/>
            </a:avLst>
          </a:prstGeom>
          <a:solidFill>
            <a:srgbClr val="161B22"/>
          </a:solidFill>
          <a:ln w="19050">
            <a:solidFill>
              <a:srgbClr val="2EA043"/>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400" b="1">
                <a:solidFill>
                  <a:srgbClr val="7CE38B"/>
                </a:solidFill>
                <a:latin typeface="Consolas"/>
              </a:rPr>
              <a:t>SA</a:t>
            </a:r>
          </a:p>
        </p:txBody>
      </p:sp>
      <p:sp>
        <p:nvSpPr>
          <p:cNvPr id="21" name="Rounded Rectangle 20"/>
          <p:cNvSpPr/>
          <p:nvPr/>
        </p:nvSpPr>
        <p:spPr>
          <a:xfrm>
            <a:off x="3063240" y="4507992"/>
            <a:ext cx="1097280" cy="502920"/>
          </a:xfrm>
          <a:prstGeom prst="roundRect">
            <a:avLst>
              <a:gd name="adj" fmla="val 10000"/>
            </a:avLst>
          </a:prstGeom>
          <a:solidFill>
            <a:srgbClr val="161B22"/>
          </a:solidFill>
          <a:ln w="19050">
            <a:solidFill>
              <a:srgbClr val="2EA043"/>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400" b="1">
                <a:solidFill>
                  <a:srgbClr val="7CE38B"/>
                </a:solidFill>
                <a:latin typeface="Consolas"/>
              </a:rPr>
              <a:t>BA</a:t>
            </a:r>
          </a:p>
        </p:txBody>
      </p:sp>
      <p:sp>
        <p:nvSpPr>
          <p:cNvPr id="22" name="Rounded Rectangle 21"/>
          <p:cNvSpPr/>
          <p:nvPr/>
        </p:nvSpPr>
        <p:spPr>
          <a:xfrm>
            <a:off x="4251960" y="4507992"/>
            <a:ext cx="1097280" cy="502920"/>
          </a:xfrm>
          <a:prstGeom prst="roundRect">
            <a:avLst>
              <a:gd name="adj" fmla="val 10000"/>
            </a:avLst>
          </a:prstGeom>
          <a:solidFill>
            <a:srgbClr val="161B22"/>
          </a:solidFill>
          <a:ln w="19050">
            <a:solidFill>
              <a:srgbClr val="2EA043"/>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400" b="1">
                <a:solidFill>
                  <a:srgbClr val="7CE38B"/>
                </a:solidFill>
                <a:latin typeface="Consolas"/>
              </a:rPr>
              <a:t>UX</a:t>
            </a:r>
          </a:p>
        </p:txBody>
      </p:sp>
      <p:sp>
        <p:nvSpPr>
          <p:cNvPr id="23" name="TextBox 22"/>
          <p:cNvSpPr txBox="1"/>
          <p:nvPr/>
        </p:nvSpPr>
        <p:spPr>
          <a:xfrm>
            <a:off x="548640" y="5120640"/>
            <a:ext cx="4937759" cy="502920"/>
          </a:xfrm>
          <a:prstGeom prst="rect">
            <a:avLst/>
          </a:prstGeom>
          <a:noFill/>
        </p:spPr>
        <p:txBody>
          <a:bodyPr wrap="square" lIns="0" tIns="0" rIns="0" bIns="0" anchor="t">
            <a:spAutoFit/>
          </a:bodyPr>
          <a:lstStyle/>
          <a:p>
            <a:pPr algn="l"/>
            <a:r>
              <a:rPr sz="1000" b="0" i="0">
                <a:solidFill>
                  <a:srgbClr val="E6EDF3"/>
                </a:solidFill>
                <a:latin typeface="Consolas"/>
              </a:rPr>
              <a:t>→ writes: docs/product/PRD.md, docs/business/USER_STORIES.md,</a:t>
            </a:r>
          </a:p>
          <a:p>
            <a:pPr algn="l"/>
            <a:r>
              <a:rPr sz="1000" b="0" i="0">
                <a:solidFill>
                  <a:srgbClr val="E6EDF3"/>
                </a:solidFill>
                <a:latin typeface="Consolas"/>
              </a:rPr>
              <a:t>   docs/architecture/SOLUTION_ARCHITECTURE.md, docs/product/UX_FLOW.md</a:t>
            </a:r>
          </a:p>
        </p:txBody>
      </p:sp>
      <p:sp>
        <p:nvSpPr>
          <p:cNvPr id="24" name="Rounded Rectangle 23"/>
          <p:cNvSpPr/>
          <p:nvPr/>
        </p:nvSpPr>
        <p:spPr>
          <a:xfrm>
            <a:off x="6537960" y="3794760"/>
            <a:ext cx="5303520" cy="1874519"/>
          </a:xfrm>
          <a:prstGeom prst="roundRect">
            <a:avLst>
              <a:gd name="adj" fmla="val 10000"/>
            </a:avLst>
          </a:prstGeom>
          <a:solidFill>
            <a:srgbClr val="1F262E"/>
          </a:solidFill>
          <a:ln w="19050">
            <a:solidFill>
              <a:srgbClr val="39C5CF"/>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a:p>
        </p:txBody>
      </p:sp>
      <p:sp>
        <p:nvSpPr>
          <p:cNvPr id="25" name="TextBox 24"/>
          <p:cNvSpPr txBox="1"/>
          <p:nvPr/>
        </p:nvSpPr>
        <p:spPr>
          <a:xfrm>
            <a:off x="6720840" y="3886200"/>
            <a:ext cx="4937759" cy="274320"/>
          </a:xfrm>
          <a:prstGeom prst="rect">
            <a:avLst/>
          </a:prstGeom>
          <a:noFill/>
        </p:spPr>
        <p:txBody>
          <a:bodyPr wrap="square" lIns="0" tIns="0" rIns="0" bIns="0" anchor="t">
            <a:spAutoFit/>
          </a:bodyPr>
          <a:lstStyle/>
          <a:p>
            <a:pPr algn="l"/>
            <a:r>
              <a:rPr sz="1300" b="1" i="0">
                <a:solidFill>
                  <a:srgbClr val="39C5CF"/>
                </a:solidFill>
                <a:latin typeface="Consolas"/>
              </a:rPr>
              <a:t>DEV team · Window 2</a:t>
            </a:r>
          </a:p>
        </p:txBody>
      </p:sp>
      <p:sp>
        <p:nvSpPr>
          <p:cNvPr id="26" name="TextBox 25"/>
          <p:cNvSpPr txBox="1"/>
          <p:nvPr/>
        </p:nvSpPr>
        <p:spPr>
          <a:xfrm>
            <a:off x="6720840" y="4160520"/>
            <a:ext cx="4937759" cy="228600"/>
          </a:xfrm>
          <a:prstGeom prst="rect">
            <a:avLst/>
          </a:prstGeom>
          <a:noFill/>
        </p:spPr>
        <p:txBody>
          <a:bodyPr wrap="square" lIns="0" tIns="0" rIns="0" bIns="0" anchor="t">
            <a:spAutoFit/>
          </a:bodyPr>
          <a:lstStyle/>
          <a:p>
            <a:pPr algn="l"/>
            <a:r>
              <a:rPr sz="1000" b="0" i="1">
                <a:solidFill>
                  <a:srgbClr val="8B949E"/>
                </a:solidFill>
                <a:latin typeface="Consolas"/>
              </a:rPr>
              <a:t>Phases 3-6: plan, build, test, deploy</a:t>
            </a:r>
          </a:p>
        </p:txBody>
      </p:sp>
      <p:sp>
        <p:nvSpPr>
          <p:cNvPr id="27" name="Rounded Rectangle 26"/>
          <p:cNvSpPr/>
          <p:nvPr/>
        </p:nvSpPr>
        <p:spPr>
          <a:xfrm>
            <a:off x="6858000" y="4507992"/>
            <a:ext cx="1097280" cy="502920"/>
          </a:xfrm>
          <a:prstGeom prst="roundRect">
            <a:avLst>
              <a:gd name="adj" fmla="val 10000"/>
            </a:avLst>
          </a:prstGeom>
          <a:solidFill>
            <a:srgbClr val="161B22"/>
          </a:solidFill>
          <a:ln w="19050">
            <a:solidFill>
              <a:srgbClr val="39C5CF"/>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400" b="1">
                <a:solidFill>
                  <a:srgbClr val="39C5CF"/>
                </a:solidFill>
                <a:latin typeface="Consolas"/>
              </a:rPr>
              <a:t>BE</a:t>
            </a:r>
          </a:p>
        </p:txBody>
      </p:sp>
      <p:sp>
        <p:nvSpPr>
          <p:cNvPr id="28" name="Rounded Rectangle 27"/>
          <p:cNvSpPr/>
          <p:nvPr/>
        </p:nvSpPr>
        <p:spPr>
          <a:xfrm>
            <a:off x="8046720" y="4507992"/>
            <a:ext cx="1097280" cy="502920"/>
          </a:xfrm>
          <a:prstGeom prst="roundRect">
            <a:avLst>
              <a:gd name="adj" fmla="val 10000"/>
            </a:avLst>
          </a:prstGeom>
          <a:solidFill>
            <a:srgbClr val="161B22"/>
          </a:solidFill>
          <a:ln w="19050">
            <a:solidFill>
              <a:srgbClr val="39C5CF"/>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400" b="1">
                <a:solidFill>
                  <a:srgbClr val="39C5CF"/>
                </a:solidFill>
                <a:latin typeface="Consolas"/>
              </a:rPr>
              <a:t>FE</a:t>
            </a:r>
          </a:p>
        </p:txBody>
      </p:sp>
      <p:sp>
        <p:nvSpPr>
          <p:cNvPr id="29" name="Rounded Rectangle 28"/>
          <p:cNvSpPr/>
          <p:nvPr/>
        </p:nvSpPr>
        <p:spPr>
          <a:xfrm>
            <a:off x="9235440" y="4507992"/>
            <a:ext cx="1097280" cy="502920"/>
          </a:xfrm>
          <a:prstGeom prst="roundRect">
            <a:avLst>
              <a:gd name="adj" fmla="val 10000"/>
            </a:avLst>
          </a:prstGeom>
          <a:solidFill>
            <a:srgbClr val="161B22"/>
          </a:solidFill>
          <a:ln w="19050">
            <a:solidFill>
              <a:srgbClr val="39C5CF"/>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400" b="1">
                <a:solidFill>
                  <a:srgbClr val="39C5CF"/>
                </a:solidFill>
                <a:latin typeface="Consolas"/>
              </a:rPr>
              <a:t>QA</a:t>
            </a:r>
          </a:p>
        </p:txBody>
      </p:sp>
      <p:sp>
        <p:nvSpPr>
          <p:cNvPr id="30" name="Rounded Rectangle 29"/>
          <p:cNvSpPr/>
          <p:nvPr/>
        </p:nvSpPr>
        <p:spPr>
          <a:xfrm>
            <a:off x="10424160" y="4507992"/>
            <a:ext cx="1097280" cy="502920"/>
          </a:xfrm>
          <a:prstGeom prst="roundRect">
            <a:avLst>
              <a:gd name="adj" fmla="val 10000"/>
            </a:avLst>
          </a:prstGeom>
          <a:solidFill>
            <a:srgbClr val="161B22"/>
          </a:solidFill>
          <a:ln w="19050">
            <a:solidFill>
              <a:srgbClr val="39C5CF"/>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400" b="1">
                <a:solidFill>
                  <a:srgbClr val="39C5CF"/>
                </a:solidFill>
                <a:latin typeface="Consolas"/>
              </a:rPr>
              <a:t>Deli</a:t>
            </a:r>
          </a:p>
        </p:txBody>
      </p:sp>
      <p:sp>
        <p:nvSpPr>
          <p:cNvPr id="31" name="TextBox 30"/>
          <p:cNvSpPr txBox="1"/>
          <p:nvPr/>
        </p:nvSpPr>
        <p:spPr>
          <a:xfrm>
            <a:off x="6720840" y="5120640"/>
            <a:ext cx="4937759" cy="502920"/>
          </a:xfrm>
          <a:prstGeom prst="rect">
            <a:avLst/>
          </a:prstGeom>
          <a:noFill/>
        </p:spPr>
        <p:txBody>
          <a:bodyPr wrap="square" lIns="0" tIns="0" rIns="0" bIns="0" anchor="t">
            <a:spAutoFit/>
          </a:bodyPr>
          <a:lstStyle/>
          <a:p>
            <a:pPr algn="l"/>
            <a:r>
              <a:rPr sz="1000" b="0" i="0">
                <a:solidFill>
                  <a:srgbClr val="E6EDF3"/>
                </a:solidFill>
                <a:latin typeface="Consolas"/>
              </a:rPr>
              <a:t>→ writes: backend/, frontend/, docs/qa/TEST_REPORT.md,</a:t>
            </a:r>
          </a:p>
          <a:p>
            <a:pPr algn="l"/>
            <a:r>
              <a:rPr sz="1000" b="0" i="0">
                <a:solidFill>
                  <a:srgbClr val="E6EDF3"/>
                </a:solidFill>
                <a:latin typeface="Consolas"/>
              </a:rPr>
              <a:t>   docker-compose.yml, docs/delivery/RUNNING_APP.md (live URL)</a:t>
            </a:r>
          </a:p>
        </p:txBody>
      </p:sp>
      <p:sp>
        <p:nvSpPr>
          <p:cNvPr id="32" name="TextBox 31"/>
          <p:cNvSpPr txBox="1"/>
          <p:nvPr/>
        </p:nvSpPr>
        <p:spPr>
          <a:xfrm>
            <a:off x="365760" y="5760720"/>
            <a:ext cx="11430000" cy="274320"/>
          </a:xfrm>
          <a:prstGeom prst="rect">
            <a:avLst/>
          </a:prstGeom>
          <a:noFill/>
        </p:spPr>
        <p:txBody>
          <a:bodyPr wrap="square" lIns="0" tIns="0" rIns="0" bIns="0" anchor="t">
            <a:spAutoFit/>
          </a:bodyPr>
          <a:lstStyle/>
          <a:p>
            <a:pPr algn="ctr"/>
            <a:r>
              <a:rPr sz="1100" b="0" i="1">
                <a:solidFill>
                  <a:srgbClr val="8B949E"/>
                </a:solidFill>
                <a:latin typeface="Consolas"/>
              </a:rPr>
              <a:t>↑ notify_orchestrator.sh "done — &lt;artifacts&gt;. Summary: …"  ·  Orches surface kết quả + đề xuất phase tiếp</a:t>
            </a:r>
          </a:p>
        </p:txBody>
      </p:sp>
      <p:sp>
        <p:nvSpPr>
          <p:cNvPr id="33" name="TextBox 32"/>
          <p:cNvSpPr txBox="1"/>
          <p:nvPr/>
        </p:nvSpPr>
        <p:spPr>
          <a:xfrm>
            <a:off x="365760" y="6080760"/>
            <a:ext cx="11430000" cy="274320"/>
          </a:xfrm>
          <a:prstGeom prst="rect">
            <a:avLst/>
          </a:prstGeom>
          <a:noFill/>
        </p:spPr>
        <p:txBody>
          <a:bodyPr wrap="square" lIns="0" tIns="0" rIns="0" bIns="0" anchor="t">
            <a:spAutoFit/>
          </a:bodyPr>
          <a:lstStyle/>
          <a:p>
            <a:pPr algn="ctr"/>
            <a:r>
              <a:rPr sz="1200" b="0" i="1">
                <a:solidFill>
                  <a:srgbClr val="F1E05A"/>
                </a:solidFill>
                <a:latin typeface="Calibri"/>
              </a:rPr>
              <a:t>9 panes · 9 models · 1 user-facing channel (Orches)</a:t>
            </a:r>
          </a:p>
        </p:txBody>
      </p:sp>
      <p:sp>
        <p:nvSpPr>
          <p:cNvPr id="34" name="TextBox 33"/>
          <p:cNvSpPr txBox="1"/>
          <p:nvPr/>
        </p:nvSpPr>
        <p:spPr>
          <a:xfrm>
            <a:off x="365760" y="6492240"/>
            <a:ext cx="1097280" cy="228600"/>
          </a:xfrm>
          <a:prstGeom prst="rect">
            <a:avLst/>
          </a:prstGeom>
          <a:noFill/>
        </p:spPr>
        <p:txBody>
          <a:bodyPr wrap="square" lIns="0" tIns="0" rIns="0" bIns="0" anchor="t">
            <a:spAutoFit/>
          </a:bodyPr>
          <a:lstStyle/>
          <a:p>
            <a:pPr algn="l"/>
            <a:r>
              <a:rPr sz="900" b="0" i="0">
                <a:solidFill>
                  <a:srgbClr val="8B949E"/>
                </a:solidFill>
                <a:latin typeface="Consolas"/>
              </a:rPr>
              <a:t>v10.23</a:t>
            </a:r>
          </a:p>
        </p:txBody>
      </p:sp>
      <p:sp>
        <p:nvSpPr>
          <p:cNvPr id="35" name="TextBox 34"/>
          <p:cNvSpPr txBox="1"/>
          <p:nvPr/>
        </p:nvSpPr>
        <p:spPr>
          <a:xfrm>
            <a:off x="4572000" y="6492240"/>
            <a:ext cx="6400800" cy="228600"/>
          </a:xfrm>
          <a:prstGeom prst="rect">
            <a:avLst/>
          </a:prstGeom>
          <a:noFill/>
        </p:spPr>
        <p:txBody>
          <a:bodyPr wrap="square" lIns="0" tIns="0" rIns="0" bIns="0" anchor="t">
            <a:spAutoFit/>
          </a:bodyPr>
          <a:lstStyle/>
          <a:p>
            <a:pPr algn="ctr"/>
            <a:r>
              <a:rPr sz="900" b="0" i="0">
                <a:solidFill>
                  <a:srgbClr val="8B949E"/>
                </a:solidFill>
                <a:latin typeface="Consolas"/>
              </a:rPr>
              <a:t>Product Engineering Agent Framework</a:t>
            </a:r>
          </a:p>
        </p:txBody>
      </p:sp>
      <p:sp>
        <p:nvSpPr>
          <p:cNvPr id="36" name="TextBox 35"/>
          <p:cNvSpPr txBox="1"/>
          <p:nvPr/>
        </p:nvSpPr>
        <p:spPr>
          <a:xfrm>
            <a:off x="11338560" y="6492240"/>
            <a:ext cx="731520" cy="228600"/>
          </a:xfrm>
          <a:prstGeom prst="rect">
            <a:avLst/>
          </a:prstGeom>
          <a:noFill/>
        </p:spPr>
        <p:txBody>
          <a:bodyPr wrap="square" lIns="0" tIns="0" rIns="0" bIns="0" anchor="t">
            <a:spAutoFit/>
          </a:bodyPr>
          <a:lstStyle/>
          <a:p>
            <a:pPr algn="r"/>
            <a:r>
              <a:rPr sz="900" b="0" i="0">
                <a:solidFill>
                  <a:srgbClr val="8B949E"/>
                </a:solidFill>
                <a:latin typeface="Consolas"/>
              </a:rPr>
              <a:t>3 / 40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365760" y="228600"/>
            <a:ext cx="8229600" cy="274320"/>
          </a:xfrm>
          <a:prstGeom prst="rect">
            <a:avLst/>
          </a:prstGeom>
          <a:noFill/>
          <a:ln/>
        </p:spPr>
        <p:txBody>
          <a:bodyPr wrap="square" lIns="0" tIns="0" rIns="0" bIns="0" rtlCol="0" anchor="ctr"/>
          <a:lstStyle/>
          <a:p>
            <a:pPr marL="0" indent="0">
              <a:buNone/>
            </a:pPr>
            <a:r>
              <a:rPr lang="en-US" sz="1100" dirty="0">
                <a:solidFill>
                  <a:srgbClr val="2EA043"/>
                </a:solidFill>
                <a:latin typeface="Consolas" pitchFamily="34" charset="0"/>
                <a:ea typeface="Consolas" pitchFamily="34" charset="-122"/>
                <a:cs typeface="Consolas" pitchFamily="34" charset="-120"/>
              </a:rPr>
              <a:t>$ </a:t>
            </a:r>
            <a:r>
              <a:rPr lang="en-US" sz="1100" dirty="0">
                <a:solidFill>
                  <a:srgbClr val="8B949E"/>
                </a:solidFill>
                <a:latin typeface="Consolas" pitchFamily="34" charset="0"/>
                <a:ea typeface="Consolas" pitchFamily="34" charset="-122"/>
                <a:cs typeface="Consolas" pitchFamily="34" charset="-120"/>
              </a:rPr>
              <a:t>01_motivation.md</a:t>
            </a:r>
            <a:endParaRPr lang="en-US" sz="1100" dirty="0"/>
          </a:p>
        </p:txBody>
      </p:sp>
      <p:sp>
        <p:nvSpPr>
          <p:cNvPr id="3" name="Text 1"/>
          <p:cNvSpPr/>
          <p:nvPr/>
        </p:nvSpPr>
        <p:spPr>
          <a:xfrm>
            <a:off x="365760" y="548640"/>
            <a:ext cx="11430000" cy="640080"/>
          </a:xfrm>
          <a:prstGeom prst="rect">
            <a:avLst/>
          </a:prstGeom>
          <a:noFill/>
          <a:ln/>
        </p:spPr>
        <p:txBody>
          <a:bodyPr wrap="square" lIns="0" tIns="0" rIns="0" bIns="0" rtlCol="0" anchor="ctr"/>
          <a:lstStyle/>
          <a:p>
            <a:pPr marL="0" indent="0">
              <a:buNone/>
            </a:pPr>
            <a:r>
              <a:rPr lang="en-US" sz="3000" b="1" dirty="0">
                <a:solidFill>
                  <a:srgbClr val="E6EDF3"/>
                </a:solidFill>
                <a:latin typeface="Consolas" pitchFamily="34" charset="0"/>
                <a:ea typeface="Consolas" pitchFamily="34" charset="-122"/>
                <a:cs typeface="Consolas" pitchFamily="34" charset="-120"/>
              </a:rPr>
              <a:t>Tại sao multi-agent?</a:t>
            </a:r>
            <a:endParaRPr lang="en-US" sz="3000" dirty="0"/>
          </a:p>
        </p:txBody>
      </p:sp>
      <p:sp>
        <p:nvSpPr>
          <p:cNvPr id="4" name="Text 2"/>
          <p:cNvSpPr/>
          <p:nvPr/>
        </p:nvSpPr>
        <p:spPr>
          <a:xfrm>
            <a:off x="365760" y="1143000"/>
            <a:ext cx="11430000" cy="365760"/>
          </a:xfrm>
          <a:prstGeom prst="rect">
            <a:avLst/>
          </a:prstGeom>
          <a:noFill/>
          <a:ln/>
        </p:spPr>
        <p:txBody>
          <a:bodyPr wrap="square" lIns="0" tIns="0" rIns="0" bIns="0" rtlCol="0" anchor="ctr"/>
          <a:lstStyle/>
          <a:p>
            <a:pPr marL="0" indent="0">
              <a:buNone/>
            </a:pPr>
            <a:r>
              <a:rPr lang="en-US" sz="1400" i="1" dirty="0">
                <a:solidFill>
                  <a:srgbClr val="8B949E"/>
                </a:solidFill>
                <a:latin typeface="Calibri" pitchFamily="34" charset="0"/>
                <a:ea typeface="Calibri" pitchFamily="34" charset="-122"/>
                <a:cs typeface="Calibri" pitchFamily="34" charset="-120"/>
              </a:rPr>
              <a:t>Ba vấn đề mà single-model agent thường gặp phải</a:t>
            </a:r>
            <a:endParaRPr lang="en-US" sz="1400" dirty="0"/>
          </a:p>
        </p:txBody>
      </p:sp>
      <p:sp>
        <p:nvSpPr>
          <p:cNvPr id="5" name="Shape 3"/>
          <p:cNvSpPr/>
          <p:nvPr/>
        </p:nvSpPr>
        <p:spPr>
          <a:xfrm>
            <a:off x="365760" y="1828800"/>
            <a:ext cx="3657600" cy="4206240"/>
          </a:xfrm>
          <a:prstGeom prst="rect">
            <a:avLst/>
          </a:prstGeom>
          <a:solidFill>
            <a:srgbClr val="161B22"/>
          </a:solidFill>
          <a:ln w="12700">
            <a:solidFill>
              <a:srgbClr val="30363D"/>
            </a:solidFill>
            <a:prstDash val="solid"/>
          </a:ln>
        </p:spPr>
        <p:txBody>
          <a:bodyPr/>
          <a:lstStyle/>
          <a:p>
            <a:endParaRPr/>
          </a:p>
        </p:txBody>
      </p:sp>
      <p:sp>
        <p:nvSpPr>
          <p:cNvPr id="6" name="Shape 4"/>
          <p:cNvSpPr/>
          <p:nvPr/>
        </p:nvSpPr>
        <p:spPr>
          <a:xfrm>
            <a:off x="365760" y="1828800"/>
            <a:ext cx="73152" cy="4206240"/>
          </a:xfrm>
          <a:prstGeom prst="rect">
            <a:avLst/>
          </a:prstGeom>
          <a:solidFill>
            <a:srgbClr val="F85149"/>
          </a:solidFill>
          <a:ln w="12700">
            <a:solidFill>
              <a:srgbClr val="F85149"/>
            </a:solidFill>
            <a:prstDash val="solid"/>
          </a:ln>
        </p:spPr>
        <p:txBody>
          <a:bodyPr/>
          <a:lstStyle/>
          <a:p>
            <a:endParaRPr/>
          </a:p>
        </p:txBody>
      </p:sp>
      <p:sp>
        <p:nvSpPr>
          <p:cNvPr id="7" name="Text 5"/>
          <p:cNvSpPr/>
          <p:nvPr/>
        </p:nvSpPr>
        <p:spPr>
          <a:xfrm>
            <a:off x="640080" y="2011680"/>
            <a:ext cx="3291840" cy="548640"/>
          </a:xfrm>
          <a:prstGeom prst="rect">
            <a:avLst/>
          </a:prstGeom>
          <a:noFill/>
          <a:ln/>
        </p:spPr>
        <p:txBody>
          <a:bodyPr wrap="square" lIns="0" tIns="0" rIns="0" bIns="0" rtlCol="0" anchor="ctr"/>
          <a:lstStyle/>
          <a:p>
            <a:pPr marL="0" indent="0">
              <a:buNone/>
            </a:pPr>
            <a:r>
              <a:rPr lang="en-US" sz="2200" b="1" dirty="0">
                <a:solidFill>
                  <a:srgbClr val="F85149"/>
                </a:solidFill>
                <a:latin typeface="Consolas" pitchFamily="34" charset="0"/>
                <a:ea typeface="Consolas" pitchFamily="34" charset="-122"/>
                <a:cs typeface="Consolas" pitchFamily="34" charset="-120"/>
              </a:rPr>
              <a:t>ĐẮT 💸</a:t>
            </a:r>
            <a:endParaRPr lang="en-US" sz="2200" dirty="0"/>
          </a:p>
        </p:txBody>
      </p:sp>
      <p:sp>
        <p:nvSpPr>
          <p:cNvPr id="8" name="Text 6"/>
          <p:cNvSpPr/>
          <p:nvPr/>
        </p:nvSpPr>
        <p:spPr>
          <a:xfrm>
            <a:off x="640080" y="2697480"/>
            <a:ext cx="3291840" cy="3200400"/>
          </a:xfrm>
          <a:prstGeom prst="rect">
            <a:avLst/>
          </a:prstGeom>
          <a:noFill/>
          <a:ln/>
        </p:spPr>
        <p:txBody>
          <a:bodyPr wrap="square" lIns="0" tIns="0" rIns="0" bIns="0" rtlCol="0" anchor="t"/>
          <a:lstStyle/>
          <a:p>
            <a:pPr marL="0" indent="0">
              <a:buNone/>
            </a:pPr>
            <a:r>
              <a:rPr lang="en-US" sz="1300" dirty="0">
                <a:solidFill>
                  <a:srgbClr val="E6EDF3"/>
                </a:solidFill>
                <a:latin typeface="Calibri" pitchFamily="34" charset="0"/>
                <a:ea typeface="Calibri" pitchFamily="34" charset="-122"/>
                <a:cs typeface="Calibri" pitchFamily="34" charset="-120"/>
              </a:rPr>
              <a:t>Một model mạnh phải làm cả 9 việc. PM, BA, QA thực ra cần model rẻ; chỉ SA/BE/FE/Orchestrator mới cần model mạnh. Single-agent = trả giá strong-model cho mọi task.</a:t>
            </a:r>
            <a:endParaRPr lang="en-US" sz="1300" dirty="0"/>
          </a:p>
        </p:txBody>
      </p:sp>
      <p:sp>
        <p:nvSpPr>
          <p:cNvPr id="9" name="Shape 7"/>
          <p:cNvSpPr/>
          <p:nvPr/>
        </p:nvSpPr>
        <p:spPr>
          <a:xfrm>
            <a:off x="4297680" y="1828800"/>
            <a:ext cx="3657600" cy="4206240"/>
          </a:xfrm>
          <a:prstGeom prst="rect">
            <a:avLst/>
          </a:prstGeom>
          <a:solidFill>
            <a:srgbClr val="161B22"/>
          </a:solidFill>
          <a:ln w="12700">
            <a:solidFill>
              <a:srgbClr val="30363D"/>
            </a:solidFill>
            <a:prstDash val="solid"/>
          </a:ln>
        </p:spPr>
        <p:txBody>
          <a:bodyPr/>
          <a:lstStyle/>
          <a:p>
            <a:endParaRPr/>
          </a:p>
        </p:txBody>
      </p:sp>
      <p:sp>
        <p:nvSpPr>
          <p:cNvPr id="10" name="Shape 8"/>
          <p:cNvSpPr/>
          <p:nvPr/>
        </p:nvSpPr>
        <p:spPr>
          <a:xfrm>
            <a:off x="4297680" y="1828800"/>
            <a:ext cx="73152" cy="4206240"/>
          </a:xfrm>
          <a:prstGeom prst="rect">
            <a:avLst/>
          </a:prstGeom>
          <a:solidFill>
            <a:srgbClr val="D29922"/>
          </a:solidFill>
          <a:ln w="12700">
            <a:solidFill>
              <a:srgbClr val="D29922"/>
            </a:solidFill>
            <a:prstDash val="solid"/>
          </a:ln>
        </p:spPr>
        <p:txBody>
          <a:bodyPr/>
          <a:lstStyle/>
          <a:p>
            <a:endParaRPr/>
          </a:p>
        </p:txBody>
      </p:sp>
      <p:sp>
        <p:nvSpPr>
          <p:cNvPr id="11" name="Text 9"/>
          <p:cNvSpPr/>
          <p:nvPr/>
        </p:nvSpPr>
        <p:spPr>
          <a:xfrm>
            <a:off x="4572000" y="2011680"/>
            <a:ext cx="3291840" cy="548640"/>
          </a:xfrm>
          <a:prstGeom prst="rect">
            <a:avLst/>
          </a:prstGeom>
          <a:noFill/>
          <a:ln/>
        </p:spPr>
        <p:txBody>
          <a:bodyPr wrap="square" lIns="0" tIns="0" rIns="0" bIns="0" rtlCol="0" anchor="ctr"/>
          <a:lstStyle/>
          <a:p>
            <a:pPr marL="0" indent="0">
              <a:buNone/>
            </a:pPr>
            <a:r>
              <a:rPr lang="en-US" sz="2200" b="1" dirty="0">
                <a:solidFill>
                  <a:srgbClr val="D29922"/>
                </a:solidFill>
                <a:latin typeface="Consolas" pitchFamily="34" charset="0"/>
                <a:ea typeface="Consolas" pitchFamily="34" charset="-122"/>
                <a:cs typeface="Consolas" pitchFamily="34" charset="-120"/>
              </a:rPr>
              <a:t>MƠ HỒ 🌀</a:t>
            </a:r>
            <a:endParaRPr lang="en-US" sz="2200" dirty="0"/>
          </a:p>
        </p:txBody>
      </p:sp>
      <p:sp>
        <p:nvSpPr>
          <p:cNvPr id="12" name="Text 10"/>
          <p:cNvSpPr/>
          <p:nvPr/>
        </p:nvSpPr>
        <p:spPr>
          <a:xfrm>
            <a:off x="4572000" y="2697480"/>
            <a:ext cx="3291840" cy="3200400"/>
          </a:xfrm>
          <a:prstGeom prst="rect">
            <a:avLst/>
          </a:prstGeom>
          <a:noFill/>
          <a:ln/>
        </p:spPr>
        <p:txBody>
          <a:bodyPr wrap="square" lIns="0" tIns="0" rIns="0" bIns="0" rtlCol="0" anchor="t"/>
          <a:lstStyle/>
          <a:p>
            <a:pPr marL="0" indent="0">
              <a:buNone/>
            </a:pPr>
            <a:r>
              <a:rPr lang="en-US" sz="1300" dirty="0">
                <a:solidFill>
                  <a:srgbClr val="E6EDF3"/>
                </a:solidFill>
                <a:latin typeface="Calibri" pitchFamily="34" charset="0"/>
                <a:ea typeface="Calibri" pitchFamily="34" charset="-122"/>
                <a:cs typeface="Calibri" pitchFamily="34" charset="-120"/>
              </a:rPr>
              <a:t>Subagent transcript thường bị summarize trong context. Bạn không thấy worker nghĩ gì, không reproduce được, không debug được. Audit-trail rất yếu.</a:t>
            </a:r>
            <a:endParaRPr lang="en-US" sz="1300" dirty="0"/>
          </a:p>
        </p:txBody>
      </p:sp>
      <p:sp>
        <p:nvSpPr>
          <p:cNvPr id="13" name="Shape 11"/>
          <p:cNvSpPr/>
          <p:nvPr/>
        </p:nvSpPr>
        <p:spPr>
          <a:xfrm>
            <a:off x="8229600" y="1828800"/>
            <a:ext cx="3657600" cy="4206240"/>
          </a:xfrm>
          <a:prstGeom prst="rect">
            <a:avLst/>
          </a:prstGeom>
          <a:solidFill>
            <a:srgbClr val="161B22"/>
          </a:solidFill>
          <a:ln w="12700">
            <a:solidFill>
              <a:srgbClr val="30363D"/>
            </a:solidFill>
            <a:prstDash val="solid"/>
          </a:ln>
        </p:spPr>
        <p:txBody>
          <a:bodyPr/>
          <a:lstStyle/>
          <a:p>
            <a:endParaRPr/>
          </a:p>
        </p:txBody>
      </p:sp>
      <p:sp>
        <p:nvSpPr>
          <p:cNvPr id="14" name="Shape 12"/>
          <p:cNvSpPr/>
          <p:nvPr/>
        </p:nvSpPr>
        <p:spPr>
          <a:xfrm>
            <a:off x="8229600" y="1828800"/>
            <a:ext cx="73152" cy="4206240"/>
          </a:xfrm>
          <a:prstGeom prst="rect">
            <a:avLst/>
          </a:prstGeom>
          <a:solidFill>
            <a:srgbClr val="D2A8FF"/>
          </a:solidFill>
          <a:ln w="12700">
            <a:solidFill>
              <a:srgbClr val="D2A8FF"/>
            </a:solidFill>
            <a:prstDash val="solid"/>
          </a:ln>
        </p:spPr>
        <p:txBody>
          <a:bodyPr/>
          <a:lstStyle/>
          <a:p>
            <a:endParaRPr/>
          </a:p>
        </p:txBody>
      </p:sp>
      <p:sp>
        <p:nvSpPr>
          <p:cNvPr id="15" name="Text 13"/>
          <p:cNvSpPr/>
          <p:nvPr/>
        </p:nvSpPr>
        <p:spPr>
          <a:xfrm>
            <a:off x="8503920" y="2011680"/>
            <a:ext cx="3291840" cy="548640"/>
          </a:xfrm>
          <a:prstGeom prst="rect">
            <a:avLst/>
          </a:prstGeom>
          <a:noFill/>
          <a:ln/>
        </p:spPr>
        <p:txBody>
          <a:bodyPr wrap="square" lIns="0" tIns="0" rIns="0" bIns="0" rtlCol="0" anchor="ctr"/>
          <a:lstStyle/>
          <a:p>
            <a:pPr marL="0" indent="0">
              <a:buNone/>
            </a:pPr>
            <a:r>
              <a:rPr lang="en-US" sz="2200" b="1" dirty="0">
                <a:solidFill>
                  <a:srgbClr val="D2A8FF"/>
                </a:solidFill>
                <a:latin typeface="Consolas" pitchFamily="34" charset="0"/>
                <a:ea typeface="Consolas" pitchFamily="34" charset="-122"/>
                <a:cs typeface="Consolas" pitchFamily="34" charset="-120"/>
              </a:rPr>
              <a:t>LỆCH LANE 🚧</a:t>
            </a:r>
            <a:endParaRPr lang="en-US" sz="2200" dirty="0"/>
          </a:p>
        </p:txBody>
      </p:sp>
      <p:sp>
        <p:nvSpPr>
          <p:cNvPr id="16" name="Text 14"/>
          <p:cNvSpPr/>
          <p:nvPr/>
        </p:nvSpPr>
        <p:spPr>
          <a:xfrm>
            <a:off x="8503920" y="2697480"/>
            <a:ext cx="3291840" cy="3200400"/>
          </a:xfrm>
          <a:prstGeom prst="rect">
            <a:avLst/>
          </a:prstGeom>
          <a:noFill/>
          <a:ln/>
        </p:spPr>
        <p:txBody>
          <a:bodyPr wrap="square" lIns="0" tIns="0" rIns="0" bIns="0" rtlCol="0" anchor="t"/>
          <a:lstStyle/>
          <a:p>
            <a:pPr marL="0" indent="0">
              <a:buNone/>
            </a:pPr>
            <a:r>
              <a:rPr lang="en-US" sz="1300" dirty="0">
                <a:solidFill>
                  <a:srgbClr val="E6EDF3"/>
                </a:solidFill>
                <a:latin typeface="Calibri" pitchFamily="34" charset="0"/>
                <a:ea typeface="Calibri" pitchFamily="34" charset="-122"/>
                <a:cs typeface="Calibri" pitchFamily="34" charset="-120"/>
              </a:rPr>
              <a:t>Một 'PM subagent' được gọi từ BE thường lại đi viết code. Vai trò bị blur. Không có cơ chế chặn 'stay in your lane' — chất lượng giảm dần.</a:t>
            </a:r>
            <a:endParaRPr lang="en-US" sz="1300" dirty="0"/>
          </a:p>
        </p:txBody>
      </p:sp>
      <p:sp>
        <p:nvSpPr>
          <p:cNvPr id="17" name="Text 15"/>
          <p:cNvSpPr/>
          <p:nvPr/>
        </p:nvSpPr>
        <p:spPr>
          <a:xfrm>
            <a:off x="11338560" y="6492240"/>
            <a:ext cx="731520" cy="228600"/>
          </a:xfrm>
          <a:prstGeom prst="rect">
            <a:avLst/>
          </a:prstGeom>
          <a:noFill/>
          <a:ln/>
        </p:spPr>
        <p:txBody>
          <a:bodyPr wrap="square" lIns="0" tIns="0" rIns="0" bIns="0" rtlCol="0" anchor="ctr"/>
          <a:lstStyle/>
          <a:p>
            <a:pPr marL="0" indent="0" algn="r">
              <a:buNone/>
            </a:pPr>
            <a:r>
              <a:rPr lang="en-US" sz="900" dirty="0">
                <a:solidFill>
                  <a:srgbClr val="8B949E"/>
                </a:solidFill>
                <a:latin typeface="Consolas" pitchFamily="34" charset="0"/>
                <a:ea typeface="Consolas" pitchFamily="34" charset="-122"/>
                <a:cs typeface="Consolas" pitchFamily="34" charset="-120"/>
              </a:rPr>
              <a:t>4 / 40</a:t>
            </a:r>
            <a:endParaRPr lang="en-US" sz="900" dirty="0"/>
          </a:p>
        </p:txBody>
      </p:sp>
      <p:sp>
        <p:nvSpPr>
          <p:cNvPr id="18" name="Text 16"/>
          <p:cNvSpPr/>
          <p:nvPr/>
        </p:nvSpPr>
        <p:spPr>
          <a:xfrm>
            <a:off x="365760" y="6492240"/>
            <a:ext cx="1097280" cy="228600"/>
          </a:xfrm>
          <a:prstGeom prst="rect">
            <a:avLst/>
          </a:prstGeom>
          <a:noFill/>
          <a:ln/>
        </p:spPr>
        <p:txBody>
          <a:bodyPr wrap="square" lIns="0" tIns="0" rIns="0" bIns="0" rtlCol="0" anchor="ctr"/>
          <a:lstStyle/>
          <a:p>
            <a:pPr marL="0" indent="0" algn="l">
              <a:buNone/>
            </a:pPr>
            <a:r>
              <a:rPr lang="en-US" sz="900" dirty="0">
                <a:solidFill>
                  <a:srgbClr val="8B949E"/>
                </a:solidFill>
                <a:latin typeface="Consolas" pitchFamily="34" charset="0"/>
                <a:ea typeface="Consolas" pitchFamily="34" charset="-122"/>
                <a:cs typeface="Consolas" pitchFamily="34" charset="-120"/>
              </a:rPr>
              <a:t>v10.23</a:t>
            </a:r>
            <a:endParaRPr lang="en-US" sz="900" dirty="0"/>
          </a:p>
        </p:txBody>
      </p:sp>
      <p:sp>
        <p:nvSpPr>
          <p:cNvPr id="19" name="Text 17"/>
          <p:cNvSpPr/>
          <p:nvPr/>
        </p:nvSpPr>
        <p:spPr>
          <a:xfrm>
            <a:off x="4572000" y="6492240"/>
            <a:ext cx="6400800" cy="228600"/>
          </a:xfrm>
          <a:prstGeom prst="rect">
            <a:avLst/>
          </a:prstGeom>
          <a:noFill/>
          <a:ln/>
        </p:spPr>
        <p:txBody>
          <a:bodyPr wrap="square" lIns="0" tIns="0" rIns="0" bIns="0" rtlCol="0" anchor="ctr"/>
          <a:lstStyle/>
          <a:p>
            <a:pPr marL="0" indent="0" algn="ctr">
              <a:buNone/>
            </a:pPr>
            <a:r>
              <a:rPr lang="en-US" sz="900" dirty="0">
                <a:solidFill>
                  <a:srgbClr val="8B949E"/>
                </a:solidFill>
                <a:latin typeface="Consolas" pitchFamily="34" charset="0"/>
                <a:ea typeface="Consolas" pitchFamily="34" charset="-122"/>
                <a:cs typeface="Consolas" pitchFamily="34" charset="-120"/>
              </a:rPr>
              <a:t>Product Engineering Agent Framework</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365760" y="228600"/>
            <a:ext cx="8229600" cy="274320"/>
          </a:xfrm>
          <a:prstGeom prst="rect">
            <a:avLst/>
          </a:prstGeom>
          <a:noFill/>
          <a:ln/>
        </p:spPr>
        <p:txBody>
          <a:bodyPr wrap="square" lIns="0" tIns="0" rIns="0" bIns="0" rtlCol="0" anchor="ctr"/>
          <a:lstStyle/>
          <a:p>
            <a:pPr marL="0" indent="0">
              <a:buNone/>
            </a:pPr>
            <a:r>
              <a:rPr lang="en-US" sz="1100" dirty="0">
                <a:solidFill>
                  <a:srgbClr val="2EA043"/>
                </a:solidFill>
                <a:latin typeface="Consolas" pitchFamily="34" charset="0"/>
                <a:ea typeface="Consolas" pitchFamily="34" charset="-122"/>
                <a:cs typeface="Consolas" pitchFamily="34" charset="-120"/>
              </a:rPr>
              <a:t>$ </a:t>
            </a:r>
            <a:r>
              <a:rPr lang="en-US" sz="1100" dirty="0">
                <a:solidFill>
                  <a:srgbClr val="8B949E"/>
                </a:solidFill>
                <a:latin typeface="Consolas" pitchFamily="34" charset="0"/>
                <a:ea typeface="Consolas" pitchFamily="34" charset="-122"/>
                <a:cs typeface="Consolas" pitchFamily="34" charset="-120"/>
              </a:rPr>
              <a:t>02_overview.md</a:t>
            </a:r>
            <a:endParaRPr lang="en-US" sz="1100" dirty="0"/>
          </a:p>
        </p:txBody>
      </p:sp>
      <p:sp>
        <p:nvSpPr>
          <p:cNvPr id="3" name="Text 1"/>
          <p:cNvSpPr/>
          <p:nvPr/>
        </p:nvSpPr>
        <p:spPr>
          <a:xfrm>
            <a:off x="365760" y="548640"/>
            <a:ext cx="11430000" cy="640080"/>
          </a:xfrm>
          <a:prstGeom prst="rect">
            <a:avLst/>
          </a:prstGeom>
          <a:noFill/>
          <a:ln/>
        </p:spPr>
        <p:txBody>
          <a:bodyPr wrap="square" lIns="0" tIns="0" rIns="0" bIns="0" rtlCol="0" anchor="ctr"/>
          <a:lstStyle/>
          <a:p>
            <a:pPr marL="0" indent="0">
              <a:buNone/>
            </a:pPr>
            <a:r>
              <a:rPr lang="en-US" sz="3000" b="1" dirty="0">
                <a:solidFill>
                  <a:srgbClr val="E6EDF3"/>
                </a:solidFill>
                <a:latin typeface="Consolas" pitchFamily="34" charset="0"/>
                <a:ea typeface="Consolas" pitchFamily="34" charset="-122"/>
                <a:cs typeface="Consolas" pitchFamily="34" charset="-120"/>
              </a:rPr>
              <a:t>Tổng quan giải pháp</a:t>
            </a:r>
            <a:endParaRPr lang="en-US" sz="3000" dirty="0"/>
          </a:p>
        </p:txBody>
      </p:sp>
      <p:sp>
        <p:nvSpPr>
          <p:cNvPr id="4" name="Text 2"/>
          <p:cNvSpPr/>
          <p:nvPr/>
        </p:nvSpPr>
        <p:spPr>
          <a:xfrm>
            <a:off x="365760" y="1143000"/>
            <a:ext cx="11430000" cy="365760"/>
          </a:xfrm>
          <a:prstGeom prst="rect">
            <a:avLst/>
          </a:prstGeom>
          <a:noFill/>
          <a:ln/>
        </p:spPr>
        <p:txBody>
          <a:bodyPr wrap="square" lIns="0" tIns="0" rIns="0" bIns="0" rtlCol="0" anchor="ctr"/>
          <a:lstStyle/>
          <a:p>
            <a:pPr marL="0" indent="0">
              <a:buNone/>
            </a:pPr>
            <a:r>
              <a:rPr lang="en-US" sz="1400" i="1" dirty="0">
                <a:solidFill>
                  <a:srgbClr val="8B949E"/>
                </a:solidFill>
                <a:latin typeface="Calibri" pitchFamily="34" charset="0"/>
                <a:ea typeface="Calibri" pitchFamily="34" charset="-122"/>
                <a:cs typeface="Calibri" pitchFamily="34" charset="-120"/>
              </a:rPr>
              <a:t>1 người dùng → 1 Orchestrator → 8 worker agent, mỗi cái 1 model riêng</a:t>
            </a:r>
            <a:endParaRPr lang="en-US" sz="1400" dirty="0"/>
          </a:p>
        </p:txBody>
      </p:sp>
      <p:sp>
        <p:nvSpPr>
          <p:cNvPr id="5" name="Text 3"/>
          <p:cNvSpPr/>
          <p:nvPr/>
        </p:nvSpPr>
        <p:spPr>
          <a:xfrm>
            <a:off x="365760" y="1828800"/>
            <a:ext cx="5029200" cy="1828800"/>
          </a:xfrm>
          <a:prstGeom prst="rect">
            <a:avLst/>
          </a:prstGeom>
          <a:noFill/>
          <a:ln/>
        </p:spPr>
        <p:txBody>
          <a:bodyPr wrap="square" lIns="0" tIns="0" rIns="0" bIns="0" rtlCol="0" anchor="ctr"/>
          <a:lstStyle/>
          <a:p>
            <a:pPr marL="0" indent="0">
              <a:buNone/>
            </a:pPr>
            <a:r>
              <a:rPr lang="en-US" sz="1400" dirty="0">
                <a:solidFill>
                  <a:srgbClr val="E6EDF3"/>
                </a:solidFill>
                <a:latin typeface="Calibri" pitchFamily="34" charset="0"/>
                <a:ea typeface="Calibri" pitchFamily="34" charset="-122"/>
                <a:cs typeface="Calibri" pitchFamily="34" charset="-120"/>
              </a:rPr>
              <a:t>Mỗi role là một tmux pane riêng, chạy engine (OpenCode hoặc Claude Code) với một model phù hợp với năng lực và chi phí. Bạn chỉ chat với Orchestrator; Orchestrator route công việc bằng shell commands thật, không dùng subagent ảo.</a:t>
            </a:r>
            <a:endParaRPr lang="en-US" sz="1400" dirty="0"/>
          </a:p>
        </p:txBody>
      </p:sp>
      <p:sp>
        <p:nvSpPr>
          <p:cNvPr id="6" name="Shape 4"/>
          <p:cNvSpPr/>
          <p:nvPr/>
        </p:nvSpPr>
        <p:spPr>
          <a:xfrm>
            <a:off x="365760" y="3840480"/>
            <a:ext cx="54864" cy="292608"/>
          </a:xfrm>
          <a:prstGeom prst="rect">
            <a:avLst/>
          </a:prstGeom>
          <a:solidFill>
            <a:srgbClr val="7CE38B"/>
          </a:solidFill>
          <a:ln w="12700">
            <a:solidFill>
              <a:srgbClr val="7CE38B"/>
            </a:solidFill>
            <a:prstDash val="solid"/>
          </a:ln>
        </p:spPr>
        <p:txBody>
          <a:bodyPr/>
          <a:lstStyle/>
          <a:p>
            <a:endParaRPr/>
          </a:p>
        </p:txBody>
      </p:sp>
      <p:sp>
        <p:nvSpPr>
          <p:cNvPr id="7" name="Text 5"/>
          <p:cNvSpPr/>
          <p:nvPr/>
        </p:nvSpPr>
        <p:spPr>
          <a:xfrm>
            <a:off x="502920" y="3840480"/>
            <a:ext cx="4892040" cy="292608"/>
          </a:xfrm>
          <a:prstGeom prst="rect">
            <a:avLst/>
          </a:prstGeom>
          <a:noFill/>
          <a:ln/>
        </p:spPr>
        <p:txBody>
          <a:bodyPr wrap="square" lIns="0" tIns="0" rIns="0" bIns="0" rtlCol="0" anchor="ctr"/>
          <a:lstStyle/>
          <a:p>
            <a:pPr marL="0" indent="0">
              <a:buNone/>
            </a:pPr>
            <a:r>
              <a:rPr lang="en-US" sz="1400" b="1" dirty="0">
                <a:solidFill>
                  <a:srgbClr val="E6EDF3"/>
                </a:solidFill>
                <a:latin typeface="Consolas" pitchFamily="34" charset="0"/>
                <a:ea typeface="Consolas" pitchFamily="34" charset="-122"/>
                <a:cs typeface="Consolas" pitchFamily="34" charset="-120"/>
              </a:rPr>
              <a:t>3 tính chất cốt lõi</a:t>
            </a:r>
            <a:endParaRPr lang="en-US" sz="1400" dirty="0"/>
          </a:p>
        </p:txBody>
      </p:sp>
      <p:sp>
        <p:nvSpPr>
          <p:cNvPr id="8" name="Text 6"/>
          <p:cNvSpPr/>
          <p:nvPr/>
        </p:nvSpPr>
        <p:spPr>
          <a:xfrm>
            <a:off x="365760" y="4297680"/>
            <a:ext cx="5029200" cy="1645920"/>
          </a:xfrm>
          <a:prstGeom prst="rect">
            <a:avLst/>
          </a:prstGeom>
          <a:noFill/>
          <a:ln/>
        </p:spPr>
        <p:txBody>
          <a:bodyPr wrap="square" lIns="0" tIns="0" rIns="0" bIns="0" rtlCol="0" anchor="ctr"/>
          <a:lstStyle/>
          <a:p>
            <a:pPr marL="0" indent="0">
              <a:buNone/>
            </a:pPr>
            <a:r>
              <a:rPr lang="en-US" sz="1300" b="1" dirty="0">
                <a:solidFill>
                  <a:srgbClr val="7CE38B"/>
                </a:solidFill>
                <a:latin typeface="Consolas" pitchFamily="34" charset="0"/>
                <a:ea typeface="Consolas" pitchFamily="34" charset="-122"/>
                <a:cs typeface="Consolas" pitchFamily="34" charset="-120"/>
              </a:rPr>
              <a:t>▸ </a:t>
            </a:r>
            <a:r>
              <a:rPr lang="en-US" sz="1300" dirty="0">
                <a:solidFill>
                  <a:srgbClr val="E6EDF3"/>
                </a:solidFill>
                <a:latin typeface="Calibri" pitchFamily="34" charset="0"/>
                <a:ea typeface="Calibri" pitchFamily="34" charset="-122"/>
                <a:cs typeface="Calibri" pitchFamily="34" charset="-120"/>
              </a:rPr>
              <a:t>Pane = execution boundary (process thật, model thật)</a:t>
            </a:r>
            <a:endParaRPr lang="en-US" sz="1300" dirty="0"/>
          </a:p>
          <a:p>
            <a:pPr marL="0" indent="0">
              <a:buNone/>
            </a:pPr>
            <a:r>
              <a:rPr lang="en-US" sz="1300" b="1" dirty="0">
                <a:solidFill>
                  <a:srgbClr val="7CE38B"/>
                </a:solidFill>
                <a:latin typeface="Consolas" pitchFamily="34" charset="0"/>
                <a:ea typeface="Consolas" pitchFamily="34" charset="-122"/>
                <a:cs typeface="Consolas" pitchFamily="34" charset="-120"/>
              </a:rPr>
              <a:t>▸ </a:t>
            </a:r>
            <a:r>
              <a:rPr lang="en-US" sz="1300" dirty="0">
                <a:solidFill>
                  <a:srgbClr val="E6EDF3"/>
                </a:solidFill>
                <a:latin typeface="Calibri" pitchFamily="34" charset="0"/>
                <a:ea typeface="Calibri" pitchFamily="34" charset="-122"/>
                <a:cs typeface="Calibri" pitchFamily="34" charset="-120"/>
              </a:rPr>
              <a:t>Routing = bash command thật, audit-able qua .pane_logs/</a:t>
            </a:r>
            <a:endParaRPr lang="en-US" sz="1300" dirty="0"/>
          </a:p>
          <a:p>
            <a:pPr marL="0" indent="0">
              <a:buNone/>
            </a:pPr>
            <a:r>
              <a:rPr lang="en-US" sz="1300" b="1" dirty="0">
                <a:solidFill>
                  <a:srgbClr val="7CE38B"/>
                </a:solidFill>
                <a:latin typeface="Consolas" pitchFamily="34" charset="0"/>
                <a:ea typeface="Consolas" pitchFamily="34" charset="-122"/>
                <a:cs typeface="Consolas" pitchFamily="34" charset="-120"/>
              </a:rPr>
              <a:t>▸ </a:t>
            </a:r>
            <a:r>
              <a:rPr lang="en-US" sz="1300" dirty="0">
                <a:solidFill>
                  <a:srgbClr val="E6EDF3"/>
                </a:solidFill>
                <a:latin typeface="Calibri" pitchFamily="34" charset="0"/>
                <a:ea typeface="Calibri" pitchFamily="34" charset="-122"/>
                <a:cs typeface="Calibri" pitchFamily="34" charset="-120"/>
              </a:rPr>
              <a:t>Memory = file system, cross-session, commit vào git</a:t>
            </a:r>
            <a:endParaRPr lang="en-US" sz="1300" dirty="0"/>
          </a:p>
        </p:txBody>
      </p:sp>
      <p:sp>
        <p:nvSpPr>
          <p:cNvPr id="9" name="Shape 7"/>
          <p:cNvSpPr/>
          <p:nvPr/>
        </p:nvSpPr>
        <p:spPr>
          <a:xfrm>
            <a:off x="5760720" y="1737360"/>
            <a:ext cx="6035040" cy="4389120"/>
          </a:xfrm>
          <a:prstGeom prst="rect">
            <a:avLst/>
          </a:prstGeom>
          <a:solidFill>
            <a:srgbClr val="161B22"/>
          </a:solidFill>
          <a:ln w="12700">
            <a:solidFill>
              <a:srgbClr val="30363D"/>
            </a:solidFill>
            <a:prstDash val="solid"/>
          </a:ln>
        </p:spPr>
        <p:txBody>
          <a:bodyPr/>
          <a:lstStyle/>
          <a:p>
            <a:endParaRPr/>
          </a:p>
        </p:txBody>
      </p:sp>
      <p:sp>
        <p:nvSpPr>
          <p:cNvPr id="10" name="Shape 8"/>
          <p:cNvSpPr/>
          <p:nvPr/>
        </p:nvSpPr>
        <p:spPr>
          <a:xfrm>
            <a:off x="5852160" y="1828800"/>
            <a:ext cx="91440" cy="91440"/>
          </a:xfrm>
          <a:prstGeom prst="ellipse">
            <a:avLst/>
          </a:prstGeom>
          <a:solidFill>
            <a:srgbClr val="F85149"/>
          </a:solidFill>
          <a:ln w="12700">
            <a:solidFill>
              <a:srgbClr val="F85149"/>
            </a:solidFill>
            <a:prstDash val="solid"/>
          </a:ln>
        </p:spPr>
        <p:txBody>
          <a:bodyPr/>
          <a:lstStyle/>
          <a:p>
            <a:endParaRPr/>
          </a:p>
        </p:txBody>
      </p:sp>
      <p:sp>
        <p:nvSpPr>
          <p:cNvPr id="11" name="Shape 9"/>
          <p:cNvSpPr/>
          <p:nvPr/>
        </p:nvSpPr>
        <p:spPr>
          <a:xfrm>
            <a:off x="5980176" y="1828800"/>
            <a:ext cx="91440" cy="91440"/>
          </a:xfrm>
          <a:prstGeom prst="ellipse">
            <a:avLst/>
          </a:prstGeom>
          <a:solidFill>
            <a:srgbClr val="D29922"/>
          </a:solidFill>
          <a:ln w="12700">
            <a:solidFill>
              <a:srgbClr val="D29922"/>
            </a:solidFill>
            <a:prstDash val="solid"/>
          </a:ln>
        </p:spPr>
        <p:txBody>
          <a:bodyPr/>
          <a:lstStyle/>
          <a:p>
            <a:endParaRPr/>
          </a:p>
        </p:txBody>
      </p:sp>
      <p:sp>
        <p:nvSpPr>
          <p:cNvPr id="12" name="Shape 10"/>
          <p:cNvSpPr/>
          <p:nvPr/>
        </p:nvSpPr>
        <p:spPr>
          <a:xfrm>
            <a:off x="6108192" y="1828800"/>
            <a:ext cx="91440" cy="91440"/>
          </a:xfrm>
          <a:prstGeom prst="ellipse">
            <a:avLst/>
          </a:prstGeom>
          <a:solidFill>
            <a:srgbClr val="3FB950"/>
          </a:solidFill>
          <a:ln w="12700">
            <a:solidFill>
              <a:srgbClr val="3FB950"/>
            </a:solidFill>
            <a:prstDash val="solid"/>
          </a:ln>
        </p:spPr>
        <p:txBody>
          <a:bodyPr/>
          <a:lstStyle/>
          <a:p>
            <a:endParaRPr/>
          </a:p>
        </p:txBody>
      </p:sp>
      <p:sp>
        <p:nvSpPr>
          <p:cNvPr id="13" name="Text 11"/>
          <p:cNvSpPr/>
          <p:nvPr/>
        </p:nvSpPr>
        <p:spPr>
          <a:xfrm>
            <a:off x="5897880" y="2057400"/>
            <a:ext cx="5760720" cy="4023360"/>
          </a:xfrm>
          <a:prstGeom prst="rect">
            <a:avLst/>
          </a:prstGeom>
          <a:noFill/>
          <a:ln/>
        </p:spPr>
        <p:txBody>
          <a:bodyPr wrap="square" lIns="0" tIns="0" rIns="0" bIns="0" rtlCol="0" anchor="t"/>
          <a:lstStyle/>
          <a:p>
            <a:pPr marL="0" indent="0">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        ║     USER     ║</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               │ chat</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      ║  ORCHESTRATOR  ║ pane 1</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           │ route_to_pane.sh</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  ▼        ▼        ▼        ▼</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 [PM]    [SA]    [BA]   ... [DEL]</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  panes 2 → 9 — mỗi cái 1 model</a:t>
            </a:r>
            <a:endParaRPr lang="en-US" sz="1200" dirty="0"/>
          </a:p>
        </p:txBody>
      </p:sp>
      <p:sp>
        <p:nvSpPr>
          <p:cNvPr id="14" name="Text 12"/>
          <p:cNvSpPr/>
          <p:nvPr/>
        </p:nvSpPr>
        <p:spPr>
          <a:xfrm>
            <a:off x="11338560" y="6492240"/>
            <a:ext cx="731520" cy="228600"/>
          </a:xfrm>
          <a:prstGeom prst="rect">
            <a:avLst/>
          </a:prstGeom>
          <a:noFill/>
          <a:ln/>
        </p:spPr>
        <p:txBody>
          <a:bodyPr wrap="square" lIns="0" tIns="0" rIns="0" bIns="0" rtlCol="0" anchor="ctr"/>
          <a:lstStyle/>
          <a:p>
            <a:pPr marL="0" indent="0" algn="r">
              <a:buNone/>
            </a:pPr>
            <a:r>
              <a:rPr lang="en-US" sz="900" dirty="0">
                <a:solidFill>
                  <a:srgbClr val="8B949E"/>
                </a:solidFill>
                <a:latin typeface="Consolas" pitchFamily="34" charset="0"/>
                <a:ea typeface="Consolas" pitchFamily="34" charset="-122"/>
                <a:cs typeface="Consolas" pitchFamily="34" charset="-120"/>
              </a:rPr>
              <a:t>5 / 40</a:t>
            </a:r>
            <a:endParaRPr lang="en-US" sz="900" dirty="0"/>
          </a:p>
        </p:txBody>
      </p:sp>
      <p:sp>
        <p:nvSpPr>
          <p:cNvPr id="15" name="Text 13"/>
          <p:cNvSpPr/>
          <p:nvPr/>
        </p:nvSpPr>
        <p:spPr>
          <a:xfrm>
            <a:off x="365760" y="6492240"/>
            <a:ext cx="1097280" cy="228600"/>
          </a:xfrm>
          <a:prstGeom prst="rect">
            <a:avLst/>
          </a:prstGeom>
          <a:noFill/>
          <a:ln/>
        </p:spPr>
        <p:txBody>
          <a:bodyPr wrap="square" lIns="0" tIns="0" rIns="0" bIns="0" rtlCol="0" anchor="ctr"/>
          <a:lstStyle/>
          <a:p>
            <a:pPr marL="0" indent="0" algn="l">
              <a:buNone/>
            </a:pPr>
            <a:r>
              <a:rPr lang="en-US" sz="900" dirty="0">
                <a:solidFill>
                  <a:srgbClr val="8B949E"/>
                </a:solidFill>
                <a:latin typeface="Consolas" pitchFamily="34" charset="0"/>
                <a:ea typeface="Consolas" pitchFamily="34" charset="-122"/>
                <a:cs typeface="Consolas" pitchFamily="34" charset="-120"/>
              </a:rPr>
              <a:t>v10.23</a:t>
            </a:r>
            <a:endParaRPr lang="en-US" sz="900" dirty="0"/>
          </a:p>
        </p:txBody>
      </p:sp>
      <p:sp>
        <p:nvSpPr>
          <p:cNvPr id="16" name="Text 14"/>
          <p:cNvSpPr/>
          <p:nvPr/>
        </p:nvSpPr>
        <p:spPr>
          <a:xfrm>
            <a:off x="4572000" y="6492240"/>
            <a:ext cx="6400800" cy="228600"/>
          </a:xfrm>
          <a:prstGeom prst="rect">
            <a:avLst/>
          </a:prstGeom>
          <a:noFill/>
          <a:ln/>
        </p:spPr>
        <p:txBody>
          <a:bodyPr wrap="square" lIns="0" tIns="0" rIns="0" bIns="0" rtlCol="0" anchor="ctr"/>
          <a:lstStyle/>
          <a:p>
            <a:pPr marL="0" indent="0" algn="ctr">
              <a:buNone/>
            </a:pPr>
            <a:r>
              <a:rPr lang="en-US" sz="900" dirty="0">
                <a:solidFill>
                  <a:srgbClr val="8B949E"/>
                </a:solidFill>
                <a:latin typeface="Consolas" pitchFamily="34" charset="0"/>
                <a:ea typeface="Consolas" pitchFamily="34" charset="-122"/>
                <a:cs typeface="Consolas" pitchFamily="34" charset="-120"/>
              </a:rPr>
              <a:t>Product Engineering Agent Framework</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365760" y="228600"/>
            <a:ext cx="8229600" cy="274320"/>
          </a:xfrm>
          <a:prstGeom prst="rect">
            <a:avLst/>
          </a:prstGeom>
          <a:noFill/>
          <a:ln/>
        </p:spPr>
        <p:txBody>
          <a:bodyPr wrap="square" lIns="0" tIns="0" rIns="0" bIns="0" rtlCol="0" anchor="ctr"/>
          <a:lstStyle/>
          <a:p>
            <a:pPr marL="0" indent="0">
              <a:buNone/>
            </a:pPr>
            <a:r>
              <a:rPr lang="en-US" sz="1100" dirty="0">
                <a:solidFill>
                  <a:srgbClr val="2EA043"/>
                </a:solidFill>
                <a:latin typeface="Consolas" pitchFamily="34" charset="0"/>
                <a:ea typeface="Consolas" pitchFamily="34" charset="-122"/>
                <a:cs typeface="Consolas" pitchFamily="34" charset="-120"/>
              </a:rPr>
              <a:t>$ </a:t>
            </a:r>
            <a:r>
              <a:rPr lang="en-US" sz="1100" dirty="0">
                <a:solidFill>
                  <a:srgbClr val="8B949E"/>
                </a:solidFill>
                <a:latin typeface="Consolas" pitchFamily="34" charset="0"/>
                <a:ea typeface="Consolas" pitchFamily="34" charset="-122"/>
                <a:cs typeface="Consolas" pitchFamily="34" charset="-120"/>
              </a:rPr>
              <a:t>03_bmad_intro.md</a:t>
            </a:r>
            <a:endParaRPr lang="en-US" sz="1100" dirty="0"/>
          </a:p>
        </p:txBody>
      </p:sp>
      <p:sp>
        <p:nvSpPr>
          <p:cNvPr id="3" name="Text 1"/>
          <p:cNvSpPr/>
          <p:nvPr/>
        </p:nvSpPr>
        <p:spPr>
          <a:xfrm>
            <a:off x="365760" y="548640"/>
            <a:ext cx="11430000" cy="640080"/>
          </a:xfrm>
          <a:prstGeom prst="rect">
            <a:avLst/>
          </a:prstGeom>
          <a:noFill/>
          <a:ln/>
        </p:spPr>
        <p:txBody>
          <a:bodyPr wrap="square" lIns="0" tIns="0" rIns="0" bIns="0" rtlCol="0" anchor="ctr"/>
          <a:lstStyle/>
          <a:p>
            <a:pPr marL="0" indent="0">
              <a:buNone/>
            </a:pPr>
            <a:r>
              <a:rPr lang="en-US" sz="3000" b="1" dirty="0">
                <a:solidFill>
                  <a:srgbClr val="E6EDF3"/>
                </a:solidFill>
                <a:latin typeface="Consolas" pitchFamily="34" charset="0"/>
                <a:ea typeface="Consolas" pitchFamily="34" charset="-122"/>
                <a:cs typeface="Consolas" pitchFamily="34" charset="-120"/>
              </a:rPr>
              <a:t>BMAD là gì?</a:t>
            </a:r>
            <a:endParaRPr lang="en-US" sz="3000" dirty="0"/>
          </a:p>
        </p:txBody>
      </p:sp>
      <p:sp>
        <p:nvSpPr>
          <p:cNvPr id="4" name="Text 2"/>
          <p:cNvSpPr/>
          <p:nvPr/>
        </p:nvSpPr>
        <p:spPr>
          <a:xfrm>
            <a:off x="365760" y="1143000"/>
            <a:ext cx="11430000" cy="365760"/>
          </a:xfrm>
          <a:prstGeom prst="rect">
            <a:avLst/>
          </a:prstGeom>
          <a:noFill/>
          <a:ln/>
        </p:spPr>
        <p:txBody>
          <a:bodyPr wrap="square" lIns="0" tIns="0" rIns="0" bIns="0" rtlCol="0" anchor="ctr"/>
          <a:lstStyle/>
          <a:p>
            <a:pPr marL="0" indent="0">
              <a:buNone/>
            </a:pPr>
            <a:r>
              <a:rPr lang="en-US" sz="1400" i="1" dirty="0">
                <a:solidFill>
                  <a:srgbClr val="8B949E"/>
                </a:solidFill>
                <a:latin typeface="Calibri" pitchFamily="34" charset="0"/>
                <a:ea typeface="Calibri" pitchFamily="34" charset="-122"/>
                <a:cs typeface="Calibri" pitchFamily="34" charset="-120"/>
              </a:rPr>
              <a:t>Breakthrough Method for Agile AI-Driven Development</a:t>
            </a:r>
            <a:endParaRPr lang="en-US" sz="1400" dirty="0"/>
          </a:p>
        </p:txBody>
      </p:sp>
      <p:sp>
        <p:nvSpPr>
          <p:cNvPr id="5" name="Shape 3"/>
          <p:cNvSpPr/>
          <p:nvPr/>
        </p:nvSpPr>
        <p:spPr>
          <a:xfrm>
            <a:off x="365760" y="1828800"/>
            <a:ext cx="11430000" cy="1371600"/>
          </a:xfrm>
          <a:prstGeom prst="rect">
            <a:avLst/>
          </a:prstGeom>
          <a:solidFill>
            <a:srgbClr val="161B22"/>
          </a:solidFill>
          <a:ln w="12700">
            <a:solidFill>
              <a:srgbClr val="30363D"/>
            </a:solidFill>
            <a:prstDash val="solid"/>
          </a:ln>
        </p:spPr>
        <p:txBody>
          <a:bodyPr/>
          <a:lstStyle/>
          <a:p>
            <a:endParaRPr/>
          </a:p>
        </p:txBody>
      </p:sp>
      <p:sp>
        <p:nvSpPr>
          <p:cNvPr id="6" name="Text 4"/>
          <p:cNvSpPr/>
          <p:nvPr/>
        </p:nvSpPr>
        <p:spPr>
          <a:xfrm>
            <a:off x="365760" y="1874520"/>
            <a:ext cx="2857500" cy="822960"/>
          </a:xfrm>
          <a:prstGeom prst="rect">
            <a:avLst/>
          </a:prstGeom>
          <a:noFill/>
          <a:ln/>
        </p:spPr>
        <p:txBody>
          <a:bodyPr wrap="square" lIns="0" tIns="0" rIns="0" bIns="0" rtlCol="0" anchor="ctr"/>
          <a:lstStyle/>
          <a:p>
            <a:pPr marL="0" indent="0" algn="ctr">
              <a:buNone/>
            </a:pPr>
            <a:r>
              <a:rPr lang="en-US" sz="6400" b="1" dirty="0">
                <a:solidFill>
                  <a:srgbClr val="7CE38B"/>
                </a:solidFill>
                <a:latin typeface="Consolas" pitchFamily="34" charset="0"/>
                <a:ea typeface="Consolas" pitchFamily="34" charset="-122"/>
                <a:cs typeface="Consolas" pitchFamily="34" charset="-120"/>
              </a:rPr>
              <a:t>B</a:t>
            </a:r>
            <a:endParaRPr lang="en-US" sz="6400" dirty="0"/>
          </a:p>
        </p:txBody>
      </p:sp>
      <p:sp>
        <p:nvSpPr>
          <p:cNvPr id="7" name="Text 5"/>
          <p:cNvSpPr/>
          <p:nvPr/>
        </p:nvSpPr>
        <p:spPr>
          <a:xfrm>
            <a:off x="365760" y="2697480"/>
            <a:ext cx="2857500" cy="457200"/>
          </a:xfrm>
          <a:prstGeom prst="rect">
            <a:avLst/>
          </a:prstGeom>
          <a:noFill/>
          <a:ln/>
        </p:spPr>
        <p:txBody>
          <a:bodyPr wrap="square" lIns="0" tIns="0" rIns="0" bIns="0" rtlCol="0" anchor="ctr"/>
          <a:lstStyle/>
          <a:p>
            <a:pPr marL="0" indent="0" algn="ctr">
              <a:buNone/>
            </a:pPr>
            <a:r>
              <a:rPr lang="en-US" sz="1400" b="1" dirty="0">
                <a:solidFill>
                  <a:srgbClr val="E6EDF3"/>
                </a:solidFill>
                <a:latin typeface="Consolas" pitchFamily="34" charset="0"/>
                <a:ea typeface="Consolas" pitchFamily="34" charset="-122"/>
                <a:cs typeface="Consolas" pitchFamily="34" charset="-120"/>
              </a:rPr>
              <a:t>Breakthrough</a:t>
            </a:r>
            <a:endParaRPr lang="en-US" sz="1400" dirty="0"/>
          </a:p>
        </p:txBody>
      </p:sp>
      <p:sp>
        <p:nvSpPr>
          <p:cNvPr id="8" name="Text 6"/>
          <p:cNvSpPr/>
          <p:nvPr/>
        </p:nvSpPr>
        <p:spPr>
          <a:xfrm>
            <a:off x="3223260" y="1874520"/>
            <a:ext cx="2857500" cy="822960"/>
          </a:xfrm>
          <a:prstGeom prst="rect">
            <a:avLst/>
          </a:prstGeom>
          <a:noFill/>
          <a:ln/>
        </p:spPr>
        <p:txBody>
          <a:bodyPr wrap="square" lIns="0" tIns="0" rIns="0" bIns="0" rtlCol="0" anchor="ctr"/>
          <a:lstStyle/>
          <a:p>
            <a:pPr marL="0" indent="0" algn="ctr">
              <a:buNone/>
            </a:pPr>
            <a:r>
              <a:rPr lang="en-US" sz="6400" b="1" dirty="0">
                <a:solidFill>
                  <a:srgbClr val="7CE38B"/>
                </a:solidFill>
                <a:latin typeface="Consolas" pitchFamily="34" charset="0"/>
                <a:ea typeface="Consolas" pitchFamily="34" charset="-122"/>
                <a:cs typeface="Consolas" pitchFamily="34" charset="-120"/>
              </a:rPr>
              <a:t>M</a:t>
            </a:r>
            <a:endParaRPr lang="en-US" sz="6400" dirty="0"/>
          </a:p>
        </p:txBody>
      </p:sp>
      <p:sp>
        <p:nvSpPr>
          <p:cNvPr id="9" name="Text 7"/>
          <p:cNvSpPr/>
          <p:nvPr/>
        </p:nvSpPr>
        <p:spPr>
          <a:xfrm>
            <a:off x="3223260" y="2697480"/>
            <a:ext cx="2857500" cy="457200"/>
          </a:xfrm>
          <a:prstGeom prst="rect">
            <a:avLst/>
          </a:prstGeom>
          <a:noFill/>
          <a:ln/>
        </p:spPr>
        <p:txBody>
          <a:bodyPr wrap="square" lIns="0" tIns="0" rIns="0" bIns="0" rtlCol="0" anchor="ctr"/>
          <a:lstStyle/>
          <a:p>
            <a:pPr marL="0" indent="0" algn="ctr">
              <a:buNone/>
            </a:pPr>
            <a:r>
              <a:rPr lang="en-US" sz="1400" b="1" dirty="0">
                <a:solidFill>
                  <a:srgbClr val="E6EDF3"/>
                </a:solidFill>
                <a:latin typeface="Consolas" pitchFamily="34" charset="0"/>
                <a:ea typeface="Consolas" pitchFamily="34" charset="-122"/>
                <a:cs typeface="Consolas" pitchFamily="34" charset="-120"/>
              </a:rPr>
              <a:t>Method for Agile</a:t>
            </a:r>
            <a:endParaRPr lang="en-US" sz="1400" dirty="0"/>
          </a:p>
        </p:txBody>
      </p:sp>
      <p:sp>
        <p:nvSpPr>
          <p:cNvPr id="10" name="Text 8"/>
          <p:cNvSpPr/>
          <p:nvPr/>
        </p:nvSpPr>
        <p:spPr>
          <a:xfrm>
            <a:off x="6080760" y="1874520"/>
            <a:ext cx="2857500" cy="822960"/>
          </a:xfrm>
          <a:prstGeom prst="rect">
            <a:avLst/>
          </a:prstGeom>
          <a:noFill/>
          <a:ln/>
        </p:spPr>
        <p:txBody>
          <a:bodyPr wrap="square" lIns="0" tIns="0" rIns="0" bIns="0" rtlCol="0" anchor="ctr"/>
          <a:lstStyle/>
          <a:p>
            <a:pPr marL="0" indent="0" algn="ctr">
              <a:buNone/>
            </a:pPr>
            <a:r>
              <a:rPr lang="en-US" sz="6400" b="1" dirty="0">
                <a:solidFill>
                  <a:srgbClr val="7CE38B"/>
                </a:solidFill>
                <a:latin typeface="Consolas" pitchFamily="34" charset="0"/>
                <a:ea typeface="Consolas" pitchFamily="34" charset="-122"/>
                <a:cs typeface="Consolas" pitchFamily="34" charset="-120"/>
              </a:rPr>
              <a:t>A</a:t>
            </a:r>
            <a:endParaRPr lang="en-US" sz="6400" dirty="0"/>
          </a:p>
        </p:txBody>
      </p:sp>
      <p:sp>
        <p:nvSpPr>
          <p:cNvPr id="11" name="Text 9"/>
          <p:cNvSpPr/>
          <p:nvPr/>
        </p:nvSpPr>
        <p:spPr>
          <a:xfrm>
            <a:off x="6080760" y="2697480"/>
            <a:ext cx="2857500" cy="457200"/>
          </a:xfrm>
          <a:prstGeom prst="rect">
            <a:avLst/>
          </a:prstGeom>
          <a:noFill/>
          <a:ln/>
        </p:spPr>
        <p:txBody>
          <a:bodyPr wrap="square" lIns="0" tIns="0" rIns="0" bIns="0" rtlCol="0" anchor="ctr"/>
          <a:lstStyle/>
          <a:p>
            <a:pPr marL="0" indent="0" algn="ctr">
              <a:buNone/>
            </a:pPr>
            <a:r>
              <a:rPr lang="en-US" sz="1400" b="1" dirty="0">
                <a:solidFill>
                  <a:srgbClr val="E6EDF3"/>
                </a:solidFill>
                <a:latin typeface="Consolas" pitchFamily="34" charset="0"/>
                <a:ea typeface="Consolas" pitchFamily="34" charset="-122"/>
                <a:cs typeface="Consolas" pitchFamily="34" charset="-120"/>
              </a:rPr>
              <a:t>AI-Driven</a:t>
            </a:r>
            <a:endParaRPr lang="en-US" sz="1400" dirty="0"/>
          </a:p>
        </p:txBody>
      </p:sp>
      <p:sp>
        <p:nvSpPr>
          <p:cNvPr id="12" name="Text 10"/>
          <p:cNvSpPr/>
          <p:nvPr/>
        </p:nvSpPr>
        <p:spPr>
          <a:xfrm>
            <a:off x="8938260" y="1874520"/>
            <a:ext cx="2857500" cy="822960"/>
          </a:xfrm>
          <a:prstGeom prst="rect">
            <a:avLst/>
          </a:prstGeom>
          <a:noFill/>
          <a:ln/>
        </p:spPr>
        <p:txBody>
          <a:bodyPr wrap="square" lIns="0" tIns="0" rIns="0" bIns="0" rtlCol="0" anchor="ctr"/>
          <a:lstStyle/>
          <a:p>
            <a:pPr marL="0" indent="0" algn="ctr">
              <a:buNone/>
            </a:pPr>
            <a:r>
              <a:rPr lang="en-US" sz="6400" b="1" dirty="0">
                <a:solidFill>
                  <a:srgbClr val="7CE38B"/>
                </a:solidFill>
                <a:latin typeface="Consolas" pitchFamily="34" charset="0"/>
                <a:ea typeface="Consolas" pitchFamily="34" charset="-122"/>
                <a:cs typeface="Consolas" pitchFamily="34" charset="-120"/>
              </a:rPr>
              <a:t>D</a:t>
            </a:r>
            <a:endParaRPr lang="en-US" sz="6400" dirty="0"/>
          </a:p>
        </p:txBody>
      </p:sp>
      <p:sp>
        <p:nvSpPr>
          <p:cNvPr id="13" name="Text 11"/>
          <p:cNvSpPr/>
          <p:nvPr/>
        </p:nvSpPr>
        <p:spPr>
          <a:xfrm>
            <a:off x="8938260" y="2697480"/>
            <a:ext cx="2857500" cy="457200"/>
          </a:xfrm>
          <a:prstGeom prst="rect">
            <a:avLst/>
          </a:prstGeom>
          <a:noFill/>
          <a:ln/>
        </p:spPr>
        <p:txBody>
          <a:bodyPr wrap="square" lIns="0" tIns="0" rIns="0" bIns="0" rtlCol="0" anchor="ctr"/>
          <a:lstStyle/>
          <a:p>
            <a:pPr marL="0" indent="0" algn="ctr">
              <a:buNone/>
            </a:pPr>
            <a:r>
              <a:rPr lang="en-US" sz="1400" b="1" dirty="0">
                <a:solidFill>
                  <a:srgbClr val="E6EDF3"/>
                </a:solidFill>
                <a:latin typeface="Consolas" pitchFamily="34" charset="0"/>
                <a:ea typeface="Consolas" pitchFamily="34" charset="-122"/>
                <a:cs typeface="Consolas" pitchFamily="34" charset="-120"/>
              </a:rPr>
              <a:t>Development</a:t>
            </a:r>
            <a:endParaRPr lang="en-US" sz="1400" dirty="0"/>
          </a:p>
        </p:txBody>
      </p:sp>
      <p:sp>
        <p:nvSpPr>
          <p:cNvPr id="14" name="Text 12"/>
          <p:cNvSpPr/>
          <p:nvPr/>
        </p:nvSpPr>
        <p:spPr>
          <a:xfrm>
            <a:off x="365760" y="3200400"/>
            <a:ext cx="11430000" cy="1371600"/>
          </a:xfrm>
          <a:prstGeom prst="rect">
            <a:avLst/>
          </a:prstGeom>
          <a:noFill/>
          <a:ln/>
        </p:spPr>
        <p:txBody>
          <a:bodyPr wrap="square" lIns="0" tIns="0" rIns="0" bIns="0" rtlCol="0" anchor="ctr"/>
          <a:lstStyle/>
          <a:p>
            <a:pPr marL="0" indent="0">
              <a:buNone/>
            </a:pPr>
            <a:r>
              <a:rPr lang="en-US" sz="1400" dirty="0">
                <a:solidFill>
                  <a:srgbClr val="E6EDF3"/>
                </a:solidFill>
                <a:latin typeface="Calibri" pitchFamily="34" charset="0"/>
                <a:ea typeface="Calibri" pitchFamily="34" charset="-122"/>
                <a:cs typeface="Calibri" pitchFamily="34" charset="-120"/>
              </a:rPr>
              <a:t>Ý tưởng cốt lõi: chia một dự án phần mềm thành các vai trò chuyên biệt giống một đội Agile thật (PM, Architect, BA, Dev, QA, …), và để mỗi vai trò chạy bởi một agent AI riêng với context và prompt được thiết kế kỹ. AI không thay thế Agile — AI thực thi Agile.</a:t>
            </a:r>
            <a:endParaRPr lang="en-US" sz="1400" dirty="0"/>
          </a:p>
        </p:txBody>
      </p:sp>
      <p:sp>
        <p:nvSpPr>
          <p:cNvPr id="15" name="Shape 13"/>
          <p:cNvSpPr/>
          <p:nvPr/>
        </p:nvSpPr>
        <p:spPr>
          <a:xfrm>
            <a:off x="365760" y="4663440"/>
            <a:ext cx="3657600" cy="1463040"/>
          </a:xfrm>
          <a:prstGeom prst="rect">
            <a:avLst/>
          </a:prstGeom>
          <a:solidFill>
            <a:srgbClr val="1C2128"/>
          </a:solidFill>
          <a:ln w="12700">
            <a:solidFill>
              <a:srgbClr val="30363D"/>
            </a:solidFill>
            <a:prstDash val="solid"/>
          </a:ln>
        </p:spPr>
        <p:txBody>
          <a:bodyPr/>
          <a:lstStyle/>
          <a:p>
            <a:endParaRPr/>
          </a:p>
        </p:txBody>
      </p:sp>
      <p:sp>
        <p:nvSpPr>
          <p:cNvPr id="16" name="Text 14"/>
          <p:cNvSpPr/>
          <p:nvPr/>
        </p:nvSpPr>
        <p:spPr>
          <a:xfrm>
            <a:off x="548640" y="4754880"/>
            <a:ext cx="3383280" cy="365760"/>
          </a:xfrm>
          <a:prstGeom prst="rect">
            <a:avLst/>
          </a:prstGeom>
          <a:noFill/>
          <a:ln/>
        </p:spPr>
        <p:txBody>
          <a:bodyPr wrap="square" lIns="0" tIns="0" rIns="0" bIns="0" rtlCol="0" anchor="ctr"/>
          <a:lstStyle/>
          <a:p>
            <a:pPr marL="0" indent="0">
              <a:buNone/>
            </a:pPr>
            <a:r>
              <a:rPr lang="en-US" sz="1400" b="1" dirty="0">
                <a:solidFill>
                  <a:srgbClr val="7CE38B"/>
                </a:solidFill>
                <a:latin typeface="Consolas" pitchFamily="34" charset="0"/>
                <a:ea typeface="Consolas" pitchFamily="34" charset="-122"/>
                <a:cs typeface="Consolas" pitchFamily="34" charset="-120"/>
              </a:rPr>
              <a:t>1. Agentic Planning</a:t>
            </a:r>
            <a:endParaRPr lang="en-US" sz="1400" dirty="0"/>
          </a:p>
        </p:txBody>
      </p:sp>
      <p:sp>
        <p:nvSpPr>
          <p:cNvPr id="17" name="Text 15"/>
          <p:cNvSpPr/>
          <p:nvPr/>
        </p:nvSpPr>
        <p:spPr>
          <a:xfrm>
            <a:off x="548640" y="5120640"/>
            <a:ext cx="3383280" cy="914400"/>
          </a:xfrm>
          <a:prstGeom prst="rect">
            <a:avLst/>
          </a:prstGeom>
          <a:noFill/>
          <a:ln/>
        </p:spPr>
        <p:txBody>
          <a:bodyPr wrap="square" lIns="0" tIns="0" rIns="0" bIns="0" rtlCol="0" anchor="t"/>
          <a:lstStyle/>
          <a:p>
            <a:pPr marL="0" indent="0">
              <a:buNone/>
            </a:pPr>
            <a:r>
              <a:rPr lang="en-US" sz="1100" dirty="0">
                <a:solidFill>
                  <a:srgbClr val="E6EDF3"/>
                </a:solidFill>
                <a:latin typeface="Calibri" pitchFamily="34" charset="0"/>
                <a:ea typeface="Calibri" pitchFamily="34" charset="-122"/>
                <a:cs typeface="Calibri" pitchFamily="34" charset="-120"/>
              </a:rPr>
              <a:t>Planning artifacts (PRD, Architecture, Stories) do các agent chuyên biệt sinh ra — không bắt một LLM làm tất.</a:t>
            </a:r>
            <a:endParaRPr lang="en-US" sz="1100" dirty="0"/>
          </a:p>
        </p:txBody>
      </p:sp>
      <p:sp>
        <p:nvSpPr>
          <p:cNvPr id="18" name="Shape 16"/>
          <p:cNvSpPr/>
          <p:nvPr/>
        </p:nvSpPr>
        <p:spPr>
          <a:xfrm>
            <a:off x="4297680" y="4663440"/>
            <a:ext cx="3657600" cy="1463040"/>
          </a:xfrm>
          <a:prstGeom prst="rect">
            <a:avLst/>
          </a:prstGeom>
          <a:solidFill>
            <a:srgbClr val="1C2128"/>
          </a:solidFill>
          <a:ln w="12700">
            <a:solidFill>
              <a:srgbClr val="30363D"/>
            </a:solidFill>
            <a:prstDash val="solid"/>
          </a:ln>
        </p:spPr>
        <p:txBody>
          <a:bodyPr/>
          <a:lstStyle/>
          <a:p>
            <a:endParaRPr/>
          </a:p>
        </p:txBody>
      </p:sp>
      <p:sp>
        <p:nvSpPr>
          <p:cNvPr id="19" name="Text 17"/>
          <p:cNvSpPr/>
          <p:nvPr/>
        </p:nvSpPr>
        <p:spPr>
          <a:xfrm>
            <a:off x="4480560" y="4754880"/>
            <a:ext cx="3383280" cy="365760"/>
          </a:xfrm>
          <a:prstGeom prst="rect">
            <a:avLst/>
          </a:prstGeom>
          <a:noFill/>
          <a:ln/>
        </p:spPr>
        <p:txBody>
          <a:bodyPr wrap="square" lIns="0" tIns="0" rIns="0" bIns="0" rtlCol="0" anchor="ctr"/>
          <a:lstStyle/>
          <a:p>
            <a:pPr marL="0" indent="0">
              <a:buNone/>
            </a:pPr>
            <a:r>
              <a:rPr lang="en-US" sz="1400" b="1" dirty="0">
                <a:solidFill>
                  <a:srgbClr val="7CE38B"/>
                </a:solidFill>
                <a:latin typeface="Consolas" pitchFamily="34" charset="0"/>
                <a:ea typeface="Consolas" pitchFamily="34" charset="-122"/>
                <a:cs typeface="Consolas" pitchFamily="34" charset="-120"/>
              </a:rPr>
              <a:t>2. Context Engineering</a:t>
            </a:r>
            <a:endParaRPr lang="en-US" sz="1400" dirty="0"/>
          </a:p>
        </p:txBody>
      </p:sp>
      <p:sp>
        <p:nvSpPr>
          <p:cNvPr id="20" name="Text 18"/>
          <p:cNvSpPr/>
          <p:nvPr/>
        </p:nvSpPr>
        <p:spPr>
          <a:xfrm>
            <a:off x="4480560" y="5120640"/>
            <a:ext cx="3383280" cy="914400"/>
          </a:xfrm>
          <a:prstGeom prst="rect">
            <a:avLst/>
          </a:prstGeom>
          <a:noFill/>
          <a:ln/>
        </p:spPr>
        <p:txBody>
          <a:bodyPr wrap="square" lIns="0" tIns="0" rIns="0" bIns="0" rtlCol="0" anchor="t"/>
          <a:lstStyle/>
          <a:p>
            <a:pPr marL="0" indent="0">
              <a:buNone/>
            </a:pPr>
            <a:r>
              <a:rPr lang="en-US" sz="1100" dirty="0">
                <a:solidFill>
                  <a:srgbClr val="E6EDF3"/>
                </a:solidFill>
                <a:latin typeface="Calibri" pitchFamily="34" charset="0"/>
                <a:ea typeface="Calibri" pitchFamily="34" charset="-122"/>
                <a:cs typeface="Calibri" pitchFamily="34" charset="-120"/>
              </a:rPr>
              <a:t>Mỗi agent chỉ được nhận đúng context nó cần — không feed cả repo. Tiết kiệm token, tăng độ chính xác.</a:t>
            </a:r>
            <a:endParaRPr lang="en-US" sz="1100" dirty="0"/>
          </a:p>
        </p:txBody>
      </p:sp>
      <p:sp>
        <p:nvSpPr>
          <p:cNvPr id="21" name="Shape 19"/>
          <p:cNvSpPr/>
          <p:nvPr/>
        </p:nvSpPr>
        <p:spPr>
          <a:xfrm>
            <a:off x="8229600" y="4663440"/>
            <a:ext cx="3657600" cy="1463040"/>
          </a:xfrm>
          <a:prstGeom prst="rect">
            <a:avLst/>
          </a:prstGeom>
          <a:solidFill>
            <a:srgbClr val="1C2128"/>
          </a:solidFill>
          <a:ln w="12700">
            <a:solidFill>
              <a:srgbClr val="30363D"/>
            </a:solidFill>
            <a:prstDash val="solid"/>
          </a:ln>
        </p:spPr>
        <p:txBody>
          <a:bodyPr/>
          <a:lstStyle/>
          <a:p>
            <a:endParaRPr/>
          </a:p>
        </p:txBody>
      </p:sp>
      <p:sp>
        <p:nvSpPr>
          <p:cNvPr id="22" name="Text 20"/>
          <p:cNvSpPr/>
          <p:nvPr/>
        </p:nvSpPr>
        <p:spPr>
          <a:xfrm>
            <a:off x="8412480" y="4754880"/>
            <a:ext cx="3383280" cy="365760"/>
          </a:xfrm>
          <a:prstGeom prst="rect">
            <a:avLst/>
          </a:prstGeom>
          <a:noFill/>
          <a:ln/>
        </p:spPr>
        <p:txBody>
          <a:bodyPr wrap="square" lIns="0" tIns="0" rIns="0" bIns="0" rtlCol="0" anchor="ctr"/>
          <a:lstStyle/>
          <a:p>
            <a:pPr marL="0" indent="0">
              <a:buNone/>
            </a:pPr>
            <a:r>
              <a:rPr lang="en-US" sz="1400" b="1" dirty="0">
                <a:solidFill>
                  <a:srgbClr val="7CE38B"/>
                </a:solidFill>
                <a:latin typeface="Consolas" pitchFamily="34" charset="0"/>
                <a:ea typeface="Consolas" pitchFamily="34" charset="-122"/>
                <a:cs typeface="Consolas" pitchFamily="34" charset="-120"/>
              </a:rPr>
              <a:t>3. Doc-as-Spec</a:t>
            </a:r>
            <a:endParaRPr lang="en-US" sz="1400" dirty="0"/>
          </a:p>
        </p:txBody>
      </p:sp>
      <p:sp>
        <p:nvSpPr>
          <p:cNvPr id="23" name="Text 21"/>
          <p:cNvSpPr/>
          <p:nvPr/>
        </p:nvSpPr>
        <p:spPr>
          <a:xfrm>
            <a:off x="8412480" y="5120640"/>
            <a:ext cx="3383280" cy="914400"/>
          </a:xfrm>
          <a:prstGeom prst="rect">
            <a:avLst/>
          </a:prstGeom>
          <a:noFill/>
          <a:ln/>
        </p:spPr>
        <p:txBody>
          <a:bodyPr wrap="square" lIns="0" tIns="0" rIns="0" bIns="0" rtlCol="0" anchor="t"/>
          <a:lstStyle/>
          <a:p>
            <a:pPr marL="0" indent="0">
              <a:buNone/>
            </a:pPr>
            <a:r>
              <a:rPr lang="en-US" sz="1100" dirty="0">
                <a:solidFill>
                  <a:srgbClr val="E6EDF3"/>
                </a:solidFill>
                <a:latin typeface="Calibri" pitchFamily="34" charset="0"/>
                <a:ea typeface="Calibri" pitchFamily="34" charset="-122"/>
                <a:cs typeface="Calibri" pitchFamily="34" charset="-120"/>
              </a:rPr>
              <a:t>Tài liệu (PRD, ADR, BACKLOG…) là source of truth giữa các agent, không phải conversation history.</a:t>
            </a:r>
            <a:endParaRPr lang="en-US" sz="1100" dirty="0"/>
          </a:p>
        </p:txBody>
      </p:sp>
      <p:sp>
        <p:nvSpPr>
          <p:cNvPr id="24" name="Text 22"/>
          <p:cNvSpPr/>
          <p:nvPr/>
        </p:nvSpPr>
        <p:spPr>
          <a:xfrm>
            <a:off x="11338560" y="6492240"/>
            <a:ext cx="731520" cy="228600"/>
          </a:xfrm>
          <a:prstGeom prst="rect">
            <a:avLst/>
          </a:prstGeom>
          <a:noFill/>
          <a:ln/>
        </p:spPr>
        <p:txBody>
          <a:bodyPr wrap="square" lIns="0" tIns="0" rIns="0" bIns="0" rtlCol="0" anchor="ctr"/>
          <a:lstStyle/>
          <a:p>
            <a:pPr marL="0" indent="0" algn="r">
              <a:buNone/>
            </a:pPr>
            <a:r>
              <a:rPr lang="en-US" sz="900" dirty="0">
                <a:solidFill>
                  <a:srgbClr val="8B949E"/>
                </a:solidFill>
                <a:latin typeface="Consolas" pitchFamily="34" charset="0"/>
                <a:ea typeface="Consolas" pitchFamily="34" charset="-122"/>
                <a:cs typeface="Consolas" pitchFamily="34" charset="-120"/>
              </a:rPr>
              <a:t>6 / 40</a:t>
            </a:r>
            <a:endParaRPr lang="en-US" sz="900" dirty="0"/>
          </a:p>
        </p:txBody>
      </p:sp>
      <p:sp>
        <p:nvSpPr>
          <p:cNvPr id="25" name="Text 23"/>
          <p:cNvSpPr/>
          <p:nvPr/>
        </p:nvSpPr>
        <p:spPr>
          <a:xfrm>
            <a:off x="365760" y="6492240"/>
            <a:ext cx="1097280" cy="228600"/>
          </a:xfrm>
          <a:prstGeom prst="rect">
            <a:avLst/>
          </a:prstGeom>
          <a:noFill/>
          <a:ln/>
        </p:spPr>
        <p:txBody>
          <a:bodyPr wrap="square" lIns="0" tIns="0" rIns="0" bIns="0" rtlCol="0" anchor="ctr"/>
          <a:lstStyle/>
          <a:p>
            <a:pPr marL="0" indent="0" algn="l">
              <a:buNone/>
            </a:pPr>
            <a:r>
              <a:rPr lang="en-US" sz="900" dirty="0">
                <a:solidFill>
                  <a:srgbClr val="8B949E"/>
                </a:solidFill>
                <a:latin typeface="Consolas" pitchFamily="34" charset="0"/>
                <a:ea typeface="Consolas" pitchFamily="34" charset="-122"/>
                <a:cs typeface="Consolas" pitchFamily="34" charset="-120"/>
              </a:rPr>
              <a:t>v10.23</a:t>
            </a:r>
            <a:endParaRPr lang="en-US" sz="900" dirty="0"/>
          </a:p>
        </p:txBody>
      </p:sp>
      <p:sp>
        <p:nvSpPr>
          <p:cNvPr id="26" name="Text 24"/>
          <p:cNvSpPr/>
          <p:nvPr/>
        </p:nvSpPr>
        <p:spPr>
          <a:xfrm>
            <a:off x="4572000" y="6492240"/>
            <a:ext cx="6400800" cy="228600"/>
          </a:xfrm>
          <a:prstGeom prst="rect">
            <a:avLst/>
          </a:prstGeom>
          <a:noFill/>
          <a:ln/>
        </p:spPr>
        <p:txBody>
          <a:bodyPr wrap="square" lIns="0" tIns="0" rIns="0" bIns="0" rtlCol="0" anchor="ctr"/>
          <a:lstStyle/>
          <a:p>
            <a:pPr marL="0" indent="0" algn="ctr">
              <a:buNone/>
            </a:pPr>
            <a:r>
              <a:rPr lang="en-US" sz="900" dirty="0">
                <a:solidFill>
                  <a:srgbClr val="8B949E"/>
                </a:solidFill>
                <a:latin typeface="Consolas" pitchFamily="34" charset="0"/>
                <a:ea typeface="Consolas" pitchFamily="34" charset="-122"/>
                <a:cs typeface="Consolas" pitchFamily="34" charset="-120"/>
              </a:rPr>
              <a:t>Product Engineering Agent Framework</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365760" y="228600"/>
            <a:ext cx="8229600" cy="274320"/>
          </a:xfrm>
          <a:prstGeom prst="rect">
            <a:avLst/>
          </a:prstGeom>
          <a:noFill/>
          <a:ln/>
        </p:spPr>
        <p:txBody>
          <a:bodyPr wrap="square" lIns="0" tIns="0" rIns="0" bIns="0" rtlCol="0" anchor="ctr"/>
          <a:lstStyle/>
          <a:p>
            <a:pPr marL="0" indent="0">
              <a:buNone/>
            </a:pPr>
            <a:r>
              <a:rPr lang="en-US" sz="1100" dirty="0">
                <a:solidFill>
                  <a:srgbClr val="2EA043"/>
                </a:solidFill>
                <a:latin typeface="Consolas" pitchFamily="34" charset="0"/>
                <a:ea typeface="Consolas" pitchFamily="34" charset="-122"/>
                <a:cs typeface="Consolas" pitchFamily="34" charset="-120"/>
              </a:rPr>
              <a:t>$ </a:t>
            </a:r>
            <a:r>
              <a:rPr lang="en-US" sz="1100" dirty="0">
                <a:solidFill>
                  <a:srgbClr val="8B949E"/>
                </a:solidFill>
                <a:latin typeface="Consolas" pitchFamily="34" charset="0"/>
                <a:ea typeface="Consolas" pitchFamily="34" charset="-122"/>
                <a:cs typeface="Consolas" pitchFamily="34" charset="-120"/>
              </a:rPr>
              <a:t>04_three_approaches.md</a:t>
            </a:r>
            <a:endParaRPr lang="en-US" sz="1100" dirty="0"/>
          </a:p>
        </p:txBody>
      </p:sp>
      <p:sp>
        <p:nvSpPr>
          <p:cNvPr id="3" name="Text 1"/>
          <p:cNvSpPr/>
          <p:nvPr/>
        </p:nvSpPr>
        <p:spPr>
          <a:xfrm>
            <a:off x="365760" y="548640"/>
            <a:ext cx="11430000" cy="640080"/>
          </a:xfrm>
          <a:prstGeom prst="rect">
            <a:avLst/>
          </a:prstGeom>
          <a:noFill/>
          <a:ln/>
        </p:spPr>
        <p:txBody>
          <a:bodyPr wrap="square" lIns="0" tIns="0" rIns="0" bIns="0" rtlCol="0" anchor="ctr"/>
          <a:lstStyle/>
          <a:p>
            <a:pPr marL="0" indent="0">
              <a:buNone/>
            </a:pPr>
            <a:r>
              <a:rPr lang="en-US" sz="3000" b="1" dirty="0">
                <a:solidFill>
                  <a:srgbClr val="E6EDF3"/>
                </a:solidFill>
                <a:latin typeface="Consolas" pitchFamily="34" charset="0"/>
                <a:ea typeface="Consolas" pitchFamily="34" charset="-122"/>
                <a:cs typeface="Consolas" pitchFamily="34" charset="-120"/>
              </a:rPr>
              <a:t>3 cách tiếp cận — chọn cái nào?</a:t>
            </a:r>
            <a:endParaRPr lang="en-US" sz="3000" dirty="0"/>
          </a:p>
        </p:txBody>
      </p:sp>
      <p:sp>
        <p:nvSpPr>
          <p:cNvPr id="4" name="Text 2"/>
          <p:cNvSpPr/>
          <p:nvPr/>
        </p:nvSpPr>
        <p:spPr>
          <a:xfrm>
            <a:off x="365760" y="1143000"/>
            <a:ext cx="11430000" cy="365760"/>
          </a:xfrm>
          <a:prstGeom prst="rect">
            <a:avLst/>
          </a:prstGeom>
          <a:noFill/>
          <a:ln/>
        </p:spPr>
        <p:txBody>
          <a:bodyPr wrap="square" lIns="0" tIns="0" rIns="0" bIns="0" rtlCol="0" anchor="ctr"/>
          <a:lstStyle/>
          <a:p>
            <a:pPr marL="0" indent="0">
              <a:buNone/>
            </a:pPr>
            <a:r>
              <a:rPr lang="en-US" sz="1400" i="1" dirty="0">
                <a:solidFill>
                  <a:srgbClr val="8B949E"/>
                </a:solidFill>
                <a:latin typeface="Calibri" pitchFamily="34" charset="0"/>
                <a:ea typeface="Calibri" pitchFamily="34" charset="-122"/>
                <a:cs typeface="Calibri" pitchFamily="34" charset="-120"/>
              </a:rPr>
              <a:t>Single-agent vs nhiều LLM không chung context vs BMAD multi-agent</a:t>
            </a:r>
            <a:endParaRPr lang="en-US" sz="1400" dirty="0"/>
          </a:p>
        </p:txBody>
      </p:sp>
      <p:sp>
        <p:nvSpPr>
          <p:cNvPr id="5" name="Shape 3"/>
          <p:cNvSpPr/>
          <p:nvPr/>
        </p:nvSpPr>
        <p:spPr>
          <a:xfrm>
            <a:off x="365760" y="1783080"/>
            <a:ext cx="3749040" cy="4572000"/>
          </a:xfrm>
          <a:prstGeom prst="rect">
            <a:avLst/>
          </a:prstGeom>
          <a:solidFill>
            <a:srgbClr val="161B22"/>
          </a:solidFill>
          <a:ln w="12700">
            <a:solidFill>
              <a:srgbClr val="30363D"/>
            </a:solidFill>
            <a:prstDash val="solid"/>
          </a:ln>
        </p:spPr>
        <p:txBody>
          <a:bodyPr/>
          <a:lstStyle/>
          <a:p>
            <a:endParaRPr/>
          </a:p>
        </p:txBody>
      </p:sp>
      <p:sp>
        <p:nvSpPr>
          <p:cNvPr id="6" name="Shape 4"/>
          <p:cNvSpPr/>
          <p:nvPr/>
        </p:nvSpPr>
        <p:spPr>
          <a:xfrm>
            <a:off x="365760" y="1783080"/>
            <a:ext cx="73152" cy="4572000"/>
          </a:xfrm>
          <a:prstGeom prst="rect">
            <a:avLst/>
          </a:prstGeom>
          <a:solidFill>
            <a:srgbClr val="F85149"/>
          </a:solidFill>
          <a:ln w="12700">
            <a:solidFill>
              <a:srgbClr val="F85149"/>
            </a:solidFill>
            <a:prstDash val="solid"/>
          </a:ln>
        </p:spPr>
        <p:txBody>
          <a:bodyPr/>
          <a:lstStyle/>
          <a:p>
            <a:endParaRPr/>
          </a:p>
        </p:txBody>
      </p:sp>
      <p:sp>
        <p:nvSpPr>
          <p:cNvPr id="7" name="Text 5"/>
          <p:cNvSpPr/>
          <p:nvPr/>
        </p:nvSpPr>
        <p:spPr>
          <a:xfrm>
            <a:off x="530352" y="1874520"/>
            <a:ext cx="3520440" cy="365760"/>
          </a:xfrm>
          <a:prstGeom prst="rect">
            <a:avLst/>
          </a:prstGeom>
          <a:noFill/>
          <a:ln/>
        </p:spPr>
        <p:txBody>
          <a:bodyPr wrap="square" lIns="0" tIns="0" rIns="0" bIns="0" rtlCol="0" anchor="ctr"/>
          <a:lstStyle/>
          <a:p>
            <a:pPr marL="0" indent="0">
              <a:buNone/>
            </a:pPr>
            <a:r>
              <a:rPr lang="en-US" sz="1400" b="1" dirty="0">
                <a:solidFill>
                  <a:srgbClr val="F85149"/>
                </a:solidFill>
                <a:latin typeface="Consolas" pitchFamily="34" charset="0"/>
                <a:ea typeface="Consolas" pitchFamily="34" charset="-122"/>
                <a:cs typeface="Consolas" pitchFamily="34" charset="-120"/>
              </a:rPr>
              <a:t>SINGLE-AGENT</a:t>
            </a:r>
            <a:endParaRPr lang="en-US" sz="1400" dirty="0"/>
          </a:p>
        </p:txBody>
      </p:sp>
      <p:sp>
        <p:nvSpPr>
          <p:cNvPr id="8" name="Text 6"/>
          <p:cNvSpPr/>
          <p:nvPr/>
        </p:nvSpPr>
        <p:spPr>
          <a:xfrm>
            <a:off x="530352" y="2240280"/>
            <a:ext cx="3520440" cy="274320"/>
          </a:xfrm>
          <a:prstGeom prst="rect">
            <a:avLst/>
          </a:prstGeom>
          <a:noFill/>
          <a:ln/>
        </p:spPr>
        <p:txBody>
          <a:bodyPr wrap="square" lIns="0" tIns="0" rIns="0" bIns="0" rtlCol="0" anchor="ctr"/>
          <a:lstStyle/>
          <a:p>
            <a:pPr marL="0" indent="0">
              <a:buNone/>
            </a:pPr>
            <a:r>
              <a:rPr lang="en-US" sz="1000" i="1" dirty="0">
                <a:solidFill>
                  <a:srgbClr val="8B949E"/>
                </a:solidFill>
                <a:latin typeface="Calibri" pitchFamily="34" charset="0"/>
                <a:ea typeface="Calibri" pitchFamily="34" charset="-122"/>
                <a:cs typeface="Calibri" pitchFamily="34" charset="-120"/>
              </a:rPr>
              <a:t>1 LLM, 1 context</a:t>
            </a:r>
            <a:endParaRPr lang="en-US" sz="1000" dirty="0"/>
          </a:p>
        </p:txBody>
      </p:sp>
      <p:sp>
        <p:nvSpPr>
          <p:cNvPr id="9" name="Text 7"/>
          <p:cNvSpPr/>
          <p:nvPr/>
        </p:nvSpPr>
        <p:spPr>
          <a:xfrm>
            <a:off x="530352" y="2542032"/>
            <a:ext cx="3520440" cy="274320"/>
          </a:xfrm>
          <a:prstGeom prst="rect">
            <a:avLst/>
          </a:prstGeom>
          <a:noFill/>
          <a:ln/>
        </p:spPr>
        <p:txBody>
          <a:bodyPr wrap="square" lIns="0" tIns="0" rIns="0" bIns="0" rtlCol="0" anchor="ctr"/>
          <a:lstStyle/>
          <a:p>
            <a:pPr marL="0" indent="0">
              <a:buNone/>
            </a:pPr>
            <a:r>
              <a:rPr lang="en-US" sz="1000" dirty="0">
                <a:solidFill>
                  <a:srgbClr val="F85149"/>
                </a:solidFill>
                <a:latin typeface="Consolas" pitchFamily="34" charset="0"/>
                <a:ea typeface="Consolas" pitchFamily="34" charset="-122"/>
                <a:cs typeface="Consolas" pitchFamily="34" charset="-120"/>
              </a:rPr>
              <a:t>e.g. ChatGPT / Claude cho mọi việc</a:t>
            </a:r>
            <a:endParaRPr lang="en-US" sz="1000" dirty="0"/>
          </a:p>
        </p:txBody>
      </p:sp>
      <p:sp>
        <p:nvSpPr>
          <p:cNvPr id="10" name="Shape 8"/>
          <p:cNvSpPr/>
          <p:nvPr/>
        </p:nvSpPr>
        <p:spPr>
          <a:xfrm>
            <a:off x="548640" y="2880360"/>
            <a:ext cx="3383280" cy="0"/>
          </a:xfrm>
          <a:prstGeom prst="line">
            <a:avLst/>
          </a:prstGeom>
          <a:noFill/>
          <a:ln w="6350">
            <a:solidFill>
              <a:srgbClr val="30363D"/>
            </a:solidFill>
            <a:prstDash val="solid"/>
          </a:ln>
        </p:spPr>
        <p:txBody>
          <a:bodyPr/>
          <a:lstStyle/>
          <a:p>
            <a:endParaRPr/>
          </a:p>
        </p:txBody>
      </p:sp>
      <p:sp>
        <p:nvSpPr>
          <p:cNvPr id="11" name="Text 9"/>
          <p:cNvSpPr/>
          <p:nvPr/>
        </p:nvSpPr>
        <p:spPr>
          <a:xfrm>
            <a:off x="530352" y="2971800"/>
            <a:ext cx="3520440" cy="3291840"/>
          </a:xfrm>
          <a:prstGeom prst="rect">
            <a:avLst/>
          </a:prstGeom>
          <a:noFill/>
          <a:ln/>
        </p:spPr>
        <p:txBody>
          <a:bodyPr wrap="square" lIns="0" tIns="0" rIns="0" bIns="0" rtlCol="0" anchor="t"/>
          <a:lstStyle/>
          <a:p>
            <a:pPr marL="0" indent="0">
              <a:spcAft>
                <a:spcPts val="600"/>
              </a:spcAft>
              <a:buNone/>
            </a:pPr>
            <a:r>
              <a:rPr lang="en-US" sz="1100" dirty="0">
                <a:solidFill>
                  <a:srgbClr val="E6EDF3"/>
                </a:solidFill>
                <a:latin typeface="Calibri" pitchFamily="34" charset="0"/>
                <a:ea typeface="Calibri" pitchFamily="34" charset="-122"/>
                <a:cs typeface="Calibri" pitchFamily="34" charset="-120"/>
              </a:rPr>
              <a:t>✗ 1 LLM làm cả PM, SA, BA, BE, FE, QA</a:t>
            </a:r>
            <a:endParaRPr lang="en-US" sz="1100" dirty="0"/>
          </a:p>
          <a:p>
            <a:pPr marL="0" indent="0">
              <a:spcAft>
                <a:spcPts val="600"/>
              </a:spcAft>
              <a:buNone/>
            </a:pPr>
            <a:r>
              <a:rPr lang="en-US" sz="1100" dirty="0">
                <a:solidFill>
                  <a:srgbClr val="E6EDF3"/>
                </a:solidFill>
                <a:latin typeface="Calibri" pitchFamily="34" charset="0"/>
                <a:ea typeface="Calibri" pitchFamily="34" charset="-122"/>
                <a:cs typeface="Calibri" pitchFamily="34" charset="-120"/>
              </a:rPr>
              <a:t>✗ Mọi quyết định trộn trong 1 conversation</a:t>
            </a:r>
            <a:endParaRPr lang="en-US" sz="1100" dirty="0"/>
          </a:p>
          <a:p>
            <a:pPr marL="0" indent="0">
              <a:spcAft>
                <a:spcPts val="600"/>
              </a:spcAft>
              <a:buNone/>
            </a:pPr>
            <a:r>
              <a:rPr lang="en-US" sz="1100" dirty="0">
                <a:solidFill>
                  <a:srgbClr val="E6EDF3"/>
                </a:solidFill>
                <a:latin typeface="Calibri" pitchFamily="34" charset="0"/>
                <a:ea typeface="Calibri" pitchFamily="34" charset="-122"/>
                <a:cs typeface="Calibri" pitchFamily="34" charset="-120"/>
              </a:rPr>
              <a:t>✗ Không role boundary — model tự pick lane</a:t>
            </a:r>
            <a:endParaRPr lang="en-US" sz="1100" dirty="0"/>
          </a:p>
          <a:p>
            <a:pPr marL="0" indent="0">
              <a:spcAft>
                <a:spcPts val="600"/>
              </a:spcAft>
              <a:buNone/>
            </a:pPr>
            <a:r>
              <a:rPr lang="en-US" sz="1100" dirty="0">
                <a:solidFill>
                  <a:srgbClr val="E6EDF3"/>
                </a:solidFill>
                <a:latin typeface="Calibri" pitchFamily="34" charset="0"/>
                <a:ea typeface="Calibri" pitchFamily="34" charset="-122"/>
                <a:cs typeface="Calibri" pitchFamily="34" charset="-120"/>
              </a:rPr>
              <a:t>✗ Trả giá strong-model cho mọi task</a:t>
            </a:r>
            <a:endParaRPr lang="en-US" sz="1100" dirty="0"/>
          </a:p>
          <a:p>
            <a:pPr marL="0" indent="0">
              <a:spcAft>
                <a:spcPts val="600"/>
              </a:spcAft>
              <a:buNone/>
            </a:pPr>
            <a:r>
              <a:rPr lang="en-US" sz="1100" dirty="0">
                <a:solidFill>
                  <a:srgbClr val="E6EDF3"/>
                </a:solidFill>
                <a:latin typeface="Calibri" pitchFamily="34" charset="0"/>
                <a:ea typeface="Calibri" pitchFamily="34" charset="-122"/>
                <a:cs typeface="Calibri" pitchFamily="34" charset="-120"/>
              </a:rPr>
              <a:t>✗ Context đầy nhanh → hallucination, drift</a:t>
            </a:r>
            <a:endParaRPr lang="en-US" sz="1100" dirty="0"/>
          </a:p>
          <a:p>
            <a:pPr marL="0" indent="0">
              <a:spcAft>
                <a:spcPts val="600"/>
              </a:spcAft>
              <a:buNone/>
            </a:pPr>
            <a:r>
              <a:rPr lang="en-US" sz="1100" dirty="0">
                <a:solidFill>
                  <a:srgbClr val="E6EDF3"/>
                </a:solidFill>
                <a:latin typeface="Calibri" pitchFamily="34" charset="0"/>
                <a:ea typeface="Calibri" pitchFamily="34" charset="-122"/>
                <a:cs typeface="Calibri" pitchFamily="34" charset="-120"/>
              </a:rPr>
              <a:t>✗ Subagent ảo → mất audit trail</a:t>
            </a:r>
            <a:endParaRPr lang="en-US" sz="1100" dirty="0"/>
          </a:p>
        </p:txBody>
      </p:sp>
      <p:sp>
        <p:nvSpPr>
          <p:cNvPr id="12" name="Shape 10"/>
          <p:cNvSpPr/>
          <p:nvPr/>
        </p:nvSpPr>
        <p:spPr>
          <a:xfrm>
            <a:off x="4206240" y="1783080"/>
            <a:ext cx="3749040" cy="4572000"/>
          </a:xfrm>
          <a:prstGeom prst="rect">
            <a:avLst/>
          </a:prstGeom>
          <a:solidFill>
            <a:srgbClr val="161B22"/>
          </a:solidFill>
          <a:ln w="12700">
            <a:solidFill>
              <a:srgbClr val="30363D"/>
            </a:solidFill>
            <a:prstDash val="solid"/>
          </a:ln>
        </p:spPr>
        <p:txBody>
          <a:bodyPr/>
          <a:lstStyle/>
          <a:p>
            <a:endParaRPr/>
          </a:p>
        </p:txBody>
      </p:sp>
      <p:sp>
        <p:nvSpPr>
          <p:cNvPr id="13" name="Shape 11"/>
          <p:cNvSpPr/>
          <p:nvPr/>
        </p:nvSpPr>
        <p:spPr>
          <a:xfrm>
            <a:off x="4206240" y="1783080"/>
            <a:ext cx="73152" cy="4572000"/>
          </a:xfrm>
          <a:prstGeom prst="rect">
            <a:avLst/>
          </a:prstGeom>
          <a:solidFill>
            <a:srgbClr val="D29922"/>
          </a:solidFill>
          <a:ln w="12700">
            <a:solidFill>
              <a:srgbClr val="D29922"/>
            </a:solidFill>
            <a:prstDash val="solid"/>
          </a:ln>
        </p:spPr>
        <p:txBody>
          <a:bodyPr/>
          <a:lstStyle/>
          <a:p>
            <a:endParaRPr/>
          </a:p>
        </p:txBody>
      </p:sp>
      <p:sp>
        <p:nvSpPr>
          <p:cNvPr id="14" name="Text 12"/>
          <p:cNvSpPr/>
          <p:nvPr/>
        </p:nvSpPr>
        <p:spPr>
          <a:xfrm>
            <a:off x="4370832" y="1874520"/>
            <a:ext cx="3520440" cy="365760"/>
          </a:xfrm>
          <a:prstGeom prst="rect">
            <a:avLst/>
          </a:prstGeom>
          <a:noFill/>
          <a:ln/>
        </p:spPr>
        <p:txBody>
          <a:bodyPr wrap="square" lIns="0" tIns="0" rIns="0" bIns="0" rtlCol="0" anchor="ctr"/>
          <a:lstStyle/>
          <a:p>
            <a:pPr marL="0" indent="0">
              <a:buNone/>
            </a:pPr>
            <a:r>
              <a:rPr lang="en-US" sz="1400" b="1" dirty="0">
                <a:solidFill>
                  <a:srgbClr val="D29922"/>
                </a:solidFill>
                <a:latin typeface="Consolas" pitchFamily="34" charset="0"/>
                <a:ea typeface="Consolas" pitchFamily="34" charset="-122"/>
                <a:cs typeface="Consolas" pitchFamily="34" charset="-120"/>
              </a:rPr>
              <a:t>MULTI-LLM, NO CONTEXT</a:t>
            </a:r>
            <a:endParaRPr lang="en-US" sz="1400" dirty="0"/>
          </a:p>
        </p:txBody>
      </p:sp>
      <p:sp>
        <p:nvSpPr>
          <p:cNvPr id="15" name="Text 13"/>
          <p:cNvSpPr/>
          <p:nvPr/>
        </p:nvSpPr>
        <p:spPr>
          <a:xfrm>
            <a:off x="4370832" y="2240280"/>
            <a:ext cx="3520440" cy="274320"/>
          </a:xfrm>
          <a:prstGeom prst="rect">
            <a:avLst/>
          </a:prstGeom>
          <a:noFill/>
          <a:ln/>
        </p:spPr>
        <p:txBody>
          <a:bodyPr wrap="square" lIns="0" tIns="0" rIns="0" bIns="0" rtlCol="0" anchor="ctr"/>
          <a:lstStyle/>
          <a:p>
            <a:pPr marL="0" indent="0">
              <a:buNone/>
            </a:pPr>
            <a:r>
              <a:rPr lang="en-US" sz="1000" i="1" dirty="0">
                <a:solidFill>
                  <a:srgbClr val="8B949E"/>
                </a:solidFill>
                <a:latin typeface="Calibri" pitchFamily="34" charset="0"/>
                <a:ea typeface="Calibri" pitchFamily="34" charset="-122"/>
                <a:cs typeface="Calibri" pitchFamily="34" charset="-120"/>
              </a:rPr>
              <a:t>Nhiều tool, user relay tay</a:t>
            </a:r>
            <a:endParaRPr lang="en-US" sz="1000" dirty="0"/>
          </a:p>
        </p:txBody>
      </p:sp>
      <p:sp>
        <p:nvSpPr>
          <p:cNvPr id="16" name="Text 14"/>
          <p:cNvSpPr/>
          <p:nvPr/>
        </p:nvSpPr>
        <p:spPr>
          <a:xfrm>
            <a:off x="4370832" y="2542032"/>
            <a:ext cx="3520440" cy="274320"/>
          </a:xfrm>
          <a:prstGeom prst="rect">
            <a:avLst/>
          </a:prstGeom>
          <a:noFill/>
          <a:ln/>
        </p:spPr>
        <p:txBody>
          <a:bodyPr wrap="square" lIns="0" tIns="0" rIns="0" bIns="0" rtlCol="0" anchor="ctr"/>
          <a:lstStyle/>
          <a:p>
            <a:pPr marL="0" indent="0">
              <a:buNone/>
            </a:pPr>
            <a:r>
              <a:rPr lang="en-US" sz="1000" dirty="0">
                <a:solidFill>
                  <a:srgbClr val="D29922"/>
                </a:solidFill>
                <a:latin typeface="Consolas" pitchFamily="34" charset="0"/>
                <a:ea typeface="Consolas" pitchFamily="34" charset="-122"/>
                <a:cs typeface="Consolas" pitchFamily="34" charset="-120"/>
              </a:rPr>
              <a:t>e.g. ChatGPT plan → Cursor code → Claude review</a:t>
            </a:r>
            <a:endParaRPr lang="en-US" sz="1000" dirty="0"/>
          </a:p>
        </p:txBody>
      </p:sp>
      <p:sp>
        <p:nvSpPr>
          <p:cNvPr id="17" name="Shape 15"/>
          <p:cNvSpPr/>
          <p:nvPr/>
        </p:nvSpPr>
        <p:spPr>
          <a:xfrm>
            <a:off x="4389120" y="2880360"/>
            <a:ext cx="3383280" cy="0"/>
          </a:xfrm>
          <a:prstGeom prst="line">
            <a:avLst/>
          </a:prstGeom>
          <a:noFill/>
          <a:ln w="6350">
            <a:solidFill>
              <a:srgbClr val="30363D"/>
            </a:solidFill>
            <a:prstDash val="solid"/>
          </a:ln>
        </p:spPr>
        <p:txBody>
          <a:bodyPr/>
          <a:lstStyle/>
          <a:p>
            <a:endParaRPr/>
          </a:p>
        </p:txBody>
      </p:sp>
      <p:sp>
        <p:nvSpPr>
          <p:cNvPr id="18" name="Text 16"/>
          <p:cNvSpPr/>
          <p:nvPr/>
        </p:nvSpPr>
        <p:spPr>
          <a:xfrm>
            <a:off x="4370832" y="2971800"/>
            <a:ext cx="3520440" cy="3291840"/>
          </a:xfrm>
          <a:prstGeom prst="rect">
            <a:avLst/>
          </a:prstGeom>
          <a:noFill/>
          <a:ln/>
        </p:spPr>
        <p:txBody>
          <a:bodyPr wrap="square" lIns="0" tIns="0" rIns="0" bIns="0" rtlCol="0" anchor="t"/>
          <a:lstStyle/>
          <a:p>
            <a:pPr marL="0" indent="0">
              <a:spcAft>
                <a:spcPts val="600"/>
              </a:spcAft>
              <a:buNone/>
            </a:pPr>
            <a:r>
              <a:rPr lang="en-US" sz="1100" dirty="0">
                <a:solidFill>
                  <a:srgbClr val="E6EDF3"/>
                </a:solidFill>
                <a:latin typeface="Calibri" pitchFamily="34" charset="0"/>
                <a:ea typeface="Calibri" pitchFamily="34" charset="-122"/>
                <a:cs typeface="Calibri" pitchFamily="34" charset="-120"/>
              </a:rPr>
              <a:t>△ Mỗi tool 1 model phù hợp việc (good)</a:t>
            </a:r>
            <a:endParaRPr lang="en-US" sz="1100" dirty="0"/>
          </a:p>
          <a:p>
            <a:pPr marL="0" indent="0">
              <a:spcAft>
                <a:spcPts val="600"/>
              </a:spcAft>
              <a:buNone/>
            </a:pPr>
            <a:r>
              <a:rPr lang="en-US" sz="1100" dirty="0">
                <a:solidFill>
                  <a:srgbClr val="E6EDF3"/>
                </a:solidFill>
                <a:latin typeface="Calibri" pitchFamily="34" charset="0"/>
                <a:ea typeface="Calibri" pitchFamily="34" charset="-122"/>
                <a:cs typeface="Calibri" pitchFamily="34" charset="-120"/>
              </a:rPr>
              <a:t>✗ User phải copy/paste context giữa tool</a:t>
            </a:r>
            <a:endParaRPr lang="en-US" sz="1100" dirty="0"/>
          </a:p>
          <a:p>
            <a:pPr marL="0" indent="0">
              <a:spcAft>
                <a:spcPts val="600"/>
              </a:spcAft>
              <a:buNone/>
            </a:pPr>
            <a:r>
              <a:rPr lang="en-US" sz="1100" dirty="0">
                <a:solidFill>
                  <a:srgbClr val="E6EDF3"/>
                </a:solidFill>
                <a:latin typeface="Calibri" pitchFamily="34" charset="0"/>
                <a:ea typeface="Calibri" pitchFamily="34" charset="-122"/>
                <a:cs typeface="Calibri" pitchFamily="34" charset="-120"/>
              </a:rPr>
              <a:t>✗ Mỗi tool có context riêng, không thấy nhau</a:t>
            </a:r>
            <a:endParaRPr lang="en-US" sz="1100" dirty="0"/>
          </a:p>
          <a:p>
            <a:pPr marL="0" indent="0">
              <a:spcAft>
                <a:spcPts val="600"/>
              </a:spcAft>
              <a:buNone/>
            </a:pPr>
            <a:r>
              <a:rPr lang="en-US" sz="1100" dirty="0">
                <a:solidFill>
                  <a:srgbClr val="E6EDF3"/>
                </a:solidFill>
                <a:latin typeface="Calibri" pitchFamily="34" charset="0"/>
                <a:ea typeface="Calibri" pitchFamily="34" charset="-122"/>
                <a:cs typeface="Calibri" pitchFamily="34" charset="-120"/>
              </a:rPr>
              <a:t>✗ Không persistent memory giữa các tool</a:t>
            </a:r>
            <a:endParaRPr lang="en-US" sz="1100" dirty="0"/>
          </a:p>
          <a:p>
            <a:pPr marL="0" indent="0">
              <a:spcAft>
                <a:spcPts val="600"/>
              </a:spcAft>
              <a:buNone/>
            </a:pPr>
            <a:r>
              <a:rPr lang="en-US" sz="1100" dirty="0">
                <a:solidFill>
                  <a:srgbClr val="E6EDF3"/>
                </a:solidFill>
                <a:latin typeface="Calibri" pitchFamily="34" charset="0"/>
                <a:ea typeface="Calibri" pitchFamily="34" charset="-122"/>
                <a:cs typeface="Calibri" pitchFamily="34" charset="-120"/>
              </a:rPr>
              <a:t>✗ Resume hôm sau: re-explain từ đầu</a:t>
            </a:r>
            <a:endParaRPr lang="en-US" sz="1100" dirty="0"/>
          </a:p>
          <a:p>
            <a:pPr marL="0" indent="0">
              <a:spcAft>
                <a:spcPts val="600"/>
              </a:spcAft>
              <a:buNone/>
            </a:pPr>
            <a:r>
              <a:rPr lang="en-US" sz="1100" dirty="0">
                <a:solidFill>
                  <a:srgbClr val="E6EDF3"/>
                </a:solidFill>
                <a:latin typeface="Calibri" pitchFamily="34" charset="0"/>
                <a:ea typeface="Calibri" pitchFamily="34" charset="-122"/>
                <a:cs typeface="Calibri" pitchFamily="34" charset="-120"/>
              </a:rPr>
              <a:t>✗ Audit = chat history rời rạc, khó replay</a:t>
            </a:r>
            <a:endParaRPr lang="en-US" sz="1100" dirty="0"/>
          </a:p>
        </p:txBody>
      </p:sp>
      <p:sp>
        <p:nvSpPr>
          <p:cNvPr id="19" name="Shape 17"/>
          <p:cNvSpPr/>
          <p:nvPr/>
        </p:nvSpPr>
        <p:spPr>
          <a:xfrm>
            <a:off x="8046720" y="1783080"/>
            <a:ext cx="3749040" cy="4572000"/>
          </a:xfrm>
          <a:prstGeom prst="rect">
            <a:avLst/>
          </a:prstGeom>
          <a:solidFill>
            <a:srgbClr val="161B22"/>
          </a:solidFill>
          <a:ln w="12700">
            <a:solidFill>
              <a:srgbClr val="30363D"/>
            </a:solidFill>
            <a:prstDash val="solid"/>
          </a:ln>
        </p:spPr>
        <p:txBody>
          <a:bodyPr/>
          <a:lstStyle/>
          <a:p>
            <a:endParaRPr/>
          </a:p>
        </p:txBody>
      </p:sp>
      <p:sp>
        <p:nvSpPr>
          <p:cNvPr id="20" name="Shape 18"/>
          <p:cNvSpPr/>
          <p:nvPr/>
        </p:nvSpPr>
        <p:spPr>
          <a:xfrm>
            <a:off x="8046720" y="1783080"/>
            <a:ext cx="73152" cy="4572000"/>
          </a:xfrm>
          <a:prstGeom prst="rect">
            <a:avLst/>
          </a:prstGeom>
          <a:solidFill>
            <a:srgbClr val="7CE38B"/>
          </a:solidFill>
          <a:ln w="12700">
            <a:solidFill>
              <a:srgbClr val="7CE38B"/>
            </a:solidFill>
            <a:prstDash val="solid"/>
          </a:ln>
        </p:spPr>
        <p:txBody>
          <a:bodyPr/>
          <a:lstStyle/>
          <a:p>
            <a:endParaRPr/>
          </a:p>
        </p:txBody>
      </p:sp>
      <p:sp>
        <p:nvSpPr>
          <p:cNvPr id="21" name="Text 19"/>
          <p:cNvSpPr/>
          <p:nvPr/>
        </p:nvSpPr>
        <p:spPr>
          <a:xfrm>
            <a:off x="8211312" y="1874520"/>
            <a:ext cx="3520440" cy="365760"/>
          </a:xfrm>
          <a:prstGeom prst="rect">
            <a:avLst/>
          </a:prstGeom>
          <a:noFill/>
          <a:ln/>
        </p:spPr>
        <p:txBody>
          <a:bodyPr wrap="square" lIns="0" tIns="0" rIns="0" bIns="0" rtlCol="0" anchor="ctr"/>
          <a:lstStyle/>
          <a:p>
            <a:pPr marL="0" indent="0">
              <a:buNone/>
            </a:pPr>
            <a:r>
              <a:rPr lang="en-US" sz="1400" b="1" dirty="0">
                <a:solidFill>
                  <a:srgbClr val="7CE38B"/>
                </a:solidFill>
                <a:latin typeface="Consolas" pitchFamily="34" charset="0"/>
                <a:ea typeface="Consolas" pitchFamily="34" charset="-122"/>
                <a:cs typeface="Consolas" pitchFamily="34" charset="-120"/>
              </a:rPr>
              <a:t>BMAD MULTI-AGENT</a:t>
            </a:r>
            <a:endParaRPr lang="en-US" sz="1400" dirty="0"/>
          </a:p>
        </p:txBody>
      </p:sp>
      <p:sp>
        <p:nvSpPr>
          <p:cNvPr id="22" name="Text 20"/>
          <p:cNvSpPr/>
          <p:nvPr/>
        </p:nvSpPr>
        <p:spPr>
          <a:xfrm>
            <a:off x="8211312" y="2240280"/>
            <a:ext cx="3520440" cy="274320"/>
          </a:xfrm>
          <a:prstGeom prst="rect">
            <a:avLst/>
          </a:prstGeom>
          <a:noFill/>
          <a:ln/>
        </p:spPr>
        <p:txBody>
          <a:bodyPr wrap="square" lIns="0" tIns="0" rIns="0" bIns="0" rtlCol="0" anchor="ctr"/>
          <a:lstStyle/>
          <a:p>
            <a:pPr marL="0" indent="0">
              <a:buNone/>
            </a:pPr>
            <a:r>
              <a:rPr lang="en-US" sz="1000" i="1" dirty="0">
                <a:solidFill>
                  <a:srgbClr val="8B949E"/>
                </a:solidFill>
                <a:latin typeface="Calibri" pitchFamily="34" charset="0"/>
                <a:ea typeface="Calibri" pitchFamily="34" charset="-122"/>
                <a:cs typeface="Calibri" pitchFamily="34" charset="-120"/>
              </a:rPr>
              <a:t>9 role × 9 model, file-based handoff</a:t>
            </a:r>
            <a:endParaRPr lang="en-US" sz="1000" dirty="0"/>
          </a:p>
        </p:txBody>
      </p:sp>
      <p:sp>
        <p:nvSpPr>
          <p:cNvPr id="23" name="Text 21"/>
          <p:cNvSpPr/>
          <p:nvPr/>
        </p:nvSpPr>
        <p:spPr>
          <a:xfrm>
            <a:off x="8211312" y="2542032"/>
            <a:ext cx="3520440" cy="274320"/>
          </a:xfrm>
          <a:prstGeom prst="rect">
            <a:avLst/>
          </a:prstGeom>
          <a:noFill/>
          <a:ln/>
        </p:spPr>
        <p:txBody>
          <a:bodyPr wrap="square" lIns="0" tIns="0" rIns="0" bIns="0" rtlCol="0" anchor="ctr"/>
          <a:lstStyle/>
          <a:p>
            <a:pPr marL="0" indent="0">
              <a:buNone/>
            </a:pPr>
            <a:r>
              <a:rPr lang="en-US" sz="1000" dirty="0">
                <a:solidFill>
                  <a:srgbClr val="7CE38B"/>
                </a:solidFill>
                <a:latin typeface="Consolas" pitchFamily="34" charset="0"/>
                <a:ea typeface="Consolas" pitchFamily="34" charset="-122"/>
                <a:cs typeface="Consolas" pitchFamily="34" charset="-120"/>
              </a:rPr>
              <a:t>e.g. Framework này (v10.12)</a:t>
            </a:r>
            <a:endParaRPr lang="en-US" sz="1000" dirty="0"/>
          </a:p>
        </p:txBody>
      </p:sp>
      <p:sp>
        <p:nvSpPr>
          <p:cNvPr id="24" name="Shape 22"/>
          <p:cNvSpPr/>
          <p:nvPr/>
        </p:nvSpPr>
        <p:spPr>
          <a:xfrm>
            <a:off x="8229600" y="2880360"/>
            <a:ext cx="3383280" cy="0"/>
          </a:xfrm>
          <a:prstGeom prst="line">
            <a:avLst/>
          </a:prstGeom>
          <a:noFill/>
          <a:ln w="6350">
            <a:solidFill>
              <a:srgbClr val="30363D"/>
            </a:solidFill>
            <a:prstDash val="solid"/>
          </a:ln>
        </p:spPr>
        <p:txBody>
          <a:bodyPr/>
          <a:lstStyle/>
          <a:p>
            <a:endParaRPr/>
          </a:p>
        </p:txBody>
      </p:sp>
      <p:sp>
        <p:nvSpPr>
          <p:cNvPr id="25" name="Text 23"/>
          <p:cNvSpPr/>
          <p:nvPr/>
        </p:nvSpPr>
        <p:spPr>
          <a:xfrm>
            <a:off x="8211312" y="2971800"/>
            <a:ext cx="3520440" cy="3291840"/>
          </a:xfrm>
          <a:prstGeom prst="rect">
            <a:avLst/>
          </a:prstGeom>
          <a:noFill/>
          <a:ln/>
        </p:spPr>
        <p:txBody>
          <a:bodyPr wrap="square" lIns="0" tIns="0" rIns="0" bIns="0" rtlCol="0" anchor="t"/>
          <a:lstStyle/>
          <a:p>
            <a:pPr marL="0" indent="0">
              <a:spcAft>
                <a:spcPts val="600"/>
              </a:spcAft>
              <a:buNone/>
            </a:pPr>
            <a:r>
              <a:rPr lang="en-US" sz="1100" dirty="0">
                <a:solidFill>
                  <a:srgbClr val="E6EDF3"/>
                </a:solidFill>
                <a:latin typeface="Calibri" pitchFamily="34" charset="0"/>
                <a:ea typeface="Calibri" pitchFamily="34" charset="-122"/>
                <a:cs typeface="Calibri" pitchFamily="34" charset="-120"/>
              </a:rPr>
              <a:t>✓ 1 agent / role, prompt + model riêng</a:t>
            </a:r>
            <a:endParaRPr lang="en-US" sz="1100" dirty="0"/>
          </a:p>
          <a:p>
            <a:pPr marL="0" indent="0">
              <a:spcAft>
                <a:spcPts val="600"/>
              </a:spcAft>
              <a:buNone/>
            </a:pPr>
            <a:r>
              <a:rPr lang="en-US" sz="1100" dirty="0">
                <a:solidFill>
                  <a:srgbClr val="E6EDF3"/>
                </a:solidFill>
                <a:latin typeface="Calibri" pitchFamily="34" charset="0"/>
                <a:ea typeface="Calibri" pitchFamily="34" charset="-122"/>
                <a:cs typeface="Calibri" pitchFamily="34" charset="-120"/>
              </a:rPr>
              <a:t>✓ Handoff qua file system (PRD, ADR…)</a:t>
            </a:r>
            <a:endParaRPr lang="en-US" sz="1100" dirty="0"/>
          </a:p>
          <a:p>
            <a:pPr marL="0" indent="0">
              <a:spcAft>
                <a:spcPts val="600"/>
              </a:spcAft>
              <a:buNone/>
            </a:pPr>
            <a:r>
              <a:rPr lang="en-US" sz="1100" dirty="0">
                <a:solidFill>
                  <a:srgbClr val="E6EDF3"/>
                </a:solidFill>
                <a:latin typeface="Calibri" pitchFamily="34" charset="0"/>
                <a:ea typeface="Calibri" pitchFamily="34" charset="-122"/>
                <a:cs typeface="Calibri" pitchFamily="34" charset="-120"/>
              </a:rPr>
              <a:t>✓ Routing là shell command — replay-able</a:t>
            </a:r>
            <a:endParaRPr lang="en-US" sz="1100" dirty="0"/>
          </a:p>
          <a:p>
            <a:pPr marL="0" indent="0">
              <a:spcAft>
                <a:spcPts val="600"/>
              </a:spcAft>
              <a:buNone/>
            </a:pPr>
            <a:r>
              <a:rPr lang="en-US" sz="1100" dirty="0">
                <a:solidFill>
                  <a:srgbClr val="E6EDF3"/>
                </a:solidFill>
                <a:latin typeface="Calibri" pitchFamily="34" charset="0"/>
                <a:ea typeface="Calibri" pitchFamily="34" charset="-122"/>
                <a:cs typeface="Calibri" pitchFamily="34" charset="-120"/>
              </a:rPr>
              <a:t>✓ Memory cross-session, commit git</a:t>
            </a:r>
            <a:endParaRPr lang="en-US" sz="1100" dirty="0"/>
          </a:p>
          <a:p>
            <a:pPr marL="0" indent="0">
              <a:spcAft>
                <a:spcPts val="600"/>
              </a:spcAft>
              <a:buNone/>
            </a:pPr>
            <a:r>
              <a:rPr lang="en-US" sz="1100" dirty="0">
                <a:solidFill>
                  <a:srgbClr val="E6EDF3"/>
                </a:solidFill>
                <a:latin typeface="Calibri" pitchFamily="34" charset="0"/>
                <a:ea typeface="Calibri" pitchFamily="34" charset="-122"/>
                <a:cs typeface="Calibri" pitchFamily="34" charset="-120"/>
              </a:rPr>
              <a:t>✓ Role boundary cứng (Stay in your lane)</a:t>
            </a:r>
            <a:endParaRPr lang="en-US" sz="1100" dirty="0"/>
          </a:p>
          <a:p>
            <a:pPr marL="0" indent="0">
              <a:spcAft>
                <a:spcPts val="600"/>
              </a:spcAft>
              <a:buNone/>
            </a:pPr>
            <a:r>
              <a:rPr lang="en-US" sz="1100" dirty="0">
                <a:solidFill>
                  <a:srgbClr val="E6EDF3"/>
                </a:solidFill>
                <a:latin typeface="Calibri" pitchFamily="34" charset="0"/>
                <a:ea typeface="Calibri" pitchFamily="34" charset="-122"/>
                <a:cs typeface="Calibri" pitchFamily="34" charset="-120"/>
              </a:rPr>
              <a:t>✓ Phase gate + quality gate enforce</a:t>
            </a:r>
            <a:endParaRPr lang="en-US" sz="1100" dirty="0"/>
          </a:p>
        </p:txBody>
      </p:sp>
      <p:sp>
        <p:nvSpPr>
          <p:cNvPr id="26" name="Text 24"/>
          <p:cNvSpPr/>
          <p:nvPr/>
        </p:nvSpPr>
        <p:spPr>
          <a:xfrm>
            <a:off x="11338560" y="6492240"/>
            <a:ext cx="731520" cy="228600"/>
          </a:xfrm>
          <a:prstGeom prst="rect">
            <a:avLst/>
          </a:prstGeom>
          <a:noFill/>
          <a:ln/>
        </p:spPr>
        <p:txBody>
          <a:bodyPr wrap="square" lIns="0" tIns="0" rIns="0" bIns="0" rtlCol="0" anchor="ctr"/>
          <a:lstStyle/>
          <a:p>
            <a:pPr marL="0" indent="0" algn="r">
              <a:buNone/>
            </a:pPr>
            <a:r>
              <a:rPr lang="en-US" sz="900" dirty="0">
                <a:solidFill>
                  <a:srgbClr val="8B949E"/>
                </a:solidFill>
                <a:latin typeface="Consolas" pitchFamily="34" charset="0"/>
                <a:ea typeface="Consolas" pitchFamily="34" charset="-122"/>
                <a:cs typeface="Consolas" pitchFamily="34" charset="-120"/>
              </a:rPr>
              <a:t>7 / 40</a:t>
            </a:r>
            <a:endParaRPr lang="en-US" sz="900" dirty="0"/>
          </a:p>
        </p:txBody>
      </p:sp>
      <p:sp>
        <p:nvSpPr>
          <p:cNvPr id="27" name="Text 25"/>
          <p:cNvSpPr/>
          <p:nvPr/>
        </p:nvSpPr>
        <p:spPr>
          <a:xfrm>
            <a:off x="365760" y="6492240"/>
            <a:ext cx="1097280" cy="228600"/>
          </a:xfrm>
          <a:prstGeom prst="rect">
            <a:avLst/>
          </a:prstGeom>
          <a:noFill/>
          <a:ln/>
        </p:spPr>
        <p:txBody>
          <a:bodyPr wrap="square" lIns="0" tIns="0" rIns="0" bIns="0" rtlCol="0" anchor="ctr"/>
          <a:lstStyle/>
          <a:p>
            <a:pPr marL="0" indent="0" algn="l">
              <a:buNone/>
            </a:pPr>
            <a:r>
              <a:rPr lang="en-US" sz="900" dirty="0">
                <a:solidFill>
                  <a:srgbClr val="8B949E"/>
                </a:solidFill>
                <a:latin typeface="Consolas" pitchFamily="34" charset="0"/>
                <a:ea typeface="Consolas" pitchFamily="34" charset="-122"/>
                <a:cs typeface="Consolas" pitchFamily="34" charset="-120"/>
              </a:rPr>
              <a:t>v10.23</a:t>
            </a:r>
            <a:endParaRPr lang="en-US" sz="900" dirty="0"/>
          </a:p>
        </p:txBody>
      </p:sp>
      <p:sp>
        <p:nvSpPr>
          <p:cNvPr id="28" name="Text 26"/>
          <p:cNvSpPr/>
          <p:nvPr/>
        </p:nvSpPr>
        <p:spPr>
          <a:xfrm>
            <a:off x="4572000" y="6492240"/>
            <a:ext cx="6400800" cy="228600"/>
          </a:xfrm>
          <a:prstGeom prst="rect">
            <a:avLst/>
          </a:prstGeom>
          <a:noFill/>
          <a:ln/>
        </p:spPr>
        <p:txBody>
          <a:bodyPr wrap="square" lIns="0" tIns="0" rIns="0" bIns="0" rtlCol="0" anchor="ctr"/>
          <a:lstStyle/>
          <a:p>
            <a:pPr marL="0" indent="0" algn="ctr">
              <a:buNone/>
            </a:pPr>
            <a:r>
              <a:rPr lang="en-US" sz="900" dirty="0">
                <a:solidFill>
                  <a:srgbClr val="8B949E"/>
                </a:solidFill>
                <a:latin typeface="Consolas" pitchFamily="34" charset="0"/>
                <a:ea typeface="Consolas" pitchFamily="34" charset="-122"/>
                <a:cs typeface="Consolas" pitchFamily="34" charset="-120"/>
              </a:rPr>
              <a:t>Product Engineering Agent Framework</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365760" y="228600"/>
            <a:ext cx="8229600" cy="274320"/>
          </a:xfrm>
          <a:prstGeom prst="rect">
            <a:avLst/>
          </a:prstGeom>
          <a:noFill/>
          <a:ln/>
        </p:spPr>
        <p:txBody>
          <a:bodyPr wrap="square" lIns="0" tIns="0" rIns="0" bIns="0" rtlCol="0" anchor="ctr"/>
          <a:lstStyle/>
          <a:p>
            <a:pPr marL="0" indent="0">
              <a:buNone/>
            </a:pPr>
            <a:r>
              <a:rPr lang="en-US" sz="1100" dirty="0">
                <a:solidFill>
                  <a:srgbClr val="2EA043"/>
                </a:solidFill>
                <a:latin typeface="Consolas" pitchFamily="34" charset="0"/>
                <a:ea typeface="Consolas" pitchFamily="34" charset="-122"/>
                <a:cs typeface="Consolas" pitchFamily="34" charset="-120"/>
              </a:rPr>
              <a:t>$ </a:t>
            </a:r>
            <a:r>
              <a:rPr lang="en-US" sz="1100" dirty="0">
                <a:solidFill>
                  <a:srgbClr val="8B949E"/>
                </a:solidFill>
                <a:latin typeface="Consolas" pitchFamily="34" charset="0"/>
                <a:ea typeface="Consolas" pitchFamily="34" charset="-122"/>
                <a:cs typeface="Consolas" pitchFamily="34" charset="-120"/>
              </a:rPr>
              <a:t>05_how_we_implement_bmad.md</a:t>
            </a:r>
            <a:endParaRPr lang="en-US" sz="1100" dirty="0"/>
          </a:p>
        </p:txBody>
      </p:sp>
      <p:sp>
        <p:nvSpPr>
          <p:cNvPr id="3" name="Text 1"/>
          <p:cNvSpPr/>
          <p:nvPr/>
        </p:nvSpPr>
        <p:spPr>
          <a:xfrm>
            <a:off x="365760" y="548640"/>
            <a:ext cx="11430000" cy="640080"/>
          </a:xfrm>
          <a:prstGeom prst="rect">
            <a:avLst/>
          </a:prstGeom>
          <a:noFill/>
          <a:ln/>
        </p:spPr>
        <p:txBody>
          <a:bodyPr wrap="square" lIns="0" tIns="0" rIns="0" bIns="0" rtlCol="0" anchor="ctr"/>
          <a:lstStyle/>
          <a:p>
            <a:pPr marL="0" indent="0">
              <a:buNone/>
            </a:pPr>
            <a:r>
              <a:rPr lang="en-US" sz="3000" b="1" dirty="0">
                <a:solidFill>
                  <a:srgbClr val="E6EDF3"/>
                </a:solidFill>
                <a:latin typeface="Consolas" pitchFamily="34" charset="0"/>
                <a:ea typeface="Consolas" pitchFamily="34" charset="-122"/>
                <a:cs typeface="Consolas" pitchFamily="34" charset="-120"/>
              </a:rPr>
              <a:t>Framework hiện thực BMAD như thế nào?</a:t>
            </a:r>
            <a:endParaRPr lang="en-US" sz="3000" dirty="0"/>
          </a:p>
        </p:txBody>
      </p:sp>
      <p:sp>
        <p:nvSpPr>
          <p:cNvPr id="4" name="Text 2"/>
          <p:cNvSpPr/>
          <p:nvPr/>
        </p:nvSpPr>
        <p:spPr>
          <a:xfrm>
            <a:off x="365760" y="1143000"/>
            <a:ext cx="11430000" cy="365760"/>
          </a:xfrm>
          <a:prstGeom prst="rect">
            <a:avLst/>
          </a:prstGeom>
          <a:noFill/>
          <a:ln/>
        </p:spPr>
        <p:txBody>
          <a:bodyPr wrap="square" lIns="0" tIns="0" rIns="0" bIns="0" rtlCol="0" anchor="ctr"/>
          <a:lstStyle/>
          <a:p>
            <a:pPr marL="0" indent="0">
              <a:buNone/>
            </a:pPr>
            <a:r>
              <a:rPr lang="en-US" sz="1400" i="1" dirty="0">
                <a:solidFill>
                  <a:srgbClr val="8B949E"/>
                </a:solidFill>
                <a:latin typeface="Calibri" pitchFamily="34" charset="0"/>
                <a:ea typeface="Calibri" pitchFamily="34" charset="-122"/>
                <a:cs typeface="Calibri" pitchFamily="34" charset="-120"/>
              </a:rPr>
              <a:t>Mỗi nguyên lý BMAD ánh xạ vào một cơ chế cụ thể</a:t>
            </a:r>
            <a:endParaRPr lang="en-US" sz="1400" dirty="0"/>
          </a:p>
        </p:txBody>
      </p:sp>
      <p:sp>
        <p:nvSpPr>
          <p:cNvPr id="5" name="Shape 3"/>
          <p:cNvSpPr/>
          <p:nvPr/>
        </p:nvSpPr>
        <p:spPr>
          <a:xfrm>
            <a:off x="365760" y="1828800"/>
            <a:ext cx="11430000" cy="640080"/>
          </a:xfrm>
          <a:prstGeom prst="rect">
            <a:avLst/>
          </a:prstGeom>
          <a:solidFill>
            <a:srgbClr val="161B22"/>
          </a:solidFill>
          <a:ln w="12700">
            <a:solidFill>
              <a:srgbClr val="30363D"/>
            </a:solidFill>
            <a:prstDash val="solid"/>
          </a:ln>
        </p:spPr>
        <p:txBody>
          <a:bodyPr/>
          <a:lstStyle/>
          <a:p>
            <a:endParaRPr/>
          </a:p>
        </p:txBody>
      </p:sp>
      <p:sp>
        <p:nvSpPr>
          <p:cNvPr id="6" name="Shape 4"/>
          <p:cNvSpPr/>
          <p:nvPr/>
        </p:nvSpPr>
        <p:spPr>
          <a:xfrm>
            <a:off x="365760" y="1828800"/>
            <a:ext cx="73152" cy="640080"/>
          </a:xfrm>
          <a:prstGeom prst="rect">
            <a:avLst/>
          </a:prstGeom>
          <a:solidFill>
            <a:srgbClr val="7CE38B"/>
          </a:solidFill>
          <a:ln w="12700">
            <a:solidFill>
              <a:srgbClr val="7CE38B"/>
            </a:solidFill>
            <a:prstDash val="solid"/>
          </a:ln>
        </p:spPr>
        <p:txBody>
          <a:bodyPr/>
          <a:lstStyle/>
          <a:p>
            <a:endParaRPr/>
          </a:p>
        </p:txBody>
      </p:sp>
      <p:sp>
        <p:nvSpPr>
          <p:cNvPr id="7" name="Text 5"/>
          <p:cNvSpPr/>
          <p:nvPr/>
        </p:nvSpPr>
        <p:spPr>
          <a:xfrm>
            <a:off x="548640" y="1828800"/>
            <a:ext cx="3200400" cy="640080"/>
          </a:xfrm>
          <a:prstGeom prst="rect">
            <a:avLst/>
          </a:prstGeom>
          <a:noFill/>
          <a:ln/>
        </p:spPr>
        <p:txBody>
          <a:bodyPr wrap="square" lIns="0" tIns="0" rIns="0" bIns="0" rtlCol="0" anchor="ctr"/>
          <a:lstStyle/>
          <a:p>
            <a:pPr marL="0" indent="0">
              <a:buNone/>
            </a:pPr>
            <a:r>
              <a:rPr lang="en-US" sz="1300" b="1" dirty="0">
                <a:solidFill>
                  <a:srgbClr val="7CE38B"/>
                </a:solidFill>
                <a:latin typeface="Consolas" pitchFamily="34" charset="0"/>
                <a:ea typeface="Consolas" pitchFamily="34" charset="-122"/>
                <a:cs typeface="Consolas" pitchFamily="34" charset="-120"/>
              </a:rPr>
              <a:t>Agentic Planning</a:t>
            </a:r>
            <a:endParaRPr lang="en-US" sz="1300" dirty="0"/>
          </a:p>
        </p:txBody>
      </p:sp>
      <p:sp>
        <p:nvSpPr>
          <p:cNvPr id="8" name="Text 6"/>
          <p:cNvSpPr/>
          <p:nvPr/>
        </p:nvSpPr>
        <p:spPr>
          <a:xfrm>
            <a:off x="3840480" y="1828800"/>
            <a:ext cx="7863840" cy="640080"/>
          </a:xfrm>
          <a:prstGeom prst="rect">
            <a:avLst/>
          </a:prstGeom>
          <a:noFill/>
          <a:ln/>
        </p:spPr>
        <p:txBody>
          <a:bodyPr wrap="square" lIns="0" tIns="0" rIns="0" bIns="0" rtlCol="0" anchor="ctr"/>
          <a:lstStyle/>
          <a:p>
            <a:pPr marL="0" indent="0">
              <a:buNone/>
            </a:pPr>
            <a:r>
              <a:rPr lang="en-US" sz="1200" dirty="0">
                <a:solidFill>
                  <a:srgbClr val="E6EDF3"/>
                </a:solidFill>
                <a:latin typeface="Calibri" pitchFamily="34" charset="0"/>
                <a:ea typeface="Calibri" pitchFamily="34" charset="-122"/>
                <a:cs typeface="Calibri" pitchFamily="34" charset="-120"/>
              </a:rPr>
              <a:t>9 tmux pane × 9 prompt × 9 model — mỗi role có file prompts/agents/&lt;ROLE&gt;.md riêng</a:t>
            </a:r>
            <a:endParaRPr lang="en-US" sz="1200" dirty="0"/>
          </a:p>
        </p:txBody>
      </p:sp>
      <p:sp>
        <p:nvSpPr>
          <p:cNvPr id="9" name="Shape 7"/>
          <p:cNvSpPr/>
          <p:nvPr/>
        </p:nvSpPr>
        <p:spPr>
          <a:xfrm>
            <a:off x="365760" y="2542032"/>
            <a:ext cx="11430000" cy="640080"/>
          </a:xfrm>
          <a:prstGeom prst="rect">
            <a:avLst/>
          </a:prstGeom>
          <a:solidFill>
            <a:srgbClr val="1C2128"/>
          </a:solidFill>
          <a:ln w="12700">
            <a:solidFill>
              <a:srgbClr val="30363D"/>
            </a:solidFill>
            <a:prstDash val="solid"/>
          </a:ln>
        </p:spPr>
        <p:txBody>
          <a:bodyPr/>
          <a:lstStyle/>
          <a:p>
            <a:endParaRPr/>
          </a:p>
        </p:txBody>
      </p:sp>
      <p:sp>
        <p:nvSpPr>
          <p:cNvPr id="10" name="Shape 8"/>
          <p:cNvSpPr/>
          <p:nvPr/>
        </p:nvSpPr>
        <p:spPr>
          <a:xfrm>
            <a:off x="365760" y="2542032"/>
            <a:ext cx="73152" cy="640080"/>
          </a:xfrm>
          <a:prstGeom prst="rect">
            <a:avLst/>
          </a:prstGeom>
          <a:solidFill>
            <a:srgbClr val="7CE38B"/>
          </a:solidFill>
          <a:ln w="12700">
            <a:solidFill>
              <a:srgbClr val="7CE38B"/>
            </a:solidFill>
            <a:prstDash val="solid"/>
          </a:ln>
        </p:spPr>
        <p:txBody>
          <a:bodyPr/>
          <a:lstStyle/>
          <a:p>
            <a:endParaRPr/>
          </a:p>
        </p:txBody>
      </p:sp>
      <p:sp>
        <p:nvSpPr>
          <p:cNvPr id="11" name="Text 9"/>
          <p:cNvSpPr/>
          <p:nvPr/>
        </p:nvSpPr>
        <p:spPr>
          <a:xfrm>
            <a:off x="548640" y="2542032"/>
            <a:ext cx="3200400" cy="640080"/>
          </a:xfrm>
          <a:prstGeom prst="rect">
            <a:avLst/>
          </a:prstGeom>
          <a:noFill/>
          <a:ln/>
        </p:spPr>
        <p:txBody>
          <a:bodyPr wrap="square" lIns="0" tIns="0" rIns="0" bIns="0" rtlCol="0" anchor="ctr"/>
          <a:lstStyle/>
          <a:p>
            <a:pPr marL="0" indent="0">
              <a:buNone/>
            </a:pPr>
            <a:r>
              <a:rPr lang="en-US" sz="1300" b="1" dirty="0">
                <a:solidFill>
                  <a:srgbClr val="7CE38B"/>
                </a:solidFill>
                <a:latin typeface="Consolas" pitchFamily="34" charset="0"/>
                <a:ea typeface="Consolas" pitchFamily="34" charset="-122"/>
                <a:cs typeface="Consolas" pitchFamily="34" charset="-120"/>
              </a:rPr>
              <a:t>Context Engineering</a:t>
            </a:r>
            <a:endParaRPr lang="en-US" sz="1300" dirty="0"/>
          </a:p>
        </p:txBody>
      </p:sp>
      <p:sp>
        <p:nvSpPr>
          <p:cNvPr id="12" name="Text 10"/>
          <p:cNvSpPr/>
          <p:nvPr/>
        </p:nvSpPr>
        <p:spPr>
          <a:xfrm>
            <a:off x="3840480" y="2542032"/>
            <a:ext cx="7863840" cy="640080"/>
          </a:xfrm>
          <a:prstGeom prst="rect">
            <a:avLst/>
          </a:prstGeom>
          <a:noFill/>
          <a:ln/>
        </p:spPr>
        <p:txBody>
          <a:bodyPr wrap="square" lIns="0" tIns="0" rIns="0" bIns="0" rtlCol="0" anchor="ctr"/>
          <a:lstStyle/>
          <a:p>
            <a:pPr marL="0" indent="0">
              <a:buNone/>
            </a:pPr>
            <a:r>
              <a:rPr lang="en-US" sz="1200" dirty="0">
                <a:solidFill>
                  <a:srgbClr val="E6EDF3"/>
                </a:solidFill>
                <a:latin typeface="Calibri" pitchFamily="34" charset="0"/>
                <a:ea typeface="Calibri" pitchFamily="34" charset="-122"/>
                <a:cs typeface="Calibri" pitchFamily="34" charset="-120"/>
              </a:rPr>
              <a:t>Lean role-specific read list (v10.6) + memory/&lt;ROLE&gt;.md (v10.5) — đọc đúng cái cần</a:t>
            </a:r>
            <a:endParaRPr lang="en-US" sz="1200" dirty="0"/>
          </a:p>
        </p:txBody>
      </p:sp>
      <p:sp>
        <p:nvSpPr>
          <p:cNvPr id="13" name="Shape 11"/>
          <p:cNvSpPr/>
          <p:nvPr/>
        </p:nvSpPr>
        <p:spPr>
          <a:xfrm>
            <a:off x="365760" y="3255264"/>
            <a:ext cx="11430000" cy="640080"/>
          </a:xfrm>
          <a:prstGeom prst="rect">
            <a:avLst/>
          </a:prstGeom>
          <a:solidFill>
            <a:srgbClr val="161B22"/>
          </a:solidFill>
          <a:ln w="12700">
            <a:solidFill>
              <a:srgbClr val="30363D"/>
            </a:solidFill>
            <a:prstDash val="solid"/>
          </a:ln>
        </p:spPr>
        <p:txBody>
          <a:bodyPr/>
          <a:lstStyle/>
          <a:p>
            <a:endParaRPr/>
          </a:p>
        </p:txBody>
      </p:sp>
      <p:sp>
        <p:nvSpPr>
          <p:cNvPr id="14" name="Shape 12"/>
          <p:cNvSpPr/>
          <p:nvPr/>
        </p:nvSpPr>
        <p:spPr>
          <a:xfrm>
            <a:off x="365760" y="3255264"/>
            <a:ext cx="73152" cy="640080"/>
          </a:xfrm>
          <a:prstGeom prst="rect">
            <a:avLst/>
          </a:prstGeom>
          <a:solidFill>
            <a:srgbClr val="7CE38B"/>
          </a:solidFill>
          <a:ln w="12700">
            <a:solidFill>
              <a:srgbClr val="7CE38B"/>
            </a:solidFill>
            <a:prstDash val="solid"/>
          </a:ln>
        </p:spPr>
        <p:txBody>
          <a:bodyPr/>
          <a:lstStyle/>
          <a:p>
            <a:endParaRPr/>
          </a:p>
        </p:txBody>
      </p:sp>
      <p:sp>
        <p:nvSpPr>
          <p:cNvPr id="15" name="Text 13"/>
          <p:cNvSpPr/>
          <p:nvPr/>
        </p:nvSpPr>
        <p:spPr>
          <a:xfrm>
            <a:off x="548640" y="3255264"/>
            <a:ext cx="3200400" cy="640080"/>
          </a:xfrm>
          <a:prstGeom prst="rect">
            <a:avLst/>
          </a:prstGeom>
          <a:noFill/>
          <a:ln/>
        </p:spPr>
        <p:txBody>
          <a:bodyPr wrap="square" lIns="0" tIns="0" rIns="0" bIns="0" rtlCol="0" anchor="ctr"/>
          <a:lstStyle/>
          <a:p>
            <a:pPr marL="0" indent="0">
              <a:buNone/>
            </a:pPr>
            <a:r>
              <a:rPr lang="en-US" sz="1300" b="1" dirty="0">
                <a:solidFill>
                  <a:srgbClr val="7CE38B"/>
                </a:solidFill>
                <a:latin typeface="Consolas" pitchFamily="34" charset="0"/>
                <a:ea typeface="Consolas" pitchFamily="34" charset="-122"/>
                <a:cs typeface="Consolas" pitchFamily="34" charset="-120"/>
              </a:rPr>
              <a:t>Doc-as-Spec</a:t>
            </a:r>
            <a:endParaRPr lang="en-US" sz="1300" dirty="0"/>
          </a:p>
        </p:txBody>
      </p:sp>
      <p:sp>
        <p:nvSpPr>
          <p:cNvPr id="16" name="Text 14"/>
          <p:cNvSpPr/>
          <p:nvPr/>
        </p:nvSpPr>
        <p:spPr>
          <a:xfrm>
            <a:off x="3840480" y="3255264"/>
            <a:ext cx="7863840" cy="640080"/>
          </a:xfrm>
          <a:prstGeom prst="rect">
            <a:avLst/>
          </a:prstGeom>
          <a:noFill/>
          <a:ln/>
        </p:spPr>
        <p:txBody>
          <a:bodyPr wrap="square" lIns="0" tIns="0" rIns="0" bIns="0" rtlCol="0" anchor="ctr"/>
          <a:lstStyle/>
          <a:p>
            <a:pPr marL="0" indent="0">
              <a:buNone/>
            </a:pPr>
            <a:r>
              <a:rPr lang="en-US" sz="1200" dirty="0">
                <a:solidFill>
                  <a:srgbClr val="E6EDF3"/>
                </a:solidFill>
                <a:latin typeface="Calibri" pitchFamily="34" charset="0"/>
                <a:ea typeface="Calibri" pitchFamily="34" charset="-122"/>
                <a:cs typeface="Calibri" pitchFamily="34" charset="-120"/>
              </a:rPr>
              <a:t>PRD, ADR, USER_STORIES, TEST_REPORT là source of truth — workers handoff qua file, không qua chat history</a:t>
            </a:r>
            <a:endParaRPr lang="en-US" sz="1200" dirty="0"/>
          </a:p>
        </p:txBody>
      </p:sp>
      <p:sp>
        <p:nvSpPr>
          <p:cNvPr id="17" name="Shape 15"/>
          <p:cNvSpPr/>
          <p:nvPr/>
        </p:nvSpPr>
        <p:spPr>
          <a:xfrm>
            <a:off x="365760" y="3968496"/>
            <a:ext cx="11430000" cy="640080"/>
          </a:xfrm>
          <a:prstGeom prst="rect">
            <a:avLst/>
          </a:prstGeom>
          <a:solidFill>
            <a:srgbClr val="1C2128"/>
          </a:solidFill>
          <a:ln w="12700">
            <a:solidFill>
              <a:srgbClr val="30363D"/>
            </a:solidFill>
            <a:prstDash val="solid"/>
          </a:ln>
        </p:spPr>
        <p:txBody>
          <a:bodyPr/>
          <a:lstStyle/>
          <a:p>
            <a:endParaRPr/>
          </a:p>
        </p:txBody>
      </p:sp>
      <p:sp>
        <p:nvSpPr>
          <p:cNvPr id="18" name="Shape 16"/>
          <p:cNvSpPr/>
          <p:nvPr/>
        </p:nvSpPr>
        <p:spPr>
          <a:xfrm>
            <a:off x="365760" y="3968496"/>
            <a:ext cx="73152" cy="640080"/>
          </a:xfrm>
          <a:prstGeom prst="rect">
            <a:avLst/>
          </a:prstGeom>
          <a:solidFill>
            <a:srgbClr val="7CE38B"/>
          </a:solidFill>
          <a:ln w="12700">
            <a:solidFill>
              <a:srgbClr val="7CE38B"/>
            </a:solidFill>
            <a:prstDash val="solid"/>
          </a:ln>
        </p:spPr>
        <p:txBody>
          <a:bodyPr/>
          <a:lstStyle/>
          <a:p>
            <a:endParaRPr/>
          </a:p>
        </p:txBody>
      </p:sp>
      <p:sp>
        <p:nvSpPr>
          <p:cNvPr id="19" name="Text 17"/>
          <p:cNvSpPr/>
          <p:nvPr/>
        </p:nvSpPr>
        <p:spPr>
          <a:xfrm>
            <a:off x="548640" y="3968496"/>
            <a:ext cx="3200400" cy="640080"/>
          </a:xfrm>
          <a:prstGeom prst="rect">
            <a:avLst/>
          </a:prstGeom>
          <a:noFill/>
          <a:ln/>
        </p:spPr>
        <p:txBody>
          <a:bodyPr wrap="square" lIns="0" tIns="0" rIns="0" bIns="0" rtlCol="0" anchor="ctr"/>
          <a:lstStyle/>
          <a:p>
            <a:pPr marL="0" indent="0">
              <a:buNone/>
            </a:pPr>
            <a:r>
              <a:rPr lang="en-US" sz="1300" b="1" dirty="0">
                <a:solidFill>
                  <a:srgbClr val="7CE38B"/>
                </a:solidFill>
                <a:latin typeface="Consolas" pitchFamily="34" charset="0"/>
                <a:ea typeface="Consolas" pitchFamily="34" charset="-122"/>
                <a:cs typeface="Consolas" pitchFamily="34" charset="-120"/>
              </a:rPr>
              <a:t>Process discipline</a:t>
            </a:r>
            <a:endParaRPr lang="en-US" sz="1300" dirty="0"/>
          </a:p>
        </p:txBody>
      </p:sp>
      <p:sp>
        <p:nvSpPr>
          <p:cNvPr id="20" name="Text 18"/>
          <p:cNvSpPr/>
          <p:nvPr/>
        </p:nvSpPr>
        <p:spPr>
          <a:xfrm>
            <a:off x="3840480" y="3968496"/>
            <a:ext cx="7863840" cy="640080"/>
          </a:xfrm>
          <a:prstGeom prst="rect">
            <a:avLst/>
          </a:prstGeom>
          <a:noFill/>
          <a:ln/>
        </p:spPr>
        <p:txBody>
          <a:bodyPr wrap="square" lIns="0" tIns="0" rIns="0" bIns="0" rtlCol="0" anchor="ctr"/>
          <a:lstStyle/>
          <a:p>
            <a:pPr marL="0" indent="0">
              <a:buNone/>
            </a:pPr>
            <a:r>
              <a:rPr lang="en-US" sz="1200" dirty="0">
                <a:solidFill>
                  <a:srgbClr val="E6EDF3"/>
                </a:solidFill>
                <a:latin typeface="Calibri" pitchFamily="34" charset="0"/>
                <a:ea typeface="Calibri" pitchFamily="34" charset="-122"/>
                <a:cs typeface="Calibri" pitchFamily="34" charset="-120"/>
              </a:rPr>
              <a:t>Phase gates v10.9, Stay-in-lane v10.10, Tech Stack Protocol v10.7</a:t>
            </a:r>
            <a:endParaRPr lang="en-US" sz="1200" dirty="0"/>
          </a:p>
        </p:txBody>
      </p:sp>
      <p:sp>
        <p:nvSpPr>
          <p:cNvPr id="21" name="Shape 19"/>
          <p:cNvSpPr/>
          <p:nvPr/>
        </p:nvSpPr>
        <p:spPr>
          <a:xfrm>
            <a:off x="365760" y="4681728"/>
            <a:ext cx="11430000" cy="640080"/>
          </a:xfrm>
          <a:prstGeom prst="rect">
            <a:avLst/>
          </a:prstGeom>
          <a:solidFill>
            <a:srgbClr val="161B22"/>
          </a:solidFill>
          <a:ln w="12700">
            <a:solidFill>
              <a:srgbClr val="30363D"/>
            </a:solidFill>
            <a:prstDash val="solid"/>
          </a:ln>
        </p:spPr>
        <p:txBody>
          <a:bodyPr/>
          <a:lstStyle/>
          <a:p>
            <a:endParaRPr/>
          </a:p>
        </p:txBody>
      </p:sp>
      <p:sp>
        <p:nvSpPr>
          <p:cNvPr id="22" name="Shape 20"/>
          <p:cNvSpPr/>
          <p:nvPr/>
        </p:nvSpPr>
        <p:spPr>
          <a:xfrm>
            <a:off x="365760" y="4681728"/>
            <a:ext cx="73152" cy="640080"/>
          </a:xfrm>
          <a:prstGeom prst="rect">
            <a:avLst/>
          </a:prstGeom>
          <a:solidFill>
            <a:srgbClr val="7CE38B"/>
          </a:solidFill>
          <a:ln w="12700">
            <a:solidFill>
              <a:srgbClr val="7CE38B"/>
            </a:solidFill>
            <a:prstDash val="solid"/>
          </a:ln>
        </p:spPr>
        <p:txBody>
          <a:bodyPr/>
          <a:lstStyle/>
          <a:p>
            <a:endParaRPr/>
          </a:p>
        </p:txBody>
      </p:sp>
      <p:sp>
        <p:nvSpPr>
          <p:cNvPr id="23" name="Text 21"/>
          <p:cNvSpPr/>
          <p:nvPr/>
        </p:nvSpPr>
        <p:spPr>
          <a:xfrm>
            <a:off x="548640" y="4681728"/>
            <a:ext cx="3200400" cy="640080"/>
          </a:xfrm>
          <a:prstGeom prst="rect">
            <a:avLst/>
          </a:prstGeom>
          <a:noFill/>
          <a:ln/>
        </p:spPr>
        <p:txBody>
          <a:bodyPr wrap="square" lIns="0" tIns="0" rIns="0" bIns="0" rtlCol="0" anchor="ctr"/>
          <a:lstStyle/>
          <a:p>
            <a:pPr marL="0" indent="0">
              <a:buNone/>
            </a:pPr>
            <a:r>
              <a:rPr lang="en-US" sz="1300" b="1" dirty="0">
                <a:solidFill>
                  <a:srgbClr val="7CE38B"/>
                </a:solidFill>
                <a:latin typeface="Consolas" pitchFamily="34" charset="0"/>
                <a:ea typeface="Consolas" pitchFamily="34" charset="-122"/>
                <a:cs typeface="Consolas" pitchFamily="34" charset="-120"/>
              </a:rPr>
              <a:t>Bug-free release</a:t>
            </a:r>
            <a:endParaRPr lang="en-US" sz="1300" dirty="0"/>
          </a:p>
        </p:txBody>
      </p:sp>
      <p:sp>
        <p:nvSpPr>
          <p:cNvPr id="24" name="Text 22"/>
          <p:cNvSpPr/>
          <p:nvPr/>
        </p:nvSpPr>
        <p:spPr>
          <a:xfrm>
            <a:off x="3840480" y="4681728"/>
            <a:ext cx="7863840" cy="640080"/>
          </a:xfrm>
          <a:prstGeom prst="rect">
            <a:avLst/>
          </a:prstGeom>
          <a:noFill/>
          <a:ln/>
        </p:spPr>
        <p:txBody>
          <a:bodyPr wrap="square" lIns="0" tIns="0" rIns="0" bIns="0" rtlCol="0" anchor="ctr"/>
          <a:lstStyle/>
          <a:p>
            <a:pPr marL="0" indent="0">
              <a:buNone/>
            </a:pPr>
            <a:r>
              <a:rPr lang="en-US" sz="1200" dirty="0">
                <a:solidFill>
                  <a:srgbClr val="E6EDF3"/>
                </a:solidFill>
                <a:latin typeface="Calibri" pitchFamily="34" charset="0"/>
                <a:ea typeface="Calibri" pitchFamily="34" charset="-122"/>
                <a:cs typeface="Calibri" pitchFamily="34" charset="-120"/>
              </a:rPr>
              <a:t>VERDICT: PASS gate v10.3, BUG_REPORT.md status convention, prerequisite check v10.8</a:t>
            </a:r>
            <a:endParaRPr lang="en-US" sz="1200" dirty="0"/>
          </a:p>
        </p:txBody>
      </p:sp>
      <p:sp>
        <p:nvSpPr>
          <p:cNvPr id="25" name="Shape 23"/>
          <p:cNvSpPr/>
          <p:nvPr/>
        </p:nvSpPr>
        <p:spPr>
          <a:xfrm>
            <a:off x="365760" y="5394960"/>
            <a:ext cx="11430000" cy="640080"/>
          </a:xfrm>
          <a:prstGeom prst="rect">
            <a:avLst/>
          </a:prstGeom>
          <a:solidFill>
            <a:srgbClr val="1C2128"/>
          </a:solidFill>
          <a:ln w="12700">
            <a:solidFill>
              <a:srgbClr val="30363D"/>
            </a:solidFill>
            <a:prstDash val="solid"/>
          </a:ln>
        </p:spPr>
        <p:txBody>
          <a:bodyPr/>
          <a:lstStyle/>
          <a:p>
            <a:endParaRPr/>
          </a:p>
        </p:txBody>
      </p:sp>
      <p:sp>
        <p:nvSpPr>
          <p:cNvPr id="26" name="Shape 24"/>
          <p:cNvSpPr/>
          <p:nvPr/>
        </p:nvSpPr>
        <p:spPr>
          <a:xfrm>
            <a:off x="365760" y="5394960"/>
            <a:ext cx="73152" cy="640080"/>
          </a:xfrm>
          <a:prstGeom prst="rect">
            <a:avLst/>
          </a:prstGeom>
          <a:solidFill>
            <a:srgbClr val="7CE38B"/>
          </a:solidFill>
          <a:ln w="12700">
            <a:solidFill>
              <a:srgbClr val="7CE38B"/>
            </a:solidFill>
            <a:prstDash val="solid"/>
          </a:ln>
        </p:spPr>
        <p:txBody>
          <a:bodyPr/>
          <a:lstStyle/>
          <a:p>
            <a:endParaRPr/>
          </a:p>
        </p:txBody>
      </p:sp>
      <p:sp>
        <p:nvSpPr>
          <p:cNvPr id="27" name="Text 25"/>
          <p:cNvSpPr/>
          <p:nvPr/>
        </p:nvSpPr>
        <p:spPr>
          <a:xfrm>
            <a:off x="548640" y="5394960"/>
            <a:ext cx="3200400" cy="640080"/>
          </a:xfrm>
          <a:prstGeom prst="rect">
            <a:avLst/>
          </a:prstGeom>
          <a:noFill/>
          <a:ln/>
        </p:spPr>
        <p:txBody>
          <a:bodyPr wrap="square" lIns="0" tIns="0" rIns="0" bIns="0" rtlCol="0" anchor="ctr"/>
          <a:lstStyle/>
          <a:p>
            <a:pPr marL="0" indent="0">
              <a:buNone/>
            </a:pPr>
            <a:r>
              <a:rPr lang="en-US" sz="1300" b="1" dirty="0">
                <a:solidFill>
                  <a:srgbClr val="7CE38B"/>
                </a:solidFill>
                <a:latin typeface="Consolas" pitchFamily="34" charset="0"/>
                <a:ea typeface="Consolas" pitchFamily="34" charset="-122"/>
                <a:cs typeface="Consolas" pitchFamily="34" charset="-120"/>
              </a:rPr>
              <a:t>Continuity</a:t>
            </a:r>
            <a:endParaRPr lang="en-US" sz="1300" dirty="0"/>
          </a:p>
        </p:txBody>
      </p:sp>
      <p:sp>
        <p:nvSpPr>
          <p:cNvPr id="28" name="Text 26"/>
          <p:cNvSpPr/>
          <p:nvPr/>
        </p:nvSpPr>
        <p:spPr>
          <a:xfrm>
            <a:off x="3840480" y="5394960"/>
            <a:ext cx="7863840" cy="640080"/>
          </a:xfrm>
          <a:prstGeom prst="rect">
            <a:avLst/>
          </a:prstGeom>
          <a:noFill/>
          <a:ln/>
        </p:spPr>
        <p:txBody>
          <a:bodyPr wrap="square" lIns="0" tIns="0" rIns="0" bIns="0" rtlCol="0" anchor="ctr"/>
          <a:lstStyle/>
          <a:p>
            <a:pPr marL="0" indent="0">
              <a:buNone/>
            </a:pPr>
            <a:r>
              <a:rPr lang="en-US" sz="1200" dirty="0">
                <a:solidFill>
                  <a:srgbClr val="E6EDF3"/>
                </a:solidFill>
                <a:latin typeface="Calibri" pitchFamily="34" charset="0"/>
                <a:ea typeface="Calibri" pitchFamily="34" charset="-122"/>
                <a:cs typeface="Calibri" pitchFamily="34" charset="-120"/>
              </a:rPr>
              <a:t>memory/_PROJECT_STATE.md + session resume + rescan_project.sh (v10.5)</a:t>
            </a:r>
            <a:endParaRPr lang="en-US" sz="1200" dirty="0"/>
          </a:p>
        </p:txBody>
      </p:sp>
      <p:sp>
        <p:nvSpPr>
          <p:cNvPr id="29" name="Text 27"/>
          <p:cNvSpPr/>
          <p:nvPr/>
        </p:nvSpPr>
        <p:spPr>
          <a:xfrm>
            <a:off x="11338560" y="6492240"/>
            <a:ext cx="731520" cy="228600"/>
          </a:xfrm>
          <a:prstGeom prst="rect">
            <a:avLst/>
          </a:prstGeom>
          <a:noFill/>
          <a:ln/>
        </p:spPr>
        <p:txBody>
          <a:bodyPr wrap="square" lIns="0" tIns="0" rIns="0" bIns="0" rtlCol="0" anchor="ctr"/>
          <a:lstStyle/>
          <a:p>
            <a:pPr marL="0" indent="0" algn="r">
              <a:buNone/>
            </a:pPr>
            <a:r>
              <a:rPr lang="en-US" sz="900" dirty="0">
                <a:solidFill>
                  <a:srgbClr val="8B949E"/>
                </a:solidFill>
                <a:latin typeface="Consolas" pitchFamily="34" charset="0"/>
                <a:ea typeface="Consolas" pitchFamily="34" charset="-122"/>
                <a:cs typeface="Consolas" pitchFamily="34" charset="-120"/>
              </a:rPr>
              <a:t>8 / 40</a:t>
            </a:r>
            <a:endParaRPr lang="en-US" sz="900" dirty="0"/>
          </a:p>
        </p:txBody>
      </p:sp>
      <p:sp>
        <p:nvSpPr>
          <p:cNvPr id="30" name="Text 28"/>
          <p:cNvSpPr/>
          <p:nvPr/>
        </p:nvSpPr>
        <p:spPr>
          <a:xfrm>
            <a:off x="365760" y="6492240"/>
            <a:ext cx="1097280" cy="228600"/>
          </a:xfrm>
          <a:prstGeom prst="rect">
            <a:avLst/>
          </a:prstGeom>
          <a:noFill/>
          <a:ln/>
        </p:spPr>
        <p:txBody>
          <a:bodyPr wrap="square" lIns="0" tIns="0" rIns="0" bIns="0" rtlCol="0" anchor="ctr"/>
          <a:lstStyle/>
          <a:p>
            <a:pPr marL="0" indent="0" algn="l">
              <a:buNone/>
            </a:pPr>
            <a:r>
              <a:rPr lang="en-US" sz="900" dirty="0">
                <a:solidFill>
                  <a:srgbClr val="8B949E"/>
                </a:solidFill>
                <a:latin typeface="Consolas" pitchFamily="34" charset="0"/>
                <a:ea typeface="Consolas" pitchFamily="34" charset="-122"/>
                <a:cs typeface="Consolas" pitchFamily="34" charset="-120"/>
              </a:rPr>
              <a:t>v10.23</a:t>
            </a:r>
            <a:endParaRPr lang="en-US" sz="900" dirty="0"/>
          </a:p>
        </p:txBody>
      </p:sp>
      <p:sp>
        <p:nvSpPr>
          <p:cNvPr id="31" name="Text 29"/>
          <p:cNvSpPr/>
          <p:nvPr/>
        </p:nvSpPr>
        <p:spPr>
          <a:xfrm>
            <a:off x="4572000" y="6492240"/>
            <a:ext cx="6400800" cy="228600"/>
          </a:xfrm>
          <a:prstGeom prst="rect">
            <a:avLst/>
          </a:prstGeom>
          <a:noFill/>
          <a:ln/>
        </p:spPr>
        <p:txBody>
          <a:bodyPr wrap="square" lIns="0" tIns="0" rIns="0" bIns="0" rtlCol="0" anchor="ctr"/>
          <a:lstStyle/>
          <a:p>
            <a:pPr marL="0" indent="0" algn="ctr">
              <a:buNone/>
            </a:pPr>
            <a:r>
              <a:rPr lang="en-US" sz="900" dirty="0">
                <a:solidFill>
                  <a:srgbClr val="8B949E"/>
                </a:solidFill>
                <a:latin typeface="Consolas" pitchFamily="34" charset="0"/>
                <a:ea typeface="Consolas" pitchFamily="34" charset="-122"/>
                <a:cs typeface="Consolas" pitchFamily="34" charset="-120"/>
              </a:rPr>
              <a:t>Product Engineering Agent Framework</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365760" y="228600"/>
            <a:ext cx="8229600" cy="274320"/>
          </a:xfrm>
          <a:prstGeom prst="rect">
            <a:avLst/>
          </a:prstGeom>
          <a:noFill/>
          <a:ln/>
        </p:spPr>
        <p:txBody>
          <a:bodyPr wrap="square" lIns="0" tIns="0" rIns="0" bIns="0" rtlCol="0" anchor="ctr"/>
          <a:lstStyle/>
          <a:p>
            <a:pPr marL="0" indent="0">
              <a:buNone/>
            </a:pPr>
            <a:r>
              <a:rPr lang="en-US" sz="1100" dirty="0">
                <a:solidFill>
                  <a:srgbClr val="2EA043"/>
                </a:solidFill>
                <a:latin typeface="Consolas" pitchFamily="34" charset="0"/>
                <a:ea typeface="Consolas" pitchFamily="34" charset="-122"/>
                <a:cs typeface="Consolas" pitchFamily="34" charset="-120"/>
              </a:rPr>
              <a:t>$ </a:t>
            </a:r>
            <a:r>
              <a:rPr lang="en-US" sz="1100" dirty="0">
                <a:solidFill>
                  <a:srgbClr val="8B949E"/>
                </a:solidFill>
                <a:latin typeface="Consolas" pitchFamily="34" charset="0"/>
                <a:ea typeface="Consolas" pitchFamily="34" charset="-122"/>
                <a:cs typeface="Consolas" pitchFamily="34" charset="-120"/>
              </a:rPr>
              <a:t>06_architecture.md</a:t>
            </a:r>
            <a:endParaRPr lang="en-US" sz="1100" dirty="0"/>
          </a:p>
        </p:txBody>
      </p:sp>
      <p:sp>
        <p:nvSpPr>
          <p:cNvPr id="3" name="Text 1"/>
          <p:cNvSpPr/>
          <p:nvPr/>
        </p:nvSpPr>
        <p:spPr>
          <a:xfrm>
            <a:off x="365760" y="548640"/>
            <a:ext cx="11430000" cy="640080"/>
          </a:xfrm>
          <a:prstGeom prst="rect">
            <a:avLst/>
          </a:prstGeom>
          <a:noFill/>
          <a:ln/>
        </p:spPr>
        <p:txBody>
          <a:bodyPr wrap="square" lIns="0" tIns="0" rIns="0" bIns="0" rtlCol="0" anchor="ctr"/>
          <a:lstStyle/>
          <a:p>
            <a:pPr marL="0" indent="0">
              <a:buNone/>
            </a:pPr>
            <a:r>
              <a:rPr lang="en-US" sz="3000" b="1" dirty="0">
                <a:solidFill>
                  <a:srgbClr val="E6EDF3"/>
                </a:solidFill>
                <a:latin typeface="Consolas" pitchFamily="34" charset="0"/>
                <a:ea typeface="Consolas" pitchFamily="34" charset="-122"/>
                <a:cs typeface="Consolas" pitchFamily="34" charset="-120"/>
              </a:rPr>
              <a:t>Kiến trúc tmux 9 pane</a:t>
            </a:r>
            <a:endParaRPr lang="en-US" sz="3000" dirty="0"/>
          </a:p>
        </p:txBody>
      </p:sp>
      <p:sp>
        <p:nvSpPr>
          <p:cNvPr id="4" name="Text 2"/>
          <p:cNvSpPr/>
          <p:nvPr/>
        </p:nvSpPr>
        <p:spPr>
          <a:xfrm>
            <a:off x="365760" y="1143000"/>
            <a:ext cx="11430000" cy="365760"/>
          </a:xfrm>
          <a:prstGeom prst="rect">
            <a:avLst/>
          </a:prstGeom>
          <a:noFill/>
          <a:ln/>
        </p:spPr>
        <p:txBody>
          <a:bodyPr wrap="square" lIns="0" tIns="0" rIns="0" bIns="0" rtlCol="0" anchor="ctr"/>
          <a:lstStyle/>
          <a:p>
            <a:pPr marL="0" indent="0">
              <a:buNone/>
            </a:pPr>
            <a:r>
              <a:rPr lang="en-US" sz="1400" i="1" dirty="0">
                <a:solidFill>
                  <a:srgbClr val="8B949E"/>
                </a:solidFill>
                <a:latin typeface="Calibri" pitchFamily="34" charset="0"/>
                <a:ea typeface="Calibri" pitchFamily="34" charset="-122"/>
                <a:cs typeface="Calibri" pitchFamily="34" charset="-120"/>
              </a:rPr>
              <a:t>Pane 1 chat với bạn, pane 2-9 chờ được route việc</a:t>
            </a:r>
            <a:endParaRPr lang="en-US" sz="1400" dirty="0"/>
          </a:p>
        </p:txBody>
      </p:sp>
      <p:sp>
        <p:nvSpPr>
          <p:cNvPr id="5" name="Shape 3"/>
          <p:cNvSpPr/>
          <p:nvPr/>
        </p:nvSpPr>
        <p:spPr>
          <a:xfrm>
            <a:off x="365760" y="1783080"/>
            <a:ext cx="11430000" cy="4572000"/>
          </a:xfrm>
          <a:prstGeom prst="rect">
            <a:avLst/>
          </a:prstGeom>
          <a:solidFill>
            <a:srgbClr val="161B22"/>
          </a:solidFill>
          <a:ln w="12700">
            <a:solidFill>
              <a:srgbClr val="30363D"/>
            </a:solidFill>
            <a:prstDash val="solid"/>
          </a:ln>
        </p:spPr>
        <p:txBody>
          <a:bodyPr/>
          <a:lstStyle/>
          <a:p>
            <a:endParaRPr/>
          </a:p>
        </p:txBody>
      </p:sp>
      <p:sp>
        <p:nvSpPr>
          <p:cNvPr id="6" name="Shape 4"/>
          <p:cNvSpPr/>
          <p:nvPr/>
        </p:nvSpPr>
        <p:spPr>
          <a:xfrm>
            <a:off x="457200" y="1874520"/>
            <a:ext cx="91440" cy="91440"/>
          </a:xfrm>
          <a:prstGeom prst="ellipse">
            <a:avLst/>
          </a:prstGeom>
          <a:solidFill>
            <a:srgbClr val="F85149"/>
          </a:solidFill>
          <a:ln w="12700">
            <a:solidFill>
              <a:srgbClr val="F85149"/>
            </a:solidFill>
            <a:prstDash val="solid"/>
          </a:ln>
        </p:spPr>
        <p:txBody>
          <a:bodyPr/>
          <a:lstStyle/>
          <a:p>
            <a:endParaRPr/>
          </a:p>
        </p:txBody>
      </p:sp>
      <p:sp>
        <p:nvSpPr>
          <p:cNvPr id="7" name="Shape 5"/>
          <p:cNvSpPr/>
          <p:nvPr/>
        </p:nvSpPr>
        <p:spPr>
          <a:xfrm>
            <a:off x="585216" y="1874520"/>
            <a:ext cx="91440" cy="91440"/>
          </a:xfrm>
          <a:prstGeom prst="ellipse">
            <a:avLst/>
          </a:prstGeom>
          <a:solidFill>
            <a:srgbClr val="D29922"/>
          </a:solidFill>
          <a:ln w="12700">
            <a:solidFill>
              <a:srgbClr val="D29922"/>
            </a:solidFill>
            <a:prstDash val="solid"/>
          </a:ln>
        </p:spPr>
        <p:txBody>
          <a:bodyPr/>
          <a:lstStyle/>
          <a:p>
            <a:endParaRPr/>
          </a:p>
        </p:txBody>
      </p:sp>
      <p:sp>
        <p:nvSpPr>
          <p:cNvPr id="8" name="Shape 6"/>
          <p:cNvSpPr/>
          <p:nvPr/>
        </p:nvSpPr>
        <p:spPr>
          <a:xfrm>
            <a:off x="713232" y="1874520"/>
            <a:ext cx="91440" cy="91440"/>
          </a:xfrm>
          <a:prstGeom prst="ellipse">
            <a:avLst/>
          </a:prstGeom>
          <a:solidFill>
            <a:srgbClr val="3FB950"/>
          </a:solidFill>
          <a:ln w="12700">
            <a:solidFill>
              <a:srgbClr val="3FB950"/>
            </a:solidFill>
            <a:prstDash val="solid"/>
          </a:ln>
        </p:spPr>
        <p:txBody>
          <a:bodyPr/>
          <a:lstStyle/>
          <a:p>
            <a:endParaRPr/>
          </a:p>
        </p:txBody>
      </p:sp>
      <p:sp>
        <p:nvSpPr>
          <p:cNvPr id="9" name="Text 7"/>
          <p:cNvSpPr/>
          <p:nvPr/>
        </p:nvSpPr>
        <p:spPr>
          <a:xfrm>
            <a:off x="502920" y="2103120"/>
            <a:ext cx="11155680" cy="4206240"/>
          </a:xfrm>
          <a:prstGeom prst="rect">
            <a:avLst/>
          </a:prstGeom>
          <a:noFill/>
          <a:ln/>
        </p:spPr>
        <p:txBody>
          <a:bodyPr wrap="square" lIns="0" tIns="0" rIns="0" bIns="0" rtlCol="0" anchor="t"/>
          <a:lstStyle/>
          <a:p>
            <a:pPr marL="0" indent="0">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                        ║      USER      ║   bạn chỉ nói với pane 1</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                                 │  chat</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                        ║  ORCHESTRATOR  ║   pane 1   &lt;engine&gt;/&lt;orch_model&gt;</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                                 │  bash scripts/route_to_pane.sh</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      ▼     ▼     ▼     ▼        ▼        ▼     ▼     ▼     ▼</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    [PM]  [SA]  [BA]  [UX]    [BE]      [FE]  [QA]  [DEL] (idle)</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     2    3     4     5         6        7     8     9</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     OpenCode: 7-tier mix  |  Claude Code: haiku/sonnet/opus</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     mỗi pane chỉ 'wake up' khi nhận routed task; xong → exit</a:t>
            </a:r>
            <a:endParaRPr lang="en-US" sz="1200" dirty="0"/>
          </a:p>
        </p:txBody>
      </p:sp>
      <p:sp>
        <p:nvSpPr>
          <p:cNvPr id="10" name="Text 8"/>
          <p:cNvSpPr/>
          <p:nvPr/>
        </p:nvSpPr>
        <p:spPr>
          <a:xfrm>
            <a:off x="11338560" y="6492240"/>
            <a:ext cx="731520" cy="228600"/>
          </a:xfrm>
          <a:prstGeom prst="rect">
            <a:avLst/>
          </a:prstGeom>
          <a:noFill/>
          <a:ln/>
        </p:spPr>
        <p:txBody>
          <a:bodyPr wrap="square" lIns="0" tIns="0" rIns="0" bIns="0" rtlCol="0" anchor="ctr"/>
          <a:lstStyle/>
          <a:p>
            <a:pPr marL="0" indent="0" algn="r">
              <a:buNone/>
            </a:pPr>
            <a:r>
              <a:rPr lang="en-US" sz="900" dirty="0">
                <a:solidFill>
                  <a:srgbClr val="8B949E"/>
                </a:solidFill>
                <a:latin typeface="Consolas" pitchFamily="34" charset="0"/>
                <a:ea typeface="Consolas" pitchFamily="34" charset="-122"/>
                <a:cs typeface="Consolas" pitchFamily="34" charset="-120"/>
              </a:rPr>
              <a:t>9 / 40</a:t>
            </a:r>
            <a:endParaRPr lang="en-US" sz="900" dirty="0"/>
          </a:p>
        </p:txBody>
      </p:sp>
      <p:sp>
        <p:nvSpPr>
          <p:cNvPr id="11" name="Text 9"/>
          <p:cNvSpPr/>
          <p:nvPr/>
        </p:nvSpPr>
        <p:spPr>
          <a:xfrm>
            <a:off x="365760" y="6492240"/>
            <a:ext cx="1097280" cy="228600"/>
          </a:xfrm>
          <a:prstGeom prst="rect">
            <a:avLst/>
          </a:prstGeom>
          <a:noFill/>
          <a:ln/>
        </p:spPr>
        <p:txBody>
          <a:bodyPr wrap="square" lIns="0" tIns="0" rIns="0" bIns="0" rtlCol="0" anchor="ctr"/>
          <a:lstStyle/>
          <a:p>
            <a:pPr marL="0" indent="0" algn="l">
              <a:buNone/>
            </a:pPr>
            <a:r>
              <a:rPr lang="en-US" sz="900" dirty="0">
                <a:solidFill>
                  <a:srgbClr val="8B949E"/>
                </a:solidFill>
                <a:latin typeface="Consolas" pitchFamily="34" charset="0"/>
                <a:ea typeface="Consolas" pitchFamily="34" charset="-122"/>
                <a:cs typeface="Consolas" pitchFamily="34" charset="-120"/>
              </a:rPr>
              <a:t>v10.23</a:t>
            </a:r>
            <a:endParaRPr lang="en-US" sz="900" dirty="0"/>
          </a:p>
        </p:txBody>
      </p:sp>
      <p:sp>
        <p:nvSpPr>
          <p:cNvPr id="12" name="Text 10"/>
          <p:cNvSpPr/>
          <p:nvPr/>
        </p:nvSpPr>
        <p:spPr>
          <a:xfrm>
            <a:off x="4572000" y="6492240"/>
            <a:ext cx="6400800" cy="228600"/>
          </a:xfrm>
          <a:prstGeom prst="rect">
            <a:avLst/>
          </a:prstGeom>
          <a:noFill/>
          <a:ln/>
        </p:spPr>
        <p:txBody>
          <a:bodyPr wrap="square" lIns="0" tIns="0" rIns="0" bIns="0" rtlCol="0" anchor="ctr"/>
          <a:lstStyle/>
          <a:p>
            <a:pPr marL="0" indent="0" algn="ctr">
              <a:buNone/>
            </a:pPr>
            <a:r>
              <a:rPr lang="en-US" sz="900" dirty="0">
                <a:solidFill>
                  <a:srgbClr val="8B949E"/>
                </a:solidFill>
                <a:latin typeface="Consolas" pitchFamily="34" charset="0"/>
                <a:ea typeface="Consolas" pitchFamily="34" charset="-122"/>
                <a:cs typeface="Consolas" pitchFamily="34" charset="-120"/>
              </a:rPr>
              <a:t>Product Engineering Agent Framework</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365760" y="228600"/>
            <a:ext cx="8229600" cy="274320"/>
          </a:xfrm>
          <a:prstGeom prst="rect">
            <a:avLst/>
          </a:prstGeom>
          <a:noFill/>
          <a:ln/>
        </p:spPr>
        <p:txBody>
          <a:bodyPr wrap="square" lIns="0" tIns="0" rIns="0" bIns="0" rtlCol="0" anchor="ctr"/>
          <a:lstStyle/>
          <a:p>
            <a:pPr marL="0" indent="0">
              <a:buNone/>
            </a:pPr>
            <a:r>
              <a:rPr lang="en-US" sz="1100" dirty="0">
                <a:solidFill>
                  <a:srgbClr val="2EA043"/>
                </a:solidFill>
                <a:latin typeface="Consolas" pitchFamily="34" charset="0"/>
                <a:ea typeface="Consolas" pitchFamily="34" charset="-122"/>
                <a:cs typeface="Consolas" pitchFamily="34" charset="-120"/>
              </a:rPr>
              <a:t>$ </a:t>
            </a:r>
            <a:r>
              <a:rPr lang="en-US" sz="1100" dirty="0">
                <a:solidFill>
                  <a:srgbClr val="8B949E"/>
                </a:solidFill>
                <a:latin typeface="Consolas" pitchFamily="34" charset="0"/>
                <a:ea typeface="Consolas" pitchFamily="34" charset="-122"/>
                <a:cs typeface="Consolas" pitchFamily="34" charset="-120"/>
              </a:rPr>
              <a:t>07_tmux_layout.md</a:t>
            </a:r>
            <a:endParaRPr lang="en-US" sz="1100" dirty="0"/>
          </a:p>
        </p:txBody>
      </p:sp>
      <p:sp>
        <p:nvSpPr>
          <p:cNvPr id="3" name="Text 1"/>
          <p:cNvSpPr/>
          <p:nvPr/>
        </p:nvSpPr>
        <p:spPr>
          <a:xfrm>
            <a:off x="365760" y="548640"/>
            <a:ext cx="11430000" cy="640080"/>
          </a:xfrm>
          <a:prstGeom prst="rect">
            <a:avLst/>
          </a:prstGeom>
          <a:noFill/>
          <a:ln/>
        </p:spPr>
        <p:txBody>
          <a:bodyPr wrap="square" lIns="0" tIns="0" rIns="0" bIns="0" rtlCol="0" anchor="ctr"/>
          <a:lstStyle/>
          <a:p>
            <a:pPr marL="0" indent="0">
              <a:buNone/>
            </a:pPr>
            <a:r>
              <a:rPr lang="en-US" sz="3000" b="1" dirty="0">
                <a:solidFill>
                  <a:srgbClr val="E6EDF3"/>
                </a:solidFill>
                <a:latin typeface="Consolas" pitchFamily="34" charset="0"/>
                <a:ea typeface="Consolas" pitchFamily="34" charset="-122"/>
                <a:cs typeface="Consolas" pitchFamily="34" charset="-120"/>
              </a:rPr>
              <a:t>Tmux 3-window layout (v10.12)</a:t>
            </a:r>
            <a:endParaRPr lang="en-US" sz="3000" dirty="0"/>
          </a:p>
        </p:txBody>
      </p:sp>
      <p:sp>
        <p:nvSpPr>
          <p:cNvPr id="4" name="Text 2"/>
          <p:cNvSpPr/>
          <p:nvPr/>
        </p:nvSpPr>
        <p:spPr>
          <a:xfrm>
            <a:off x="365760" y="1143000"/>
            <a:ext cx="11430000" cy="365760"/>
          </a:xfrm>
          <a:prstGeom prst="rect">
            <a:avLst/>
          </a:prstGeom>
          <a:noFill/>
          <a:ln/>
        </p:spPr>
        <p:txBody>
          <a:bodyPr wrap="square" lIns="0" tIns="0" rIns="0" bIns="0" rtlCol="0" anchor="ctr"/>
          <a:lstStyle/>
          <a:p>
            <a:pPr marL="0" indent="0">
              <a:buNone/>
            </a:pPr>
            <a:r>
              <a:rPr lang="en-US" sz="1400" i="1" dirty="0">
                <a:solidFill>
                  <a:srgbClr val="8B949E"/>
                </a:solidFill>
                <a:latin typeface="Calibri" pitchFamily="34" charset="0"/>
                <a:ea typeface="Calibri" pitchFamily="34" charset="-122"/>
                <a:cs typeface="Calibri" pitchFamily="34" charset="-120"/>
              </a:rPr>
              <a:t>Window 0 OC · Window 1 DESIGN · Window 2 DEV — switch bằng Ctrl+B 0/1/2</a:t>
            </a:r>
            <a:endParaRPr lang="en-US" sz="1400" dirty="0"/>
          </a:p>
        </p:txBody>
      </p:sp>
      <p:sp>
        <p:nvSpPr>
          <p:cNvPr id="5" name="Shape 3"/>
          <p:cNvSpPr/>
          <p:nvPr/>
        </p:nvSpPr>
        <p:spPr>
          <a:xfrm>
            <a:off x="365760" y="1783080"/>
            <a:ext cx="3657600" cy="4114800"/>
          </a:xfrm>
          <a:prstGeom prst="rect">
            <a:avLst/>
          </a:prstGeom>
          <a:solidFill>
            <a:srgbClr val="161B22"/>
          </a:solidFill>
          <a:ln w="12700">
            <a:solidFill>
              <a:srgbClr val="30363D"/>
            </a:solidFill>
            <a:prstDash val="solid"/>
          </a:ln>
        </p:spPr>
        <p:txBody>
          <a:bodyPr/>
          <a:lstStyle/>
          <a:p>
            <a:endParaRPr/>
          </a:p>
        </p:txBody>
      </p:sp>
      <p:sp>
        <p:nvSpPr>
          <p:cNvPr id="6" name="Text 4"/>
          <p:cNvSpPr/>
          <p:nvPr/>
        </p:nvSpPr>
        <p:spPr>
          <a:xfrm>
            <a:off x="548640" y="1874520"/>
            <a:ext cx="3383280" cy="365760"/>
          </a:xfrm>
          <a:prstGeom prst="rect">
            <a:avLst/>
          </a:prstGeom>
          <a:noFill/>
          <a:ln/>
        </p:spPr>
        <p:txBody>
          <a:bodyPr wrap="square" lIns="0" tIns="0" rIns="0" bIns="0" rtlCol="0" anchor="ctr"/>
          <a:lstStyle/>
          <a:p>
            <a:pPr marL="0" indent="0">
              <a:buNone/>
            </a:pPr>
            <a:r>
              <a:rPr lang="en-US" sz="1400" b="1" dirty="0">
                <a:solidFill>
                  <a:srgbClr val="7CE38B"/>
                </a:solidFill>
                <a:latin typeface="Consolas" pitchFamily="34" charset="0"/>
                <a:ea typeface="Consolas" pitchFamily="34" charset="-122"/>
                <a:cs typeface="Consolas" pitchFamily="34" charset="-120"/>
              </a:rPr>
              <a:t>Window 0 — OC</a:t>
            </a:r>
            <a:endParaRPr lang="en-US" sz="1400" dirty="0"/>
          </a:p>
        </p:txBody>
      </p:sp>
      <p:sp>
        <p:nvSpPr>
          <p:cNvPr id="7" name="Shape 5"/>
          <p:cNvSpPr/>
          <p:nvPr/>
        </p:nvSpPr>
        <p:spPr>
          <a:xfrm>
            <a:off x="594360" y="2331720"/>
            <a:ext cx="3200400" cy="3291840"/>
          </a:xfrm>
          <a:prstGeom prst="rect">
            <a:avLst/>
          </a:prstGeom>
          <a:solidFill>
            <a:srgbClr val="1C2128"/>
          </a:solidFill>
          <a:ln w="12700">
            <a:solidFill>
              <a:srgbClr val="30363D"/>
            </a:solidFill>
            <a:prstDash val="solid"/>
          </a:ln>
        </p:spPr>
        <p:txBody>
          <a:bodyPr/>
          <a:lstStyle/>
          <a:p>
            <a:endParaRPr/>
          </a:p>
        </p:txBody>
      </p:sp>
      <p:sp>
        <p:nvSpPr>
          <p:cNvPr id="8" name="Text 6"/>
          <p:cNvSpPr/>
          <p:nvPr/>
        </p:nvSpPr>
        <p:spPr>
          <a:xfrm>
            <a:off x="594360" y="3017520"/>
            <a:ext cx="3200400" cy="457200"/>
          </a:xfrm>
          <a:prstGeom prst="rect">
            <a:avLst/>
          </a:prstGeom>
          <a:noFill/>
          <a:ln/>
        </p:spPr>
        <p:txBody>
          <a:bodyPr wrap="square" lIns="0" tIns="0" rIns="0" bIns="0" rtlCol="0" anchor="ctr"/>
          <a:lstStyle/>
          <a:p>
            <a:pPr marL="0" indent="0" algn="ctr">
              <a:buNone/>
            </a:pPr>
            <a:r>
              <a:rPr lang="en-US" sz="1800" b="1" dirty="0">
                <a:solidFill>
                  <a:srgbClr val="7CE38B"/>
                </a:solidFill>
                <a:latin typeface="Consolas" pitchFamily="34" charset="0"/>
                <a:ea typeface="Consolas" pitchFamily="34" charset="-122"/>
                <a:cs typeface="Consolas" pitchFamily="34" charset="-120"/>
              </a:rPr>
              <a:t>ORCHESTRATOR</a:t>
            </a:r>
            <a:endParaRPr lang="en-US" sz="1800" dirty="0"/>
          </a:p>
        </p:txBody>
      </p:sp>
      <p:sp>
        <p:nvSpPr>
          <p:cNvPr id="9" name="Text 7"/>
          <p:cNvSpPr/>
          <p:nvPr/>
        </p:nvSpPr>
        <p:spPr>
          <a:xfrm>
            <a:off x="594360" y="3520440"/>
            <a:ext cx="3200400" cy="365760"/>
          </a:xfrm>
          <a:prstGeom prst="rect">
            <a:avLst/>
          </a:prstGeom>
          <a:noFill/>
          <a:ln/>
        </p:spPr>
        <p:txBody>
          <a:bodyPr wrap="square" lIns="0" tIns="0" rIns="0" bIns="0" rtlCol="0" anchor="ctr"/>
          <a:lstStyle/>
          <a:p>
            <a:pPr marL="0" indent="0" algn="ctr">
              <a:buNone/>
            </a:pPr>
            <a:r>
              <a:rPr lang="en-US" sz="1100" i="1" dirty="0">
                <a:solidFill>
                  <a:srgbClr val="8B949E"/>
                </a:solidFill>
                <a:latin typeface="Calibri" pitchFamily="34" charset="0"/>
                <a:ea typeface="Calibri" pitchFamily="34" charset="-122"/>
                <a:cs typeface="Calibri" pitchFamily="34" charset="-120"/>
              </a:rPr>
              <a:t>(1 pane — full size, đọc/gõ thoải mái)</a:t>
            </a:r>
            <a:endParaRPr lang="en-US" sz="1100" dirty="0"/>
          </a:p>
        </p:txBody>
      </p:sp>
      <p:sp>
        <p:nvSpPr>
          <p:cNvPr id="10" name="Shape 8"/>
          <p:cNvSpPr/>
          <p:nvPr/>
        </p:nvSpPr>
        <p:spPr>
          <a:xfrm>
            <a:off x="4297680" y="1783080"/>
            <a:ext cx="3657600" cy="4114800"/>
          </a:xfrm>
          <a:prstGeom prst="rect">
            <a:avLst/>
          </a:prstGeom>
          <a:solidFill>
            <a:srgbClr val="161B22"/>
          </a:solidFill>
          <a:ln w="12700">
            <a:solidFill>
              <a:srgbClr val="30363D"/>
            </a:solidFill>
            <a:prstDash val="solid"/>
          </a:ln>
        </p:spPr>
        <p:txBody>
          <a:bodyPr/>
          <a:lstStyle/>
          <a:p>
            <a:endParaRPr/>
          </a:p>
        </p:txBody>
      </p:sp>
      <p:sp>
        <p:nvSpPr>
          <p:cNvPr id="11" name="Text 9"/>
          <p:cNvSpPr/>
          <p:nvPr/>
        </p:nvSpPr>
        <p:spPr>
          <a:xfrm>
            <a:off x="4480560" y="1874520"/>
            <a:ext cx="3383280" cy="365760"/>
          </a:xfrm>
          <a:prstGeom prst="rect">
            <a:avLst/>
          </a:prstGeom>
          <a:noFill/>
          <a:ln/>
        </p:spPr>
        <p:txBody>
          <a:bodyPr wrap="square" lIns="0" tIns="0" rIns="0" bIns="0" rtlCol="0" anchor="ctr"/>
          <a:lstStyle/>
          <a:p>
            <a:pPr marL="0" indent="0">
              <a:buNone/>
            </a:pPr>
            <a:r>
              <a:rPr lang="en-US" sz="1400" b="1" dirty="0">
                <a:solidFill>
                  <a:srgbClr val="79C0FF"/>
                </a:solidFill>
                <a:latin typeface="Consolas" pitchFamily="34" charset="0"/>
                <a:ea typeface="Consolas" pitchFamily="34" charset="-122"/>
                <a:cs typeface="Consolas" pitchFamily="34" charset="-120"/>
              </a:rPr>
              <a:t>Window 1 — DESIGN</a:t>
            </a:r>
            <a:endParaRPr lang="en-US" sz="1400" dirty="0"/>
          </a:p>
        </p:txBody>
      </p:sp>
      <p:sp>
        <p:nvSpPr>
          <p:cNvPr id="12" name="Shape 10"/>
          <p:cNvSpPr/>
          <p:nvPr/>
        </p:nvSpPr>
        <p:spPr>
          <a:xfrm>
            <a:off x="4526280" y="2331720"/>
            <a:ext cx="1554480" cy="1600200"/>
          </a:xfrm>
          <a:prstGeom prst="rect">
            <a:avLst/>
          </a:prstGeom>
          <a:solidFill>
            <a:srgbClr val="1C2128"/>
          </a:solidFill>
          <a:ln w="12700">
            <a:solidFill>
              <a:srgbClr val="30363D"/>
            </a:solidFill>
            <a:prstDash val="solid"/>
          </a:ln>
        </p:spPr>
        <p:txBody>
          <a:bodyPr/>
          <a:lstStyle/>
          <a:p>
            <a:endParaRPr/>
          </a:p>
        </p:txBody>
      </p:sp>
      <p:sp>
        <p:nvSpPr>
          <p:cNvPr id="13" name="Text 11"/>
          <p:cNvSpPr/>
          <p:nvPr/>
        </p:nvSpPr>
        <p:spPr>
          <a:xfrm>
            <a:off x="4526280" y="2331720"/>
            <a:ext cx="1554480" cy="1600200"/>
          </a:xfrm>
          <a:prstGeom prst="rect">
            <a:avLst/>
          </a:prstGeom>
          <a:noFill/>
          <a:ln/>
        </p:spPr>
        <p:txBody>
          <a:bodyPr wrap="square" lIns="0" tIns="0" rIns="0" bIns="0" rtlCol="0" anchor="ctr"/>
          <a:lstStyle/>
          <a:p>
            <a:pPr marL="0" indent="0" algn="ctr">
              <a:buNone/>
            </a:pPr>
            <a:r>
              <a:rPr lang="en-US" sz="1800" b="1" dirty="0">
                <a:solidFill>
                  <a:srgbClr val="79C0FF"/>
                </a:solidFill>
                <a:latin typeface="Consolas" pitchFamily="34" charset="0"/>
                <a:ea typeface="Consolas" pitchFamily="34" charset="-122"/>
                <a:cs typeface="Consolas" pitchFamily="34" charset="-120"/>
              </a:rPr>
              <a:t>PM</a:t>
            </a:r>
            <a:endParaRPr lang="en-US" sz="1800" dirty="0"/>
          </a:p>
        </p:txBody>
      </p:sp>
      <p:sp>
        <p:nvSpPr>
          <p:cNvPr id="14" name="Shape 12"/>
          <p:cNvSpPr/>
          <p:nvPr/>
        </p:nvSpPr>
        <p:spPr>
          <a:xfrm>
            <a:off x="6172200" y="2331720"/>
            <a:ext cx="1554480" cy="1600200"/>
          </a:xfrm>
          <a:prstGeom prst="rect">
            <a:avLst/>
          </a:prstGeom>
          <a:solidFill>
            <a:srgbClr val="1C2128"/>
          </a:solidFill>
          <a:ln w="12700">
            <a:solidFill>
              <a:srgbClr val="30363D"/>
            </a:solidFill>
            <a:prstDash val="solid"/>
          </a:ln>
        </p:spPr>
        <p:txBody>
          <a:bodyPr/>
          <a:lstStyle/>
          <a:p>
            <a:endParaRPr/>
          </a:p>
        </p:txBody>
      </p:sp>
      <p:sp>
        <p:nvSpPr>
          <p:cNvPr id="15" name="Text 13"/>
          <p:cNvSpPr/>
          <p:nvPr/>
        </p:nvSpPr>
        <p:spPr>
          <a:xfrm>
            <a:off x="6172200" y="2331720"/>
            <a:ext cx="1554480" cy="1600200"/>
          </a:xfrm>
          <a:prstGeom prst="rect">
            <a:avLst/>
          </a:prstGeom>
          <a:noFill/>
          <a:ln/>
        </p:spPr>
        <p:txBody>
          <a:bodyPr wrap="square" lIns="0" tIns="0" rIns="0" bIns="0" rtlCol="0" anchor="ctr"/>
          <a:lstStyle/>
          <a:p>
            <a:pPr marL="0" indent="0" algn="ctr">
              <a:buNone/>
            </a:pPr>
            <a:r>
              <a:rPr lang="en-US" sz="1800" b="1" dirty="0">
                <a:solidFill>
                  <a:srgbClr val="79C0FF"/>
                </a:solidFill>
                <a:latin typeface="Consolas" pitchFamily="34" charset="0"/>
                <a:ea typeface="Consolas" pitchFamily="34" charset="-122"/>
                <a:cs typeface="Consolas" pitchFamily="34" charset="-120"/>
              </a:rPr>
              <a:t>SA</a:t>
            </a:r>
            <a:endParaRPr lang="en-US" sz="1800" dirty="0"/>
          </a:p>
        </p:txBody>
      </p:sp>
      <p:sp>
        <p:nvSpPr>
          <p:cNvPr id="16" name="Shape 14"/>
          <p:cNvSpPr/>
          <p:nvPr/>
        </p:nvSpPr>
        <p:spPr>
          <a:xfrm>
            <a:off x="4526280" y="4023360"/>
            <a:ext cx="1554480" cy="1600200"/>
          </a:xfrm>
          <a:prstGeom prst="rect">
            <a:avLst/>
          </a:prstGeom>
          <a:solidFill>
            <a:srgbClr val="1C2128"/>
          </a:solidFill>
          <a:ln w="12700">
            <a:solidFill>
              <a:srgbClr val="30363D"/>
            </a:solidFill>
            <a:prstDash val="solid"/>
          </a:ln>
        </p:spPr>
        <p:txBody>
          <a:bodyPr/>
          <a:lstStyle/>
          <a:p>
            <a:endParaRPr/>
          </a:p>
        </p:txBody>
      </p:sp>
      <p:sp>
        <p:nvSpPr>
          <p:cNvPr id="17" name="Text 15"/>
          <p:cNvSpPr/>
          <p:nvPr/>
        </p:nvSpPr>
        <p:spPr>
          <a:xfrm>
            <a:off x="4526280" y="4023360"/>
            <a:ext cx="1554480" cy="1600200"/>
          </a:xfrm>
          <a:prstGeom prst="rect">
            <a:avLst/>
          </a:prstGeom>
          <a:noFill/>
          <a:ln/>
        </p:spPr>
        <p:txBody>
          <a:bodyPr wrap="square" lIns="0" tIns="0" rIns="0" bIns="0" rtlCol="0" anchor="ctr"/>
          <a:lstStyle/>
          <a:p>
            <a:pPr marL="0" indent="0" algn="ctr">
              <a:buNone/>
            </a:pPr>
            <a:r>
              <a:rPr lang="en-US" sz="1800" b="1" dirty="0">
                <a:solidFill>
                  <a:srgbClr val="79C0FF"/>
                </a:solidFill>
                <a:latin typeface="Consolas" pitchFamily="34" charset="0"/>
                <a:ea typeface="Consolas" pitchFamily="34" charset="-122"/>
                <a:cs typeface="Consolas" pitchFamily="34" charset="-120"/>
              </a:rPr>
              <a:t>BA</a:t>
            </a:r>
            <a:endParaRPr lang="en-US" sz="1800" dirty="0"/>
          </a:p>
        </p:txBody>
      </p:sp>
      <p:sp>
        <p:nvSpPr>
          <p:cNvPr id="18" name="Shape 16"/>
          <p:cNvSpPr/>
          <p:nvPr/>
        </p:nvSpPr>
        <p:spPr>
          <a:xfrm>
            <a:off x="6172200" y="4023360"/>
            <a:ext cx="1554480" cy="1600200"/>
          </a:xfrm>
          <a:prstGeom prst="rect">
            <a:avLst/>
          </a:prstGeom>
          <a:solidFill>
            <a:srgbClr val="1C2128"/>
          </a:solidFill>
          <a:ln w="12700">
            <a:solidFill>
              <a:srgbClr val="30363D"/>
            </a:solidFill>
            <a:prstDash val="solid"/>
          </a:ln>
        </p:spPr>
        <p:txBody>
          <a:bodyPr/>
          <a:lstStyle/>
          <a:p>
            <a:endParaRPr/>
          </a:p>
        </p:txBody>
      </p:sp>
      <p:sp>
        <p:nvSpPr>
          <p:cNvPr id="19" name="Text 17"/>
          <p:cNvSpPr/>
          <p:nvPr/>
        </p:nvSpPr>
        <p:spPr>
          <a:xfrm>
            <a:off x="6172200" y="4023360"/>
            <a:ext cx="1554480" cy="1600200"/>
          </a:xfrm>
          <a:prstGeom prst="rect">
            <a:avLst/>
          </a:prstGeom>
          <a:noFill/>
          <a:ln/>
        </p:spPr>
        <p:txBody>
          <a:bodyPr wrap="square" lIns="0" tIns="0" rIns="0" bIns="0" rtlCol="0" anchor="ctr"/>
          <a:lstStyle/>
          <a:p>
            <a:pPr marL="0" indent="0" algn="ctr">
              <a:buNone/>
            </a:pPr>
            <a:r>
              <a:rPr lang="en-US" sz="1800" b="1" dirty="0">
                <a:solidFill>
                  <a:srgbClr val="79C0FF"/>
                </a:solidFill>
                <a:latin typeface="Consolas" pitchFamily="34" charset="0"/>
                <a:ea typeface="Consolas" pitchFamily="34" charset="-122"/>
                <a:cs typeface="Consolas" pitchFamily="34" charset="-120"/>
              </a:rPr>
              <a:t>UX</a:t>
            </a:r>
            <a:endParaRPr lang="en-US" sz="1800" dirty="0"/>
          </a:p>
        </p:txBody>
      </p:sp>
      <p:sp>
        <p:nvSpPr>
          <p:cNvPr id="20" name="Shape 18"/>
          <p:cNvSpPr/>
          <p:nvPr/>
        </p:nvSpPr>
        <p:spPr>
          <a:xfrm>
            <a:off x="8229600" y="1783080"/>
            <a:ext cx="3657600" cy="4114800"/>
          </a:xfrm>
          <a:prstGeom prst="rect">
            <a:avLst/>
          </a:prstGeom>
          <a:solidFill>
            <a:srgbClr val="161B22"/>
          </a:solidFill>
          <a:ln w="12700">
            <a:solidFill>
              <a:srgbClr val="30363D"/>
            </a:solidFill>
            <a:prstDash val="solid"/>
          </a:ln>
        </p:spPr>
        <p:txBody>
          <a:bodyPr/>
          <a:lstStyle/>
          <a:p>
            <a:endParaRPr/>
          </a:p>
        </p:txBody>
      </p:sp>
      <p:sp>
        <p:nvSpPr>
          <p:cNvPr id="21" name="Text 19"/>
          <p:cNvSpPr/>
          <p:nvPr/>
        </p:nvSpPr>
        <p:spPr>
          <a:xfrm>
            <a:off x="8412480" y="1874520"/>
            <a:ext cx="3383280" cy="365760"/>
          </a:xfrm>
          <a:prstGeom prst="rect">
            <a:avLst/>
          </a:prstGeom>
          <a:noFill/>
          <a:ln/>
        </p:spPr>
        <p:txBody>
          <a:bodyPr wrap="square" lIns="0" tIns="0" rIns="0" bIns="0" rtlCol="0" anchor="ctr"/>
          <a:lstStyle/>
          <a:p>
            <a:pPr marL="0" indent="0">
              <a:buNone/>
            </a:pPr>
            <a:r>
              <a:rPr lang="en-US" sz="1400" b="1" dirty="0">
                <a:solidFill>
                  <a:srgbClr val="D29922"/>
                </a:solidFill>
                <a:latin typeface="Consolas" pitchFamily="34" charset="0"/>
                <a:ea typeface="Consolas" pitchFamily="34" charset="-122"/>
                <a:cs typeface="Consolas" pitchFamily="34" charset="-120"/>
              </a:rPr>
              <a:t>Window 2 — DEV</a:t>
            </a:r>
            <a:endParaRPr lang="en-US" sz="1400" dirty="0"/>
          </a:p>
        </p:txBody>
      </p:sp>
      <p:sp>
        <p:nvSpPr>
          <p:cNvPr id="22" name="Shape 20"/>
          <p:cNvSpPr/>
          <p:nvPr/>
        </p:nvSpPr>
        <p:spPr>
          <a:xfrm>
            <a:off x="8458200" y="2331720"/>
            <a:ext cx="1554480" cy="1600200"/>
          </a:xfrm>
          <a:prstGeom prst="rect">
            <a:avLst/>
          </a:prstGeom>
          <a:solidFill>
            <a:srgbClr val="1C2128"/>
          </a:solidFill>
          <a:ln w="12700">
            <a:solidFill>
              <a:srgbClr val="30363D"/>
            </a:solidFill>
            <a:prstDash val="solid"/>
          </a:ln>
        </p:spPr>
        <p:txBody>
          <a:bodyPr/>
          <a:lstStyle/>
          <a:p>
            <a:endParaRPr/>
          </a:p>
        </p:txBody>
      </p:sp>
      <p:sp>
        <p:nvSpPr>
          <p:cNvPr id="23" name="Text 21"/>
          <p:cNvSpPr/>
          <p:nvPr/>
        </p:nvSpPr>
        <p:spPr>
          <a:xfrm>
            <a:off x="8458200" y="2331720"/>
            <a:ext cx="1554480" cy="1600200"/>
          </a:xfrm>
          <a:prstGeom prst="rect">
            <a:avLst/>
          </a:prstGeom>
          <a:noFill/>
          <a:ln/>
        </p:spPr>
        <p:txBody>
          <a:bodyPr wrap="square" lIns="0" tIns="0" rIns="0" bIns="0" rtlCol="0" anchor="ctr"/>
          <a:lstStyle/>
          <a:p>
            <a:pPr marL="0" indent="0" algn="ctr">
              <a:buNone/>
            </a:pPr>
            <a:r>
              <a:rPr lang="en-US" sz="1800" b="1" dirty="0">
                <a:solidFill>
                  <a:srgbClr val="D29922"/>
                </a:solidFill>
                <a:latin typeface="Consolas" pitchFamily="34" charset="0"/>
                <a:ea typeface="Consolas" pitchFamily="34" charset="-122"/>
                <a:cs typeface="Consolas" pitchFamily="34" charset="-120"/>
              </a:rPr>
              <a:t>BE</a:t>
            </a:r>
            <a:endParaRPr lang="en-US" sz="1800" dirty="0"/>
          </a:p>
        </p:txBody>
      </p:sp>
      <p:sp>
        <p:nvSpPr>
          <p:cNvPr id="24" name="Shape 22"/>
          <p:cNvSpPr/>
          <p:nvPr/>
        </p:nvSpPr>
        <p:spPr>
          <a:xfrm>
            <a:off x="10104120" y="2331720"/>
            <a:ext cx="1554480" cy="1600200"/>
          </a:xfrm>
          <a:prstGeom prst="rect">
            <a:avLst/>
          </a:prstGeom>
          <a:solidFill>
            <a:srgbClr val="1C2128"/>
          </a:solidFill>
          <a:ln w="12700">
            <a:solidFill>
              <a:srgbClr val="30363D"/>
            </a:solidFill>
            <a:prstDash val="solid"/>
          </a:ln>
        </p:spPr>
        <p:txBody>
          <a:bodyPr/>
          <a:lstStyle/>
          <a:p>
            <a:endParaRPr/>
          </a:p>
        </p:txBody>
      </p:sp>
      <p:sp>
        <p:nvSpPr>
          <p:cNvPr id="25" name="Text 23"/>
          <p:cNvSpPr/>
          <p:nvPr/>
        </p:nvSpPr>
        <p:spPr>
          <a:xfrm>
            <a:off x="10104120" y="2331720"/>
            <a:ext cx="1554480" cy="1600200"/>
          </a:xfrm>
          <a:prstGeom prst="rect">
            <a:avLst/>
          </a:prstGeom>
          <a:noFill/>
          <a:ln/>
        </p:spPr>
        <p:txBody>
          <a:bodyPr wrap="square" lIns="0" tIns="0" rIns="0" bIns="0" rtlCol="0" anchor="ctr"/>
          <a:lstStyle/>
          <a:p>
            <a:pPr marL="0" indent="0" algn="ctr">
              <a:buNone/>
            </a:pPr>
            <a:r>
              <a:rPr lang="en-US" sz="1800" b="1" dirty="0">
                <a:solidFill>
                  <a:srgbClr val="D29922"/>
                </a:solidFill>
                <a:latin typeface="Consolas" pitchFamily="34" charset="0"/>
                <a:ea typeface="Consolas" pitchFamily="34" charset="-122"/>
                <a:cs typeface="Consolas" pitchFamily="34" charset="-120"/>
              </a:rPr>
              <a:t>FE</a:t>
            </a:r>
            <a:endParaRPr lang="en-US" sz="1800" dirty="0"/>
          </a:p>
        </p:txBody>
      </p:sp>
      <p:sp>
        <p:nvSpPr>
          <p:cNvPr id="26" name="Shape 24"/>
          <p:cNvSpPr/>
          <p:nvPr/>
        </p:nvSpPr>
        <p:spPr>
          <a:xfrm>
            <a:off x="8458200" y="4023360"/>
            <a:ext cx="1554480" cy="1600200"/>
          </a:xfrm>
          <a:prstGeom prst="rect">
            <a:avLst/>
          </a:prstGeom>
          <a:solidFill>
            <a:srgbClr val="1C2128"/>
          </a:solidFill>
          <a:ln w="12700">
            <a:solidFill>
              <a:srgbClr val="30363D"/>
            </a:solidFill>
            <a:prstDash val="solid"/>
          </a:ln>
        </p:spPr>
        <p:txBody>
          <a:bodyPr/>
          <a:lstStyle/>
          <a:p>
            <a:endParaRPr/>
          </a:p>
        </p:txBody>
      </p:sp>
      <p:sp>
        <p:nvSpPr>
          <p:cNvPr id="27" name="Text 25"/>
          <p:cNvSpPr/>
          <p:nvPr/>
        </p:nvSpPr>
        <p:spPr>
          <a:xfrm>
            <a:off x="8458200" y="4023360"/>
            <a:ext cx="1554480" cy="1600200"/>
          </a:xfrm>
          <a:prstGeom prst="rect">
            <a:avLst/>
          </a:prstGeom>
          <a:noFill/>
          <a:ln/>
        </p:spPr>
        <p:txBody>
          <a:bodyPr wrap="square" lIns="0" tIns="0" rIns="0" bIns="0" rtlCol="0" anchor="ctr"/>
          <a:lstStyle/>
          <a:p>
            <a:pPr marL="0" indent="0" algn="ctr">
              <a:buNone/>
            </a:pPr>
            <a:r>
              <a:rPr lang="en-US" sz="1800" b="1" dirty="0">
                <a:solidFill>
                  <a:srgbClr val="D29922"/>
                </a:solidFill>
                <a:latin typeface="Consolas" pitchFamily="34" charset="0"/>
                <a:ea typeface="Consolas" pitchFamily="34" charset="-122"/>
                <a:cs typeface="Consolas" pitchFamily="34" charset="-120"/>
              </a:rPr>
              <a:t>QA</a:t>
            </a:r>
            <a:endParaRPr lang="en-US" sz="1800" dirty="0"/>
          </a:p>
        </p:txBody>
      </p:sp>
      <p:sp>
        <p:nvSpPr>
          <p:cNvPr id="28" name="Shape 26"/>
          <p:cNvSpPr/>
          <p:nvPr/>
        </p:nvSpPr>
        <p:spPr>
          <a:xfrm>
            <a:off x="10104120" y="4023360"/>
            <a:ext cx="1554480" cy="1600200"/>
          </a:xfrm>
          <a:prstGeom prst="rect">
            <a:avLst/>
          </a:prstGeom>
          <a:solidFill>
            <a:srgbClr val="1C2128"/>
          </a:solidFill>
          <a:ln w="12700">
            <a:solidFill>
              <a:srgbClr val="30363D"/>
            </a:solidFill>
            <a:prstDash val="solid"/>
          </a:ln>
        </p:spPr>
        <p:txBody>
          <a:bodyPr/>
          <a:lstStyle/>
          <a:p>
            <a:endParaRPr/>
          </a:p>
        </p:txBody>
      </p:sp>
      <p:sp>
        <p:nvSpPr>
          <p:cNvPr id="29" name="Text 27"/>
          <p:cNvSpPr/>
          <p:nvPr/>
        </p:nvSpPr>
        <p:spPr>
          <a:xfrm>
            <a:off x="10104120" y="4023360"/>
            <a:ext cx="1554480" cy="1600200"/>
          </a:xfrm>
          <a:prstGeom prst="rect">
            <a:avLst/>
          </a:prstGeom>
          <a:noFill/>
          <a:ln/>
        </p:spPr>
        <p:txBody>
          <a:bodyPr wrap="square" lIns="0" tIns="0" rIns="0" bIns="0" rtlCol="0" anchor="ctr"/>
          <a:lstStyle/>
          <a:p>
            <a:pPr marL="0" indent="0" algn="ctr">
              <a:buNone/>
            </a:pPr>
            <a:r>
              <a:rPr lang="en-US" sz="1800" b="1" dirty="0">
                <a:solidFill>
                  <a:srgbClr val="D29922"/>
                </a:solidFill>
                <a:latin typeface="Consolas" pitchFamily="34" charset="0"/>
                <a:ea typeface="Consolas" pitchFamily="34" charset="-122"/>
                <a:cs typeface="Consolas" pitchFamily="34" charset="-120"/>
              </a:rPr>
              <a:t>DEL</a:t>
            </a:r>
            <a:endParaRPr lang="en-US" sz="1800" dirty="0"/>
          </a:p>
        </p:txBody>
      </p:sp>
      <p:sp>
        <p:nvSpPr>
          <p:cNvPr id="30" name="Text 28"/>
          <p:cNvSpPr/>
          <p:nvPr/>
        </p:nvSpPr>
        <p:spPr>
          <a:xfrm>
            <a:off x="365760" y="6126480"/>
            <a:ext cx="11430000" cy="320040"/>
          </a:xfrm>
          <a:prstGeom prst="rect">
            <a:avLst/>
          </a:prstGeom>
          <a:noFill/>
          <a:ln/>
        </p:spPr>
        <p:txBody>
          <a:bodyPr wrap="square" lIns="0" tIns="0" rIns="0" bIns="0" rtlCol="0" anchor="ctr"/>
          <a:lstStyle/>
          <a:p>
            <a:pPr marL="0" indent="0" algn="ctr">
              <a:buNone/>
            </a:pPr>
            <a:r>
              <a:rPr lang="en-US" sz="1100" i="1" dirty="0">
                <a:solidFill>
                  <a:srgbClr val="8B949E"/>
                </a:solidFill>
                <a:latin typeface="Calibri" pitchFamily="34" charset="0"/>
                <a:ea typeface="Calibri" pitchFamily="34" charset="-122"/>
                <a:cs typeface="Calibri" pitchFamily="34" charset="-120"/>
              </a:rPr>
              <a:t>Lợi: Orchestrator full size cho chat. DESIGN/DEV tách rõ — bạn theo dõi đúng role group cần ở mỗi phase.</a:t>
            </a:r>
            <a:endParaRPr lang="en-US" sz="1100" dirty="0"/>
          </a:p>
        </p:txBody>
      </p:sp>
      <p:sp>
        <p:nvSpPr>
          <p:cNvPr id="31" name="Text 29"/>
          <p:cNvSpPr/>
          <p:nvPr/>
        </p:nvSpPr>
        <p:spPr>
          <a:xfrm>
            <a:off x="11338560" y="6492240"/>
            <a:ext cx="731520" cy="228600"/>
          </a:xfrm>
          <a:prstGeom prst="rect">
            <a:avLst/>
          </a:prstGeom>
          <a:noFill/>
          <a:ln/>
        </p:spPr>
        <p:txBody>
          <a:bodyPr wrap="square" lIns="0" tIns="0" rIns="0" bIns="0" rtlCol="0" anchor="ctr"/>
          <a:lstStyle/>
          <a:p>
            <a:pPr marL="0" indent="0" algn="r">
              <a:buNone/>
            </a:pPr>
            <a:r>
              <a:rPr lang="en-US" sz="900" dirty="0">
                <a:solidFill>
                  <a:srgbClr val="8B949E"/>
                </a:solidFill>
                <a:latin typeface="Consolas" pitchFamily="34" charset="0"/>
                <a:ea typeface="Consolas" pitchFamily="34" charset="-122"/>
                <a:cs typeface="Consolas" pitchFamily="34" charset="-120"/>
              </a:rPr>
              <a:t>10 / 40</a:t>
            </a:r>
            <a:endParaRPr lang="en-US" sz="900" dirty="0"/>
          </a:p>
        </p:txBody>
      </p:sp>
      <p:sp>
        <p:nvSpPr>
          <p:cNvPr id="32" name="Text 30"/>
          <p:cNvSpPr/>
          <p:nvPr/>
        </p:nvSpPr>
        <p:spPr>
          <a:xfrm>
            <a:off x="365760" y="6492240"/>
            <a:ext cx="1097280" cy="228600"/>
          </a:xfrm>
          <a:prstGeom prst="rect">
            <a:avLst/>
          </a:prstGeom>
          <a:noFill/>
          <a:ln/>
        </p:spPr>
        <p:txBody>
          <a:bodyPr wrap="square" lIns="0" tIns="0" rIns="0" bIns="0" rtlCol="0" anchor="ctr"/>
          <a:lstStyle/>
          <a:p>
            <a:pPr marL="0" indent="0" algn="l">
              <a:buNone/>
            </a:pPr>
            <a:r>
              <a:rPr lang="en-US" sz="900" dirty="0">
                <a:solidFill>
                  <a:srgbClr val="8B949E"/>
                </a:solidFill>
                <a:latin typeface="Consolas" pitchFamily="34" charset="0"/>
                <a:ea typeface="Consolas" pitchFamily="34" charset="-122"/>
                <a:cs typeface="Consolas" pitchFamily="34" charset="-120"/>
              </a:rPr>
              <a:t>v10.23</a:t>
            </a:r>
            <a:endParaRPr lang="en-US" sz="900" dirty="0"/>
          </a:p>
        </p:txBody>
      </p:sp>
      <p:sp>
        <p:nvSpPr>
          <p:cNvPr id="33" name="Text 31"/>
          <p:cNvSpPr/>
          <p:nvPr/>
        </p:nvSpPr>
        <p:spPr>
          <a:xfrm>
            <a:off x="4572000" y="6492240"/>
            <a:ext cx="6400800" cy="228600"/>
          </a:xfrm>
          <a:prstGeom prst="rect">
            <a:avLst/>
          </a:prstGeom>
          <a:noFill/>
          <a:ln/>
        </p:spPr>
        <p:txBody>
          <a:bodyPr wrap="square" lIns="0" tIns="0" rIns="0" bIns="0" rtlCol="0" anchor="ctr"/>
          <a:lstStyle/>
          <a:p>
            <a:pPr marL="0" indent="0" algn="ctr">
              <a:buNone/>
            </a:pPr>
            <a:r>
              <a:rPr lang="en-US" sz="900" dirty="0">
                <a:solidFill>
                  <a:srgbClr val="8B949E"/>
                </a:solidFill>
                <a:latin typeface="Consolas" pitchFamily="34" charset="0"/>
                <a:ea typeface="Consolas" pitchFamily="34" charset="-122"/>
                <a:cs typeface="Consolas" pitchFamily="34" charset="-120"/>
              </a:rPr>
              <a:t>Product Engineering Agent Framework</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365760" y="228600"/>
            <a:ext cx="8229600" cy="274320"/>
          </a:xfrm>
          <a:prstGeom prst="rect">
            <a:avLst/>
          </a:prstGeom>
          <a:noFill/>
          <a:ln/>
        </p:spPr>
        <p:txBody>
          <a:bodyPr wrap="square" lIns="0" tIns="0" rIns="0" bIns="0" rtlCol="0" anchor="ctr"/>
          <a:lstStyle/>
          <a:p>
            <a:pPr marL="0" indent="0">
              <a:buNone/>
            </a:pPr>
            <a:r>
              <a:rPr lang="en-US" sz="1100" dirty="0">
                <a:solidFill>
                  <a:srgbClr val="2EA043"/>
                </a:solidFill>
                <a:latin typeface="Consolas" pitchFamily="34" charset="0"/>
                <a:ea typeface="Consolas" pitchFamily="34" charset="-122"/>
                <a:cs typeface="Consolas" pitchFamily="34" charset="-120"/>
              </a:rPr>
              <a:t>$ </a:t>
            </a:r>
            <a:r>
              <a:rPr lang="en-US" sz="1100" dirty="0">
                <a:solidFill>
                  <a:srgbClr val="8B949E"/>
                </a:solidFill>
                <a:latin typeface="Consolas" pitchFamily="34" charset="0"/>
                <a:ea typeface="Consolas" pitchFamily="34" charset="-122"/>
                <a:cs typeface="Consolas" pitchFamily="34" charset="-120"/>
              </a:rPr>
              <a:t>07_roles.md</a:t>
            </a:r>
            <a:endParaRPr lang="en-US" sz="1100" dirty="0"/>
          </a:p>
        </p:txBody>
      </p:sp>
      <p:sp>
        <p:nvSpPr>
          <p:cNvPr id="3" name="Text 1"/>
          <p:cNvSpPr/>
          <p:nvPr/>
        </p:nvSpPr>
        <p:spPr>
          <a:xfrm>
            <a:off x="365760" y="548640"/>
            <a:ext cx="11430000" cy="640080"/>
          </a:xfrm>
          <a:prstGeom prst="rect">
            <a:avLst/>
          </a:prstGeom>
          <a:noFill/>
          <a:ln/>
        </p:spPr>
        <p:txBody>
          <a:bodyPr wrap="square" lIns="0" tIns="0" rIns="0" bIns="0" rtlCol="0" anchor="ctr"/>
          <a:lstStyle/>
          <a:p>
            <a:pPr marL="0" indent="0">
              <a:buNone/>
            </a:pPr>
            <a:r>
              <a:rPr lang="en-US" sz="3000" b="1" dirty="0">
                <a:solidFill>
                  <a:srgbClr val="E6EDF3"/>
                </a:solidFill>
                <a:latin typeface="Consolas" pitchFamily="34" charset="0"/>
                <a:ea typeface="Consolas" pitchFamily="34" charset="-122"/>
                <a:cs typeface="Consolas" pitchFamily="34" charset="-120"/>
              </a:rPr>
              <a:t>9 vai trò trong đội</a:t>
            </a:r>
            <a:endParaRPr lang="en-US" sz="3000" dirty="0"/>
          </a:p>
        </p:txBody>
      </p:sp>
      <p:sp>
        <p:nvSpPr>
          <p:cNvPr id="4" name="Text 2"/>
          <p:cNvSpPr/>
          <p:nvPr/>
        </p:nvSpPr>
        <p:spPr>
          <a:xfrm>
            <a:off x="365760" y="1143000"/>
            <a:ext cx="11430000" cy="365760"/>
          </a:xfrm>
          <a:prstGeom prst="rect">
            <a:avLst/>
          </a:prstGeom>
          <a:noFill/>
          <a:ln/>
        </p:spPr>
        <p:txBody>
          <a:bodyPr wrap="square" lIns="0" tIns="0" rIns="0" bIns="0" rtlCol="0" anchor="ctr"/>
          <a:lstStyle/>
          <a:p>
            <a:pPr marL="0" indent="0">
              <a:buNone/>
            </a:pPr>
            <a:r>
              <a:rPr lang="en-US" sz="1400" i="1" dirty="0">
                <a:solidFill>
                  <a:srgbClr val="8B949E"/>
                </a:solidFill>
                <a:latin typeface="Calibri" pitchFamily="34" charset="0"/>
                <a:ea typeface="Calibri" pitchFamily="34" charset="-122"/>
                <a:cs typeface="Calibri" pitchFamily="34" charset="-120"/>
              </a:rPr>
              <a:t>Mỗi role có prompt + model + write boundary riêng</a:t>
            </a:r>
            <a:endParaRPr lang="en-US" sz="1400" dirty="0"/>
          </a:p>
        </p:txBody>
      </p:sp>
      <p:sp>
        <p:nvSpPr>
          <p:cNvPr id="5" name="Shape 3"/>
          <p:cNvSpPr/>
          <p:nvPr/>
        </p:nvSpPr>
        <p:spPr>
          <a:xfrm>
            <a:off x="365760" y="1783080"/>
            <a:ext cx="1874520" cy="384048"/>
          </a:xfrm>
          <a:prstGeom prst="rect">
            <a:avLst/>
          </a:prstGeom>
          <a:solidFill>
            <a:srgbClr val="2EA043"/>
          </a:solidFill>
          <a:ln w="12700">
            <a:solidFill>
              <a:srgbClr val="2EA043"/>
            </a:solidFill>
            <a:prstDash val="solid"/>
          </a:ln>
        </p:spPr>
        <p:txBody>
          <a:bodyPr/>
          <a:lstStyle/>
          <a:p>
            <a:endParaRPr/>
          </a:p>
        </p:txBody>
      </p:sp>
      <p:sp>
        <p:nvSpPr>
          <p:cNvPr id="6" name="Text 4"/>
          <p:cNvSpPr/>
          <p:nvPr/>
        </p:nvSpPr>
        <p:spPr>
          <a:xfrm>
            <a:off x="457200" y="1783080"/>
            <a:ext cx="1783080" cy="384048"/>
          </a:xfrm>
          <a:prstGeom prst="rect">
            <a:avLst/>
          </a:prstGeom>
          <a:noFill/>
          <a:ln/>
        </p:spPr>
        <p:txBody>
          <a:bodyPr wrap="square" lIns="0" tIns="0" rIns="0" bIns="0" rtlCol="0" anchor="ctr"/>
          <a:lstStyle/>
          <a:p>
            <a:pPr marL="0" indent="0">
              <a:buNone/>
            </a:pPr>
            <a:r>
              <a:rPr lang="en-US" sz="1100" b="1" dirty="0">
                <a:solidFill>
                  <a:srgbClr val="0D1117"/>
                </a:solidFill>
                <a:latin typeface="Consolas" pitchFamily="34" charset="0"/>
                <a:ea typeface="Consolas" pitchFamily="34" charset="-122"/>
                <a:cs typeface="Consolas" pitchFamily="34" charset="-120"/>
              </a:rPr>
              <a:t>ROLE</a:t>
            </a:r>
            <a:endParaRPr lang="en-US" sz="1100" dirty="0"/>
          </a:p>
        </p:txBody>
      </p:sp>
      <p:sp>
        <p:nvSpPr>
          <p:cNvPr id="7" name="Shape 5"/>
          <p:cNvSpPr/>
          <p:nvPr/>
        </p:nvSpPr>
        <p:spPr>
          <a:xfrm>
            <a:off x="2286000" y="1783080"/>
            <a:ext cx="3337560" cy="384048"/>
          </a:xfrm>
          <a:prstGeom prst="rect">
            <a:avLst/>
          </a:prstGeom>
          <a:solidFill>
            <a:srgbClr val="2EA043"/>
          </a:solidFill>
          <a:ln w="12700">
            <a:solidFill>
              <a:srgbClr val="2EA043"/>
            </a:solidFill>
            <a:prstDash val="solid"/>
          </a:ln>
        </p:spPr>
        <p:txBody>
          <a:bodyPr/>
          <a:lstStyle/>
          <a:p>
            <a:endParaRPr/>
          </a:p>
        </p:txBody>
      </p:sp>
      <p:sp>
        <p:nvSpPr>
          <p:cNvPr id="8" name="Text 6"/>
          <p:cNvSpPr/>
          <p:nvPr/>
        </p:nvSpPr>
        <p:spPr>
          <a:xfrm>
            <a:off x="2377440" y="1783080"/>
            <a:ext cx="3246120" cy="384048"/>
          </a:xfrm>
          <a:prstGeom prst="rect">
            <a:avLst/>
          </a:prstGeom>
          <a:noFill/>
          <a:ln/>
        </p:spPr>
        <p:txBody>
          <a:bodyPr wrap="square" lIns="0" tIns="0" rIns="0" bIns="0" rtlCol="0" anchor="ctr"/>
          <a:lstStyle/>
          <a:p>
            <a:pPr marL="0" indent="0">
              <a:buNone/>
            </a:pPr>
            <a:r>
              <a:rPr lang="en-US" sz="1100" b="1" dirty="0">
                <a:solidFill>
                  <a:srgbClr val="0D1117"/>
                </a:solidFill>
                <a:latin typeface="Consolas" pitchFamily="34" charset="0"/>
                <a:ea typeface="Consolas" pitchFamily="34" charset="-122"/>
                <a:cs typeface="Consolas" pitchFamily="34" charset="-120"/>
              </a:rPr>
              <a:t>TRÁCH NHIỆM CHÍNH</a:t>
            </a:r>
            <a:endParaRPr lang="en-US" sz="1100" dirty="0"/>
          </a:p>
        </p:txBody>
      </p:sp>
      <p:sp>
        <p:nvSpPr>
          <p:cNvPr id="9" name="Shape 7"/>
          <p:cNvSpPr/>
          <p:nvPr/>
        </p:nvSpPr>
        <p:spPr>
          <a:xfrm>
            <a:off x="5669280" y="1783080"/>
            <a:ext cx="2240280" cy="384048"/>
          </a:xfrm>
          <a:prstGeom prst="rect">
            <a:avLst/>
          </a:prstGeom>
          <a:solidFill>
            <a:srgbClr val="2EA043"/>
          </a:solidFill>
          <a:ln w="12700">
            <a:solidFill>
              <a:srgbClr val="2EA043"/>
            </a:solidFill>
            <a:prstDash val="solid"/>
          </a:ln>
        </p:spPr>
        <p:txBody>
          <a:bodyPr/>
          <a:lstStyle/>
          <a:p>
            <a:endParaRPr/>
          </a:p>
        </p:txBody>
      </p:sp>
      <p:sp>
        <p:nvSpPr>
          <p:cNvPr id="10" name="Text 8"/>
          <p:cNvSpPr/>
          <p:nvPr/>
        </p:nvSpPr>
        <p:spPr>
          <a:xfrm>
            <a:off x="5760720" y="1783080"/>
            <a:ext cx="2148840" cy="384048"/>
          </a:xfrm>
          <a:prstGeom prst="rect">
            <a:avLst/>
          </a:prstGeom>
          <a:noFill/>
          <a:ln/>
        </p:spPr>
        <p:txBody>
          <a:bodyPr wrap="square" lIns="0" tIns="0" rIns="0" bIns="0" rtlCol="0" anchor="ctr"/>
          <a:lstStyle/>
          <a:p>
            <a:pPr marL="0" indent="0">
              <a:buNone/>
            </a:pPr>
            <a:r>
              <a:rPr lang="en-US" sz="1100" b="1" dirty="0">
                <a:solidFill>
                  <a:srgbClr val="0D1117"/>
                </a:solidFill>
                <a:latin typeface="Consolas" pitchFamily="34" charset="0"/>
                <a:ea typeface="Consolas" pitchFamily="34" charset="-122"/>
                <a:cs typeface="Consolas" pitchFamily="34" charset="-120"/>
              </a:rPr>
              <a:t>DEFAULT MODEL (opencode)</a:t>
            </a:r>
            <a:endParaRPr lang="en-US" sz="1100" dirty="0"/>
          </a:p>
        </p:txBody>
      </p:sp>
      <p:sp>
        <p:nvSpPr>
          <p:cNvPr id="11" name="Shape 9"/>
          <p:cNvSpPr/>
          <p:nvPr/>
        </p:nvSpPr>
        <p:spPr>
          <a:xfrm>
            <a:off x="7955280" y="1783080"/>
            <a:ext cx="4160520" cy="384048"/>
          </a:xfrm>
          <a:prstGeom prst="rect">
            <a:avLst/>
          </a:prstGeom>
          <a:solidFill>
            <a:srgbClr val="2EA043"/>
          </a:solidFill>
          <a:ln w="12700">
            <a:solidFill>
              <a:srgbClr val="2EA043"/>
            </a:solidFill>
            <a:prstDash val="solid"/>
          </a:ln>
        </p:spPr>
        <p:txBody>
          <a:bodyPr/>
          <a:lstStyle/>
          <a:p>
            <a:endParaRPr/>
          </a:p>
        </p:txBody>
      </p:sp>
      <p:sp>
        <p:nvSpPr>
          <p:cNvPr id="12" name="Text 10"/>
          <p:cNvSpPr/>
          <p:nvPr/>
        </p:nvSpPr>
        <p:spPr>
          <a:xfrm>
            <a:off x="8046720" y="1783080"/>
            <a:ext cx="4069080" cy="384048"/>
          </a:xfrm>
          <a:prstGeom prst="rect">
            <a:avLst/>
          </a:prstGeom>
          <a:noFill/>
          <a:ln/>
        </p:spPr>
        <p:txBody>
          <a:bodyPr wrap="square" lIns="0" tIns="0" rIns="0" bIns="0" rtlCol="0" anchor="ctr"/>
          <a:lstStyle/>
          <a:p>
            <a:pPr marL="0" indent="0">
              <a:buNone/>
            </a:pPr>
            <a:r>
              <a:rPr lang="en-US" sz="1100" b="1" dirty="0">
                <a:solidFill>
                  <a:srgbClr val="0D1117"/>
                </a:solidFill>
                <a:latin typeface="Consolas" pitchFamily="34" charset="0"/>
                <a:ea typeface="Consolas" pitchFamily="34" charset="-122"/>
                <a:cs typeface="Consolas" pitchFamily="34" charset="-120"/>
              </a:rPr>
              <a:t>WRITE BOUNDARY</a:t>
            </a:r>
            <a:endParaRPr lang="en-US" sz="1100" dirty="0"/>
          </a:p>
        </p:txBody>
      </p:sp>
      <p:sp>
        <p:nvSpPr>
          <p:cNvPr id="13" name="Shape 11"/>
          <p:cNvSpPr/>
          <p:nvPr/>
        </p:nvSpPr>
        <p:spPr>
          <a:xfrm>
            <a:off x="365760" y="2194560"/>
            <a:ext cx="1874520" cy="411480"/>
          </a:xfrm>
          <a:prstGeom prst="rect">
            <a:avLst/>
          </a:prstGeom>
          <a:solidFill>
            <a:srgbClr val="161B22"/>
          </a:solidFill>
          <a:ln w="6350">
            <a:solidFill>
              <a:srgbClr val="30363D"/>
            </a:solidFill>
            <a:prstDash val="solid"/>
          </a:ln>
        </p:spPr>
        <p:txBody>
          <a:bodyPr/>
          <a:lstStyle/>
          <a:p>
            <a:endParaRPr/>
          </a:p>
        </p:txBody>
      </p:sp>
      <p:sp>
        <p:nvSpPr>
          <p:cNvPr id="14" name="Text 12"/>
          <p:cNvSpPr/>
          <p:nvPr/>
        </p:nvSpPr>
        <p:spPr>
          <a:xfrm>
            <a:off x="457200" y="2194560"/>
            <a:ext cx="1737360" cy="411480"/>
          </a:xfrm>
          <a:prstGeom prst="rect">
            <a:avLst/>
          </a:prstGeom>
          <a:noFill/>
          <a:ln/>
        </p:spPr>
        <p:txBody>
          <a:bodyPr wrap="square" lIns="0" tIns="0" rIns="0" bIns="0" rtlCol="0" anchor="ctr"/>
          <a:lstStyle/>
          <a:p>
            <a:pPr marL="0" indent="0">
              <a:buNone/>
            </a:pPr>
            <a:r>
              <a:rPr lang="en-US" sz="1000" b="1" dirty="0">
                <a:solidFill>
                  <a:srgbClr val="7CE38B"/>
                </a:solidFill>
                <a:latin typeface="Calibri" pitchFamily="34" charset="0"/>
                <a:ea typeface="Calibri" pitchFamily="34" charset="-122"/>
                <a:cs typeface="Calibri" pitchFamily="34" charset="-120"/>
              </a:rPr>
              <a:t>ORCHESTRATOR</a:t>
            </a:r>
            <a:endParaRPr lang="en-US" sz="1000" dirty="0"/>
          </a:p>
        </p:txBody>
      </p:sp>
      <p:sp>
        <p:nvSpPr>
          <p:cNvPr id="15" name="Shape 13"/>
          <p:cNvSpPr/>
          <p:nvPr/>
        </p:nvSpPr>
        <p:spPr>
          <a:xfrm>
            <a:off x="2286000" y="2194560"/>
            <a:ext cx="3337560" cy="411480"/>
          </a:xfrm>
          <a:prstGeom prst="rect">
            <a:avLst/>
          </a:prstGeom>
          <a:solidFill>
            <a:srgbClr val="161B22"/>
          </a:solidFill>
          <a:ln w="6350">
            <a:solidFill>
              <a:srgbClr val="30363D"/>
            </a:solidFill>
            <a:prstDash val="solid"/>
          </a:ln>
        </p:spPr>
        <p:txBody>
          <a:bodyPr/>
          <a:lstStyle/>
          <a:p>
            <a:endParaRPr/>
          </a:p>
        </p:txBody>
      </p:sp>
      <p:sp>
        <p:nvSpPr>
          <p:cNvPr id="16" name="Text 14"/>
          <p:cNvSpPr/>
          <p:nvPr/>
        </p:nvSpPr>
        <p:spPr>
          <a:xfrm>
            <a:off x="2377440" y="2194560"/>
            <a:ext cx="3200400" cy="411480"/>
          </a:xfrm>
          <a:prstGeom prst="rect">
            <a:avLst/>
          </a:prstGeom>
          <a:noFill/>
          <a:ln/>
        </p:spPr>
        <p:txBody>
          <a:bodyPr wrap="square" lIns="0" tIns="0" rIns="0" bIns="0" rtlCol="0" anchor="ctr"/>
          <a:lstStyle/>
          <a:p>
            <a:pPr marL="0" indent="0">
              <a:buNone/>
            </a:pPr>
            <a:r>
              <a:rPr lang="en-US" sz="1000" dirty="0">
                <a:solidFill>
                  <a:srgbClr val="E6EDF3"/>
                </a:solidFill>
                <a:latin typeface="Calibri" pitchFamily="34" charset="0"/>
                <a:ea typeface="Calibri" pitchFamily="34" charset="-122"/>
                <a:cs typeface="Calibri" pitchFamily="34" charset="-120"/>
              </a:rPr>
              <a:t>Routing + phase gates</a:t>
            </a:r>
            <a:endParaRPr lang="en-US" sz="1000" dirty="0"/>
          </a:p>
        </p:txBody>
      </p:sp>
      <p:sp>
        <p:nvSpPr>
          <p:cNvPr id="17" name="Shape 15"/>
          <p:cNvSpPr/>
          <p:nvPr/>
        </p:nvSpPr>
        <p:spPr>
          <a:xfrm>
            <a:off x="5669280" y="2194560"/>
            <a:ext cx="2240280" cy="411480"/>
          </a:xfrm>
          <a:prstGeom prst="rect">
            <a:avLst/>
          </a:prstGeom>
          <a:solidFill>
            <a:srgbClr val="161B22"/>
          </a:solidFill>
          <a:ln w="6350">
            <a:solidFill>
              <a:srgbClr val="30363D"/>
            </a:solidFill>
            <a:prstDash val="solid"/>
          </a:ln>
        </p:spPr>
        <p:txBody>
          <a:bodyPr/>
          <a:lstStyle/>
          <a:p>
            <a:endParaRPr/>
          </a:p>
        </p:txBody>
      </p:sp>
      <p:sp>
        <p:nvSpPr>
          <p:cNvPr id="18" name="Text 16"/>
          <p:cNvSpPr/>
          <p:nvPr/>
        </p:nvSpPr>
        <p:spPr>
          <a:xfrm>
            <a:off x="5760720" y="2194560"/>
            <a:ext cx="2103120" cy="411480"/>
          </a:xfrm>
          <a:prstGeom prst="rect">
            <a:avLst/>
          </a:prstGeom>
          <a:noFill/>
          <a:ln/>
        </p:spPr>
        <p:txBody>
          <a:bodyPr wrap="square" lIns="0" tIns="0" rIns="0" bIns="0" rtlCol="0" anchor="ctr"/>
          <a:lstStyle/>
          <a:p>
            <a:pPr marL="0" indent="0">
              <a:buNone/>
            </a:pPr>
            <a:r>
              <a:rPr lang="en-US" sz="1000" dirty="0">
                <a:solidFill>
                  <a:srgbClr val="79C0FF"/>
                </a:solidFill>
                <a:latin typeface="Consolas" pitchFamily="34" charset="0"/>
                <a:ea typeface="Consolas" pitchFamily="34" charset="-122"/>
                <a:cs typeface="Consolas" pitchFamily="34" charset="-120"/>
              </a:rPr>
              <a:t>glm-5.1</a:t>
            </a:r>
            <a:endParaRPr lang="en-US" sz="1000" dirty="0"/>
          </a:p>
        </p:txBody>
      </p:sp>
      <p:sp>
        <p:nvSpPr>
          <p:cNvPr id="19" name="Shape 17"/>
          <p:cNvSpPr/>
          <p:nvPr/>
        </p:nvSpPr>
        <p:spPr>
          <a:xfrm>
            <a:off x="7955280" y="2194560"/>
            <a:ext cx="4160520" cy="411480"/>
          </a:xfrm>
          <a:prstGeom prst="rect">
            <a:avLst/>
          </a:prstGeom>
          <a:solidFill>
            <a:srgbClr val="161B22"/>
          </a:solidFill>
          <a:ln w="6350">
            <a:solidFill>
              <a:srgbClr val="30363D"/>
            </a:solidFill>
            <a:prstDash val="solid"/>
          </a:ln>
        </p:spPr>
        <p:txBody>
          <a:bodyPr/>
          <a:lstStyle/>
          <a:p>
            <a:endParaRPr/>
          </a:p>
        </p:txBody>
      </p:sp>
      <p:sp>
        <p:nvSpPr>
          <p:cNvPr id="20" name="Text 18"/>
          <p:cNvSpPr/>
          <p:nvPr/>
        </p:nvSpPr>
        <p:spPr>
          <a:xfrm>
            <a:off x="8046720" y="2194560"/>
            <a:ext cx="4023360" cy="411480"/>
          </a:xfrm>
          <a:prstGeom prst="rect">
            <a:avLst/>
          </a:prstGeom>
          <a:noFill/>
          <a:ln/>
        </p:spPr>
        <p:txBody>
          <a:bodyPr wrap="square" lIns="0" tIns="0" rIns="0" bIns="0" rtlCol="0" anchor="ctr"/>
          <a:lstStyle/>
          <a:p>
            <a:pPr marL="0" indent="0">
              <a:buNone/>
            </a:pPr>
            <a:r>
              <a:rPr lang="en-US" sz="1000" dirty="0">
                <a:solidFill>
                  <a:srgbClr val="E6EDF3"/>
                </a:solidFill>
                <a:latin typeface="Calibri" pitchFamily="34" charset="0"/>
                <a:ea typeface="Calibri" pitchFamily="34" charset="-122"/>
                <a:cs typeface="Calibri" pitchFamily="34" charset="-120"/>
              </a:rPr>
              <a:t>TASK.md, _PROJECT_STATE.md</a:t>
            </a:r>
            <a:endParaRPr lang="en-US" sz="1000" dirty="0"/>
          </a:p>
        </p:txBody>
      </p:sp>
      <p:sp>
        <p:nvSpPr>
          <p:cNvPr id="21" name="Shape 19"/>
          <p:cNvSpPr/>
          <p:nvPr/>
        </p:nvSpPr>
        <p:spPr>
          <a:xfrm>
            <a:off x="365760" y="2633472"/>
            <a:ext cx="1874520" cy="411480"/>
          </a:xfrm>
          <a:prstGeom prst="rect">
            <a:avLst/>
          </a:prstGeom>
          <a:solidFill>
            <a:srgbClr val="1C2128"/>
          </a:solidFill>
          <a:ln w="6350">
            <a:solidFill>
              <a:srgbClr val="30363D"/>
            </a:solidFill>
            <a:prstDash val="solid"/>
          </a:ln>
        </p:spPr>
        <p:txBody>
          <a:bodyPr/>
          <a:lstStyle/>
          <a:p>
            <a:endParaRPr/>
          </a:p>
        </p:txBody>
      </p:sp>
      <p:sp>
        <p:nvSpPr>
          <p:cNvPr id="22" name="Text 20"/>
          <p:cNvSpPr/>
          <p:nvPr/>
        </p:nvSpPr>
        <p:spPr>
          <a:xfrm>
            <a:off x="457200" y="2633472"/>
            <a:ext cx="1737360" cy="411480"/>
          </a:xfrm>
          <a:prstGeom prst="rect">
            <a:avLst/>
          </a:prstGeom>
          <a:noFill/>
          <a:ln/>
        </p:spPr>
        <p:txBody>
          <a:bodyPr wrap="square" lIns="0" tIns="0" rIns="0" bIns="0" rtlCol="0" anchor="ctr"/>
          <a:lstStyle/>
          <a:p>
            <a:pPr marL="0" indent="0">
              <a:buNone/>
            </a:pPr>
            <a:r>
              <a:rPr lang="en-US" sz="1000" b="1" dirty="0">
                <a:solidFill>
                  <a:srgbClr val="7CE38B"/>
                </a:solidFill>
                <a:latin typeface="Calibri" pitchFamily="34" charset="0"/>
                <a:ea typeface="Calibri" pitchFamily="34" charset="-122"/>
                <a:cs typeface="Calibri" pitchFamily="34" charset="-120"/>
              </a:rPr>
              <a:t>PM</a:t>
            </a:r>
            <a:endParaRPr lang="en-US" sz="1000" dirty="0"/>
          </a:p>
        </p:txBody>
      </p:sp>
      <p:sp>
        <p:nvSpPr>
          <p:cNvPr id="23" name="Shape 21"/>
          <p:cNvSpPr/>
          <p:nvPr/>
        </p:nvSpPr>
        <p:spPr>
          <a:xfrm>
            <a:off x="2286000" y="2633472"/>
            <a:ext cx="3337560" cy="411480"/>
          </a:xfrm>
          <a:prstGeom prst="rect">
            <a:avLst/>
          </a:prstGeom>
          <a:solidFill>
            <a:srgbClr val="1C2128"/>
          </a:solidFill>
          <a:ln w="6350">
            <a:solidFill>
              <a:srgbClr val="30363D"/>
            </a:solidFill>
            <a:prstDash val="solid"/>
          </a:ln>
        </p:spPr>
        <p:txBody>
          <a:bodyPr/>
          <a:lstStyle/>
          <a:p>
            <a:endParaRPr/>
          </a:p>
        </p:txBody>
      </p:sp>
      <p:sp>
        <p:nvSpPr>
          <p:cNvPr id="24" name="Text 22"/>
          <p:cNvSpPr/>
          <p:nvPr/>
        </p:nvSpPr>
        <p:spPr>
          <a:xfrm>
            <a:off x="2377440" y="2633472"/>
            <a:ext cx="3200400" cy="411480"/>
          </a:xfrm>
          <a:prstGeom prst="rect">
            <a:avLst/>
          </a:prstGeom>
          <a:noFill/>
          <a:ln/>
        </p:spPr>
        <p:txBody>
          <a:bodyPr wrap="square" lIns="0" tIns="0" rIns="0" bIns="0" rtlCol="0" anchor="ctr"/>
          <a:lstStyle/>
          <a:p>
            <a:pPr marL="0" indent="0">
              <a:buNone/>
            </a:pPr>
            <a:r>
              <a:rPr lang="en-US" sz="1000" dirty="0">
                <a:solidFill>
                  <a:srgbClr val="E6EDF3"/>
                </a:solidFill>
                <a:latin typeface="Calibri" pitchFamily="34" charset="0"/>
                <a:ea typeface="Calibri" pitchFamily="34" charset="-122"/>
                <a:cs typeface="Calibri" pitchFamily="34" charset="-120"/>
              </a:rPr>
              <a:t>Scope, PRD, MVP</a:t>
            </a:r>
            <a:endParaRPr lang="en-US" sz="1000" dirty="0"/>
          </a:p>
        </p:txBody>
      </p:sp>
      <p:sp>
        <p:nvSpPr>
          <p:cNvPr id="25" name="Shape 23"/>
          <p:cNvSpPr/>
          <p:nvPr/>
        </p:nvSpPr>
        <p:spPr>
          <a:xfrm>
            <a:off x="5669280" y="2633472"/>
            <a:ext cx="2240280" cy="411480"/>
          </a:xfrm>
          <a:prstGeom prst="rect">
            <a:avLst/>
          </a:prstGeom>
          <a:solidFill>
            <a:srgbClr val="1C2128"/>
          </a:solidFill>
          <a:ln w="6350">
            <a:solidFill>
              <a:srgbClr val="30363D"/>
            </a:solidFill>
            <a:prstDash val="solid"/>
          </a:ln>
        </p:spPr>
        <p:txBody>
          <a:bodyPr/>
          <a:lstStyle/>
          <a:p>
            <a:endParaRPr/>
          </a:p>
        </p:txBody>
      </p:sp>
      <p:sp>
        <p:nvSpPr>
          <p:cNvPr id="26" name="Text 24"/>
          <p:cNvSpPr/>
          <p:nvPr/>
        </p:nvSpPr>
        <p:spPr>
          <a:xfrm>
            <a:off x="5760720" y="2633472"/>
            <a:ext cx="2103120" cy="411480"/>
          </a:xfrm>
          <a:prstGeom prst="rect">
            <a:avLst/>
          </a:prstGeom>
          <a:noFill/>
          <a:ln/>
        </p:spPr>
        <p:txBody>
          <a:bodyPr wrap="square" lIns="0" tIns="0" rIns="0" bIns="0" rtlCol="0" anchor="ctr"/>
          <a:lstStyle/>
          <a:p>
            <a:pPr marL="0" indent="0">
              <a:buNone/>
            </a:pPr>
            <a:r>
              <a:rPr lang="en-US" sz="1000" dirty="0">
                <a:solidFill>
                  <a:srgbClr val="79C0FF"/>
                </a:solidFill>
                <a:latin typeface="Consolas" pitchFamily="34" charset="0"/>
                <a:ea typeface="Consolas" pitchFamily="34" charset="-122"/>
                <a:cs typeface="Consolas" pitchFamily="34" charset="-120"/>
              </a:rPr>
              <a:t>deepseek-v4-flash</a:t>
            </a:r>
            <a:endParaRPr lang="en-US" sz="1000" dirty="0"/>
          </a:p>
        </p:txBody>
      </p:sp>
      <p:sp>
        <p:nvSpPr>
          <p:cNvPr id="27" name="Shape 25"/>
          <p:cNvSpPr/>
          <p:nvPr/>
        </p:nvSpPr>
        <p:spPr>
          <a:xfrm>
            <a:off x="7955280" y="2633472"/>
            <a:ext cx="4160520" cy="411480"/>
          </a:xfrm>
          <a:prstGeom prst="rect">
            <a:avLst/>
          </a:prstGeom>
          <a:solidFill>
            <a:srgbClr val="1C2128"/>
          </a:solidFill>
          <a:ln w="6350">
            <a:solidFill>
              <a:srgbClr val="30363D"/>
            </a:solidFill>
            <a:prstDash val="solid"/>
          </a:ln>
        </p:spPr>
        <p:txBody>
          <a:bodyPr/>
          <a:lstStyle/>
          <a:p>
            <a:endParaRPr/>
          </a:p>
        </p:txBody>
      </p:sp>
      <p:sp>
        <p:nvSpPr>
          <p:cNvPr id="28" name="Text 26"/>
          <p:cNvSpPr/>
          <p:nvPr/>
        </p:nvSpPr>
        <p:spPr>
          <a:xfrm>
            <a:off x="8046720" y="2633472"/>
            <a:ext cx="4023360" cy="411480"/>
          </a:xfrm>
          <a:prstGeom prst="rect">
            <a:avLst/>
          </a:prstGeom>
          <a:noFill/>
          <a:ln/>
        </p:spPr>
        <p:txBody>
          <a:bodyPr wrap="square" lIns="0" tIns="0" rIns="0" bIns="0" rtlCol="0" anchor="ctr"/>
          <a:lstStyle/>
          <a:p>
            <a:pPr marL="0" indent="0">
              <a:buNone/>
            </a:pPr>
            <a:r>
              <a:rPr lang="en-US" sz="1000" dirty="0">
                <a:solidFill>
                  <a:srgbClr val="E6EDF3"/>
                </a:solidFill>
                <a:latin typeface="Calibri" pitchFamily="34" charset="0"/>
                <a:ea typeface="Calibri" pitchFamily="34" charset="-122"/>
                <a:cs typeface="Calibri" pitchFamily="34" charset="-120"/>
              </a:rPr>
              <a:t>docs/product/PRD,ROADMAP, planning/BACKLOG</a:t>
            </a:r>
            <a:endParaRPr lang="en-US" sz="1000" dirty="0"/>
          </a:p>
        </p:txBody>
      </p:sp>
      <p:sp>
        <p:nvSpPr>
          <p:cNvPr id="29" name="Shape 27"/>
          <p:cNvSpPr/>
          <p:nvPr/>
        </p:nvSpPr>
        <p:spPr>
          <a:xfrm>
            <a:off x="365760" y="3072384"/>
            <a:ext cx="1874520" cy="411480"/>
          </a:xfrm>
          <a:prstGeom prst="rect">
            <a:avLst/>
          </a:prstGeom>
          <a:solidFill>
            <a:srgbClr val="161B22"/>
          </a:solidFill>
          <a:ln w="6350">
            <a:solidFill>
              <a:srgbClr val="30363D"/>
            </a:solidFill>
            <a:prstDash val="solid"/>
          </a:ln>
        </p:spPr>
        <p:txBody>
          <a:bodyPr/>
          <a:lstStyle/>
          <a:p>
            <a:endParaRPr/>
          </a:p>
        </p:txBody>
      </p:sp>
      <p:sp>
        <p:nvSpPr>
          <p:cNvPr id="30" name="Text 28"/>
          <p:cNvSpPr/>
          <p:nvPr/>
        </p:nvSpPr>
        <p:spPr>
          <a:xfrm>
            <a:off x="457200" y="3072384"/>
            <a:ext cx="1737360" cy="411480"/>
          </a:xfrm>
          <a:prstGeom prst="rect">
            <a:avLst/>
          </a:prstGeom>
          <a:noFill/>
          <a:ln/>
        </p:spPr>
        <p:txBody>
          <a:bodyPr wrap="square" lIns="0" tIns="0" rIns="0" bIns="0" rtlCol="0" anchor="ctr"/>
          <a:lstStyle/>
          <a:p>
            <a:pPr marL="0" indent="0">
              <a:buNone/>
            </a:pPr>
            <a:r>
              <a:rPr lang="en-US" sz="1000" b="1" dirty="0">
                <a:solidFill>
                  <a:srgbClr val="7CE38B"/>
                </a:solidFill>
                <a:latin typeface="Calibri" pitchFamily="34" charset="0"/>
                <a:ea typeface="Calibri" pitchFamily="34" charset="-122"/>
                <a:cs typeface="Calibri" pitchFamily="34" charset="-120"/>
              </a:rPr>
              <a:t>SA</a:t>
            </a:r>
            <a:endParaRPr lang="en-US" sz="1000" dirty="0"/>
          </a:p>
        </p:txBody>
      </p:sp>
      <p:sp>
        <p:nvSpPr>
          <p:cNvPr id="31" name="Shape 29"/>
          <p:cNvSpPr/>
          <p:nvPr/>
        </p:nvSpPr>
        <p:spPr>
          <a:xfrm>
            <a:off x="2286000" y="3072384"/>
            <a:ext cx="3337560" cy="411480"/>
          </a:xfrm>
          <a:prstGeom prst="rect">
            <a:avLst/>
          </a:prstGeom>
          <a:solidFill>
            <a:srgbClr val="161B22"/>
          </a:solidFill>
          <a:ln w="6350">
            <a:solidFill>
              <a:srgbClr val="30363D"/>
            </a:solidFill>
            <a:prstDash val="solid"/>
          </a:ln>
        </p:spPr>
        <p:txBody>
          <a:bodyPr/>
          <a:lstStyle/>
          <a:p>
            <a:endParaRPr/>
          </a:p>
        </p:txBody>
      </p:sp>
      <p:sp>
        <p:nvSpPr>
          <p:cNvPr id="32" name="Text 30"/>
          <p:cNvSpPr/>
          <p:nvPr/>
        </p:nvSpPr>
        <p:spPr>
          <a:xfrm>
            <a:off x="2377440" y="3072384"/>
            <a:ext cx="3200400" cy="411480"/>
          </a:xfrm>
          <a:prstGeom prst="rect">
            <a:avLst/>
          </a:prstGeom>
          <a:noFill/>
          <a:ln/>
        </p:spPr>
        <p:txBody>
          <a:bodyPr wrap="square" lIns="0" tIns="0" rIns="0" bIns="0" rtlCol="0" anchor="ctr"/>
          <a:lstStyle/>
          <a:p>
            <a:pPr marL="0" indent="0">
              <a:buNone/>
            </a:pPr>
            <a:r>
              <a:rPr lang="en-US" sz="1000" dirty="0">
                <a:solidFill>
                  <a:srgbClr val="E6EDF3"/>
                </a:solidFill>
                <a:latin typeface="Calibri" pitchFamily="34" charset="0"/>
                <a:ea typeface="Calibri" pitchFamily="34" charset="-122"/>
                <a:cs typeface="Calibri" pitchFamily="34" charset="-120"/>
              </a:rPr>
              <a:t>Architecture, stack</a:t>
            </a:r>
            <a:endParaRPr lang="en-US" sz="1000" dirty="0"/>
          </a:p>
        </p:txBody>
      </p:sp>
      <p:sp>
        <p:nvSpPr>
          <p:cNvPr id="33" name="Shape 31"/>
          <p:cNvSpPr/>
          <p:nvPr/>
        </p:nvSpPr>
        <p:spPr>
          <a:xfrm>
            <a:off x="5669280" y="3072384"/>
            <a:ext cx="2240280" cy="411480"/>
          </a:xfrm>
          <a:prstGeom prst="rect">
            <a:avLst/>
          </a:prstGeom>
          <a:solidFill>
            <a:srgbClr val="161B22"/>
          </a:solidFill>
          <a:ln w="6350">
            <a:solidFill>
              <a:srgbClr val="30363D"/>
            </a:solidFill>
            <a:prstDash val="solid"/>
          </a:ln>
        </p:spPr>
        <p:txBody>
          <a:bodyPr/>
          <a:lstStyle/>
          <a:p>
            <a:endParaRPr/>
          </a:p>
        </p:txBody>
      </p:sp>
      <p:sp>
        <p:nvSpPr>
          <p:cNvPr id="34" name="Text 32"/>
          <p:cNvSpPr/>
          <p:nvPr/>
        </p:nvSpPr>
        <p:spPr>
          <a:xfrm>
            <a:off x="5760720" y="3072384"/>
            <a:ext cx="2103120" cy="411480"/>
          </a:xfrm>
          <a:prstGeom prst="rect">
            <a:avLst/>
          </a:prstGeom>
          <a:noFill/>
          <a:ln/>
        </p:spPr>
        <p:txBody>
          <a:bodyPr wrap="square" lIns="0" tIns="0" rIns="0" bIns="0" rtlCol="0" anchor="ctr"/>
          <a:lstStyle/>
          <a:p>
            <a:pPr marL="0" indent="0">
              <a:buNone/>
            </a:pPr>
            <a:r>
              <a:rPr lang="en-US" sz="1000" dirty="0">
                <a:solidFill>
                  <a:srgbClr val="79C0FF"/>
                </a:solidFill>
                <a:latin typeface="Consolas" pitchFamily="34" charset="0"/>
                <a:ea typeface="Consolas" pitchFamily="34" charset="-122"/>
                <a:cs typeface="Consolas" pitchFamily="34" charset="-120"/>
              </a:rPr>
              <a:t>deepseek-v4-pro</a:t>
            </a:r>
            <a:endParaRPr lang="en-US" sz="1000" dirty="0"/>
          </a:p>
        </p:txBody>
      </p:sp>
      <p:sp>
        <p:nvSpPr>
          <p:cNvPr id="35" name="Shape 33"/>
          <p:cNvSpPr/>
          <p:nvPr/>
        </p:nvSpPr>
        <p:spPr>
          <a:xfrm>
            <a:off x="7955280" y="3072384"/>
            <a:ext cx="4160520" cy="411480"/>
          </a:xfrm>
          <a:prstGeom prst="rect">
            <a:avLst/>
          </a:prstGeom>
          <a:solidFill>
            <a:srgbClr val="161B22"/>
          </a:solidFill>
          <a:ln w="6350">
            <a:solidFill>
              <a:srgbClr val="30363D"/>
            </a:solidFill>
            <a:prstDash val="solid"/>
          </a:ln>
        </p:spPr>
        <p:txBody>
          <a:bodyPr/>
          <a:lstStyle/>
          <a:p>
            <a:endParaRPr/>
          </a:p>
        </p:txBody>
      </p:sp>
      <p:sp>
        <p:nvSpPr>
          <p:cNvPr id="36" name="Text 34"/>
          <p:cNvSpPr/>
          <p:nvPr/>
        </p:nvSpPr>
        <p:spPr>
          <a:xfrm>
            <a:off x="8046720" y="3072384"/>
            <a:ext cx="4023360" cy="411480"/>
          </a:xfrm>
          <a:prstGeom prst="rect">
            <a:avLst/>
          </a:prstGeom>
          <a:noFill/>
          <a:ln/>
        </p:spPr>
        <p:txBody>
          <a:bodyPr wrap="square" lIns="0" tIns="0" rIns="0" bIns="0" rtlCol="0" anchor="ctr"/>
          <a:lstStyle/>
          <a:p>
            <a:pPr marL="0" indent="0">
              <a:buNone/>
            </a:pPr>
            <a:r>
              <a:rPr lang="en-US" sz="1000" dirty="0">
                <a:solidFill>
                  <a:srgbClr val="E6EDF3"/>
                </a:solidFill>
                <a:latin typeface="Calibri" pitchFamily="34" charset="0"/>
                <a:ea typeface="Calibri" pitchFamily="34" charset="-122"/>
                <a:cs typeface="Calibri" pitchFamily="34" charset="-120"/>
              </a:rPr>
              <a:t>docs/architecture/*</a:t>
            </a:r>
            <a:endParaRPr lang="en-US" sz="1000" dirty="0"/>
          </a:p>
        </p:txBody>
      </p:sp>
      <p:sp>
        <p:nvSpPr>
          <p:cNvPr id="37" name="Shape 35"/>
          <p:cNvSpPr/>
          <p:nvPr/>
        </p:nvSpPr>
        <p:spPr>
          <a:xfrm>
            <a:off x="365760" y="3511296"/>
            <a:ext cx="1874520" cy="411480"/>
          </a:xfrm>
          <a:prstGeom prst="rect">
            <a:avLst/>
          </a:prstGeom>
          <a:solidFill>
            <a:srgbClr val="1C2128"/>
          </a:solidFill>
          <a:ln w="6350">
            <a:solidFill>
              <a:srgbClr val="30363D"/>
            </a:solidFill>
            <a:prstDash val="solid"/>
          </a:ln>
        </p:spPr>
        <p:txBody>
          <a:bodyPr/>
          <a:lstStyle/>
          <a:p>
            <a:endParaRPr/>
          </a:p>
        </p:txBody>
      </p:sp>
      <p:sp>
        <p:nvSpPr>
          <p:cNvPr id="38" name="Text 36"/>
          <p:cNvSpPr/>
          <p:nvPr/>
        </p:nvSpPr>
        <p:spPr>
          <a:xfrm>
            <a:off x="457200" y="3511296"/>
            <a:ext cx="1737360" cy="411480"/>
          </a:xfrm>
          <a:prstGeom prst="rect">
            <a:avLst/>
          </a:prstGeom>
          <a:noFill/>
          <a:ln/>
        </p:spPr>
        <p:txBody>
          <a:bodyPr wrap="square" lIns="0" tIns="0" rIns="0" bIns="0" rtlCol="0" anchor="ctr"/>
          <a:lstStyle/>
          <a:p>
            <a:pPr marL="0" indent="0">
              <a:buNone/>
            </a:pPr>
            <a:r>
              <a:rPr lang="en-US" sz="1000" b="1" dirty="0">
                <a:solidFill>
                  <a:srgbClr val="7CE38B"/>
                </a:solidFill>
                <a:latin typeface="Calibri" pitchFamily="34" charset="0"/>
                <a:ea typeface="Calibri" pitchFamily="34" charset="-122"/>
                <a:cs typeface="Calibri" pitchFamily="34" charset="-120"/>
              </a:rPr>
              <a:t>BA</a:t>
            </a:r>
            <a:endParaRPr lang="en-US" sz="1000" dirty="0"/>
          </a:p>
        </p:txBody>
      </p:sp>
      <p:sp>
        <p:nvSpPr>
          <p:cNvPr id="39" name="Shape 37"/>
          <p:cNvSpPr/>
          <p:nvPr/>
        </p:nvSpPr>
        <p:spPr>
          <a:xfrm>
            <a:off x="2286000" y="3511296"/>
            <a:ext cx="3337560" cy="411480"/>
          </a:xfrm>
          <a:prstGeom prst="rect">
            <a:avLst/>
          </a:prstGeom>
          <a:solidFill>
            <a:srgbClr val="1C2128"/>
          </a:solidFill>
          <a:ln w="6350">
            <a:solidFill>
              <a:srgbClr val="30363D"/>
            </a:solidFill>
            <a:prstDash val="solid"/>
          </a:ln>
        </p:spPr>
        <p:txBody>
          <a:bodyPr/>
          <a:lstStyle/>
          <a:p>
            <a:endParaRPr/>
          </a:p>
        </p:txBody>
      </p:sp>
      <p:sp>
        <p:nvSpPr>
          <p:cNvPr id="40" name="Text 38"/>
          <p:cNvSpPr/>
          <p:nvPr/>
        </p:nvSpPr>
        <p:spPr>
          <a:xfrm>
            <a:off x="2377440" y="3511296"/>
            <a:ext cx="3200400" cy="411480"/>
          </a:xfrm>
          <a:prstGeom prst="rect">
            <a:avLst/>
          </a:prstGeom>
          <a:noFill/>
          <a:ln/>
        </p:spPr>
        <p:txBody>
          <a:bodyPr wrap="square" lIns="0" tIns="0" rIns="0" bIns="0" rtlCol="0" anchor="ctr"/>
          <a:lstStyle/>
          <a:p>
            <a:pPr marL="0" indent="0">
              <a:buNone/>
            </a:pPr>
            <a:r>
              <a:rPr lang="en-US" sz="1000" dirty="0">
                <a:solidFill>
                  <a:srgbClr val="E6EDF3"/>
                </a:solidFill>
                <a:latin typeface="Calibri" pitchFamily="34" charset="0"/>
                <a:ea typeface="Calibri" pitchFamily="34" charset="-122"/>
                <a:cs typeface="Calibri" pitchFamily="34" charset="-120"/>
              </a:rPr>
              <a:t>Business rules, stories</a:t>
            </a:r>
            <a:endParaRPr lang="en-US" sz="1000" dirty="0"/>
          </a:p>
        </p:txBody>
      </p:sp>
      <p:sp>
        <p:nvSpPr>
          <p:cNvPr id="41" name="Shape 39"/>
          <p:cNvSpPr/>
          <p:nvPr/>
        </p:nvSpPr>
        <p:spPr>
          <a:xfrm>
            <a:off x="5669280" y="3511296"/>
            <a:ext cx="2240280" cy="411480"/>
          </a:xfrm>
          <a:prstGeom prst="rect">
            <a:avLst/>
          </a:prstGeom>
          <a:solidFill>
            <a:srgbClr val="1C2128"/>
          </a:solidFill>
          <a:ln w="6350">
            <a:solidFill>
              <a:srgbClr val="30363D"/>
            </a:solidFill>
            <a:prstDash val="solid"/>
          </a:ln>
        </p:spPr>
        <p:txBody>
          <a:bodyPr/>
          <a:lstStyle/>
          <a:p>
            <a:endParaRPr/>
          </a:p>
        </p:txBody>
      </p:sp>
      <p:sp>
        <p:nvSpPr>
          <p:cNvPr id="42" name="Text 40"/>
          <p:cNvSpPr/>
          <p:nvPr/>
        </p:nvSpPr>
        <p:spPr>
          <a:xfrm>
            <a:off x="5760720" y="3511296"/>
            <a:ext cx="2103120" cy="411480"/>
          </a:xfrm>
          <a:prstGeom prst="rect">
            <a:avLst/>
          </a:prstGeom>
          <a:noFill/>
          <a:ln/>
        </p:spPr>
        <p:txBody>
          <a:bodyPr wrap="square" lIns="0" tIns="0" rIns="0" bIns="0" rtlCol="0" anchor="ctr"/>
          <a:lstStyle/>
          <a:p>
            <a:pPr marL="0" indent="0">
              <a:buNone/>
            </a:pPr>
            <a:r>
              <a:rPr lang="en-US" sz="1000" dirty="0">
                <a:solidFill>
                  <a:srgbClr val="79C0FF"/>
                </a:solidFill>
                <a:latin typeface="Consolas" pitchFamily="34" charset="0"/>
                <a:ea typeface="Consolas" pitchFamily="34" charset="-122"/>
                <a:cs typeface="Consolas" pitchFamily="34" charset="-120"/>
              </a:rPr>
              <a:t>qwen3.6-plus</a:t>
            </a:r>
            <a:endParaRPr lang="en-US" sz="1000" dirty="0"/>
          </a:p>
        </p:txBody>
      </p:sp>
      <p:sp>
        <p:nvSpPr>
          <p:cNvPr id="43" name="Shape 41"/>
          <p:cNvSpPr/>
          <p:nvPr/>
        </p:nvSpPr>
        <p:spPr>
          <a:xfrm>
            <a:off x="7955280" y="3511296"/>
            <a:ext cx="4160520" cy="411480"/>
          </a:xfrm>
          <a:prstGeom prst="rect">
            <a:avLst/>
          </a:prstGeom>
          <a:solidFill>
            <a:srgbClr val="1C2128"/>
          </a:solidFill>
          <a:ln w="6350">
            <a:solidFill>
              <a:srgbClr val="30363D"/>
            </a:solidFill>
            <a:prstDash val="solid"/>
          </a:ln>
        </p:spPr>
        <p:txBody>
          <a:bodyPr/>
          <a:lstStyle/>
          <a:p>
            <a:endParaRPr/>
          </a:p>
        </p:txBody>
      </p:sp>
      <p:sp>
        <p:nvSpPr>
          <p:cNvPr id="44" name="Text 42"/>
          <p:cNvSpPr/>
          <p:nvPr/>
        </p:nvSpPr>
        <p:spPr>
          <a:xfrm>
            <a:off x="8046720" y="3511296"/>
            <a:ext cx="4023360" cy="411480"/>
          </a:xfrm>
          <a:prstGeom prst="rect">
            <a:avLst/>
          </a:prstGeom>
          <a:noFill/>
          <a:ln/>
        </p:spPr>
        <p:txBody>
          <a:bodyPr wrap="square" lIns="0" tIns="0" rIns="0" bIns="0" rtlCol="0" anchor="ctr"/>
          <a:lstStyle/>
          <a:p>
            <a:pPr marL="0" indent="0">
              <a:buNone/>
            </a:pPr>
            <a:r>
              <a:rPr lang="en-US" sz="1000" dirty="0">
                <a:solidFill>
                  <a:srgbClr val="E6EDF3"/>
                </a:solidFill>
                <a:latin typeface="Calibri" pitchFamily="34" charset="0"/>
                <a:ea typeface="Calibri" pitchFamily="34" charset="-122"/>
                <a:cs typeface="Calibri" pitchFamily="34" charset="-120"/>
              </a:rPr>
              <a:t>docs/business/*</a:t>
            </a:r>
            <a:endParaRPr lang="en-US" sz="1000" dirty="0"/>
          </a:p>
        </p:txBody>
      </p:sp>
      <p:sp>
        <p:nvSpPr>
          <p:cNvPr id="45" name="Shape 43"/>
          <p:cNvSpPr/>
          <p:nvPr/>
        </p:nvSpPr>
        <p:spPr>
          <a:xfrm>
            <a:off x="365760" y="3950208"/>
            <a:ext cx="1874520" cy="411480"/>
          </a:xfrm>
          <a:prstGeom prst="rect">
            <a:avLst/>
          </a:prstGeom>
          <a:solidFill>
            <a:srgbClr val="161B22"/>
          </a:solidFill>
          <a:ln w="6350">
            <a:solidFill>
              <a:srgbClr val="30363D"/>
            </a:solidFill>
            <a:prstDash val="solid"/>
          </a:ln>
        </p:spPr>
        <p:txBody>
          <a:bodyPr/>
          <a:lstStyle/>
          <a:p>
            <a:endParaRPr/>
          </a:p>
        </p:txBody>
      </p:sp>
      <p:sp>
        <p:nvSpPr>
          <p:cNvPr id="46" name="Text 44"/>
          <p:cNvSpPr/>
          <p:nvPr/>
        </p:nvSpPr>
        <p:spPr>
          <a:xfrm>
            <a:off x="457200" y="3950208"/>
            <a:ext cx="1737360" cy="411480"/>
          </a:xfrm>
          <a:prstGeom prst="rect">
            <a:avLst/>
          </a:prstGeom>
          <a:noFill/>
          <a:ln/>
        </p:spPr>
        <p:txBody>
          <a:bodyPr wrap="square" lIns="0" tIns="0" rIns="0" bIns="0" rtlCol="0" anchor="ctr"/>
          <a:lstStyle/>
          <a:p>
            <a:pPr marL="0" indent="0">
              <a:buNone/>
            </a:pPr>
            <a:r>
              <a:rPr lang="en-US" sz="1000" b="1" dirty="0">
                <a:solidFill>
                  <a:srgbClr val="7CE38B"/>
                </a:solidFill>
                <a:latin typeface="Calibri" pitchFamily="34" charset="0"/>
                <a:ea typeface="Calibri" pitchFamily="34" charset="-122"/>
                <a:cs typeface="Calibri" pitchFamily="34" charset="-120"/>
              </a:rPr>
              <a:t>UX</a:t>
            </a:r>
            <a:endParaRPr lang="en-US" sz="1000" dirty="0"/>
          </a:p>
        </p:txBody>
      </p:sp>
      <p:sp>
        <p:nvSpPr>
          <p:cNvPr id="47" name="Shape 45"/>
          <p:cNvSpPr/>
          <p:nvPr/>
        </p:nvSpPr>
        <p:spPr>
          <a:xfrm>
            <a:off x="2286000" y="3950208"/>
            <a:ext cx="3337560" cy="411480"/>
          </a:xfrm>
          <a:prstGeom prst="rect">
            <a:avLst/>
          </a:prstGeom>
          <a:solidFill>
            <a:srgbClr val="161B22"/>
          </a:solidFill>
          <a:ln w="6350">
            <a:solidFill>
              <a:srgbClr val="30363D"/>
            </a:solidFill>
            <a:prstDash val="solid"/>
          </a:ln>
        </p:spPr>
        <p:txBody>
          <a:bodyPr/>
          <a:lstStyle/>
          <a:p>
            <a:endParaRPr/>
          </a:p>
        </p:txBody>
      </p:sp>
      <p:sp>
        <p:nvSpPr>
          <p:cNvPr id="48" name="Text 46"/>
          <p:cNvSpPr/>
          <p:nvPr/>
        </p:nvSpPr>
        <p:spPr>
          <a:xfrm>
            <a:off x="2377440" y="3950208"/>
            <a:ext cx="3200400" cy="411480"/>
          </a:xfrm>
          <a:prstGeom prst="rect">
            <a:avLst/>
          </a:prstGeom>
          <a:noFill/>
          <a:ln/>
        </p:spPr>
        <p:txBody>
          <a:bodyPr wrap="square" lIns="0" tIns="0" rIns="0" bIns="0" rtlCol="0" anchor="ctr"/>
          <a:lstStyle/>
          <a:p>
            <a:pPr marL="0" indent="0">
              <a:buNone/>
            </a:pPr>
            <a:r>
              <a:rPr lang="en-US" sz="1000" dirty="0">
                <a:solidFill>
                  <a:srgbClr val="E6EDF3"/>
                </a:solidFill>
                <a:latin typeface="Calibri" pitchFamily="34" charset="0"/>
                <a:ea typeface="Calibri" pitchFamily="34" charset="-122"/>
                <a:cs typeface="Calibri" pitchFamily="34" charset="-120"/>
              </a:rPr>
              <a:t>User flow, wireframes</a:t>
            </a:r>
            <a:endParaRPr lang="en-US" sz="1000" dirty="0"/>
          </a:p>
        </p:txBody>
      </p:sp>
      <p:sp>
        <p:nvSpPr>
          <p:cNvPr id="49" name="Shape 47"/>
          <p:cNvSpPr/>
          <p:nvPr/>
        </p:nvSpPr>
        <p:spPr>
          <a:xfrm>
            <a:off x="5669280" y="3950208"/>
            <a:ext cx="2240280" cy="411480"/>
          </a:xfrm>
          <a:prstGeom prst="rect">
            <a:avLst/>
          </a:prstGeom>
          <a:solidFill>
            <a:srgbClr val="161B22"/>
          </a:solidFill>
          <a:ln w="6350">
            <a:solidFill>
              <a:srgbClr val="30363D"/>
            </a:solidFill>
            <a:prstDash val="solid"/>
          </a:ln>
        </p:spPr>
        <p:txBody>
          <a:bodyPr/>
          <a:lstStyle/>
          <a:p>
            <a:endParaRPr/>
          </a:p>
        </p:txBody>
      </p:sp>
      <p:sp>
        <p:nvSpPr>
          <p:cNvPr id="50" name="Text 48"/>
          <p:cNvSpPr/>
          <p:nvPr/>
        </p:nvSpPr>
        <p:spPr>
          <a:xfrm>
            <a:off x="5760720" y="3950208"/>
            <a:ext cx="2103120" cy="411480"/>
          </a:xfrm>
          <a:prstGeom prst="rect">
            <a:avLst/>
          </a:prstGeom>
          <a:noFill/>
          <a:ln/>
        </p:spPr>
        <p:txBody>
          <a:bodyPr wrap="square" lIns="0" tIns="0" rIns="0" bIns="0" rtlCol="0" anchor="ctr"/>
          <a:lstStyle/>
          <a:p>
            <a:pPr marL="0" indent="0">
              <a:buNone/>
            </a:pPr>
            <a:r>
              <a:rPr lang="en-US" sz="1000" dirty="0">
                <a:solidFill>
                  <a:srgbClr val="79C0FF"/>
                </a:solidFill>
                <a:latin typeface="Consolas" pitchFamily="34" charset="0"/>
                <a:ea typeface="Consolas" pitchFamily="34" charset="-122"/>
                <a:cs typeface="Consolas" pitchFamily="34" charset="-120"/>
              </a:rPr>
              <a:t>mimo-v2.5</a:t>
            </a:r>
            <a:endParaRPr lang="en-US" sz="1000" dirty="0"/>
          </a:p>
        </p:txBody>
      </p:sp>
      <p:sp>
        <p:nvSpPr>
          <p:cNvPr id="51" name="Shape 49"/>
          <p:cNvSpPr/>
          <p:nvPr/>
        </p:nvSpPr>
        <p:spPr>
          <a:xfrm>
            <a:off x="7955280" y="3950208"/>
            <a:ext cx="4160520" cy="411480"/>
          </a:xfrm>
          <a:prstGeom prst="rect">
            <a:avLst/>
          </a:prstGeom>
          <a:solidFill>
            <a:srgbClr val="161B22"/>
          </a:solidFill>
          <a:ln w="6350">
            <a:solidFill>
              <a:srgbClr val="30363D"/>
            </a:solidFill>
            <a:prstDash val="solid"/>
          </a:ln>
        </p:spPr>
        <p:txBody>
          <a:bodyPr/>
          <a:lstStyle/>
          <a:p>
            <a:endParaRPr/>
          </a:p>
        </p:txBody>
      </p:sp>
      <p:sp>
        <p:nvSpPr>
          <p:cNvPr id="52" name="Text 50"/>
          <p:cNvSpPr/>
          <p:nvPr/>
        </p:nvSpPr>
        <p:spPr>
          <a:xfrm>
            <a:off x="8046720" y="3950208"/>
            <a:ext cx="4023360" cy="411480"/>
          </a:xfrm>
          <a:prstGeom prst="rect">
            <a:avLst/>
          </a:prstGeom>
          <a:noFill/>
          <a:ln/>
        </p:spPr>
        <p:txBody>
          <a:bodyPr wrap="square" lIns="0" tIns="0" rIns="0" bIns="0" rtlCol="0" anchor="ctr"/>
          <a:lstStyle/>
          <a:p>
            <a:pPr marL="0" indent="0">
              <a:buNone/>
            </a:pPr>
            <a:r>
              <a:rPr lang="en-US" sz="1000" dirty="0">
                <a:solidFill>
                  <a:srgbClr val="E6EDF3"/>
                </a:solidFill>
                <a:latin typeface="Calibri" pitchFamily="34" charset="0"/>
                <a:ea typeface="Calibri" pitchFamily="34" charset="-122"/>
                <a:cs typeface="Calibri" pitchFamily="34" charset="-120"/>
              </a:rPr>
              <a:t>docs/product/UX_FLOW, WIREFRAMES</a:t>
            </a:r>
            <a:endParaRPr lang="en-US" sz="1000" dirty="0"/>
          </a:p>
        </p:txBody>
      </p:sp>
      <p:sp>
        <p:nvSpPr>
          <p:cNvPr id="53" name="Shape 51"/>
          <p:cNvSpPr/>
          <p:nvPr/>
        </p:nvSpPr>
        <p:spPr>
          <a:xfrm>
            <a:off x="365760" y="4389120"/>
            <a:ext cx="1874520" cy="411480"/>
          </a:xfrm>
          <a:prstGeom prst="rect">
            <a:avLst/>
          </a:prstGeom>
          <a:solidFill>
            <a:srgbClr val="1C2128"/>
          </a:solidFill>
          <a:ln w="6350">
            <a:solidFill>
              <a:srgbClr val="30363D"/>
            </a:solidFill>
            <a:prstDash val="solid"/>
          </a:ln>
        </p:spPr>
        <p:txBody>
          <a:bodyPr/>
          <a:lstStyle/>
          <a:p>
            <a:endParaRPr/>
          </a:p>
        </p:txBody>
      </p:sp>
      <p:sp>
        <p:nvSpPr>
          <p:cNvPr id="54" name="Text 52"/>
          <p:cNvSpPr/>
          <p:nvPr/>
        </p:nvSpPr>
        <p:spPr>
          <a:xfrm>
            <a:off x="457200" y="4389120"/>
            <a:ext cx="1737360" cy="411480"/>
          </a:xfrm>
          <a:prstGeom prst="rect">
            <a:avLst/>
          </a:prstGeom>
          <a:noFill/>
          <a:ln/>
        </p:spPr>
        <p:txBody>
          <a:bodyPr wrap="square" lIns="0" tIns="0" rIns="0" bIns="0" rtlCol="0" anchor="ctr"/>
          <a:lstStyle/>
          <a:p>
            <a:pPr marL="0" indent="0">
              <a:buNone/>
            </a:pPr>
            <a:r>
              <a:rPr lang="en-US" sz="1000" b="1" dirty="0">
                <a:solidFill>
                  <a:srgbClr val="7CE38B"/>
                </a:solidFill>
                <a:latin typeface="Calibri" pitchFamily="34" charset="0"/>
                <a:ea typeface="Calibri" pitchFamily="34" charset="-122"/>
                <a:cs typeface="Calibri" pitchFamily="34" charset="-120"/>
              </a:rPr>
              <a:t>BE</a:t>
            </a:r>
            <a:endParaRPr lang="en-US" sz="1000" dirty="0"/>
          </a:p>
        </p:txBody>
      </p:sp>
      <p:sp>
        <p:nvSpPr>
          <p:cNvPr id="55" name="Shape 53"/>
          <p:cNvSpPr/>
          <p:nvPr/>
        </p:nvSpPr>
        <p:spPr>
          <a:xfrm>
            <a:off x="2286000" y="4389120"/>
            <a:ext cx="3337560" cy="411480"/>
          </a:xfrm>
          <a:prstGeom prst="rect">
            <a:avLst/>
          </a:prstGeom>
          <a:solidFill>
            <a:srgbClr val="1C2128"/>
          </a:solidFill>
          <a:ln w="6350">
            <a:solidFill>
              <a:srgbClr val="30363D"/>
            </a:solidFill>
            <a:prstDash val="solid"/>
          </a:ln>
        </p:spPr>
        <p:txBody>
          <a:bodyPr/>
          <a:lstStyle/>
          <a:p>
            <a:endParaRPr/>
          </a:p>
        </p:txBody>
      </p:sp>
      <p:sp>
        <p:nvSpPr>
          <p:cNvPr id="56" name="Text 54"/>
          <p:cNvSpPr/>
          <p:nvPr/>
        </p:nvSpPr>
        <p:spPr>
          <a:xfrm>
            <a:off x="2377440" y="4389120"/>
            <a:ext cx="3200400" cy="411480"/>
          </a:xfrm>
          <a:prstGeom prst="rect">
            <a:avLst/>
          </a:prstGeom>
          <a:noFill/>
          <a:ln/>
        </p:spPr>
        <p:txBody>
          <a:bodyPr wrap="square" lIns="0" tIns="0" rIns="0" bIns="0" rtlCol="0" anchor="ctr"/>
          <a:lstStyle/>
          <a:p>
            <a:pPr marL="0" indent="0">
              <a:buNone/>
            </a:pPr>
            <a:r>
              <a:rPr lang="en-US" sz="1000" dirty="0">
                <a:solidFill>
                  <a:srgbClr val="E6EDF3"/>
                </a:solidFill>
                <a:latin typeface="Calibri" pitchFamily="34" charset="0"/>
                <a:ea typeface="Calibri" pitchFamily="34" charset="-122"/>
                <a:cs typeface="Calibri" pitchFamily="34" charset="-120"/>
              </a:rPr>
              <a:t>Backend code + tests</a:t>
            </a:r>
            <a:endParaRPr lang="en-US" sz="1000" dirty="0"/>
          </a:p>
        </p:txBody>
      </p:sp>
      <p:sp>
        <p:nvSpPr>
          <p:cNvPr id="57" name="Shape 55"/>
          <p:cNvSpPr/>
          <p:nvPr/>
        </p:nvSpPr>
        <p:spPr>
          <a:xfrm>
            <a:off x="5669280" y="4389120"/>
            <a:ext cx="2240280" cy="411480"/>
          </a:xfrm>
          <a:prstGeom prst="rect">
            <a:avLst/>
          </a:prstGeom>
          <a:solidFill>
            <a:srgbClr val="1C2128"/>
          </a:solidFill>
          <a:ln w="6350">
            <a:solidFill>
              <a:srgbClr val="30363D"/>
            </a:solidFill>
            <a:prstDash val="solid"/>
          </a:ln>
        </p:spPr>
        <p:txBody>
          <a:bodyPr/>
          <a:lstStyle/>
          <a:p>
            <a:endParaRPr/>
          </a:p>
        </p:txBody>
      </p:sp>
      <p:sp>
        <p:nvSpPr>
          <p:cNvPr id="58" name="Text 56"/>
          <p:cNvSpPr/>
          <p:nvPr/>
        </p:nvSpPr>
        <p:spPr>
          <a:xfrm>
            <a:off x="5760720" y="4389120"/>
            <a:ext cx="2103120" cy="411480"/>
          </a:xfrm>
          <a:prstGeom prst="rect">
            <a:avLst/>
          </a:prstGeom>
          <a:noFill/>
          <a:ln/>
        </p:spPr>
        <p:txBody>
          <a:bodyPr wrap="square" lIns="0" tIns="0" rIns="0" bIns="0" rtlCol="0" anchor="ctr"/>
          <a:lstStyle/>
          <a:p>
            <a:pPr marL="0" indent="0">
              <a:buNone/>
            </a:pPr>
            <a:r>
              <a:rPr lang="en-US" sz="1000" dirty="0">
                <a:solidFill>
                  <a:srgbClr val="79C0FF"/>
                </a:solidFill>
                <a:latin typeface="Consolas" pitchFamily="34" charset="0"/>
                <a:ea typeface="Consolas" pitchFamily="34" charset="-122"/>
                <a:cs typeface="Consolas" pitchFamily="34" charset="-120"/>
              </a:rPr>
              <a:t>deepseek-v4-pro</a:t>
            </a:r>
            <a:endParaRPr lang="en-US" sz="1000" dirty="0"/>
          </a:p>
        </p:txBody>
      </p:sp>
      <p:sp>
        <p:nvSpPr>
          <p:cNvPr id="59" name="Shape 57"/>
          <p:cNvSpPr/>
          <p:nvPr/>
        </p:nvSpPr>
        <p:spPr>
          <a:xfrm>
            <a:off x="7955280" y="4389120"/>
            <a:ext cx="4160520" cy="411480"/>
          </a:xfrm>
          <a:prstGeom prst="rect">
            <a:avLst/>
          </a:prstGeom>
          <a:solidFill>
            <a:srgbClr val="1C2128"/>
          </a:solidFill>
          <a:ln w="6350">
            <a:solidFill>
              <a:srgbClr val="30363D"/>
            </a:solidFill>
            <a:prstDash val="solid"/>
          </a:ln>
        </p:spPr>
        <p:txBody>
          <a:bodyPr/>
          <a:lstStyle/>
          <a:p>
            <a:endParaRPr/>
          </a:p>
        </p:txBody>
      </p:sp>
      <p:sp>
        <p:nvSpPr>
          <p:cNvPr id="60" name="Text 58"/>
          <p:cNvSpPr/>
          <p:nvPr/>
        </p:nvSpPr>
        <p:spPr>
          <a:xfrm>
            <a:off x="8046720" y="4389120"/>
            <a:ext cx="4023360" cy="411480"/>
          </a:xfrm>
          <a:prstGeom prst="rect">
            <a:avLst/>
          </a:prstGeom>
          <a:noFill/>
          <a:ln/>
        </p:spPr>
        <p:txBody>
          <a:bodyPr wrap="square" lIns="0" tIns="0" rIns="0" bIns="0" rtlCol="0" anchor="ctr"/>
          <a:lstStyle/>
          <a:p>
            <a:pPr marL="0" indent="0">
              <a:buNone/>
            </a:pPr>
            <a:r>
              <a:rPr lang="en-US" sz="1000" dirty="0">
                <a:solidFill>
                  <a:srgbClr val="E6EDF3"/>
                </a:solidFill>
                <a:latin typeface="Calibri" pitchFamily="34" charset="0"/>
                <a:ea typeface="Calibri" pitchFamily="34" charset="-122"/>
                <a:cs typeface="Calibri" pitchFamily="34" charset="-120"/>
              </a:rPr>
              <a:t>backend/*, planning/BE_PLAN</a:t>
            </a:r>
            <a:endParaRPr lang="en-US" sz="1000" dirty="0"/>
          </a:p>
        </p:txBody>
      </p:sp>
      <p:sp>
        <p:nvSpPr>
          <p:cNvPr id="61" name="Shape 59"/>
          <p:cNvSpPr/>
          <p:nvPr/>
        </p:nvSpPr>
        <p:spPr>
          <a:xfrm>
            <a:off x="365760" y="4828032"/>
            <a:ext cx="1874520" cy="411480"/>
          </a:xfrm>
          <a:prstGeom prst="rect">
            <a:avLst/>
          </a:prstGeom>
          <a:solidFill>
            <a:srgbClr val="161B22"/>
          </a:solidFill>
          <a:ln w="6350">
            <a:solidFill>
              <a:srgbClr val="30363D"/>
            </a:solidFill>
            <a:prstDash val="solid"/>
          </a:ln>
        </p:spPr>
        <p:txBody>
          <a:bodyPr/>
          <a:lstStyle/>
          <a:p>
            <a:endParaRPr/>
          </a:p>
        </p:txBody>
      </p:sp>
      <p:sp>
        <p:nvSpPr>
          <p:cNvPr id="62" name="Text 60"/>
          <p:cNvSpPr/>
          <p:nvPr/>
        </p:nvSpPr>
        <p:spPr>
          <a:xfrm>
            <a:off x="457200" y="4828032"/>
            <a:ext cx="1737360" cy="411480"/>
          </a:xfrm>
          <a:prstGeom prst="rect">
            <a:avLst/>
          </a:prstGeom>
          <a:noFill/>
          <a:ln/>
        </p:spPr>
        <p:txBody>
          <a:bodyPr wrap="square" lIns="0" tIns="0" rIns="0" bIns="0" rtlCol="0" anchor="ctr"/>
          <a:lstStyle/>
          <a:p>
            <a:pPr marL="0" indent="0">
              <a:buNone/>
            </a:pPr>
            <a:r>
              <a:rPr lang="en-US" sz="1000" b="1" dirty="0">
                <a:solidFill>
                  <a:srgbClr val="7CE38B"/>
                </a:solidFill>
                <a:latin typeface="Calibri" pitchFamily="34" charset="0"/>
                <a:ea typeface="Calibri" pitchFamily="34" charset="-122"/>
                <a:cs typeface="Calibri" pitchFamily="34" charset="-120"/>
              </a:rPr>
              <a:t>FE</a:t>
            </a:r>
            <a:endParaRPr lang="en-US" sz="1000" dirty="0"/>
          </a:p>
        </p:txBody>
      </p:sp>
      <p:sp>
        <p:nvSpPr>
          <p:cNvPr id="63" name="Shape 61"/>
          <p:cNvSpPr/>
          <p:nvPr/>
        </p:nvSpPr>
        <p:spPr>
          <a:xfrm>
            <a:off x="2286000" y="4828032"/>
            <a:ext cx="3337560" cy="411480"/>
          </a:xfrm>
          <a:prstGeom prst="rect">
            <a:avLst/>
          </a:prstGeom>
          <a:solidFill>
            <a:srgbClr val="161B22"/>
          </a:solidFill>
          <a:ln w="6350">
            <a:solidFill>
              <a:srgbClr val="30363D"/>
            </a:solidFill>
            <a:prstDash val="solid"/>
          </a:ln>
        </p:spPr>
        <p:txBody>
          <a:bodyPr/>
          <a:lstStyle/>
          <a:p>
            <a:endParaRPr/>
          </a:p>
        </p:txBody>
      </p:sp>
      <p:sp>
        <p:nvSpPr>
          <p:cNvPr id="64" name="Text 62"/>
          <p:cNvSpPr/>
          <p:nvPr/>
        </p:nvSpPr>
        <p:spPr>
          <a:xfrm>
            <a:off x="2377440" y="4828032"/>
            <a:ext cx="3200400" cy="411480"/>
          </a:xfrm>
          <a:prstGeom prst="rect">
            <a:avLst/>
          </a:prstGeom>
          <a:noFill/>
          <a:ln/>
        </p:spPr>
        <p:txBody>
          <a:bodyPr wrap="square" lIns="0" tIns="0" rIns="0" bIns="0" rtlCol="0" anchor="ctr"/>
          <a:lstStyle/>
          <a:p>
            <a:pPr marL="0" indent="0">
              <a:buNone/>
            </a:pPr>
            <a:r>
              <a:rPr lang="en-US" sz="1000" dirty="0">
                <a:solidFill>
                  <a:srgbClr val="E6EDF3"/>
                </a:solidFill>
                <a:latin typeface="Calibri" pitchFamily="34" charset="0"/>
                <a:ea typeface="Calibri" pitchFamily="34" charset="-122"/>
                <a:cs typeface="Calibri" pitchFamily="34" charset="-120"/>
              </a:rPr>
              <a:t>Frontend code + tests</a:t>
            </a:r>
            <a:endParaRPr lang="en-US" sz="1000" dirty="0"/>
          </a:p>
        </p:txBody>
      </p:sp>
      <p:sp>
        <p:nvSpPr>
          <p:cNvPr id="65" name="Shape 63"/>
          <p:cNvSpPr/>
          <p:nvPr/>
        </p:nvSpPr>
        <p:spPr>
          <a:xfrm>
            <a:off x="5669280" y="4828032"/>
            <a:ext cx="2240280" cy="411480"/>
          </a:xfrm>
          <a:prstGeom prst="rect">
            <a:avLst/>
          </a:prstGeom>
          <a:solidFill>
            <a:srgbClr val="161B22"/>
          </a:solidFill>
          <a:ln w="6350">
            <a:solidFill>
              <a:srgbClr val="30363D"/>
            </a:solidFill>
            <a:prstDash val="solid"/>
          </a:ln>
        </p:spPr>
        <p:txBody>
          <a:bodyPr/>
          <a:lstStyle/>
          <a:p>
            <a:endParaRPr/>
          </a:p>
        </p:txBody>
      </p:sp>
      <p:sp>
        <p:nvSpPr>
          <p:cNvPr id="66" name="Text 64"/>
          <p:cNvSpPr/>
          <p:nvPr/>
        </p:nvSpPr>
        <p:spPr>
          <a:xfrm>
            <a:off x="5760720" y="4828032"/>
            <a:ext cx="2103120" cy="411480"/>
          </a:xfrm>
          <a:prstGeom prst="rect">
            <a:avLst/>
          </a:prstGeom>
          <a:noFill/>
          <a:ln/>
        </p:spPr>
        <p:txBody>
          <a:bodyPr wrap="square" lIns="0" tIns="0" rIns="0" bIns="0" rtlCol="0" anchor="ctr"/>
          <a:lstStyle/>
          <a:p>
            <a:pPr marL="0" indent="0">
              <a:buNone/>
            </a:pPr>
            <a:r>
              <a:rPr lang="en-US" sz="1000" dirty="0">
                <a:solidFill>
                  <a:srgbClr val="79C0FF"/>
                </a:solidFill>
                <a:latin typeface="Consolas" pitchFamily="34" charset="0"/>
                <a:ea typeface="Consolas" pitchFamily="34" charset="-122"/>
                <a:cs typeface="Consolas" pitchFamily="34" charset="-120"/>
              </a:rPr>
              <a:t>kimi-k2.6</a:t>
            </a:r>
            <a:endParaRPr lang="en-US" sz="1000" dirty="0"/>
          </a:p>
        </p:txBody>
      </p:sp>
      <p:sp>
        <p:nvSpPr>
          <p:cNvPr id="67" name="Shape 65"/>
          <p:cNvSpPr/>
          <p:nvPr/>
        </p:nvSpPr>
        <p:spPr>
          <a:xfrm>
            <a:off x="7955280" y="4828032"/>
            <a:ext cx="4160520" cy="411480"/>
          </a:xfrm>
          <a:prstGeom prst="rect">
            <a:avLst/>
          </a:prstGeom>
          <a:solidFill>
            <a:srgbClr val="161B22"/>
          </a:solidFill>
          <a:ln w="6350">
            <a:solidFill>
              <a:srgbClr val="30363D"/>
            </a:solidFill>
            <a:prstDash val="solid"/>
          </a:ln>
        </p:spPr>
        <p:txBody>
          <a:bodyPr/>
          <a:lstStyle/>
          <a:p>
            <a:endParaRPr/>
          </a:p>
        </p:txBody>
      </p:sp>
      <p:sp>
        <p:nvSpPr>
          <p:cNvPr id="68" name="Text 66"/>
          <p:cNvSpPr/>
          <p:nvPr/>
        </p:nvSpPr>
        <p:spPr>
          <a:xfrm>
            <a:off x="8046720" y="4828032"/>
            <a:ext cx="4023360" cy="411480"/>
          </a:xfrm>
          <a:prstGeom prst="rect">
            <a:avLst/>
          </a:prstGeom>
          <a:noFill/>
          <a:ln/>
        </p:spPr>
        <p:txBody>
          <a:bodyPr wrap="square" lIns="0" tIns="0" rIns="0" bIns="0" rtlCol="0" anchor="ctr"/>
          <a:lstStyle/>
          <a:p>
            <a:pPr marL="0" indent="0">
              <a:buNone/>
            </a:pPr>
            <a:r>
              <a:rPr lang="en-US" sz="1000" dirty="0">
                <a:solidFill>
                  <a:srgbClr val="E6EDF3"/>
                </a:solidFill>
                <a:latin typeface="Calibri" pitchFamily="34" charset="0"/>
                <a:ea typeface="Calibri" pitchFamily="34" charset="-122"/>
                <a:cs typeface="Calibri" pitchFamily="34" charset="-120"/>
              </a:rPr>
              <a:t>frontend/*, planning/FE_PLAN</a:t>
            </a:r>
            <a:endParaRPr lang="en-US" sz="1000" dirty="0"/>
          </a:p>
        </p:txBody>
      </p:sp>
      <p:sp>
        <p:nvSpPr>
          <p:cNvPr id="69" name="Shape 67"/>
          <p:cNvSpPr/>
          <p:nvPr/>
        </p:nvSpPr>
        <p:spPr>
          <a:xfrm>
            <a:off x="365760" y="5266944"/>
            <a:ext cx="1874520" cy="411480"/>
          </a:xfrm>
          <a:prstGeom prst="rect">
            <a:avLst/>
          </a:prstGeom>
          <a:solidFill>
            <a:srgbClr val="1C2128"/>
          </a:solidFill>
          <a:ln w="6350">
            <a:solidFill>
              <a:srgbClr val="30363D"/>
            </a:solidFill>
            <a:prstDash val="solid"/>
          </a:ln>
        </p:spPr>
        <p:txBody>
          <a:bodyPr/>
          <a:lstStyle/>
          <a:p>
            <a:endParaRPr/>
          </a:p>
        </p:txBody>
      </p:sp>
      <p:sp>
        <p:nvSpPr>
          <p:cNvPr id="70" name="Text 68"/>
          <p:cNvSpPr/>
          <p:nvPr/>
        </p:nvSpPr>
        <p:spPr>
          <a:xfrm>
            <a:off x="457200" y="5266944"/>
            <a:ext cx="1737360" cy="411480"/>
          </a:xfrm>
          <a:prstGeom prst="rect">
            <a:avLst/>
          </a:prstGeom>
          <a:noFill/>
          <a:ln/>
        </p:spPr>
        <p:txBody>
          <a:bodyPr wrap="square" lIns="0" tIns="0" rIns="0" bIns="0" rtlCol="0" anchor="ctr"/>
          <a:lstStyle/>
          <a:p>
            <a:pPr marL="0" indent="0">
              <a:buNone/>
            </a:pPr>
            <a:r>
              <a:rPr lang="en-US" sz="1000" b="1" dirty="0">
                <a:solidFill>
                  <a:srgbClr val="7CE38B"/>
                </a:solidFill>
                <a:latin typeface="Calibri" pitchFamily="34" charset="0"/>
                <a:ea typeface="Calibri" pitchFamily="34" charset="-122"/>
                <a:cs typeface="Calibri" pitchFamily="34" charset="-120"/>
              </a:rPr>
              <a:t>QA</a:t>
            </a:r>
            <a:endParaRPr lang="en-US" sz="1000" dirty="0"/>
          </a:p>
        </p:txBody>
      </p:sp>
      <p:sp>
        <p:nvSpPr>
          <p:cNvPr id="71" name="Shape 69"/>
          <p:cNvSpPr/>
          <p:nvPr/>
        </p:nvSpPr>
        <p:spPr>
          <a:xfrm>
            <a:off x="2286000" y="5266944"/>
            <a:ext cx="3337560" cy="411480"/>
          </a:xfrm>
          <a:prstGeom prst="rect">
            <a:avLst/>
          </a:prstGeom>
          <a:solidFill>
            <a:srgbClr val="1C2128"/>
          </a:solidFill>
          <a:ln w="6350">
            <a:solidFill>
              <a:srgbClr val="30363D"/>
            </a:solidFill>
            <a:prstDash val="solid"/>
          </a:ln>
        </p:spPr>
        <p:txBody>
          <a:bodyPr/>
          <a:lstStyle/>
          <a:p>
            <a:endParaRPr/>
          </a:p>
        </p:txBody>
      </p:sp>
      <p:sp>
        <p:nvSpPr>
          <p:cNvPr id="72" name="Text 70"/>
          <p:cNvSpPr/>
          <p:nvPr/>
        </p:nvSpPr>
        <p:spPr>
          <a:xfrm>
            <a:off x="2377440" y="5266944"/>
            <a:ext cx="3200400" cy="411480"/>
          </a:xfrm>
          <a:prstGeom prst="rect">
            <a:avLst/>
          </a:prstGeom>
          <a:noFill/>
          <a:ln/>
        </p:spPr>
        <p:txBody>
          <a:bodyPr wrap="square" lIns="0" tIns="0" rIns="0" bIns="0" rtlCol="0" anchor="ctr"/>
          <a:lstStyle/>
          <a:p>
            <a:pPr marL="0" indent="0">
              <a:buNone/>
            </a:pPr>
            <a:r>
              <a:rPr lang="en-US" sz="1000" dirty="0">
                <a:solidFill>
                  <a:srgbClr val="E6EDF3"/>
                </a:solidFill>
                <a:latin typeface="Calibri" pitchFamily="34" charset="0"/>
                <a:ea typeface="Calibri" pitchFamily="34" charset="-122"/>
                <a:cs typeface="Calibri" pitchFamily="34" charset="-120"/>
              </a:rPr>
              <a:t>Test plan + verdict</a:t>
            </a:r>
            <a:endParaRPr lang="en-US" sz="1000" dirty="0"/>
          </a:p>
        </p:txBody>
      </p:sp>
      <p:sp>
        <p:nvSpPr>
          <p:cNvPr id="73" name="Shape 71"/>
          <p:cNvSpPr/>
          <p:nvPr/>
        </p:nvSpPr>
        <p:spPr>
          <a:xfrm>
            <a:off x="5669280" y="5266944"/>
            <a:ext cx="2240280" cy="411480"/>
          </a:xfrm>
          <a:prstGeom prst="rect">
            <a:avLst/>
          </a:prstGeom>
          <a:solidFill>
            <a:srgbClr val="1C2128"/>
          </a:solidFill>
          <a:ln w="6350">
            <a:solidFill>
              <a:srgbClr val="30363D"/>
            </a:solidFill>
            <a:prstDash val="solid"/>
          </a:ln>
        </p:spPr>
        <p:txBody>
          <a:bodyPr/>
          <a:lstStyle/>
          <a:p>
            <a:endParaRPr/>
          </a:p>
        </p:txBody>
      </p:sp>
      <p:sp>
        <p:nvSpPr>
          <p:cNvPr id="74" name="Text 72"/>
          <p:cNvSpPr/>
          <p:nvPr/>
        </p:nvSpPr>
        <p:spPr>
          <a:xfrm>
            <a:off x="5760720" y="5266944"/>
            <a:ext cx="2103120" cy="411480"/>
          </a:xfrm>
          <a:prstGeom prst="rect">
            <a:avLst/>
          </a:prstGeom>
          <a:noFill/>
          <a:ln/>
        </p:spPr>
        <p:txBody>
          <a:bodyPr wrap="square" lIns="0" tIns="0" rIns="0" bIns="0" rtlCol="0" anchor="ctr"/>
          <a:lstStyle/>
          <a:p>
            <a:pPr marL="0" indent="0">
              <a:buNone/>
            </a:pPr>
            <a:r>
              <a:rPr lang="en-US" sz="1000" dirty="0">
                <a:solidFill>
                  <a:srgbClr val="79C0FF"/>
                </a:solidFill>
                <a:latin typeface="Consolas" pitchFamily="34" charset="0"/>
                <a:ea typeface="Consolas" pitchFamily="34" charset="-122"/>
                <a:cs typeface="Consolas" pitchFamily="34" charset="-120"/>
              </a:rPr>
              <a:t>qwen3.5-plus</a:t>
            </a:r>
            <a:endParaRPr lang="en-US" sz="1000" dirty="0"/>
          </a:p>
        </p:txBody>
      </p:sp>
      <p:sp>
        <p:nvSpPr>
          <p:cNvPr id="75" name="Shape 73"/>
          <p:cNvSpPr/>
          <p:nvPr/>
        </p:nvSpPr>
        <p:spPr>
          <a:xfrm>
            <a:off x="7955280" y="5266944"/>
            <a:ext cx="4160520" cy="411480"/>
          </a:xfrm>
          <a:prstGeom prst="rect">
            <a:avLst/>
          </a:prstGeom>
          <a:solidFill>
            <a:srgbClr val="1C2128"/>
          </a:solidFill>
          <a:ln w="6350">
            <a:solidFill>
              <a:srgbClr val="30363D"/>
            </a:solidFill>
            <a:prstDash val="solid"/>
          </a:ln>
        </p:spPr>
        <p:txBody>
          <a:bodyPr/>
          <a:lstStyle/>
          <a:p>
            <a:endParaRPr/>
          </a:p>
        </p:txBody>
      </p:sp>
      <p:sp>
        <p:nvSpPr>
          <p:cNvPr id="76" name="Text 74"/>
          <p:cNvSpPr/>
          <p:nvPr/>
        </p:nvSpPr>
        <p:spPr>
          <a:xfrm>
            <a:off x="8046720" y="5266944"/>
            <a:ext cx="4023360" cy="411480"/>
          </a:xfrm>
          <a:prstGeom prst="rect">
            <a:avLst/>
          </a:prstGeom>
          <a:noFill/>
          <a:ln/>
        </p:spPr>
        <p:txBody>
          <a:bodyPr wrap="square" lIns="0" tIns="0" rIns="0" bIns="0" rtlCol="0" anchor="ctr"/>
          <a:lstStyle/>
          <a:p>
            <a:pPr marL="0" indent="0">
              <a:buNone/>
            </a:pPr>
            <a:r>
              <a:rPr lang="en-US" sz="1000" dirty="0">
                <a:solidFill>
                  <a:srgbClr val="E6EDF3"/>
                </a:solidFill>
                <a:latin typeface="Calibri" pitchFamily="34" charset="0"/>
                <a:ea typeface="Calibri" pitchFamily="34" charset="-122"/>
                <a:cs typeface="Calibri" pitchFamily="34" charset="-120"/>
              </a:rPr>
              <a:t>docs/qa/*, reports/*</a:t>
            </a:r>
            <a:endParaRPr lang="en-US" sz="1000" dirty="0"/>
          </a:p>
        </p:txBody>
      </p:sp>
      <p:sp>
        <p:nvSpPr>
          <p:cNvPr id="77" name="Shape 75"/>
          <p:cNvSpPr/>
          <p:nvPr/>
        </p:nvSpPr>
        <p:spPr>
          <a:xfrm>
            <a:off x="365760" y="5705856"/>
            <a:ext cx="1874520" cy="411480"/>
          </a:xfrm>
          <a:prstGeom prst="rect">
            <a:avLst/>
          </a:prstGeom>
          <a:solidFill>
            <a:srgbClr val="161B22"/>
          </a:solidFill>
          <a:ln w="6350">
            <a:solidFill>
              <a:srgbClr val="30363D"/>
            </a:solidFill>
            <a:prstDash val="solid"/>
          </a:ln>
        </p:spPr>
        <p:txBody>
          <a:bodyPr/>
          <a:lstStyle/>
          <a:p>
            <a:endParaRPr/>
          </a:p>
        </p:txBody>
      </p:sp>
      <p:sp>
        <p:nvSpPr>
          <p:cNvPr id="78" name="Text 76"/>
          <p:cNvSpPr/>
          <p:nvPr/>
        </p:nvSpPr>
        <p:spPr>
          <a:xfrm>
            <a:off x="457200" y="5705856"/>
            <a:ext cx="1737360" cy="411480"/>
          </a:xfrm>
          <a:prstGeom prst="rect">
            <a:avLst/>
          </a:prstGeom>
          <a:noFill/>
          <a:ln/>
        </p:spPr>
        <p:txBody>
          <a:bodyPr wrap="square" lIns="0" tIns="0" rIns="0" bIns="0" rtlCol="0" anchor="ctr"/>
          <a:lstStyle/>
          <a:p>
            <a:pPr marL="0" indent="0">
              <a:buNone/>
            </a:pPr>
            <a:r>
              <a:rPr lang="en-US" sz="1000" b="1" dirty="0">
                <a:solidFill>
                  <a:srgbClr val="7CE38B"/>
                </a:solidFill>
                <a:latin typeface="Calibri" pitchFamily="34" charset="0"/>
                <a:ea typeface="Calibri" pitchFamily="34" charset="-122"/>
                <a:cs typeface="Calibri" pitchFamily="34" charset="-120"/>
              </a:rPr>
              <a:t>DELIVERY</a:t>
            </a:r>
            <a:endParaRPr lang="en-US" sz="1000" dirty="0"/>
          </a:p>
        </p:txBody>
      </p:sp>
      <p:sp>
        <p:nvSpPr>
          <p:cNvPr id="79" name="Shape 77"/>
          <p:cNvSpPr/>
          <p:nvPr/>
        </p:nvSpPr>
        <p:spPr>
          <a:xfrm>
            <a:off x="2286000" y="5705856"/>
            <a:ext cx="3337560" cy="411480"/>
          </a:xfrm>
          <a:prstGeom prst="rect">
            <a:avLst/>
          </a:prstGeom>
          <a:solidFill>
            <a:srgbClr val="161B22"/>
          </a:solidFill>
          <a:ln w="6350">
            <a:solidFill>
              <a:srgbClr val="30363D"/>
            </a:solidFill>
            <a:prstDash val="solid"/>
          </a:ln>
        </p:spPr>
        <p:txBody>
          <a:bodyPr/>
          <a:lstStyle/>
          <a:p>
            <a:endParaRPr/>
          </a:p>
        </p:txBody>
      </p:sp>
      <p:sp>
        <p:nvSpPr>
          <p:cNvPr id="80" name="Text 78"/>
          <p:cNvSpPr/>
          <p:nvPr/>
        </p:nvSpPr>
        <p:spPr>
          <a:xfrm>
            <a:off x="2377440" y="5705856"/>
            <a:ext cx="3200400" cy="411480"/>
          </a:xfrm>
          <a:prstGeom prst="rect">
            <a:avLst/>
          </a:prstGeom>
          <a:noFill/>
          <a:ln/>
        </p:spPr>
        <p:txBody>
          <a:bodyPr wrap="square" lIns="0" tIns="0" rIns="0" bIns="0" rtlCol="0" anchor="ctr"/>
          <a:lstStyle/>
          <a:p>
            <a:pPr marL="0" indent="0">
              <a:buNone/>
            </a:pPr>
            <a:r>
              <a:rPr lang="en-US" sz="1000" dirty="0">
                <a:solidFill>
                  <a:srgbClr val="E6EDF3"/>
                </a:solidFill>
                <a:latin typeface="Calibri" pitchFamily="34" charset="0"/>
                <a:ea typeface="Calibri" pitchFamily="34" charset="-122"/>
                <a:cs typeface="Calibri" pitchFamily="34" charset="-120"/>
              </a:rPr>
              <a:t>Docker, deploy, URL</a:t>
            </a:r>
            <a:endParaRPr lang="en-US" sz="1000" dirty="0"/>
          </a:p>
        </p:txBody>
      </p:sp>
      <p:sp>
        <p:nvSpPr>
          <p:cNvPr id="81" name="Shape 79"/>
          <p:cNvSpPr/>
          <p:nvPr/>
        </p:nvSpPr>
        <p:spPr>
          <a:xfrm>
            <a:off x="5669280" y="5705856"/>
            <a:ext cx="2240280" cy="411480"/>
          </a:xfrm>
          <a:prstGeom prst="rect">
            <a:avLst/>
          </a:prstGeom>
          <a:solidFill>
            <a:srgbClr val="161B22"/>
          </a:solidFill>
          <a:ln w="6350">
            <a:solidFill>
              <a:srgbClr val="30363D"/>
            </a:solidFill>
            <a:prstDash val="solid"/>
          </a:ln>
        </p:spPr>
        <p:txBody>
          <a:bodyPr/>
          <a:lstStyle/>
          <a:p>
            <a:endParaRPr/>
          </a:p>
        </p:txBody>
      </p:sp>
      <p:sp>
        <p:nvSpPr>
          <p:cNvPr id="82" name="Text 80"/>
          <p:cNvSpPr/>
          <p:nvPr/>
        </p:nvSpPr>
        <p:spPr>
          <a:xfrm>
            <a:off x="5760720" y="5705856"/>
            <a:ext cx="2103120" cy="411480"/>
          </a:xfrm>
          <a:prstGeom prst="rect">
            <a:avLst/>
          </a:prstGeom>
          <a:noFill/>
          <a:ln/>
        </p:spPr>
        <p:txBody>
          <a:bodyPr wrap="square" lIns="0" tIns="0" rIns="0" bIns="0" rtlCol="0" anchor="ctr"/>
          <a:lstStyle/>
          <a:p>
            <a:pPr marL="0" indent="0">
              <a:buNone/>
            </a:pPr>
            <a:r>
              <a:rPr lang="en-US" sz="1000" dirty="0">
                <a:solidFill>
                  <a:srgbClr val="79C0FF"/>
                </a:solidFill>
                <a:latin typeface="Consolas" pitchFamily="34" charset="0"/>
                <a:ea typeface="Consolas" pitchFamily="34" charset="-122"/>
                <a:cs typeface="Consolas" pitchFamily="34" charset="-120"/>
              </a:rPr>
              <a:t>glm-5</a:t>
            </a:r>
            <a:endParaRPr lang="en-US" sz="1000" dirty="0"/>
          </a:p>
        </p:txBody>
      </p:sp>
      <p:sp>
        <p:nvSpPr>
          <p:cNvPr id="83" name="Shape 81"/>
          <p:cNvSpPr/>
          <p:nvPr/>
        </p:nvSpPr>
        <p:spPr>
          <a:xfrm>
            <a:off x="7955280" y="5705856"/>
            <a:ext cx="4160520" cy="411480"/>
          </a:xfrm>
          <a:prstGeom prst="rect">
            <a:avLst/>
          </a:prstGeom>
          <a:solidFill>
            <a:srgbClr val="161B22"/>
          </a:solidFill>
          <a:ln w="6350">
            <a:solidFill>
              <a:srgbClr val="30363D"/>
            </a:solidFill>
            <a:prstDash val="solid"/>
          </a:ln>
        </p:spPr>
        <p:txBody>
          <a:bodyPr/>
          <a:lstStyle/>
          <a:p>
            <a:endParaRPr/>
          </a:p>
        </p:txBody>
      </p:sp>
      <p:sp>
        <p:nvSpPr>
          <p:cNvPr id="84" name="Text 82"/>
          <p:cNvSpPr/>
          <p:nvPr/>
        </p:nvSpPr>
        <p:spPr>
          <a:xfrm>
            <a:off x="8046720" y="5705856"/>
            <a:ext cx="4023360" cy="411480"/>
          </a:xfrm>
          <a:prstGeom prst="rect">
            <a:avLst/>
          </a:prstGeom>
          <a:noFill/>
          <a:ln/>
        </p:spPr>
        <p:txBody>
          <a:bodyPr wrap="square" lIns="0" tIns="0" rIns="0" bIns="0" rtlCol="0" anchor="ctr"/>
          <a:lstStyle/>
          <a:p>
            <a:pPr marL="0" indent="0">
              <a:buNone/>
            </a:pPr>
            <a:r>
              <a:rPr lang="en-US" sz="1000" dirty="0">
                <a:solidFill>
                  <a:srgbClr val="E6EDF3"/>
                </a:solidFill>
                <a:latin typeface="Calibri" pitchFamily="34" charset="0"/>
                <a:ea typeface="Calibri" pitchFamily="34" charset="-122"/>
                <a:cs typeface="Calibri" pitchFamily="34" charset="-120"/>
              </a:rPr>
              <a:t>Dockerfile, compose, docs/delivery/*</a:t>
            </a:r>
            <a:endParaRPr lang="en-US" sz="1000" dirty="0"/>
          </a:p>
        </p:txBody>
      </p:sp>
      <p:sp>
        <p:nvSpPr>
          <p:cNvPr id="85" name="Text 83"/>
          <p:cNvSpPr/>
          <p:nvPr/>
        </p:nvSpPr>
        <p:spPr>
          <a:xfrm>
            <a:off x="11338560" y="6492240"/>
            <a:ext cx="731520" cy="228600"/>
          </a:xfrm>
          <a:prstGeom prst="rect">
            <a:avLst/>
          </a:prstGeom>
          <a:noFill/>
          <a:ln/>
        </p:spPr>
        <p:txBody>
          <a:bodyPr wrap="square" lIns="0" tIns="0" rIns="0" bIns="0" rtlCol="0" anchor="ctr"/>
          <a:lstStyle/>
          <a:p>
            <a:pPr marL="0" indent="0" algn="r">
              <a:buNone/>
            </a:pPr>
            <a:r>
              <a:rPr lang="en-US" sz="900" dirty="0">
                <a:solidFill>
                  <a:srgbClr val="8B949E"/>
                </a:solidFill>
                <a:latin typeface="Consolas" pitchFamily="34" charset="0"/>
                <a:ea typeface="Consolas" pitchFamily="34" charset="-122"/>
                <a:cs typeface="Consolas" pitchFamily="34" charset="-120"/>
              </a:rPr>
              <a:t>11 / 40</a:t>
            </a:r>
            <a:endParaRPr lang="en-US" sz="900" dirty="0"/>
          </a:p>
        </p:txBody>
      </p:sp>
      <p:sp>
        <p:nvSpPr>
          <p:cNvPr id="86" name="Text 84"/>
          <p:cNvSpPr/>
          <p:nvPr/>
        </p:nvSpPr>
        <p:spPr>
          <a:xfrm>
            <a:off x="365760" y="6492240"/>
            <a:ext cx="1097280" cy="228600"/>
          </a:xfrm>
          <a:prstGeom prst="rect">
            <a:avLst/>
          </a:prstGeom>
          <a:noFill/>
          <a:ln/>
        </p:spPr>
        <p:txBody>
          <a:bodyPr wrap="square" lIns="0" tIns="0" rIns="0" bIns="0" rtlCol="0" anchor="ctr"/>
          <a:lstStyle/>
          <a:p>
            <a:pPr marL="0" indent="0" algn="l">
              <a:buNone/>
            </a:pPr>
            <a:r>
              <a:rPr lang="en-US" sz="900" dirty="0">
                <a:solidFill>
                  <a:srgbClr val="8B949E"/>
                </a:solidFill>
                <a:latin typeface="Consolas" pitchFamily="34" charset="0"/>
                <a:ea typeface="Consolas" pitchFamily="34" charset="-122"/>
                <a:cs typeface="Consolas" pitchFamily="34" charset="-120"/>
              </a:rPr>
              <a:t>v10.23</a:t>
            </a:r>
            <a:endParaRPr lang="en-US" sz="900" dirty="0"/>
          </a:p>
        </p:txBody>
      </p:sp>
      <p:sp>
        <p:nvSpPr>
          <p:cNvPr id="87" name="Text 85"/>
          <p:cNvSpPr/>
          <p:nvPr/>
        </p:nvSpPr>
        <p:spPr>
          <a:xfrm>
            <a:off x="4572000" y="6492240"/>
            <a:ext cx="6400800" cy="228600"/>
          </a:xfrm>
          <a:prstGeom prst="rect">
            <a:avLst/>
          </a:prstGeom>
          <a:noFill/>
          <a:ln/>
        </p:spPr>
        <p:txBody>
          <a:bodyPr wrap="square" lIns="0" tIns="0" rIns="0" bIns="0" rtlCol="0" anchor="ctr"/>
          <a:lstStyle/>
          <a:p>
            <a:pPr marL="0" indent="0" algn="ctr">
              <a:buNone/>
            </a:pPr>
            <a:r>
              <a:rPr lang="en-US" sz="900" dirty="0">
                <a:solidFill>
                  <a:srgbClr val="8B949E"/>
                </a:solidFill>
                <a:latin typeface="Consolas" pitchFamily="34" charset="0"/>
                <a:ea typeface="Consolas" pitchFamily="34" charset="-122"/>
                <a:cs typeface="Consolas" pitchFamily="34" charset="-120"/>
              </a:rPr>
              <a:t>Product Engineering Agent Framework</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365760" y="228600"/>
            <a:ext cx="8229600" cy="274320"/>
          </a:xfrm>
          <a:prstGeom prst="rect">
            <a:avLst/>
          </a:prstGeom>
          <a:noFill/>
          <a:ln/>
        </p:spPr>
        <p:txBody>
          <a:bodyPr wrap="square" lIns="0" tIns="0" rIns="0" bIns="0" rtlCol="0" anchor="ctr"/>
          <a:lstStyle/>
          <a:p>
            <a:pPr marL="0" indent="0">
              <a:buNone/>
            </a:pPr>
            <a:r>
              <a:rPr lang="en-US" sz="1100" dirty="0">
                <a:solidFill>
                  <a:srgbClr val="2EA043"/>
                </a:solidFill>
                <a:latin typeface="Consolas" pitchFamily="34" charset="0"/>
                <a:ea typeface="Consolas" pitchFamily="34" charset="-122"/>
                <a:cs typeface="Consolas" pitchFamily="34" charset="-120"/>
              </a:rPr>
              <a:t>$ </a:t>
            </a:r>
            <a:r>
              <a:rPr lang="en-US" sz="1100" dirty="0">
                <a:solidFill>
                  <a:srgbClr val="8B949E"/>
                </a:solidFill>
                <a:latin typeface="Consolas" pitchFamily="34" charset="0"/>
                <a:ea typeface="Consolas" pitchFamily="34" charset="-122"/>
                <a:cs typeface="Consolas" pitchFamily="34" charset="-120"/>
              </a:rPr>
              <a:t>08_model_per_role.md</a:t>
            </a:r>
            <a:endParaRPr lang="en-US" sz="1100" dirty="0"/>
          </a:p>
        </p:txBody>
      </p:sp>
      <p:sp>
        <p:nvSpPr>
          <p:cNvPr id="3" name="Text 1"/>
          <p:cNvSpPr/>
          <p:nvPr/>
        </p:nvSpPr>
        <p:spPr>
          <a:xfrm>
            <a:off x="365760" y="548640"/>
            <a:ext cx="11430000" cy="640080"/>
          </a:xfrm>
          <a:prstGeom prst="rect">
            <a:avLst/>
          </a:prstGeom>
          <a:noFill/>
          <a:ln/>
        </p:spPr>
        <p:txBody>
          <a:bodyPr wrap="square" lIns="0" tIns="0" rIns="0" bIns="0" rtlCol="0" anchor="ctr"/>
          <a:lstStyle/>
          <a:p>
            <a:pPr marL="0" indent="0">
              <a:buNone/>
            </a:pPr>
            <a:r>
              <a:rPr lang="en-US" sz="3000" b="1" dirty="0">
                <a:solidFill>
                  <a:srgbClr val="E6EDF3"/>
                </a:solidFill>
                <a:latin typeface="Consolas" pitchFamily="34" charset="0"/>
                <a:ea typeface="Consolas" pitchFamily="34" charset="-122"/>
                <a:cs typeface="Consolas" pitchFamily="34" charset="-120"/>
              </a:rPr>
              <a:t>Tại sao mix model = tiết kiệm?</a:t>
            </a:r>
            <a:endParaRPr lang="en-US" sz="3000" dirty="0"/>
          </a:p>
        </p:txBody>
      </p:sp>
      <p:sp>
        <p:nvSpPr>
          <p:cNvPr id="4" name="Text 2"/>
          <p:cNvSpPr/>
          <p:nvPr/>
        </p:nvSpPr>
        <p:spPr>
          <a:xfrm>
            <a:off x="365760" y="1143000"/>
            <a:ext cx="11430000" cy="365760"/>
          </a:xfrm>
          <a:prstGeom prst="rect">
            <a:avLst/>
          </a:prstGeom>
          <a:noFill/>
          <a:ln/>
        </p:spPr>
        <p:txBody>
          <a:bodyPr wrap="square" lIns="0" tIns="0" rIns="0" bIns="0" rtlCol="0" anchor="ctr"/>
          <a:lstStyle/>
          <a:p>
            <a:pPr marL="0" indent="0">
              <a:buNone/>
            </a:pPr>
            <a:r>
              <a:rPr lang="en-US" sz="1400" i="1" dirty="0">
                <a:solidFill>
                  <a:srgbClr val="8B949E"/>
                </a:solidFill>
                <a:latin typeface="Calibri" pitchFamily="34" charset="0"/>
                <a:ea typeface="Calibri" pitchFamily="34" charset="-122"/>
                <a:cs typeface="Calibri" pitchFamily="34" charset="-120"/>
              </a:rPr>
              <a:t>PM/BA không cần model mạnh; SA/BE/FE cần. Một mô hình ≠ một mức giá hợp lý cho mọi việc.</a:t>
            </a:r>
            <a:endParaRPr lang="en-US" sz="1400" dirty="0"/>
          </a:p>
        </p:txBody>
      </p:sp>
      <p:sp>
        <p:nvSpPr>
          <p:cNvPr id="5" name="Shape 3"/>
          <p:cNvSpPr/>
          <p:nvPr/>
        </p:nvSpPr>
        <p:spPr>
          <a:xfrm>
            <a:off x="365760" y="1783080"/>
            <a:ext cx="3657600" cy="3657600"/>
          </a:xfrm>
          <a:prstGeom prst="rect">
            <a:avLst/>
          </a:prstGeom>
          <a:solidFill>
            <a:srgbClr val="161B22"/>
          </a:solidFill>
          <a:ln w="12700">
            <a:solidFill>
              <a:srgbClr val="30363D"/>
            </a:solidFill>
            <a:prstDash val="solid"/>
          </a:ln>
        </p:spPr>
        <p:txBody>
          <a:bodyPr/>
          <a:lstStyle/>
          <a:p>
            <a:endParaRPr/>
          </a:p>
        </p:txBody>
      </p:sp>
      <p:sp>
        <p:nvSpPr>
          <p:cNvPr id="6" name="Shape 4"/>
          <p:cNvSpPr/>
          <p:nvPr/>
        </p:nvSpPr>
        <p:spPr>
          <a:xfrm>
            <a:off x="365760" y="1783080"/>
            <a:ext cx="3657600" cy="384048"/>
          </a:xfrm>
          <a:prstGeom prst="rect">
            <a:avLst/>
          </a:prstGeom>
          <a:solidFill>
            <a:srgbClr val="2EA043"/>
          </a:solidFill>
          <a:ln w="12700">
            <a:solidFill>
              <a:srgbClr val="2EA043"/>
            </a:solidFill>
            <a:prstDash val="solid"/>
          </a:ln>
        </p:spPr>
        <p:txBody>
          <a:bodyPr/>
          <a:lstStyle/>
          <a:p>
            <a:endParaRPr/>
          </a:p>
        </p:txBody>
      </p:sp>
      <p:sp>
        <p:nvSpPr>
          <p:cNvPr id="7" name="Text 5"/>
          <p:cNvSpPr/>
          <p:nvPr/>
        </p:nvSpPr>
        <p:spPr>
          <a:xfrm>
            <a:off x="502920" y="1783080"/>
            <a:ext cx="3383280" cy="384048"/>
          </a:xfrm>
          <a:prstGeom prst="rect">
            <a:avLst/>
          </a:prstGeom>
          <a:noFill/>
          <a:ln/>
        </p:spPr>
        <p:txBody>
          <a:bodyPr wrap="square" lIns="0" tIns="0" rIns="0" bIns="0" rtlCol="0" anchor="ctr"/>
          <a:lstStyle/>
          <a:p>
            <a:pPr marL="0" indent="0">
              <a:buNone/>
            </a:pPr>
            <a:r>
              <a:rPr lang="en-US" sz="1300" b="1" dirty="0">
                <a:solidFill>
                  <a:srgbClr val="0D1117"/>
                </a:solidFill>
                <a:latin typeface="Consolas" pitchFamily="34" charset="0"/>
                <a:ea typeface="Consolas" pitchFamily="34" charset="-122"/>
                <a:cs typeface="Consolas" pitchFamily="34" charset="-120"/>
              </a:rPr>
              <a:t>FREE / CHEAP</a:t>
            </a:r>
            <a:endParaRPr lang="en-US" sz="1300" dirty="0"/>
          </a:p>
        </p:txBody>
      </p:sp>
      <p:sp>
        <p:nvSpPr>
          <p:cNvPr id="8" name="Text 6"/>
          <p:cNvSpPr/>
          <p:nvPr/>
        </p:nvSpPr>
        <p:spPr>
          <a:xfrm>
            <a:off x="548640" y="2331720"/>
            <a:ext cx="3291840" cy="1188720"/>
          </a:xfrm>
          <a:prstGeom prst="rect">
            <a:avLst/>
          </a:prstGeom>
          <a:noFill/>
          <a:ln/>
        </p:spPr>
        <p:txBody>
          <a:bodyPr wrap="square" lIns="0" tIns="0" rIns="0" bIns="0" rtlCol="0" anchor="t"/>
          <a:lstStyle/>
          <a:p>
            <a:pPr marL="0" indent="0">
              <a:buNone/>
            </a:pPr>
            <a:r>
              <a:rPr lang="en-US" sz="1600" b="1" dirty="0">
                <a:solidFill>
                  <a:srgbClr val="2EA043"/>
                </a:solidFill>
                <a:latin typeface="Consolas" pitchFamily="34" charset="0"/>
                <a:ea typeface="Consolas" pitchFamily="34" charset="-122"/>
                <a:cs typeface="Consolas" pitchFamily="34" charset="-120"/>
              </a:rPr>
              <a:t>mimo-v2.5</a:t>
            </a:r>
            <a:endParaRPr lang="en-US" sz="1600" dirty="0"/>
          </a:p>
          <a:p>
            <a:pPr marL="0" indent="0">
              <a:buNone/>
            </a:pPr>
            <a:r>
              <a:rPr lang="en-US" sz="1600" b="1" dirty="0">
                <a:solidFill>
                  <a:srgbClr val="2EA043"/>
                </a:solidFill>
                <a:latin typeface="Consolas" pitchFamily="34" charset="0"/>
                <a:ea typeface="Consolas" pitchFamily="34" charset="-122"/>
                <a:cs typeface="Consolas" pitchFamily="34" charset="-120"/>
              </a:rPr>
              <a:t>glm-5</a:t>
            </a:r>
            <a:endParaRPr lang="en-US" sz="1600" dirty="0"/>
          </a:p>
        </p:txBody>
      </p:sp>
      <p:sp>
        <p:nvSpPr>
          <p:cNvPr id="9" name="Text 7"/>
          <p:cNvSpPr/>
          <p:nvPr/>
        </p:nvSpPr>
        <p:spPr>
          <a:xfrm>
            <a:off x="548640" y="3657600"/>
            <a:ext cx="3291840" cy="274320"/>
          </a:xfrm>
          <a:prstGeom prst="rect">
            <a:avLst/>
          </a:prstGeom>
          <a:noFill/>
          <a:ln/>
        </p:spPr>
        <p:txBody>
          <a:bodyPr wrap="square" lIns="0" tIns="0" rIns="0" bIns="0" rtlCol="0" anchor="ctr"/>
          <a:lstStyle/>
          <a:p>
            <a:pPr marL="0" indent="0">
              <a:buNone/>
            </a:pPr>
            <a:r>
              <a:rPr lang="en-US" sz="1100" dirty="0">
                <a:solidFill>
                  <a:srgbClr val="8B949E"/>
                </a:solidFill>
                <a:latin typeface="Calibri" pitchFamily="34" charset="0"/>
                <a:ea typeface="Calibri" pitchFamily="34" charset="-122"/>
                <a:cs typeface="Calibri" pitchFamily="34" charset="-120"/>
              </a:rPr>
              <a:t>Vai trò:</a:t>
            </a:r>
            <a:endParaRPr lang="en-US" sz="1100" dirty="0"/>
          </a:p>
        </p:txBody>
      </p:sp>
      <p:sp>
        <p:nvSpPr>
          <p:cNvPr id="10" name="Text 8"/>
          <p:cNvSpPr/>
          <p:nvPr/>
        </p:nvSpPr>
        <p:spPr>
          <a:xfrm>
            <a:off x="548640" y="3931920"/>
            <a:ext cx="3291840" cy="1280160"/>
          </a:xfrm>
          <a:prstGeom prst="rect">
            <a:avLst/>
          </a:prstGeom>
          <a:noFill/>
          <a:ln/>
        </p:spPr>
        <p:txBody>
          <a:bodyPr wrap="square" lIns="0" tIns="0" rIns="0" bIns="0" rtlCol="0" anchor="t"/>
          <a:lstStyle/>
          <a:p>
            <a:pPr marL="0" indent="0">
              <a:buNone/>
            </a:pPr>
            <a:r>
              <a:rPr lang="en-US" sz="1400" b="1" dirty="0">
                <a:solidFill>
                  <a:srgbClr val="E6EDF3"/>
                </a:solidFill>
                <a:latin typeface="Calibri" pitchFamily="34" charset="0"/>
                <a:ea typeface="Calibri" pitchFamily="34" charset="-122"/>
                <a:cs typeface="Calibri" pitchFamily="34" charset="-120"/>
              </a:rPr>
              <a:t>UX, DELIVERY</a:t>
            </a:r>
            <a:endParaRPr lang="en-US" sz="1400" dirty="0"/>
          </a:p>
        </p:txBody>
      </p:sp>
      <p:sp>
        <p:nvSpPr>
          <p:cNvPr id="11" name="Shape 9"/>
          <p:cNvSpPr/>
          <p:nvPr/>
        </p:nvSpPr>
        <p:spPr>
          <a:xfrm>
            <a:off x="4297680" y="1783080"/>
            <a:ext cx="3657600" cy="3657600"/>
          </a:xfrm>
          <a:prstGeom prst="rect">
            <a:avLst/>
          </a:prstGeom>
          <a:solidFill>
            <a:srgbClr val="161B22"/>
          </a:solidFill>
          <a:ln w="12700">
            <a:solidFill>
              <a:srgbClr val="30363D"/>
            </a:solidFill>
            <a:prstDash val="solid"/>
          </a:ln>
        </p:spPr>
        <p:txBody>
          <a:bodyPr/>
          <a:lstStyle/>
          <a:p>
            <a:endParaRPr/>
          </a:p>
        </p:txBody>
      </p:sp>
      <p:sp>
        <p:nvSpPr>
          <p:cNvPr id="12" name="Shape 10"/>
          <p:cNvSpPr/>
          <p:nvPr/>
        </p:nvSpPr>
        <p:spPr>
          <a:xfrm>
            <a:off x="4297680" y="1783080"/>
            <a:ext cx="3657600" cy="384048"/>
          </a:xfrm>
          <a:prstGeom prst="rect">
            <a:avLst/>
          </a:prstGeom>
          <a:solidFill>
            <a:srgbClr val="79C0FF"/>
          </a:solidFill>
          <a:ln w="12700">
            <a:solidFill>
              <a:srgbClr val="79C0FF"/>
            </a:solidFill>
            <a:prstDash val="solid"/>
          </a:ln>
        </p:spPr>
        <p:txBody>
          <a:bodyPr/>
          <a:lstStyle/>
          <a:p>
            <a:endParaRPr/>
          </a:p>
        </p:txBody>
      </p:sp>
      <p:sp>
        <p:nvSpPr>
          <p:cNvPr id="13" name="Text 11"/>
          <p:cNvSpPr/>
          <p:nvPr/>
        </p:nvSpPr>
        <p:spPr>
          <a:xfrm>
            <a:off x="4434840" y="1783080"/>
            <a:ext cx="3383280" cy="384048"/>
          </a:xfrm>
          <a:prstGeom prst="rect">
            <a:avLst/>
          </a:prstGeom>
          <a:noFill/>
          <a:ln/>
        </p:spPr>
        <p:txBody>
          <a:bodyPr wrap="square" lIns="0" tIns="0" rIns="0" bIns="0" rtlCol="0" anchor="ctr"/>
          <a:lstStyle/>
          <a:p>
            <a:pPr marL="0" indent="0">
              <a:buNone/>
            </a:pPr>
            <a:r>
              <a:rPr lang="en-US" sz="1300" b="1" dirty="0">
                <a:solidFill>
                  <a:srgbClr val="0D1117"/>
                </a:solidFill>
                <a:latin typeface="Consolas" pitchFamily="34" charset="0"/>
                <a:ea typeface="Consolas" pitchFamily="34" charset="-122"/>
                <a:cs typeface="Consolas" pitchFamily="34" charset="-120"/>
              </a:rPr>
              <a:t>MEDIUM</a:t>
            </a:r>
            <a:endParaRPr lang="en-US" sz="1300" dirty="0"/>
          </a:p>
        </p:txBody>
      </p:sp>
      <p:sp>
        <p:nvSpPr>
          <p:cNvPr id="14" name="Text 12"/>
          <p:cNvSpPr/>
          <p:nvPr/>
        </p:nvSpPr>
        <p:spPr>
          <a:xfrm>
            <a:off x="4480560" y="2331720"/>
            <a:ext cx="3291840" cy="1188720"/>
          </a:xfrm>
          <a:prstGeom prst="rect">
            <a:avLst/>
          </a:prstGeom>
          <a:noFill/>
          <a:ln/>
        </p:spPr>
        <p:txBody>
          <a:bodyPr wrap="square" lIns="0" tIns="0" rIns="0" bIns="0" rtlCol="0" anchor="t"/>
          <a:lstStyle/>
          <a:p>
            <a:pPr marL="0" indent="0">
              <a:buNone/>
            </a:pPr>
            <a:r>
              <a:rPr lang="en-US" sz="1600" b="1" dirty="0">
                <a:solidFill>
                  <a:srgbClr val="79C0FF"/>
                </a:solidFill>
                <a:latin typeface="Consolas" pitchFamily="34" charset="0"/>
                <a:ea typeface="Consolas" pitchFamily="34" charset="-122"/>
                <a:cs typeface="Consolas" pitchFamily="34" charset="-120"/>
              </a:rPr>
              <a:t>deepseek-flash</a:t>
            </a:r>
            <a:endParaRPr lang="en-US" sz="1600" dirty="0"/>
          </a:p>
          <a:p>
            <a:pPr marL="0" indent="0">
              <a:buNone/>
            </a:pPr>
            <a:r>
              <a:rPr lang="en-US" sz="1600" b="1" dirty="0">
                <a:solidFill>
                  <a:srgbClr val="79C0FF"/>
                </a:solidFill>
                <a:latin typeface="Consolas" pitchFamily="34" charset="0"/>
                <a:ea typeface="Consolas" pitchFamily="34" charset="-122"/>
                <a:cs typeface="Consolas" pitchFamily="34" charset="-120"/>
              </a:rPr>
              <a:t>qwen3.6</a:t>
            </a:r>
            <a:endParaRPr lang="en-US" sz="1600" dirty="0"/>
          </a:p>
        </p:txBody>
      </p:sp>
      <p:sp>
        <p:nvSpPr>
          <p:cNvPr id="15" name="Text 13"/>
          <p:cNvSpPr/>
          <p:nvPr/>
        </p:nvSpPr>
        <p:spPr>
          <a:xfrm>
            <a:off x="4480560" y="3657600"/>
            <a:ext cx="3291840" cy="274320"/>
          </a:xfrm>
          <a:prstGeom prst="rect">
            <a:avLst/>
          </a:prstGeom>
          <a:noFill/>
          <a:ln/>
        </p:spPr>
        <p:txBody>
          <a:bodyPr wrap="square" lIns="0" tIns="0" rIns="0" bIns="0" rtlCol="0" anchor="ctr"/>
          <a:lstStyle/>
          <a:p>
            <a:pPr marL="0" indent="0">
              <a:buNone/>
            </a:pPr>
            <a:r>
              <a:rPr lang="en-US" sz="1100" dirty="0">
                <a:solidFill>
                  <a:srgbClr val="8B949E"/>
                </a:solidFill>
                <a:latin typeface="Calibri" pitchFamily="34" charset="0"/>
                <a:ea typeface="Calibri" pitchFamily="34" charset="-122"/>
                <a:cs typeface="Calibri" pitchFamily="34" charset="-120"/>
              </a:rPr>
              <a:t>Vai trò:</a:t>
            </a:r>
            <a:endParaRPr lang="en-US" sz="1100" dirty="0"/>
          </a:p>
        </p:txBody>
      </p:sp>
      <p:sp>
        <p:nvSpPr>
          <p:cNvPr id="16" name="Text 14"/>
          <p:cNvSpPr/>
          <p:nvPr/>
        </p:nvSpPr>
        <p:spPr>
          <a:xfrm>
            <a:off x="4480560" y="3931920"/>
            <a:ext cx="3291840" cy="1280160"/>
          </a:xfrm>
          <a:prstGeom prst="rect">
            <a:avLst/>
          </a:prstGeom>
          <a:noFill/>
          <a:ln/>
        </p:spPr>
        <p:txBody>
          <a:bodyPr wrap="square" lIns="0" tIns="0" rIns="0" bIns="0" rtlCol="0" anchor="t"/>
          <a:lstStyle/>
          <a:p>
            <a:pPr marL="0" indent="0">
              <a:buNone/>
            </a:pPr>
            <a:r>
              <a:rPr lang="en-US" sz="1400" b="1" dirty="0">
                <a:solidFill>
                  <a:srgbClr val="E6EDF3"/>
                </a:solidFill>
                <a:latin typeface="Calibri" pitchFamily="34" charset="0"/>
                <a:ea typeface="Calibri" pitchFamily="34" charset="-122"/>
                <a:cs typeface="Calibri" pitchFamily="34" charset="-120"/>
              </a:rPr>
              <a:t>PM, BA, QA</a:t>
            </a:r>
            <a:endParaRPr lang="en-US" sz="1400" dirty="0"/>
          </a:p>
        </p:txBody>
      </p:sp>
      <p:sp>
        <p:nvSpPr>
          <p:cNvPr id="17" name="Shape 15"/>
          <p:cNvSpPr/>
          <p:nvPr/>
        </p:nvSpPr>
        <p:spPr>
          <a:xfrm>
            <a:off x="8229600" y="1783080"/>
            <a:ext cx="3657600" cy="3657600"/>
          </a:xfrm>
          <a:prstGeom prst="rect">
            <a:avLst/>
          </a:prstGeom>
          <a:solidFill>
            <a:srgbClr val="161B22"/>
          </a:solidFill>
          <a:ln w="12700">
            <a:solidFill>
              <a:srgbClr val="30363D"/>
            </a:solidFill>
            <a:prstDash val="solid"/>
          </a:ln>
        </p:spPr>
        <p:txBody>
          <a:bodyPr/>
          <a:lstStyle/>
          <a:p>
            <a:endParaRPr/>
          </a:p>
        </p:txBody>
      </p:sp>
      <p:sp>
        <p:nvSpPr>
          <p:cNvPr id="18" name="Shape 16"/>
          <p:cNvSpPr/>
          <p:nvPr/>
        </p:nvSpPr>
        <p:spPr>
          <a:xfrm>
            <a:off x="8229600" y="1783080"/>
            <a:ext cx="3657600" cy="384048"/>
          </a:xfrm>
          <a:prstGeom prst="rect">
            <a:avLst/>
          </a:prstGeom>
          <a:solidFill>
            <a:srgbClr val="D29922"/>
          </a:solidFill>
          <a:ln w="12700">
            <a:solidFill>
              <a:srgbClr val="D29922"/>
            </a:solidFill>
            <a:prstDash val="solid"/>
          </a:ln>
        </p:spPr>
        <p:txBody>
          <a:bodyPr/>
          <a:lstStyle/>
          <a:p>
            <a:endParaRPr/>
          </a:p>
        </p:txBody>
      </p:sp>
      <p:sp>
        <p:nvSpPr>
          <p:cNvPr id="19" name="Text 17"/>
          <p:cNvSpPr/>
          <p:nvPr/>
        </p:nvSpPr>
        <p:spPr>
          <a:xfrm>
            <a:off x="8366760" y="1783080"/>
            <a:ext cx="3383280" cy="384048"/>
          </a:xfrm>
          <a:prstGeom prst="rect">
            <a:avLst/>
          </a:prstGeom>
          <a:noFill/>
          <a:ln/>
        </p:spPr>
        <p:txBody>
          <a:bodyPr wrap="square" lIns="0" tIns="0" rIns="0" bIns="0" rtlCol="0" anchor="ctr"/>
          <a:lstStyle/>
          <a:p>
            <a:pPr marL="0" indent="0">
              <a:buNone/>
            </a:pPr>
            <a:r>
              <a:rPr lang="en-US" sz="1300" b="1" dirty="0">
                <a:solidFill>
                  <a:srgbClr val="0D1117"/>
                </a:solidFill>
                <a:latin typeface="Consolas" pitchFamily="34" charset="0"/>
                <a:ea typeface="Consolas" pitchFamily="34" charset="-122"/>
                <a:cs typeface="Consolas" pitchFamily="34" charset="-120"/>
              </a:rPr>
              <a:t>STRONG</a:t>
            </a:r>
            <a:endParaRPr lang="en-US" sz="1300" dirty="0"/>
          </a:p>
        </p:txBody>
      </p:sp>
      <p:sp>
        <p:nvSpPr>
          <p:cNvPr id="20" name="Text 18"/>
          <p:cNvSpPr/>
          <p:nvPr/>
        </p:nvSpPr>
        <p:spPr>
          <a:xfrm>
            <a:off x="8412480" y="2331720"/>
            <a:ext cx="3291840" cy="1188720"/>
          </a:xfrm>
          <a:prstGeom prst="rect">
            <a:avLst/>
          </a:prstGeom>
          <a:noFill/>
          <a:ln/>
        </p:spPr>
        <p:txBody>
          <a:bodyPr wrap="square" lIns="0" tIns="0" rIns="0" bIns="0" rtlCol="0" anchor="t"/>
          <a:lstStyle/>
          <a:p>
            <a:pPr marL="0" indent="0">
              <a:buNone/>
            </a:pPr>
            <a:r>
              <a:rPr lang="en-US" sz="1600" b="1" dirty="0">
                <a:solidFill>
                  <a:srgbClr val="D29922"/>
                </a:solidFill>
                <a:latin typeface="Consolas" pitchFamily="34" charset="0"/>
                <a:ea typeface="Consolas" pitchFamily="34" charset="-122"/>
                <a:cs typeface="Consolas" pitchFamily="34" charset="-120"/>
              </a:rPr>
              <a:t>deepseek-v4-pro</a:t>
            </a:r>
            <a:endParaRPr lang="en-US" sz="1600" dirty="0"/>
          </a:p>
          <a:p>
            <a:pPr marL="0" indent="0">
              <a:buNone/>
            </a:pPr>
            <a:r>
              <a:rPr lang="en-US" sz="1600" b="1" dirty="0">
                <a:solidFill>
                  <a:srgbClr val="D29922"/>
                </a:solidFill>
                <a:latin typeface="Consolas" pitchFamily="34" charset="0"/>
                <a:ea typeface="Consolas" pitchFamily="34" charset="-122"/>
                <a:cs typeface="Consolas" pitchFamily="34" charset="-120"/>
              </a:rPr>
              <a:t>kimi-k2.6</a:t>
            </a:r>
            <a:endParaRPr lang="en-US" sz="1600" dirty="0"/>
          </a:p>
        </p:txBody>
      </p:sp>
      <p:sp>
        <p:nvSpPr>
          <p:cNvPr id="21" name="Text 19"/>
          <p:cNvSpPr/>
          <p:nvPr/>
        </p:nvSpPr>
        <p:spPr>
          <a:xfrm>
            <a:off x="8412480" y="3657600"/>
            <a:ext cx="3291840" cy="274320"/>
          </a:xfrm>
          <a:prstGeom prst="rect">
            <a:avLst/>
          </a:prstGeom>
          <a:noFill/>
          <a:ln/>
        </p:spPr>
        <p:txBody>
          <a:bodyPr wrap="square" lIns="0" tIns="0" rIns="0" bIns="0" rtlCol="0" anchor="ctr"/>
          <a:lstStyle/>
          <a:p>
            <a:pPr marL="0" indent="0">
              <a:buNone/>
            </a:pPr>
            <a:r>
              <a:rPr lang="en-US" sz="1100" dirty="0">
                <a:solidFill>
                  <a:srgbClr val="8B949E"/>
                </a:solidFill>
                <a:latin typeface="Calibri" pitchFamily="34" charset="0"/>
                <a:ea typeface="Calibri" pitchFamily="34" charset="-122"/>
                <a:cs typeface="Calibri" pitchFamily="34" charset="-120"/>
              </a:rPr>
              <a:t>Vai trò:</a:t>
            </a:r>
            <a:endParaRPr lang="en-US" sz="1100" dirty="0"/>
          </a:p>
        </p:txBody>
      </p:sp>
      <p:sp>
        <p:nvSpPr>
          <p:cNvPr id="22" name="Text 20"/>
          <p:cNvSpPr/>
          <p:nvPr/>
        </p:nvSpPr>
        <p:spPr>
          <a:xfrm>
            <a:off x="8412480" y="3931920"/>
            <a:ext cx="3291840" cy="1280160"/>
          </a:xfrm>
          <a:prstGeom prst="rect">
            <a:avLst/>
          </a:prstGeom>
          <a:noFill/>
          <a:ln/>
        </p:spPr>
        <p:txBody>
          <a:bodyPr wrap="square" lIns="0" tIns="0" rIns="0" bIns="0" rtlCol="0" anchor="t"/>
          <a:lstStyle/>
          <a:p>
            <a:pPr marL="0" indent="0">
              <a:buNone/>
            </a:pPr>
            <a:r>
              <a:rPr lang="en-US" sz="1400" b="1" dirty="0">
                <a:solidFill>
                  <a:srgbClr val="E6EDF3"/>
                </a:solidFill>
                <a:latin typeface="Calibri" pitchFamily="34" charset="0"/>
                <a:ea typeface="Calibri" pitchFamily="34" charset="-122"/>
                <a:cs typeface="Calibri" pitchFamily="34" charset="-120"/>
              </a:rPr>
              <a:t>SA, BE, FE</a:t>
            </a:r>
            <a:endParaRPr lang="en-US" sz="1400" dirty="0"/>
          </a:p>
        </p:txBody>
      </p:sp>
      <p:sp>
        <p:nvSpPr>
          <p:cNvPr id="23" name="Text 21"/>
          <p:cNvSpPr/>
          <p:nvPr/>
        </p:nvSpPr>
        <p:spPr>
          <a:xfrm>
            <a:off x="365760" y="5669280"/>
            <a:ext cx="11430000" cy="365760"/>
          </a:xfrm>
          <a:prstGeom prst="rect">
            <a:avLst/>
          </a:prstGeom>
          <a:noFill/>
          <a:ln/>
        </p:spPr>
        <p:txBody>
          <a:bodyPr wrap="square" lIns="0" tIns="0" rIns="0" bIns="0" rtlCol="0" anchor="ctr"/>
          <a:lstStyle/>
          <a:p>
            <a:pPr marL="0" indent="0" algn="ctr">
              <a:buNone/>
            </a:pPr>
            <a:r>
              <a:rPr lang="en-US" sz="1300" i="1" dirty="0">
                <a:solidFill>
                  <a:srgbClr val="8B949E"/>
                </a:solidFill>
                <a:latin typeface="Calibri" pitchFamily="34" charset="0"/>
                <a:ea typeface="Calibri" pitchFamily="34" charset="-122"/>
                <a:cs typeface="Calibri" pitchFamily="34" charset="-120"/>
              </a:rPr>
              <a:t>Cấu hình tại config/agent_models.env — đổi model bất cứ lúc nào không sửa code.</a:t>
            </a:r>
            <a:endParaRPr lang="en-US" sz="1300" dirty="0"/>
          </a:p>
        </p:txBody>
      </p:sp>
      <p:sp>
        <p:nvSpPr>
          <p:cNvPr id="24" name="Text 22"/>
          <p:cNvSpPr/>
          <p:nvPr/>
        </p:nvSpPr>
        <p:spPr>
          <a:xfrm>
            <a:off x="11338560" y="6492240"/>
            <a:ext cx="731520" cy="228600"/>
          </a:xfrm>
          <a:prstGeom prst="rect">
            <a:avLst/>
          </a:prstGeom>
          <a:noFill/>
          <a:ln/>
        </p:spPr>
        <p:txBody>
          <a:bodyPr wrap="square" lIns="0" tIns="0" rIns="0" bIns="0" rtlCol="0" anchor="ctr"/>
          <a:lstStyle/>
          <a:p>
            <a:pPr marL="0" indent="0" algn="r">
              <a:buNone/>
            </a:pPr>
            <a:r>
              <a:rPr lang="en-US" sz="900" dirty="0">
                <a:solidFill>
                  <a:srgbClr val="8B949E"/>
                </a:solidFill>
                <a:latin typeface="Consolas" pitchFamily="34" charset="0"/>
                <a:ea typeface="Consolas" pitchFamily="34" charset="-122"/>
                <a:cs typeface="Consolas" pitchFamily="34" charset="-120"/>
              </a:rPr>
              <a:t>12 / 40</a:t>
            </a:r>
            <a:endParaRPr lang="en-US" sz="900" dirty="0"/>
          </a:p>
        </p:txBody>
      </p:sp>
      <p:sp>
        <p:nvSpPr>
          <p:cNvPr id="25" name="Text 23"/>
          <p:cNvSpPr/>
          <p:nvPr/>
        </p:nvSpPr>
        <p:spPr>
          <a:xfrm>
            <a:off x="365760" y="6492240"/>
            <a:ext cx="1097280" cy="228600"/>
          </a:xfrm>
          <a:prstGeom prst="rect">
            <a:avLst/>
          </a:prstGeom>
          <a:noFill/>
          <a:ln/>
        </p:spPr>
        <p:txBody>
          <a:bodyPr wrap="square" lIns="0" tIns="0" rIns="0" bIns="0" rtlCol="0" anchor="ctr"/>
          <a:lstStyle/>
          <a:p>
            <a:pPr marL="0" indent="0" algn="l">
              <a:buNone/>
            </a:pPr>
            <a:r>
              <a:rPr lang="en-US" sz="900" dirty="0">
                <a:solidFill>
                  <a:srgbClr val="8B949E"/>
                </a:solidFill>
                <a:latin typeface="Consolas" pitchFamily="34" charset="0"/>
                <a:ea typeface="Consolas" pitchFamily="34" charset="-122"/>
                <a:cs typeface="Consolas" pitchFamily="34" charset="-120"/>
              </a:rPr>
              <a:t>v10.23</a:t>
            </a:r>
            <a:endParaRPr lang="en-US" sz="900" dirty="0"/>
          </a:p>
        </p:txBody>
      </p:sp>
      <p:sp>
        <p:nvSpPr>
          <p:cNvPr id="26" name="Text 24"/>
          <p:cNvSpPr/>
          <p:nvPr/>
        </p:nvSpPr>
        <p:spPr>
          <a:xfrm>
            <a:off x="4572000" y="6492240"/>
            <a:ext cx="6400800" cy="228600"/>
          </a:xfrm>
          <a:prstGeom prst="rect">
            <a:avLst/>
          </a:prstGeom>
          <a:noFill/>
          <a:ln/>
        </p:spPr>
        <p:txBody>
          <a:bodyPr wrap="square" lIns="0" tIns="0" rIns="0" bIns="0" rtlCol="0" anchor="ctr"/>
          <a:lstStyle/>
          <a:p>
            <a:pPr marL="0" indent="0" algn="ctr">
              <a:buNone/>
            </a:pPr>
            <a:r>
              <a:rPr lang="en-US" sz="900" dirty="0">
                <a:solidFill>
                  <a:srgbClr val="8B949E"/>
                </a:solidFill>
                <a:latin typeface="Consolas" pitchFamily="34" charset="0"/>
                <a:ea typeface="Consolas" pitchFamily="34" charset="-122"/>
                <a:cs typeface="Consolas" pitchFamily="34" charset="-120"/>
              </a:rPr>
              <a:t>Product Engineering Agent Framework</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365760" y="228600"/>
            <a:ext cx="8229600" cy="274320"/>
          </a:xfrm>
          <a:prstGeom prst="rect">
            <a:avLst/>
          </a:prstGeom>
          <a:noFill/>
          <a:ln/>
        </p:spPr>
        <p:txBody>
          <a:bodyPr wrap="square" lIns="0" tIns="0" rIns="0" bIns="0" rtlCol="0" anchor="ctr"/>
          <a:lstStyle/>
          <a:p>
            <a:pPr marL="0" indent="0">
              <a:buNone/>
            </a:pPr>
            <a:r>
              <a:rPr lang="en-US" sz="1100" dirty="0">
                <a:solidFill>
                  <a:srgbClr val="2EA043"/>
                </a:solidFill>
                <a:latin typeface="Consolas" pitchFamily="34" charset="0"/>
                <a:ea typeface="Consolas" pitchFamily="34" charset="-122"/>
                <a:cs typeface="Consolas" pitchFamily="34" charset="-120"/>
              </a:rPr>
              <a:t>$ </a:t>
            </a:r>
            <a:r>
              <a:rPr lang="en-US" sz="1100" dirty="0">
                <a:solidFill>
                  <a:srgbClr val="8B949E"/>
                </a:solidFill>
                <a:latin typeface="Consolas" pitchFamily="34" charset="0"/>
                <a:ea typeface="Consolas" pitchFamily="34" charset="-122"/>
                <a:cs typeface="Consolas" pitchFamily="34" charset="-120"/>
              </a:rPr>
              <a:t>09_routing.md</a:t>
            </a:r>
            <a:endParaRPr lang="en-US" sz="1100" dirty="0"/>
          </a:p>
        </p:txBody>
      </p:sp>
      <p:sp>
        <p:nvSpPr>
          <p:cNvPr id="3" name="Text 1"/>
          <p:cNvSpPr/>
          <p:nvPr/>
        </p:nvSpPr>
        <p:spPr>
          <a:xfrm>
            <a:off x="365760" y="548640"/>
            <a:ext cx="11430000" cy="640080"/>
          </a:xfrm>
          <a:prstGeom prst="rect">
            <a:avLst/>
          </a:prstGeom>
          <a:noFill/>
          <a:ln/>
        </p:spPr>
        <p:txBody>
          <a:bodyPr wrap="square" lIns="0" tIns="0" rIns="0" bIns="0" rtlCol="0" anchor="ctr"/>
          <a:lstStyle/>
          <a:p>
            <a:pPr marL="0" indent="0">
              <a:buNone/>
            </a:pPr>
            <a:r>
              <a:rPr lang="en-US" sz="3000" b="1" dirty="0">
                <a:solidFill>
                  <a:srgbClr val="E6EDF3"/>
                </a:solidFill>
                <a:latin typeface="Consolas" pitchFamily="34" charset="0"/>
                <a:ea typeface="Consolas" pitchFamily="34" charset="-122"/>
                <a:cs typeface="Consolas" pitchFamily="34" charset="-120"/>
              </a:rPr>
              <a:t>Cơ chế routing</a:t>
            </a:r>
            <a:endParaRPr lang="en-US" sz="3000" dirty="0"/>
          </a:p>
        </p:txBody>
      </p:sp>
      <p:sp>
        <p:nvSpPr>
          <p:cNvPr id="4" name="Text 2"/>
          <p:cNvSpPr/>
          <p:nvPr/>
        </p:nvSpPr>
        <p:spPr>
          <a:xfrm>
            <a:off x="365760" y="1143000"/>
            <a:ext cx="11430000" cy="365760"/>
          </a:xfrm>
          <a:prstGeom prst="rect">
            <a:avLst/>
          </a:prstGeom>
          <a:noFill/>
          <a:ln/>
        </p:spPr>
        <p:txBody>
          <a:bodyPr wrap="square" lIns="0" tIns="0" rIns="0" bIns="0" rtlCol="0" anchor="ctr"/>
          <a:lstStyle/>
          <a:p>
            <a:pPr marL="0" indent="0">
              <a:buNone/>
            </a:pPr>
            <a:r>
              <a:rPr lang="en-US" sz="1400" i="1" dirty="0">
                <a:solidFill>
                  <a:srgbClr val="8B949E"/>
                </a:solidFill>
                <a:latin typeface="Calibri" pitchFamily="34" charset="0"/>
                <a:ea typeface="Calibri" pitchFamily="34" charset="-122"/>
                <a:cs typeface="Calibri" pitchFamily="34" charset="-120"/>
              </a:rPr>
              <a:t>Orchestrator giao việc cho worker bằng bash thật, không subagent ảo</a:t>
            </a:r>
            <a:endParaRPr lang="en-US" sz="1400" dirty="0"/>
          </a:p>
        </p:txBody>
      </p:sp>
      <p:sp>
        <p:nvSpPr>
          <p:cNvPr id="5" name="Text 3"/>
          <p:cNvSpPr/>
          <p:nvPr/>
        </p:nvSpPr>
        <p:spPr>
          <a:xfrm>
            <a:off x="365760" y="1783080"/>
            <a:ext cx="5760720" cy="365760"/>
          </a:xfrm>
          <a:prstGeom prst="rect">
            <a:avLst/>
          </a:prstGeom>
          <a:noFill/>
          <a:ln/>
        </p:spPr>
        <p:txBody>
          <a:bodyPr wrap="square" lIns="0" tIns="0" rIns="0" bIns="0" rtlCol="0" anchor="ctr"/>
          <a:lstStyle/>
          <a:p>
            <a:pPr marL="0" indent="0">
              <a:buNone/>
            </a:pPr>
            <a:r>
              <a:rPr lang="en-US" sz="1300" dirty="0">
                <a:solidFill>
                  <a:srgbClr val="8B949E"/>
                </a:solidFill>
                <a:latin typeface="Calibri" pitchFamily="34" charset="0"/>
                <a:ea typeface="Calibri" pitchFamily="34" charset="-122"/>
                <a:cs typeface="Calibri" pitchFamily="34" charset="-120"/>
              </a:rPr>
              <a:t>Mỗi lần Orchestrator gọi route_to_pane.sh:</a:t>
            </a:r>
            <a:endParaRPr lang="en-US" sz="1300" dirty="0"/>
          </a:p>
        </p:txBody>
      </p:sp>
      <p:sp>
        <p:nvSpPr>
          <p:cNvPr id="6" name="Shape 4"/>
          <p:cNvSpPr/>
          <p:nvPr/>
        </p:nvSpPr>
        <p:spPr>
          <a:xfrm>
            <a:off x="365760" y="2231136"/>
            <a:ext cx="292608" cy="292608"/>
          </a:xfrm>
          <a:prstGeom prst="ellipse">
            <a:avLst/>
          </a:prstGeom>
          <a:solidFill>
            <a:srgbClr val="7CE38B"/>
          </a:solidFill>
          <a:ln w="12700">
            <a:solidFill>
              <a:srgbClr val="7CE38B"/>
            </a:solidFill>
            <a:prstDash val="solid"/>
          </a:ln>
        </p:spPr>
        <p:txBody>
          <a:bodyPr/>
          <a:lstStyle/>
          <a:p>
            <a:endParaRPr/>
          </a:p>
        </p:txBody>
      </p:sp>
      <p:sp>
        <p:nvSpPr>
          <p:cNvPr id="7" name="Text 5"/>
          <p:cNvSpPr/>
          <p:nvPr/>
        </p:nvSpPr>
        <p:spPr>
          <a:xfrm>
            <a:off x="365760" y="2231136"/>
            <a:ext cx="292608" cy="292608"/>
          </a:xfrm>
          <a:prstGeom prst="rect">
            <a:avLst/>
          </a:prstGeom>
          <a:noFill/>
          <a:ln/>
        </p:spPr>
        <p:txBody>
          <a:bodyPr wrap="square" lIns="0" tIns="0" rIns="0" bIns="0" rtlCol="0" anchor="ctr"/>
          <a:lstStyle/>
          <a:p>
            <a:pPr marL="0" indent="0" algn="ctr">
              <a:buNone/>
            </a:pPr>
            <a:r>
              <a:rPr lang="en-US" sz="1100" b="1" dirty="0">
                <a:solidFill>
                  <a:srgbClr val="0D1117"/>
                </a:solidFill>
                <a:latin typeface="Consolas" pitchFamily="34" charset="0"/>
                <a:ea typeface="Consolas" pitchFamily="34" charset="-122"/>
                <a:cs typeface="Consolas" pitchFamily="34" charset="-120"/>
              </a:rPr>
              <a:t>1</a:t>
            </a:r>
            <a:endParaRPr lang="en-US" sz="1100" dirty="0"/>
          </a:p>
        </p:txBody>
      </p:sp>
      <p:sp>
        <p:nvSpPr>
          <p:cNvPr id="8" name="Text 6"/>
          <p:cNvSpPr/>
          <p:nvPr/>
        </p:nvSpPr>
        <p:spPr>
          <a:xfrm>
            <a:off x="777240" y="2194560"/>
            <a:ext cx="5212080" cy="365760"/>
          </a:xfrm>
          <a:prstGeom prst="rect">
            <a:avLst/>
          </a:prstGeom>
          <a:noFill/>
          <a:ln/>
        </p:spPr>
        <p:txBody>
          <a:bodyPr wrap="square" lIns="0" tIns="0" rIns="0" bIns="0" rtlCol="0" anchor="ctr"/>
          <a:lstStyle/>
          <a:p>
            <a:pPr marL="0" indent="0">
              <a:buNone/>
            </a:pPr>
            <a:r>
              <a:rPr lang="en-US" sz="1200" dirty="0">
                <a:solidFill>
                  <a:srgbClr val="E6EDF3"/>
                </a:solidFill>
                <a:latin typeface="Calibri" pitchFamily="34" charset="0"/>
                <a:ea typeface="Calibri" pitchFamily="34" charset="-122"/>
                <a:cs typeface="Calibri" pitchFamily="34" charset="-120"/>
              </a:rPr>
              <a:t>Validate role + tìm pane id trong .agent_panes</a:t>
            </a:r>
            <a:endParaRPr lang="en-US" sz="1200" dirty="0"/>
          </a:p>
        </p:txBody>
      </p:sp>
      <p:sp>
        <p:nvSpPr>
          <p:cNvPr id="9" name="Shape 7"/>
          <p:cNvSpPr/>
          <p:nvPr/>
        </p:nvSpPr>
        <p:spPr>
          <a:xfrm>
            <a:off x="365760" y="2734056"/>
            <a:ext cx="292608" cy="292608"/>
          </a:xfrm>
          <a:prstGeom prst="ellipse">
            <a:avLst/>
          </a:prstGeom>
          <a:solidFill>
            <a:srgbClr val="7CE38B"/>
          </a:solidFill>
          <a:ln w="12700">
            <a:solidFill>
              <a:srgbClr val="7CE38B"/>
            </a:solidFill>
            <a:prstDash val="solid"/>
          </a:ln>
        </p:spPr>
        <p:txBody>
          <a:bodyPr/>
          <a:lstStyle/>
          <a:p>
            <a:endParaRPr/>
          </a:p>
        </p:txBody>
      </p:sp>
      <p:sp>
        <p:nvSpPr>
          <p:cNvPr id="10" name="Text 8"/>
          <p:cNvSpPr/>
          <p:nvPr/>
        </p:nvSpPr>
        <p:spPr>
          <a:xfrm>
            <a:off x="365760" y="2734056"/>
            <a:ext cx="292608" cy="292608"/>
          </a:xfrm>
          <a:prstGeom prst="rect">
            <a:avLst/>
          </a:prstGeom>
          <a:noFill/>
          <a:ln/>
        </p:spPr>
        <p:txBody>
          <a:bodyPr wrap="square" lIns="0" tIns="0" rIns="0" bIns="0" rtlCol="0" anchor="ctr"/>
          <a:lstStyle/>
          <a:p>
            <a:pPr marL="0" indent="0" algn="ctr">
              <a:buNone/>
            </a:pPr>
            <a:r>
              <a:rPr lang="en-US" sz="1100" b="1" dirty="0">
                <a:solidFill>
                  <a:srgbClr val="0D1117"/>
                </a:solidFill>
                <a:latin typeface="Consolas" pitchFamily="34" charset="0"/>
                <a:ea typeface="Consolas" pitchFamily="34" charset="-122"/>
                <a:cs typeface="Consolas" pitchFamily="34" charset="-120"/>
              </a:rPr>
              <a:t>2</a:t>
            </a:r>
            <a:endParaRPr lang="en-US" sz="1100" dirty="0"/>
          </a:p>
        </p:txBody>
      </p:sp>
      <p:sp>
        <p:nvSpPr>
          <p:cNvPr id="11" name="Text 9"/>
          <p:cNvSpPr/>
          <p:nvPr/>
        </p:nvSpPr>
        <p:spPr>
          <a:xfrm>
            <a:off x="777240" y="2697480"/>
            <a:ext cx="5212080" cy="365760"/>
          </a:xfrm>
          <a:prstGeom prst="rect">
            <a:avLst/>
          </a:prstGeom>
          <a:noFill/>
          <a:ln/>
        </p:spPr>
        <p:txBody>
          <a:bodyPr wrap="square" lIns="0" tIns="0" rIns="0" bIns="0" rtlCol="0" anchor="ctr"/>
          <a:lstStyle/>
          <a:p>
            <a:pPr marL="0" indent="0">
              <a:buNone/>
            </a:pPr>
            <a:r>
              <a:rPr lang="en-US" sz="1200" dirty="0">
                <a:solidFill>
                  <a:srgbClr val="E6EDF3"/>
                </a:solidFill>
                <a:latin typeface="Calibri" pitchFamily="34" charset="0"/>
                <a:ea typeface="Calibri" pitchFamily="34" charset="-122"/>
                <a:cs typeface="Calibri" pitchFamily="34" charset="-120"/>
              </a:rPr>
              <a:t>Sinh task file .pane_tasks/&lt;ROLE&gt;_&lt;ts&gt;.md</a:t>
            </a:r>
            <a:endParaRPr lang="en-US" sz="1200" dirty="0"/>
          </a:p>
        </p:txBody>
      </p:sp>
      <p:sp>
        <p:nvSpPr>
          <p:cNvPr id="12" name="Shape 10"/>
          <p:cNvSpPr/>
          <p:nvPr/>
        </p:nvSpPr>
        <p:spPr>
          <a:xfrm>
            <a:off x="365760" y="3236976"/>
            <a:ext cx="292608" cy="292608"/>
          </a:xfrm>
          <a:prstGeom prst="ellipse">
            <a:avLst/>
          </a:prstGeom>
          <a:solidFill>
            <a:srgbClr val="7CE38B"/>
          </a:solidFill>
          <a:ln w="12700">
            <a:solidFill>
              <a:srgbClr val="7CE38B"/>
            </a:solidFill>
            <a:prstDash val="solid"/>
          </a:ln>
        </p:spPr>
        <p:txBody>
          <a:bodyPr/>
          <a:lstStyle/>
          <a:p>
            <a:endParaRPr/>
          </a:p>
        </p:txBody>
      </p:sp>
      <p:sp>
        <p:nvSpPr>
          <p:cNvPr id="13" name="Text 11"/>
          <p:cNvSpPr/>
          <p:nvPr/>
        </p:nvSpPr>
        <p:spPr>
          <a:xfrm>
            <a:off x="365760" y="3236976"/>
            <a:ext cx="292608" cy="292608"/>
          </a:xfrm>
          <a:prstGeom prst="rect">
            <a:avLst/>
          </a:prstGeom>
          <a:noFill/>
          <a:ln/>
        </p:spPr>
        <p:txBody>
          <a:bodyPr wrap="square" lIns="0" tIns="0" rIns="0" bIns="0" rtlCol="0" anchor="ctr"/>
          <a:lstStyle/>
          <a:p>
            <a:pPr marL="0" indent="0" algn="ctr">
              <a:buNone/>
            </a:pPr>
            <a:r>
              <a:rPr lang="en-US" sz="1100" b="1" dirty="0">
                <a:solidFill>
                  <a:srgbClr val="0D1117"/>
                </a:solidFill>
                <a:latin typeface="Consolas" pitchFamily="34" charset="0"/>
                <a:ea typeface="Consolas" pitchFamily="34" charset="-122"/>
                <a:cs typeface="Consolas" pitchFamily="34" charset="-120"/>
              </a:rPr>
              <a:t>3</a:t>
            </a:r>
            <a:endParaRPr lang="en-US" sz="1100" dirty="0"/>
          </a:p>
        </p:txBody>
      </p:sp>
      <p:sp>
        <p:nvSpPr>
          <p:cNvPr id="14" name="Text 12"/>
          <p:cNvSpPr/>
          <p:nvPr/>
        </p:nvSpPr>
        <p:spPr>
          <a:xfrm>
            <a:off x="777240" y="3200400"/>
            <a:ext cx="5212080" cy="365760"/>
          </a:xfrm>
          <a:prstGeom prst="rect">
            <a:avLst/>
          </a:prstGeom>
          <a:noFill/>
          <a:ln/>
        </p:spPr>
        <p:txBody>
          <a:bodyPr wrap="square" lIns="0" tIns="0" rIns="0" bIns="0" rtlCol="0" anchor="ctr"/>
          <a:lstStyle/>
          <a:p>
            <a:pPr marL="0" indent="0">
              <a:buNone/>
            </a:pPr>
            <a:r>
              <a:rPr lang="en-US" sz="1200" dirty="0">
                <a:solidFill>
                  <a:srgbClr val="E6EDF3"/>
                </a:solidFill>
                <a:latin typeface="Calibri" pitchFamily="34" charset="0"/>
                <a:ea typeface="Calibri" pitchFamily="34" charset="-122"/>
                <a:cs typeface="Calibri" pitchFamily="34" charset="-120"/>
              </a:rPr>
              <a:t>Ghi receipt vào .pane_logs/_routing_receipts.log</a:t>
            </a:r>
            <a:endParaRPr lang="en-US" sz="1200" dirty="0"/>
          </a:p>
        </p:txBody>
      </p:sp>
      <p:sp>
        <p:nvSpPr>
          <p:cNvPr id="15" name="Shape 13"/>
          <p:cNvSpPr/>
          <p:nvPr/>
        </p:nvSpPr>
        <p:spPr>
          <a:xfrm>
            <a:off x="365760" y="3739896"/>
            <a:ext cx="292608" cy="292608"/>
          </a:xfrm>
          <a:prstGeom prst="ellipse">
            <a:avLst/>
          </a:prstGeom>
          <a:solidFill>
            <a:srgbClr val="7CE38B"/>
          </a:solidFill>
          <a:ln w="12700">
            <a:solidFill>
              <a:srgbClr val="7CE38B"/>
            </a:solidFill>
            <a:prstDash val="solid"/>
          </a:ln>
        </p:spPr>
        <p:txBody>
          <a:bodyPr/>
          <a:lstStyle/>
          <a:p>
            <a:endParaRPr/>
          </a:p>
        </p:txBody>
      </p:sp>
      <p:sp>
        <p:nvSpPr>
          <p:cNvPr id="16" name="Text 14"/>
          <p:cNvSpPr/>
          <p:nvPr/>
        </p:nvSpPr>
        <p:spPr>
          <a:xfrm>
            <a:off x="365760" y="3739896"/>
            <a:ext cx="292608" cy="292608"/>
          </a:xfrm>
          <a:prstGeom prst="rect">
            <a:avLst/>
          </a:prstGeom>
          <a:noFill/>
          <a:ln/>
        </p:spPr>
        <p:txBody>
          <a:bodyPr wrap="square" lIns="0" tIns="0" rIns="0" bIns="0" rtlCol="0" anchor="ctr"/>
          <a:lstStyle/>
          <a:p>
            <a:pPr marL="0" indent="0" algn="ctr">
              <a:buNone/>
            </a:pPr>
            <a:r>
              <a:rPr lang="en-US" sz="1100" b="1" dirty="0">
                <a:solidFill>
                  <a:srgbClr val="0D1117"/>
                </a:solidFill>
                <a:latin typeface="Consolas" pitchFamily="34" charset="0"/>
                <a:ea typeface="Consolas" pitchFamily="34" charset="-122"/>
                <a:cs typeface="Consolas" pitchFamily="34" charset="-120"/>
              </a:rPr>
              <a:t>4</a:t>
            </a:r>
            <a:endParaRPr lang="en-US" sz="1100" dirty="0"/>
          </a:p>
        </p:txBody>
      </p:sp>
      <p:sp>
        <p:nvSpPr>
          <p:cNvPr id="17" name="Text 15"/>
          <p:cNvSpPr/>
          <p:nvPr/>
        </p:nvSpPr>
        <p:spPr>
          <a:xfrm>
            <a:off x="777240" y="3703320"/>
            <a:ext cx="5212080" cy="365760"/>
          </a:xfrm>
          <a:prstGeom prst="rect">
            <a:avLst/>
          </a:prstGeom>
          <a:noFill/>
          <a:ln/>
        </p:spPr>
        <p:txBody>
          <a:bodyPr wrap="square" lIns="0" tIns="0" rIns="0" bIns="0" rtlCol="0" anchor="ctr"/>
          <a:lstStyle/>
          <a:p>
            <a:pPr marL="0" indent="0">
              <a:buNone/>
            </a:pPr>
            <a:r>
              <a:rPr lang="en-US" sz="1200" dirty="0">
                <a:solidFill>
                  <a:srgbClr val="E6EDF3"/>
                </a:solidFill>
                <a:latin typeface="Calibri" pitchFamily="34" charset="0"/>
                <a:ea typeface="Calibri" pitchFamily="34" charset="-122"/>
                <a:cs typeface="Calibri" pitchFamily="34" charset="-120"/>
              </a:rPr>
              <a:t>tmux send-keys vào pane đích: `&lt;engine&gt; run --model &lt;X&gt; "&lt;task&gt;"` (theo .agent_session)</a:t>
            </a:r>
            <a:endParaRPr lang="en-US" sz="1200" dirty="0"/>
          </a:p>
        </p:txBody>
      </p:sp>
      <p:sp>
        <p:nvSpPr>
          <p:cNvPr id="18" name="Shape 16"/>
          <p:cNvSpPr/>
          <p:nvPr/>
        </p:nvSpPr>
        <p:spPr>
          <a:xfrm>
            <a:off x="365760" y="4242816"/>
            <a:ext cx="292608" cy="292608"/>
          </a:xfrm>
          <a:prstGeom prst="ellipse">
            <a:avLst/>
          </a:prstGeom>
          <a:solidFill>
            <a:srgbClr val="7CE38B"/>
          </a:solidFill>
          <a:ln w="12700">
            <a:solidFill>
              <a:srgbClr val="7CE38B"/>
            </a:solidFill>
            <a:prstDash val="solid"/>
          </a:ln>
        </p:spPr>
        <p:txBody>
          <a:bodyPr/>
          <a:lstStyle/>
          <a:p>
            <a:endParaRPr/>
          </a:p>
        </p:txBody>
      </p:sp>
      <p:sp>
        <p:nvSpPr>
          <p:cNvPr id="19" name="Text 17"/>
          <p:cNvSpPr/>
          <p:nvPr/>
        </p:nvSpPr>
        <p:spPr>
          <a:xfrm>
            <a:off x="365760" y="4242816"/>
            <a:ext cx="292608" cy="292608"/>
          </a:xfrm>
          <a:prstGeom prst="rect">
            <a:avLst/>
          </a:prstGeom>
          <a:noFill/>
          <a:ln/>
        </p:spPr>
        <p:txBody>
          <a:bodyPr wrap="square" lIns="0" tIns="0" rIns="0" bIns="0" rtlCol="0" anchor="ctr"/>
          <a:lstStyle/>
          <a:p>
            <a:pPr marL="0" indent="0" algn="ctr">
              <a:buNone/>
            </a:pPr>
            <a:r>
              <a:rPr lang="en-US" sz="1100" b="1" dirty="0">
                <a:solidFill>
                  <a:srgbClr val="0D1117"/>
                </a:solidFill>
                <a:latin typeface="Consolas" pitchFamily="34" charset="0"/>
                <a:ea typeface="Consolas" pitchFamily="34" charset="-122"/>
                <a:cs typeface="Consolas" pitchFamily="34" charset="-120"/>
              </a:rPr>
              <a:t>5</a:t>
            </a:r>
            <a:endParaRPr lang="en-US" sz="1100" dirty="0"/>
          </a:p>
        </p:txBody>
      </p:sp>
      <p:sp>
        <p:nvSpPr>
          <p:cNvPr id="20" name="Text 18"/>
          <p:cNvSpPr/>
          <p:nvPr/>
        </p:nvSpPr>
        <p:spPr>
          <a:xfrm>
            <a:off x="777240" y="4206240"/>
            <a:ext cx="5212080" cy="365760"/>
          </a:xfrm>
          <a:prstGeom prst="rect">
            <a:avLst/>
          </a:prstGeom>
          <a:noFill/>
          <a:ln/>
        </p:spPr>
        <p:txBody>
          <a:bodyPr wrap="square" lIns="0" tIns="0" rIns="0" bIns="0" rtlCol="0" anchor="ctr"/>
          <a:lstStyle/>
          <a:p>
            <a:pPr marL="0" indent="0">
              <a:buNone/>
            </a:pPr>
            <a:r>
              <a:rPr lang="en-US" sz="1200" dirty="0">
                <a:solidFill>
                  <a:srgbClr val="E6EDF3"/>
                </a:solidFill>
                <a:latin typeface="Calibri" pitchFamily="34" charset="0"/>
                <a:ea typeface="Calibri" pitchFamily="34" charset="-122"/>
                <a:cs typeface="Calibri" pitchFamily="34" charset="-120"/>
              </a:rPr>
              <a:t>Pane đích spawn engine, đọc context, làm việc, exit</a:t>
            </a:r>
            <a:endParaRPr lang="en-US" sz="1200" dirty="0"/>
          </a:p>
        </p:txBody>
      </p:sp>
      <p:sp>
        <p:nvSpPr>
          <p:cNvPr id="21" name="Shape 19"/>
          <p:cNvSpPr/>
          <p:nvPr/>
        </p:nvSpPr>
        <p:spPr>
          <a:xfrm>
            <a:off x="6309360" y="1783080"/>
            <a:ext cx="5486400" cy="4389120"/>
          </a:xfrm>
          <a:prstGeom prst="rect">
            <a:avLst/>
          </a:prstGeom>
          <a:solidFill>
            <a:srgbClr val="161B22"/>
          </a:solidFill>
          <a:ln w="12700">
            <a:solidFill>
              <a:srgbClr val="30363D"/>
            </a:solidFill>
            <a:prstDash val="solid"/>
          </a:ln>
        </p:spPr>
        <p:txBody>
          <a:bodyPr/>
          <a:lstStyle/>
          <a:p>
            <a:endParaRPr/>
          </a:p>
        </p:txBody>
      </p:sp>
      <p:sp>
        <p:nvSpPr>
          <p:cNvPr id="22" name="Shape 20"/>
          <p:cNvSpPr/>
          <p:nvPr/>
        </p:nvSpPr>
        <p:spPr>
          <a:xfrm>
            <a:off x="6400800" y="1874520"/>
            <a:ext cx="91440" cy="91440"/>
          </a:xfrm>
          <a:prstGeom prst="ellipse">
            <a:avLst/>
          </a:prstGeom>
          <a:solidFill>
            <a:srgbClr val="F85149"/>
          </a:solidFill>
          <a:ln w="12700">
            <a:solidFill>
              <a:srgbClr val="F85149"/>
            </a:solidFill>
            <a:prstDash val="solid"/>
          </a:ln>
        </p:spPr>
        <p:txBody>
          <a:bodyPr/>
          <a:lstStyle/>
          <a:p>
            <a:endParaRPr/>
          </a:p>
        </p:txBody>
      </p:sp>
      <p:sp>
        <p:nvSpPr>
          <p:cNvPr id="23" name="Shape 21"/>
          <p:cNvSpPr/>
          <p:nvPr/>
        </p:nvSpPr>
        <p:spPr>
          <a:xfrm>
            <a:off x="6528816" y="1874520"/>
            <a:ext cx="91440" cy="91440"/>
          </a:xfrm>
          <a:prstGeom prst="ellipse">
            <a:avLst/>
          </a:prstGeom>
          <a:solidFill>
            <a:srgbClr val="D29922"/>
          </a:solidFill>
          <a:ln w="12700">
            <a:solidFill>
              <a:srgbClr val="D29922"/>
            </a:solidFill>
            <a:prstDash val="solid"/>
          </a:ln>
        </p:spPr>
        <p:txBody>
          <a:bodyPr/>
          <a:lstStyle/>
          <a:p>
            <a:endParaRPr/>
          </a:p>
        </p:txBody>
      </p:sp>
      <p:sp>
        <p:nvSpPr>
          <p:cNvPr id="24" name="Shape 22"/>
          <p:cNvSpPr/>
          <p:nvPr/>
        </p:nvSpPr>
        <p:spPr>
          <a:xfrm>
            <a:off x="6656832" y="1874520"/>
            <a:ext cx="91440" cy="91440"/>
          </a:xfrm>
          <a:prstGeom prst="ellipse">
            <a:avLst/>
          </a:prstGeom>
          <a:solidFill>
            <a:srgbClr val="3FB950"/>
          </a:solidFill>
          <a:ln w="12700">
            <a:solidFill>
              <a:srgbClr val="3FB950"/>
            </a:solidFill>
            <a:prstDash val="solid"/>
          </a:ln>
        </p:spPr>
        <p:txBody>
          <a:bodyPr/>
          <a:lstStyle/>
          <a:p>
            <a:endParaRPr/>
          </a:p>
        </p:txBody>
      </p:sp>
      <p:sp>
        <p:nvSpPr>
          <p:cNvPr id="25" name="Text 23"/>
          <p:cNvSpPr/>
          <p:nvPr/>
        </p:nvSpPr>
        <p:spPr>
          <a:xfrm>
            <a:off x="6446520" y="2103120"/>
            <a:ext cx="5212080" cy="4023360"/>
          </a:xfrm>
          <a:prstGeom prst="rect">
            <a:avLst/>
          </a:prstGeom>
          <a:noFill/>
          <a:ln/>
        </p:spPr>
        <p:txBody>
          <a:bodyPr wrap="square" lIns="0" tIns="0" rIns="0" bIns="0" rtlCol="0" anchor="t"/>
          <a:lstStyle/>
          <a:p>
            <a:pPr marL="0" indent="0">
              <a:buNone/>
            </a:pPr>
            <a:r>
              <a:rPr lang="en-US" sz="1200" dirty="0">
                <a:solidFill>
                  <a:srgbClr val="8B949E"/>
                </a:solidFill>
                <a:latin typeface="Consolas" pitchFamily="34" charset="0"/>
                <a:ea typeface="Consolas" pitchFamily="34" charset="-122"/>
                <a:cs typeface="Consolas" pitchFamily="34" charset="-120"/>
              </a:rPr>
              <a:t># Bạn nói với Orchestrator:</a:t>
            </a:r>
            <a:endParaRPr lang="en-US" sz="1200" dirty="0"/>
          </a:p>
          <a:p>
            <a:pPr marL="0" indent="0">
              <a:buNone/>
            </a:pPr>
            <a:r>
              <a:rPr lang="en-US" sz="1200" dirty="0">
                <a:solidFill>
                  <a:srgbClr val="8B949E"/>
                </a:solidFill>
                <a:latin typeface="Consolas" pitchFamily="34" charset="0"/>
                <a:ea typeface="Consolas" pitchFamily="34" charset="-122"/>
                <a:cs typeface="Consolas" pitchFamily="34" charset="-120"/>
              </a:rPr>
              <a:t># "Bắt đầu phase discovery"</a:t>
            </a:r>
            <a:endParaRPr lang="en-US" sz="1200" dirty="0"/>
          </a:p>
          <a:p>
            <a:pPr marL="0" indent="0">
              <a:buNone/>
            </a:pPr>
            <a:endParaRPr lang="en-US" sz="1200" dirty="0"/>
          </a:p>
          <a:p>
            <a:pPr marL="0" indent="0">
              <a:buNone/>
            </a:pPr>
            <a:r>
              <a:rPr lang="en-US" sz="1200" dirty="0">
                <a:solidFill>
                  <a:srgbClr val="7CE38B"/>
                </a:solidFill>
                <a:latin typeface="Consolas" pitchFamily="34" charset="0"/>
                <a:ea typeface="Consolas" pitchFamily="34" charset="-122"/>
                <a:cs typeface="Consolas" pitchFamily="34" charset="-120"/>
              </a:rPr>
              <a:t>$ bash scripts/delegate_phase.sh \</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      discovery</a:t>
            </a:r>
            <a:endParaRPr lang="en-US" sz="1200" dirty="0"/>
          </a:p>
          <a:p>
            <a:pPr marL="0" indent="0">
              <a:buNone/>
            </a:pP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[Orch] routes PM, BA, UX in parallel</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[Orch] writes 3 task files</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[Orch] tmux send-keys to panes 2,4,5</a:t>
            </a:r>
            <a:endParaRPr lang="en-US" sz="1200" dirty="0"/>
          </a:p>
          <a:p>
            <a:pPr marL="0" indent="0">
              <a:buNone/>
            </a:pPr>
            <a:endParaRPr lang="en-US" sz="1200" dirty="0"/>
          </a:p>
          <a:p>
            <a:pPr marL="0" indent="0">
              <a:buNone/>
            </a:pPr>
            <a:r>
              <a:rPr lang="en-US" sz="1200" dirty="0">
                <a:solidFill>
                  <a:srgbClr val="8B949E"/>
                </a:solidFill>
                <a:latin typeface="Consolas" pitchFamily="34" charset="0"/>
                <a:ea typeface="Consolas" pitchFamily="34" charset="-122"/>
                <a:cs typeface="Consolas" pitchFamily="34" charset="-120"/>
              </a:rPr>
              <a:t># Verify routing thật sự đã chạy:</a:t>
            </a:r>
            <a:endParaRPr lang="en-US" sz="1200" dirty="0"/>
          </a:p>
          <a:p>
            <a:pPr marL="0" indent="0">
              <a:buNone/>
            </a:pPr>
            <a:r>
              <a:rPr lang="en-US" sz="1200" dirty="0">
                <a:solidFill>
                  <a:srgbClr val="7CE38B"/>
                </a:solidFill>
                <a:latin typeface="Consolas" pitchFamily="34" charset="0"/>
                <a:ea typeface="Consolas" pitchFamily="34" charset="-122"/>
                <a:cs typeface="Consolas" pitchFamily="34" charset="-120"/>
              </a:rPr>
              <a:t>$ bash scripts/verify_routing.sh</a:t>
            </a:r>
            <a:endParaRPr lang="en-US" sz="1200" dirty="0"/>
          </a:p>
        </p:txBody>
      </p:sp>
      <p:sp>
        <p:nvSpPr>
          <p:cNvPr id="26" name="Text 24"/>
          <p:cNvSpPr/>
          <p:nvPr/>
        </p:nvSpPr>
        <p:spPr>
          <a:xfrm>
            <a:off x="365760" y="6035040"/>
            <a:ext cx="11430000" cy="320040"/>
          </a:xfrm>
          <a:prstGeom prst="rect">
            <a:avLst/>
          </a:prstGeom>
          <a:noFill/>
          <a:ln/>
        </p:spPr>
        <p:txBody>
          <a:bodyPr wrap="square" lIns="0" tIns="0" rIns="0" bIns="0" rtlCol="0" anchor="ctr"/>
          <a:lstStyle/>
          <a:p>
            <a:pPr marL="0" indent="0">
              <a:buNone/>
            </a:pPr>
            <a:r>
              <a:rPr lang="en-US" sz="1100" i="1" dirty="0">
                <a:solidFill>
                  <a:srgbClr val="D29922"/>
                </a:solidFill>
                <a:latin typeface="Calibri" pitchFamily="34" charset="0"/>
                <a:ea typeface="Calibri" pitchFamily="34" charset="-122"/>
                <a:cs typeface="Calibri" pitchFamily="34" charset="-120"/>
              </a:rPr>
              <a:t>→ route_to_pane.sh REFUSES target=ORCHESTRATOR (v10.0) để tránh self-kill TUI.</a:t>
            </a:r>
            <a:endParaRPr lang="en-US" sz="1100" dirty="0"/>
          </a:p>
        </p:txBody>
      </p:sp>
      <p:sp>
        <p:nvSpPr>
          <p:cNvPr id="27" name="Text 25"/>
          <p:cNvSpPr/>
          <p:nvPr/>
        </p:nvSpPr>
        <p:spPr>
          <a:xfrm>
            <a:off x="11338560" y="6492240"/>
            <a:ext cx="731520" cy="228600"/>
          </a:xfrm>
          <a:prstGeom prst="rect">
            <a:avLst/>
          </a:prstGeom>
          <a:noFill/>
          <a:ln/>
        </p:spPr>
        <p:txBody>
          <a:bodyPr wrap="square" lIns="0" tIns="0" rIns="0" bIns="0" rtlCol="0" anchor="ctr"/>
          <a:lstStyle/>
          <a:p>
            <a:pPr marL="0" indent="0" algn="r">
              <a:buNone/>
            </a:pPr>
            <a:r>
              <a:rPr lang="en-US" sz="900" dirty="0">
                <a:solidFill>
                  <a:srgbClr val="8B949E"/>
                </a:solidFill>
                <a:latin typeface="Consolas" pitchFamily="34" charset="0"/>
                <a:ea typeface="Consolas" pitchFamily="34" charset="-122"/>
                <a:cs typeface="Consolas" pitchFamily="34" charset="-120"/>
              </a:rPr>
              <a:t>13 / 40</a:t>
            </a:r>
            <a:endParaRPr lang="en-US" sz="900" dirty="0"/>
          </a:p>
        </p:txBody>
      </p:sp>
      <p:sp>
        <p:nvSpPr>
          <p:cNvPr id="28" name="Text 26"/>
          <p:cNvSpPr/>
          <p:nvPr/>
        </p:nvSpPr>
        <p:spPr>
          <a:xfrm>
            <a:off x="365760" y="6492240"/>
            <a:ext cx="1097280" cy="228600"/>
          </a:xfrm>
          <a:prstGeom prst="rect">
            <a:avLst/>
          </a:prstGeom>
          <a:noFill/>
          <a:ln/>
        </p:spPr>
        <p:txBody>
          <a:bodyPr wrap="square" lIns="0" tIns="0" rIns="0" bIns="0" rtlCol="0" anchor="ctr"/>
          <a:lstStyle/>
          <a:p>
            <a:pPr marL="0" indent="0" algn="l">
              <a:buNone/>
            </a:pPr>
            <a:r>
              <a:rPr lang="en-US" sz="900" dirty="0">
                <a:solidFill>
                  <a:srgbClr val="8B949E"/>
                </a:solidFill>
                <a:latin typeface="Consolas" pitchFamily="34" charset="0"/>
                <a:ea typeface="Consolas" pitchFamily="34" charset="-122"/>
                <a:cs typeface="Consolas" pitchFamily="34" charset="-120"/>
              </a:rPr>
              <a:t>v10.23</a:t>
            </a:r>
            <a:endParaRPr lang="en-US" sz="900" dirty="0"/>
          </a:p>
        </p:txBody>
      </p:sp>
      <p:sp>
        <p:nvSpPr>
          <p:cNvPr id="29" name="Text 27"/>
          <p:cNvSpPr/>
          <p:nvPr/>
        </p:nvSpPr>
        <p:spPr>
          <a:xfrm>
            <a:off x="4572000" y="6492240"/>
            <a:ext cx="6400800" cy="228600"/>
          </a:xfrm>
          <a:prstGeom prst="rect">
            <a:avLst/>
          </a:prstGeom>
          <a:noFill/>
          <a:ln/>
        </p:spPr>
        <p:txBody>
          <a:bodyPr wrap="square" lIns="0" tIns="0" rIns="0" bIns="0" rtlCol="0" anchor="ctr"/>
          <a:lstStyle/>
          <a:p>
            <a:pPr marL="0" indent="0" algn="ctr">
              <a:buNone/>
            </a:pPr>
            <a:r>
              <a:rPr lang="en-US" sz="900" dirty="0">
                <a:solidFill>
                  <a:srgbClr val="8B949E"/>
                </a:solidFill>
                <a:latin typeface="Consolas" pitchFamily="34" charset="0"/>
                <a:ea typeface="Consolas" pitchFamily="34" charset="-122"/>
                <a:cs typeface="Consolas" pitchFamily="34" charset="-120"/>
              </a:rPr>
              <a:t>Product Engineering Agent Framework</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365760" y="228600"/>
            <a:ext cx="8229600" cy="274320"/>
          </a:xfrm>
          <a:prstGeom prst="rect">
            <a:avLst/>
          </a:prstGeom>
          <a:noFill/>
          <a:ln/>
        </p:spPr>
        <p:txBody>
          <a:bodyPr wrap="square" lIns="0" tIns="0" rIns="0" bIns="0" rtlCol="0" anchor="ctr"/>
          <a:lstStyle/>
          <a:p>
            <a:pPr marL="0" indent="0">
              <a:buNone/>
            </a:pPr>
            <a:r>
              <a:rPr lang="en-US" sz="1100" dirty="0">
                <a:solidFill>
                  <a:srgbClr val="2EA043"/>
                </a:solidFill>
                <a:latin typeface="Consolas" pitchFamily="34" charset="0"/>
                <a:ea typeface="Consolas" pitchFamily="34" charset="-122"/>
                <a:cs typeface="Consolas" pitchFamily="34" charset="-120"/>
              </a:rPr>
              <a:t>$ </a:t>
            </a:r>
            <a:r>
              <a:rPr lang="en-US" sz="1100" dirty="0">
                <a:solidFill>
                  <a:srgbClr val="8B949E"/>
                </a:solidFill>
                <a:latin typeface="Consolas" pitchFamily="34" charset="0"/>
                <a:ea typeface="Consolas" pitchFamily="34" charset="-122"/>
                <a:cs typeface="Consolas" pitchFamily="34" charset="-120"/>
              </a:rPr>
              <a:t>10_clarification.md</a:t>
            </a:r>
            <a:endParaRPr lang="en-US" sz="1100" dirty="0"/>
          </a:p>
        </p:txBody>
      </p:sp>
      <p:sp>
        <p:nvSpPr>
          <p:cNvPr id="3" name="Text 1"/>
          <p:cNvSpPr/>
          <p:nvPr/>
        </p:nvSpPr>
        <p:spPr>
          <a:xfrm>
            <a:off x="365760" y="548640"/>
            <a:ext cx="11430000" cy="640080"/>
          </a:xfrm>
          <a:prstGeom prst="rect">
            <a:avLst/>
          </a:prstGeom>
          <a:noFill/>
          <a:ln/>
        </p:spPr>
        <p:txBody>
          <a:bodyPr wrap="square" lIns="0" tIns="0" rIns="0" bIns="0" rtlCol="0" anchor="ctr"/>
          <a:lstStyle/>
          <a:p>
            <a:pPr marL="0" indent="0">
              <a:buNone/>
            </a:pPr>
            <a:r>
              <a:rPr lang="en-US" sz="3000" b="1" dirty="0">
                <a:solidFill>
                  <a:srgbClr val="E6EDF3"/>
                </a:solidFill>
                <a:latin typeface="Consolas" pitchFamily="34" charset="0"/>
                <a:ea typeface="Consolas" pitchFamily="34" charset="-122"/>
                <a:cs typeface="Consolas" pitchFamily="34" charset="-120"/>
              </a:rPr>
              <a:t>Vòng lặp clarification</a:t>
            </a:r>
            <a:endParaRPr lang="en-US" sz="3000" dirty="0"/>
          </a:p>
        </p:txBody>
      </p:sp>
      <p:sp>
        <p:nvSpPr>
          <p:cNvPr id="4" name="Text 2"/>
          <p:cNvSpPr/>
          <p:nvPr/>
        </p:nvSpPr>
        <p:spPr>
          <a:xfrm>
            <a:off x="365760" y="1143000"/>
            <a:ext cx="11430000" cy="365760"/>
          </a:xfrm>
          <a:prstGeom prst="rect">
            <a:avLst/>
          </a:prstGeom>
          <a:noFill/>
          <a:ln/>
        </p:spPr>
        <p:txBody>
          <a:bodyPr wrap="square" lIns="0" tIns="0" rIns="0" bIns="0" rtlCol="0" anchor="ctr"/>
          <a:lstStyle/>
          <a:p>
            <a:pPr marL="0" indent="0">
              <a:buNone/>
            </a:pPr>
            <a:r>
              <a:rPr lang="en-US" sz="1400" i="1" dirty="0">
                <a:solidFill>
                  <a:srgbClr val="8B949E"/>
                </a:solidFill>
                <a:latin typeface="Calibri" pitchFamily="34" charset="0"/>
                <a:ea typeface="Calibri" pitchFamily="34" charset="-122"/>
                <a:cs typeface="Calibri" pitchFamily="34" charset="-120"/>
              </a:rPr>
              <a:t>Worker không chat trực tiếp với user — hỏi qua Orchestrator</a:t>
            </a:r>
            <a:endParaRPr lang="en-US" sz="1400" dirty="0"/>
          </a:p>
        </p:txBody>
      </p:sp>
      <p:sp>
        <p:nvSpPr>
          <p:cNvPr id="5" name="Shape 3"/>
          <p:cNvSpPr/>
          <p:nvPr/>
        </p:nvSpPr>
        <p:spPr>
          <a:xfrm>
            <a:off x="365760" y="1783080"/>
            <a:ext cx="11430000" cy="4206240"/>
          </a:xfrm>
          <a:prstGeom prst="rect">
            <a:avLst/>
          </a:prstGeom>
          <a:solidFill>
            <a:srgbClr val="161B22"/>
          </a:solidFill>
          <a:ln w="12700">
            <a:solidFill>
              <a:srgbClr val="30363D"/>
            </a:solidFill>
            <a:prstDash val="solid"/>
          </a:ln>
        </p:spPr>
        <p:txBody>
          <a:bodyPr/>
          <a:lstStyle/>
          <a:p>
            <a:endParaRPr/>
          </a:p>
        </p:txBody>
      </p:sp>
      <p:sp>
        <p:nvSpPr>
          <p:cNvPr id="6" name="Shape 4"/>
          <p:cNvSpPr/>
          <p:nvPr/>
        </p:nvSpPr>
        <p:spPr>
          <a:xfrm>
            <a:off x="457200" y="1874520"/>
            <a:ext cx="91440" cy="91440"/>
          </a:xfrm>
          <a:prstGeom prst="ellipse">
            <a:avLst/>
          </a:prstGeom>
          <a:solidFill>
            <a:srgbClr val="F85149"/>
          </a:solidFill>
          <a:ln w="12700">
            <a:solidFill>
              <a:srgbClr val="F85149"/>
            </a:solidFill>
            <a:prstDash val="solid"/>
          </a:ln>
        </p:spPr>
        <p:txBody>
          <a:bodyPr/>
          <a:lstStyle/>
          <a:p>
            <a:endParaRPr/>
          </a:p>
        </p:txBody>
      </p:sp>
      <p:sp>
        <p:nvSpPr>
          <p:cNvPr id="7" name="Shape 5"/>
          <p:cNvSpPr/>
          <p:nvPr/>
        </p:nvSpPr>
        <p:spPr>
          <a:xfrm>
            <a:off x="585216" y="1874520"/>
            <a:ext cx="91440" cy="91440"/>
          </a:xfrm>
          <a:prstGeom prst="ellipse">
            <a:avLst/>
          </a:prstGeom>
          <a:solidFill>
            <a:srgbClr val="D29922"/>
          </a:solidFill>
          <a:ln w="12700">
            <a:solidFill>
              <a:srgbClr val="D29922"/>
            </a:solidFill>
            <a:prstDash val="solid"/>
          </a:ln>
        </p:spPr>
        <p:txBody>
          <a:bodyPr/>
          <a:lstStyle/>
          <a:p>
            <a:endParaRPr/>
          </a:p>
        </p:txBody>
      </p:sp>
      <p:sp>
        <p:nvSpPr>
          <p:cNvPr id="8" name="Shape 6"/>
          <p:cNvSpPr/>
          <p:nvPr/>
        </p:nvSpPr>
        <p:spPr>
          <a:xfrm>
            <a:off x="713232" y="1874520"/>
            <a:ext cx="91440" cy="91440"/>
          </a:xfrm>
          <a:prstGeom prst="ellipse">
            <a:avLst/>
          </a:prstGeom>
          <a:solidFill>
            <a:srgbClr val="3FB950"/>
          </a:solidFill>
          <a:ln w="12700">
            <a:solidFill>
              <a:srgbClr val="3FB950"/>
            </a:solidFill>
            <a:prstDash val="solid"/>
          </a:ln>
        </p:spPr>
        <p:txBody>
          <a:bodyPr/>
          <a:lstStyle/>
          <a:p>
            <a:endParaRPr/>
          </a:p>
        </p:txBody>
      </p:sp>
      <p:sp>
        <p:nvSpPr>
          <p:cNvPr id="9" name="Text 7"/>
          <p:cNvSpPr/>
          <p:nvPr/>
        </p:nvSpPr>
        <p:spPr>
          <a:xfrm>
            <a:off x="502920" y="2103120"/>
            <a:ext cx="11155680" cy="3840480"/>
          </a:xfrm>
          <a:prstGeom prst="rect">
            <a:avLst/>
          </a:prstGeom>
          <a:noFill/>
          <a:ln/>
        </p:spPr>
        <p:txBody>
          <a:bodyPr wrap="square" lIns="0" tIns="0" rIns="0" bIns="0" rtlCol="0" anchor="t"/>
          <a:lstStyle/>
          <a:p>
            <a:pPr marL="0" indent="0">
              <a:buNone/>
            </a:pPr>
            <a:r>
              <a:rPr lang="en-US" sz="1200" dirty="0">
                <a:solidFill>
                  <a:srgbClr val="E6EDF3"/>
                </a:solidFill>
                <a:latin typeface="Consolas" pitchFamily="34" charset="0"/>
                <a:ea typeface="Consolas" pitchFamily="34" charset="-122"/>
                <a:cs typeface="Consolas" pitchFamily="34" charset="-120"/>
              </a:rPr>
              <a:t>[SA pane]   gặp quyết định cần user (Postgres vs Mongo?)</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            $ bash scripts/ask_orchestrator.sh SA "&lt;question&gt;"</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                  ↓ writes .pane_questions/SA_&lt;ts&gt;.md</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                  ↓ tmux send-keys [INBOX] vào pane 1 + Enter (v10.4)</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[Orch]      auto-wake → list_pending_questions.sh → present cho USER</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[USER]      "Postgres on Supabase free tier"</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[Orch]      $ bash scripts/answer_role.sh SA &lt;qid&gt; "&lt;answer&gt;"</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                  ↓ writes .pane_answers/SA_&lt;qid&gt;.md</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                  ↓ auto-routes SA với answer attached</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[SA pane]   resume — đọc answer, tiếp tục task, ghi memory/SA.md</a:t>
            </a:r>
            <a:endParaRPr lang="en-US" sz="1200" dirty="0"/>
          </a:p>
        </p:txBody>
      </p:sp>
      <p:sp>
        <p:nvSpPr>
          <p:cNvPr id="10" name="Shape 8"/>
          <p:cNvSpPr/>
          <p:nvPr/>
        </p:nvSpPr>
        <p:spPr>
          <a:xfrm>
            <a:off x="365760" y="6080760"/>
            <a:ext cx="54864" cy="292608"/>
          </a:xfrm>
          <a:prstGeom prst="rect">
            <a:avLst/>
          </a:prstGeom>
          <a:solidFill>
            <a:srgbClr val="7CE38B"/>
          </a:solidFill>
          <a:ln w="12700">
            <a:solidFill>
              <a:srgbClr val="7CE38B"/>
            </a:solidFill>
            <a:prstDash val="solid"/>
          </a:ln>
        </p:spPr>
        <p:txBody>
          <a:bodyPr/>
          <a:lstStyle/>
          <a:p>
            <a:endParaRPr/>
          </a:p>
        </p:txBody>
      </p:sp>
      <p:sp>
        <p:nvSpPr>
          <p:cNvPr id="11" name="Text 9"/>
          <p:cNvSpPr/>
          <p:nvPr/>
        </p:nvSpPr>
        <p:spPr>
          <a:xfrm>
            <a:off x="502920" y="6080760"/>
            <a:ext cx="11292840" cy="292608"/>
          </a:xfrm>
          <a:prstGeom prst="rect">
            <a:avLst/>
          </a:prstGeom>
          <a:noFill/>
          <a:ln/>
        </p:spPr>
        <p:txBody>
          <a:bodyPr wrap="square" lIns="0" tIns="0" rIns="0" bIns="0" rtlCol="0" anchor="ctr"/>
          <a:lstStyle/>
          <a:p>
            <a:pPr marL="0" indent="0">
              <a:buNone/>
            </a:pPr>
            <a:r>
              <a:rPr lang="en-US" sz="1400" b="1" dirty="0">
                <a:solidFill>
                  <a:srgbClr val="E6EDF3"/>
                </a:solidFill>
                <a:latin typeface="Consolas" pitchFamily="34" charset="0"/>
                <a:ea typeface="Consolas" pitchFamily="34" charset="-122"/>
                <a:cs typeface="Consolas" pitchFamily="34" charset="-120"/>
              </a:rPr>
              <a:t>Stop-and-ask threshold (universal — v10.7 + v10.10)</a:t>
            </a:r>
            <a:endParaRPr lang="en-US" sz="1400" dirty="0"/>
          </a:p>
        </p:txBody>
      </p:sp>
      <p:sp>
        <p:nvSpPr>
          <p:cNvPr id="12" name="Text 10"/>
          <p:cNvSpPr/>
          <p:nvPr/>
        </p:nvSpPr>
        <p:spPr>
          <a:xfrm>
            <a:off x="11338560" y="6492240"/>
            <a:ext cx="731520" cy="228600"/>
          </a:xfrm>
          <a:prstGeom prst="rect">
            <a:avLst/>
          </a:prstGeom>
          <a:noFill/>
          <a:ln/>
        </p:spPr>
        <p:txBody>
          <a:bodyPr wrap="square" lIns="0" tIns="0" rIns="0" bIns="0" rtlCol="0" anchor="ctr"/>
          <a:lstStyle/>
          <a:p>
            <a:pPr marL="0" indent="0" algn="r">
              <a:buNone/>
            </a:pPr>
            <a:r>
              <a:rPr lang="en-US" sz="900" dirty="0">
                <a:solidFill>
                  <a:srgbClr val="8B949E"/>
                </a:solidFill>
                <a:latin typeface="Consolas" pitchFamily="34" charset="0"/>
                <a:ea typeface="Consolas" pitchFamily="34" charset="-122"/>
                <a:cs typeface="Consolas" pitchFamily="34" charset="-120"/>
              </a:rPr>
              <a:t>14 / 40</a:t>
            </a:r>
            <a:endParaRPr lang="en-US" sz="900" dirty="0"/>
          </a:p>
        </p:txBody>
      </p:sp>
      <p:sp>
        <p:nvSpPr>
          <p:cNvPr id="13" name="Text 11"/>
          <p:cNvSpPr/>
          <p:nvPr/>
        </p:nvSpPr>
        <p:spPr>
          <a:xfrm>
            <a:off x="365760" y="6492240"/>
            <a:ext cx="1097280" cy="228600"/>
          </a:xfrm>
          <a:prstGeom prst="rect">
            <a:avLst/>
          </a:prstGeom>
          <a:noFill/>
          <a:ln/>
        </p:spPr>
        <p:txBody>
          <a:bodyPr wrap="square" lIns="0" tIns="0" rIns="0" bIns="0" rtlCol="0" anchor="ctr"/>
          <a:lstStyle/>
          <a:p>
            <a:pPr marL="0" indent="0" algn="l">
              <a:buNone/>
            </a:pPr>
            <a:r>
              <a:rPr lang="en-US" sz="900" dirty="0">
                <a:solidFill>
                  <a:srgbClr val="8B949E"/>
                </a:solidFill>
                <a:latin typeface="Consolas" pitchFamily="34" charset="0"/>
                <a:ea typeface="Consolas" pitchFamily="34" charset="-122"/>
                <a:cs typeface="Consolas" pitchFamily="34" charset="-120"/>
              </a:rPr>
              <a:t>v10.23</a:t>
            </a:r>
            <a:endParaRPr lang="en-US" sz="900" dirty="0"/>
          </a:p>
        </p:txBody>
      </p:sp>
      <p:sp>
        <p:nvSpPr>
          <p:cNvPr id="14" name="Text 12"/>
          <p:cNvSpPr/>
          <p:nvPr/>
        </p:nvSpPr>
        <p:spPr>
          <a:xfrm>
            <a:off x="4572000" y="6492240"/>
            <a:ext cx="6400800" cy="228600"/>
          </a:xfrm>
          <a:prstGeom prst="rect">
            <a:avLst/>
          </a:prstGeom>
          <a:noFill/>
          <a:ln/>
        </p:spPr>
        <p:txBody>
          <a:bodyPr wrap="square" lIns="0" tIns="0" rIns="0" bIns="0" rtlCol="0" anchor="ctr"/>
          <a:lstStyle/>
          <a:p>
            <a:pPr marL="0" indent="0" algn="ctr">
              <a:buNone/>
            </a:pPr>
            <a:r>
              <a:rPr lang="en-US" sz="900" dirty="0">
                <a:solidFill>
                  <a:srgbClr val="8B949E"/>
                </a:solidFill>
                <a:latin typeface="Consolas" pitchFamily="34" charset="0"/>
                <a:ea typeface="Consolas" pitchFamily="34" charset="-122"/>
                <a:cs typeface="Consolas" pitchFamily="34" charset="-120"/>
              </a:rPr>
              <a:t>Product Engineering Agent Framework</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365760" y="228600"/>
            <a:ext cx="8229600" cy="274320"/>
          </a:xfrm>
          <a:prstGeom prst="rect">
            <a:avLst/>
          </a:prstGeom>
          <a:noFill/>
          <a:ln/>
        </p:spPr>
        <p:txBody>
          <a:bodyPr wrap="square" lIns="0" tIns="0" rIns="0" bIns="0" rtlCol="0" anchor="ctr"/>
          <a:lstStyle/>
          <a:p>
            <a:pPr marL="0" indent="0">
              <a:buNone/>
            </a:pPr>
            <a:r>
              <a:rPr lang="en-US" sz="1100" dirty="0">
                <a:solidFill>
                  <a:srgbClr val="2EA043"/>
                </a:solidFill>
                <a:latin typeface="Consolas" pitchFamily="34" charset="0"/>
                <a:ea typeface="Consolas" pitchFamily="34" charset="-122"/>
                <a:cs typeface="Consolas" pitchFamily="34" charset="-120"/>
              </a:rPr>
              <a:t>$ </a:t>
            </a:r>
            <a:r>
              <a:rPr lang="en-US" sz="1100" dirty="0">
                <a:solidFill>
                  <a:srgbClr val="8B949E"/>
                </a:solidFill>
                <a:latin typeface="Consolas" pitchFamily="34" charset="0"/>
                <a:ea typeface="Consolas" pitchFamily="34" charset="-122"/>
                <a:cs typeface="Consolas" pitchFamily="34" charset="-120"/>
              </a:rPr>
              <a:t>11_notification.md</a:t>
            </a:r>
            <a:endParaRPr lang="en-US" sz="1100" dirty="0"/>
          </a:p>
        </p:txBody>
      </p:sp>
      <p:sp>
        <p:nvSpPr>
          <p:cNvPr id="3" name="Text 1"/>
          <p:cNvSpPr/>
          <p:nvPr/>
        </p:nvSpPr>
        <p:spPr>
          <a:xfrm>
            <a:off x="365760" y="548640"/>
            <a:ext cx="11430000" cy="640080"/>
          </a:xfrm>
          <a:prstGeom prst="rect">
            <a:avLst/>
          </a:prstGeom>
          <a:noFill/>
          <a:ln/>
        </p:spPr>
        <p:txBody>
          <a:bodyPr wrap="square" lIns="0" tIns="0" rIns="0" bIns="0" rtlCol="0" anchor="ctr"/>
          <a:lstStyle/>
          <a:p>
            <a:pPr marL="0" indent="0">
              <a:buNone/>
            </a:pPr>
            <a:r>
              <a:rPr lang="en-US" sz="3000" b="1" dirty="0">
                <a:solidFill>
                  <a:srgbClr val="E6EDF3"/>
                </a:solidFill>
                <a:latin typeface="Consolas" pitchFamily="34" charset="0"/>
                <a:ea typeface="Consolas" pitchFamily="34" charset="-122"/>
                <a:cs typeface="Consolas" pitchFamily="34" charset="-120"/>
              </a:rPr>
              <a:t>Vòng lặp notification</a:t>
            </a:r>
            <a:endParaRPr lang="en-US" sz="3000" dirty="0"/>
          </a:p>
        </p:txBody>
      </p:sp>
      <p:sp>
        <p:nvSpPr>
          <p:cNvPr id="4" name="Text 2"/>
          <p:cNvSpPr/>
          <p:nvPr/>
        </p:nvSpPr>
        <p:spPr>
          <a:xfrm>
            <a:off x="365760" y="1143000"/>
            <a:ext cx="11430000" cy="365760"/>
          </a:xfrm>
          <a:prstGeom prst="rect">
            <a:avLst/>
          </a:prstGeom>
          <a:noFill/>
          <a:ln/>
        </p:spPr>
        <p:txBody>
          <a:bodyPr wrap="square" lIns="0" tIns="0" rIns="0" bIns="0" rtlCol="0" anchor="ctr"/>
          <a:lstStyle/>
          <a:p>
            <a:pPr marL="0" indent="0">
              <a:buNone/>
            </a:pPr>
            <a:r>
              <a:rPr lang="en-US" sz="1400" i="1" dirty="0">
                <a:solidFill>
                  <a:srgbClr val="8B949E"/>
                </a:solidFill>
                <a:latin typeface="Calibri" pitchFamily="34" charset="0"/>
                <a:ea typeface="Calibri" pitchFamily="34" charset="-122"/>
                <a:cs typeface="Calibri" pitchFamily="34" charset="-120"/>
              </a:rPr>
              <a:t>Worker báo sự kiện ngược lại Orchestrator (không cần trả lời)</a:t>
            </a:r>
            <a:endParaRPr lang="en-US" sz="1400" dirty="0"/>
          </a:p>
        </p:txBody>
      </p:sp>
      <p:sp>
        <p:nvSpPr>
          <p:cNvPr id="5" name="Text 3"/>
          <p:cNvSpPr/>
          <p:nvPr/>
        </p:nvSpPr>
        <p:spPr>
          <a:xfrm>
            <a:off x="365760" y="1783080"/>
            <a:ext cx="11430000" cy="411480"/>
          </a:xfrm>
          <a:prstGeom prst="rect">
            <a:avLst/>
          </a:prstGeom>
          <a:noFill/>
          <a:ln/>
        </p:spPr>
        <p:txBody>
          <a:bodyPr wrap="square" lIns="0" tIns="0" rIns="0" bIns="0" rtlCol="0" anchor="ctr"/>
          <a:lstStyle/>
          <a:p>
            <a:pPr marL="0" indent="0">
              <a:buNone/>
            </a:pPr>
            <a:r>
              <a:rPr lang="en-US" sz="1300" dirty="0">
                <a:solidFill>
                  <a:srgbClr val="8B949E"/>
                </a:solidFill>
                <a:latin typeface="Calibri" pitchFamily="34" charset="0"/>
                <a:ea typeface="Calibri" pitchFamily="34" charset="-122"/>
                <a:cs typeface="Calibri" pitchFamily="34" charset="-120"/>
              </a:rPr>
              <a:t>Khác với ask_orchestrator.sh (cần trả lời), notify_orchestrator.sh là one-way event:</a:t>
            </a:r>
            <a:endParaRPr lang="en-US" sz="1300" dirty="0"/>
          </a:p>
        </p:txBody>
      </p:sp>
      <p:sp>
        <p:nvSpPr>
          <p:cNvPr id="6" name="Shape 4"/>
          <p:cNvSpPr/>
          <p:nvPr/>
        </p:nvSpPr>
        <p:spPr>
          <a:xfrm>
            <a:off x="365760" y="2377440"/>
            <a:ext cx="5669280" cy="3474720"/>
          </a:xfrm>
          <a:prstGeom prst="rect">
            <a:avLst/>
          </a:prstGeom>
          <a:solidFill>
            <a:srgbClr val="161B22"/>
          </a:solidFill>
          <a:ln w="12700">
            <a:solidFill>
              <a:srgbClr val="30363D"/>
            </a:solidFill>
            <a:prstDash val="solid"/>
          </a:ln>
        </p:spPr>
        <p:txBody>
          <a:bodyPr/>
          <a:lstStyle/>
          <a:p>
            <a:endParaRPr/>
          </a:p>
        </p:txBody>
      </p:sp>
      <p:sp>
        <p:nvSpPr>
          <p:cNvPr id="7" name="Shape 5"/>
          <p:cNvSpPr/>
          <p:nvPr/>
        </p:nvSpPr>
        <p:spPr>
          <a:xfrm>
            <a:off x="365760" y="2377440"/>
            <a:ext cx="73152" cy="3474720"/>
          </a:xfrm>
          <a:prstGeom prst="rect">
            <a:avLst/>
          </a:prstGeom>
          <a:solidFill>
            <a:srgbClr val="7CE38B"/>
          </a:solidFill>
          <a:ln w="12700">
            <a:solidFill>
              <a:srgbClr val="7CE38B"/>
            </a:solidFill>
            <a:prstDash val="solid"/>
          </a:ln>
        </p:spPr>
        <p:txBody>
          <a:bodyPr/>
          <a:lstStyle/>
          <a:p>
            <a:endParaRPr/>
          </a:p>
        </p:txBody>
      </p:sp>
      <p:sp>
        <p:nvSpPr>
          <p:cNvPr id="8" name="Text 6"/>
          <p:cNvSpPr/>
          <p:nvPr/>
        </p:nvSpPr>
        <p:spPr>
          <a:xfrm>
            <a:off x="548640" y="2468880"/>
            <a:ext cx="5303520" cy="411480"/>
          </a:xfrm>
          <a:prstGeom prst="rect">
            <a:avLst/>
          </a:prstGeom>
          <a:noFill/>
          <a:ln/>
        </p:spPr>
        <p:txBody>
          <a:bodyPr wrap="square" lIns="0" tIns="0" rIns="0" bIns="0" rtlCol="0" anchor="ctr"/>
          <a:lstStyle/>
          <a:p>
            <a:pPr marL="0" indent="0">
              <a:buNone/>
            </a:pPr>
            <a:r>
              <a:rPr lang="en-US" sz="1400" b="1" dirty="0">
                <a:solidFill>
                  <a:srgbClr val="7CE38B"/>
                </a:solidFill>
                <a:latin typeface="Consolas" pitchFamily="34" charset="0"/>
                <a:ea typeface="Consolas" pitchFamily="34" charset="-122"/>
                <a:cs typeface="Consolas" pitchFamily="34" charset="-120"/>
              </a:rPr>
              <a:t>✓ Tests PASS — auto-route DELIVERY</a:t>
            </a:r>
            <a:endParaRPr lang="en-US" sz="1400" dirty="0"/>
          </a:p>
        </p:txBody>
      </p:sp>
      <p:sp>
        <p:nvSpPr>
          <p:cNvPr id="9" name="Text 7"/>
          <p:cNvSpPr/>
          <p:nvPr/>
        </p:nvSpPr>
        <p:spPr>
          <a:xfrm>
            <a:off x="640080" y="2926080"/>
            <a:ext cx="5120640" cy="2743200"/>
          </a:xfrm>
          <a:prstGeom prst="rect">
            <a:avLst/>
          </a:prstGeom>
          <a:noFill/>
          <a:ln/>
        </p:spPr>
        <p:txBody>
          <a:bodyPr wrap="square" lIns="0" tIns="0" rIns="0" bIns="0" rtlCol="0" anchor="t"/>
          <a:lstStyle/>
          <a:p>
            <a:pPr marL="0" indent="0">
              <a:buNone/>
            </a:pPr>
            <a:r>
              <a:rPr lang="en-US" sz="1200" dirty="0">
                <a:solidFill>
                  <a:srgbClr val="8B949E"/>
                </a:solidFill>
                <a:latin typeface="Calibri" pitchFamily="34" charset="0"/>
                <a:ea typeface="Calibri" pitchFamily="34" charset="-122"/>
                <a:cs typeface="Calibri" pitchFamily="34" charset="-120"/>
              </a:rPr>
              <a:t>QA chạy test xong, VERDICT: PASS:</a:t>
            </a:r>
            <a:endParaRPr lang="en-US" sz="1200" dirty="0"/>
          </a:p>
          <a:p>
            <a:pPr marL="0" indent="0">
              <a:buNone/>
            </a:pPr>
            <a:endParaRPr lang="en-US" sz="1200" dirty="0"/>
          </a:p>
          <a:p>
            <a:pPr marL="0" indent="0">
              <a:buNone/>
            </a:pPr>
            <a:r>
              <a:rPr lang="en-US" sz="1200" dirty="0">
                <a:solidFill>
                  <a:srgbClr val="7CE38B"/>
                </a:solidFill>
                <a:latin typeface="Consolas" pitchFamily="34" charset="0"/>
                <a:ea typeface="Consolas" pitchFamily="34" charset="-122"/>
                <a:cs typeface="Consolas" pitchFamily="34" charset="-120"/>
              </a:rPr>
              <a:t>$ notify_orchestrator.sh QA \</a:t>
            </a:r>
            <a:endParaRPr lang="en-US" sz="1200" dirty="0"/>
          </a:p>
          <a:p>
            <a:pPr marL="0" indent="0">
              <a:buNone/>
            </a:pPr>
            <a:r>
              <a:rPr lang="en-US" sz="1200" dirty="0">
                <a:solidFill>
                  <a:srgbClr val="7CE38B"/>
                </a:solidFill>
                <a:latin typeface="Consolas" pitchFamily="34" charset="0"/>
                <a:ea typeface="Consolas" pitchFamily="34" charset="-122"/>
                <a:cs typeface="Consolas" pitchFamily="34" charset="-120"/>
              </a:rPr>
              <a:t>    "Tests PASS — routing DELIVERY"</a:t>
            </a:r>
            <a:endParaRPr lang="en-US" sz="1200" dirty="0"/>
          </a:p>
          <a:p>
            <a:pPr marL="0" indent="0">
              <a:buNone/>
            </a:pPr>
            <a:r>
              <a:rPr lang="en-US" sz="1200" dirty="0">
                <a:solidFill>
                  <a:srgbClr val="7CE38B"/>
                </a:solidFill>
                <a:latin typeface="Consolas" pitchFamily="34" charset="0"/>
                <a:ea typeface="Consolas" pitchFamily="34" charset="-122"/>
                <a:cs typeface="Consolas" pitchFamily="34" charset="-120"/>
              </a:rPr>
              <a:t>$ route_to_pane.sh DELIVERY "..."</a:t>
            </a:r>
            <a:endParaRPr lang="en-US" sz="1200" dirty="0"/>
          </a:p>
          <a:p>
            <a:pPr marL="0" indent="0">
              <a:buNone/>
            </a:pPr>
            <a:endParaRPr lang="en-US" sz="1200" dirty="0"/>
          </a:p>
          <a:p>
            <a:pPr marL="0" indent="0">
              <a:buNone/>
            </a:pPr>
            <a:r>
              <a:rPr lang="en-US" sz="1200" dirty="0">
                <a:solidFill>
                  <a:srgbClr val="E6EDF3"/>
                </a:solidFill>
                <a:latin typeface="Calibri" pitchFamily="34" charset="0"/>
                <a:ea typeface="Calibri" pitchFamily="34" charset="-122"/>
                <a:cs typeface="Calibri" pitchFamily="34" charset="-120"/>
              </a:rPr>
              <a:t>Orch auto-wake, kể user, watch deploy</a:t>
            </a:r>
            <a:endParaRPr lang="en-US" sz="1200" dirty="0"/>
          </a:p>
        </p:txBody>
      </p:sp>
      <p:sp>
        <p:nvSpPr>
          <p:cNvPr id="10" name="Shape 8"/>
          <p:cNvSpPr/>
          <p:nvPr/>
        </p:nvSpPr>
        <p:spPr>
          <a:xfrm>
            <a:off x="6309360" y="2377440"/>
            <a:ext cx="5486400" cy="3474720"/>
          </a:xfrm>
          <a:prstGeom prst="rect">
            <a:avLst/>
          </a:prstGeom>
          <a:solidFill>
            <a:srgbClr val="161B22"/>
          </a:solidFill>
          <a:ln w="12700">
            <a:solidFill>
              <a:srgbClr val="30363D"/>
            </a:solidFill>
            <a:prstDash val="solid"/>
          </a:ln>
        </p:spPr>
        <p:txBody>
          <a:bodyPr/>
          <a:lstStyle/>
          <a:p>
            <a:endParaRPr/>
          </a:p>
        </p:txBody>
      </p:sp>
      <p:sp>
        <p:nvSpPr>
          <p:cNvPr id="11" name="Shape 9"/>
          <p:cNvSpPr/>
          <p:nvPr/>
        </p:nvSpPr>
        <p:spPr>
          <a:xfrm>
            <a:off x="6309360" y="2377440"/>
            <a:ext cx="73152" cy="3474720"/>
          </a:xfrm>
          <a:prstGeom prst="rect">
            <a:avLst/>
          </a:prstGeom>
          <a:solidFill>
            <a:srgbClr val="79C0FF"/>
          </a:solidFill>
          <a:ln w="12700">
            <a:solidFill>
              <a:srgbClr val="79C0FF"/>
            </a:solidFill>
            <a:prstDash val="solid"/>
          </a:ln>
        </p:spPr>
        <p:txBody>
          <a:bodyPr/>
          <a:lstStyle/>
          <a:p>
            <a:endParaRPr/>
          </a:p>
        </p:txBody>
      </p:sp>
      <p:sp>
        <p:nvSpPr>
          <p:cNvPr id="12" name="Text 10"/>
          <p:cNvSpPr/>
          <p:nvPr/>
        </p:nvSpPr>
        <p:spPr>
          <a:xfrm>
            <a:off x="6492240" y="2468880"/>
            <a:ext cx="5120640" cy="411480"/>
          </a:xfrm>
          <a:prstGeom prst="rect">
            <a:avLst/>
          </a:prstGeom>
          <a:noFill/>
          <a:ln/>
        </p:spPr>
        <p:txBody>
          <a:bodyPr wrap="square" lIns="0" tIns="0" rIns="0" bIns="0" rtlCol="0" anchor="ctr"/>
          <a:lstStyle/>
          <a:p>
            <a:pPr marL="0" indent="0">
              <a:buNone/>
            </a:pPr>
            <a:r>
              <a:rPr lang="en-US" sz="1400" b="1" dirty="0">
                <a:solidFill>
                  <a:srgbClr val="79C0FF"/>
                </a:solidFill>
                <a:latin typeface="Consolas" pitchFamily="34" charset="0"/>
                <a:ea typeface="Consolas" pitchFamily="34" charset="-122"/>
                <a:cs typeface="Consolas" pitchFamily="34" charset="-120"/>
              </a:rPr>
              <a:t>🚀 App is live — URL ready</a:t>
            </a:r>
            <a:endParaRPr lang="en-US" sz="1400" dirty="0"/>
          </a:p>
        </p:txBody>
      </p:sp>
      <p:sp>
        <p:nvSpPr>
          <p:cNvPr id="13" name="Text 11"/>
          <p:cNvSpPr/>
          <p:nvPr/>
        </p:nvSpPr>
        <p:spPr>
          <a:xfrm>
            <a:off x="6400800" y="2926080"/>
            <a:ext cx="5212080" cy="2743200"/>
          </a:xfrm>
          <a:prstGeom prst="rect">
            <a:avLst/>
          </a:prstGeom>
          <a:noFill/>
          <a:ln/>
        </p:spPr>
        <p:txBody>
          <a:bodyPr wrap="square" lIns="0" tIns="0" rIns="0" bIns="0" rtlCol="0" anchor="t"/>
          <a:lstStyle/>
          <a:p>
            <a:pPr marL="0" indent="0">
              <a:buNone/>
            </a:pPr>
            <a:r>
              <a:rPr lang="en-US" sz="1200" dirty="0">
                <a:solidFill>
                  <a:srgbClr val="8B949E"/>
                </a:solidFill>
                <a:latin typeface="Calibri" pitchFamily="34" charset="0"/>
                <a:ea typeface="Calibri" pitchFamily="34" charset="-122"/>
                <a:cs typeface="Calibri" pitchFamily="34" charset="-120"/>
              </a:rPr>
              <a:t>DELIVERY xong docker compose up:</a:t>
            </a:r>
            <a:endParaRPr lang="en-US" sz="1200" dirty="0"/>
          </a:p>
          <a:p>
            <a:pPr marL="0" indent="0">
              <a:buNone/>
            </a:pPr>
            <a:endParaRPr lang="en-US" sz="1200" dirty="0"/>
          </a:p>
          <a:p>
            <a:pPr marL="0" indent="0">
              <a:buNone/>
            </a:pPr>
            <a:r>
              <a:rPr lang="en-US" sz="1200" dirty="0">
                <a:solidFill>
                  <a:srgbClr val="79C0FF"/>
                </a:solidFill>
                <a:latin typeface="Consolas" pitchFamily="34" charset="0"/>
                <a:ea typeface="Consolas" pitchFamily="34" charset="-122"/>
                <a:cs typeface="Consolas" pitchFamily="34" charset="-120"/>
              </a:rPr>
              <a:t>$ notify_orchestrator.sh DELIVERY \</a:t>
            </a:r>
            <a:endParaRPr lang="en-US" sz="1200" dirty="0"/>
          </a:p>
          <a:p>
            <a:pPr marL="0" indent="0">
              <a:buNone/>
            </a:pPr>
            <a:r>
              <a:rPr lang="en-US" sz="1200" dirty="0">
                <a:solidFill>
                  <a:srgbClr val="79C0FF"/>
                </a:solidFill>
                <a:latin typeface="Consolas" pitchFamily="34" charset="0"/>
                <a:ea typeface="Consolas" pitchFamily="34" charset="-122"/>
                <a:cs typeface="Consolas" pitchFamily="34" charset="-120"/>
              </a:rPr>
              <a:t>    "App live — http://localhost:3000"</a:t>
            </a:r>
            <a:endParaRPr lang="en-US" sz="1200" dirty="0"/>
          </a:p>
          <a:p>
            <a:pPr marL="0" indent="0">
              <a:buNone/>
            </a:pPr>
            <a:endParaRPr lang="en-US" sz="1200" dirty="0"/>
          </a:p>
          <a:p>
            <a:pPr marL="0" indent="0">
              <a:buNone/>
            </a:pPr>
            <a:r>
              <a:rPr lang="en-US" sz="1200" dirty="0">
                <a:solidFill>
                  <a:srgbClr val="8B949E"/>
                </a:solidFill>
                <a:latin typeface="Calibri" pitchFamily="34" charset="0"/>
                <a:ea typeface="Calibri" pitchFamily="34" charset="-122"/>
                <a:cs typeface="Calibri" pitchFamily="34" charset="-120"/>
              </a:rPr>
              <a:t>Orch nhận [INBOX], next turn:</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  → cat docs/delivery/RUNNING_APP.md</a:t>
            </a:r>
            <a:endParaRPr lang="en-US" sz="1200" dirty="0"/>
          </a:p>
          <a:p>
            <a:pPr marL="0" indent="0">
              <a:buNone/>
            </a:pPr>
            <a:r>
              <a:rPr lang="en-US" sz="1200" dirty="0">
                <a:solidFill>
                  <a:srgbClr val="E6EDF3"/>
                </a:solidFill>
                <a:latin typeface="Calibri" pitchFamily="34" charset="0"/>
                <a:ea typeface="Calibri" pitchFamily="34" charset="-122"/>
                <a:cs typeface="Calibri" pitchFamily="34" charset="-120"/>
              </a:rPr>
              <a:t>  → user gets URL</a:t>
            </a:r>
            <a:endParaRPr lang="en-US" sz="1200" dirty="0"/>
          </a:p>
        </p:txBody>
      </p:sp>
      <p:sp>
        <p:nvSpPr>
          <p:cNvPr id="14" name="Text 12"/>
          <p:cNvSpPr/>
          <p:nvPr/>
        </p:nvSpPr>
        <p:spPr>
          <a:xfrm>
            <a:off x="365760" y="6126480"/>
            <a:ext cx="11430000" cy="274320"/>
          </a:xfrm>
          <a:prstGeom prst="rect">
            <a:avLst/>
          </a:prstGeom>
          <a:noFill/>
          <a:ln/>
        </p:spPr>
        <p:txBody>
          <a:bodyPr wrap="square" lIns="0" tIns="0" rIns="0" bIns="0" rtlCol="0" anchor="ctr"/>
          <a:lstStyle/>
          <a:p>
            <a:pPr marL="0" indent="0" algn="ctr">
              <a:buNone/>
            </a:pPr>
            <a:r>
              <a:rPr lang="en-US" sz="1100" i="1" dirty="0">
                <a:solidFill>
                  <a:srgbClr val="8B949E"/>
                </a:solidFill>
                <a:latin typeface="Consolas" pitchFamily="34" charset="0"/>
                <a:ea typeface="Consolas" pitchFamily="34" charset="-122"/>
                <a:cs typeface="Consolas" pitchFamily="34" charset="-120"/>
              </a:rPr>
              <a:t>Inbox xem qua: $ bash scripts/list_pending_questions.sh  (hiển thị cả questions + notifications)</a:t>
            </a:r>
            <a:endParaRPr lang="en-US" sz="1100" dirty="0"/>
          </a:p>
        </p:txBody>
      </p:sp>
      <p:sp>
        <p:nvSpPr>
          <p:cNvPr id="15" name="Text 13"/>
          <p:cNvSpPr/>
          <p:nvPr/>
        </p:nvSpPr>
        <p:spPr>
          <a:xfrm>
            <a:off x="11338560" y="6492240"/>
            <a:ext cx="731520" cy="228600"/>
          </a:xfrm>
          <a:prstGeom prst="rect">
            <a:avLst/>
          </a:prstGeom>
          <a:noFill/>
          <a:ln/>
        </p:spPr>
        <p:txBody>
          <a:bodyPr wrap="square" lIns="0" tIns="0" rIns="0" bIns="0" rtlCol="0" anchor="ctr"/>
          <a:lstStyle/>
          <a:p>
            <a:pPr marL="0" indent="0" algn="r">
              <a:buNone/>
            </a:pPr>
            <a:r>
              <a:rPr lang="en-US" sz="900" dirty="0">
                <a:solidFill>
                  <a:srgbClr val="8B949E"/>
                </a:solidFill>
                <a:latin typeface="Consolas" pitchFamily="34" charset="0"/>
                <a:ea typeface="Consolas" pitchFamily="34" charset="-122"/>
                <a:cs typeface="Consolas" pitchFamily="34" charset="-120"/>
              </a:rPr>
              <a:t>15 / 40</a:t>
            </a:r>
            <a:endParaRPr lang="en-US" sz="900" dirty="0"/>
          </a:p>
        </p:txBody>
      </p:sp>
      <p:sp>
        <p:nvSpPr>
          <p:cNvPr id="16" name="Text 14"/>
          <p:cNvSpPr/>
          <p:nvPr/>
        </p:nvSpPr>
        <p:spPr>
          <a:xfrm>
            <a:off x="365760" y="6492240"/>
            <a:ext cx="1097280" cy="228600"/>
          </a:xfrm>
          <a:prstGeom prst="rect">
            <a:avLst/>
          </a:prstGeom>
          <a:noFill/>
          <a:ln/>
        </p:spPr>
        <p:txBody>
          <a:bodyPr wrap="square" lIns="0" tIns="0" rIns="0" bIns="0" rtlCol="0" anchor="ctr"/>
          <a:lstStyle/>
          <a:p>
            <a:pPr marL="0" indent="0" algn="l">
              <a:buNone/>
            </a:pPr>
            <a:r>
              <a:rPr lang="en-US" sz="900" dirty="0">
                <a:solidFill>
                  <a:srgbClr val="8B949E"/>
                </a:solidFill>
                <a:latin typeface="Consolas" pitchFamily="34" charset="0"/>
                <a:ea typeface="Consolas" pitchFamily="34" charset="-122"/>
                <a:cs typeface="Consolas" pitchFamily="34" charset="-120"/>
              </a:rPr>
              <a:t>v10.23</a:t>
            </a:r>
            <a:endParaRPr lang="en-US" sz="900" dirty="0"/>
          </a:p>
        </p:txBody>
      </p:sp>
      <p:sp>
        <p:nvSpPr>
          <p:cNvPr id="17" name="Text 15"/>
          <p:cNvSpPr/>
          <p:nvPr/>
        </p:nvSpPr>
        <p:spPr>
          <a:xfrm>
            <a:off x="4572000" y="6492240"/>
            <a:ext cx="6400800" cy="228600"/>
          </a:xfrm>
          <a:prstGeom prst="rect">
            <a:avLst/>
          </a:prstGeom>
          <a:noFill/>
          <a:ln/>
        </p:spPr>
        <p:txBody>
          <a:bodyPr wrap="square" lIns="0" tIns="0" rIns="0" bIns="0" rtlCol="0" anchor="ctr"/>
          <a:lstStyle/>
          <a:p>
            <a:pPr marL="0" indent="0" algn="ctr">
              <a:buNone/>
            </a:pPr>
            <a:r>
              <a:rPr lang="en-US" sz="900" dirty="0">
                <a:solidFill>
                  <a:srgbClr val="8B949E"/>
                </a:solidFill>
                <a:latin typeface="Consolas" pitchFamily="34" charset="0"/>
                <a:ea typeface="Consolas" pitchFamily="34" charset="-122"/>
                <a:cs typeface="Consolas" pitchFamily="34" charset="-120"/>
              </a:rPr>
              <a:t>Product Engineering Agent Framework</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365760" y="228600"/>
            <a:ext cx="8229600" cy="274320"/>
          </a:xfrm>
          <a:prstGeom prst="rect">
            <a:avLst/>
          </a:prstGeom>
          <a:noFill/>
          <a:ln/>
        </p:spPr>
        <p:txBody>
          <a:bodyPr wrap="square" lIns="0" tIns="0" rIns="0" bIns="0" rtlCol="0" anchor="ctr"/>
          <a:lstStyle/>
          <a:p>
            <a:pPr marL="0" indent="0">
              <a:buNone/>
            </a:pPr>
            <a:r>
              <a:rPr lang="en-US" sz="1100" dirty="0">
                <a:solidFill>
                  <a:srgbClr val="2EA043"/>
                </a:solidFill>
                <a:latin typeface="Consolas" pitchFamily="34" charset="0"/>
                <a:ea typeface="Consolas" pitchFamily="34" charset="-122"/>
                <a:cs typeface="Consolas" pitchFamily="34" charset="-120"/>
              </a:rPr>
              <a:t>$ </a:t>
            </a:r>
            <a:r>
              <a:rPr lang="en-US" sz="1100" dirty="0">
                <a:solidFill>
                  <a:srgbClr val="8B949E"/>
                </a:solidFill>
                <a:latin typeface="Consolas" pitchFamily="34" charset="0"/>
                <a:ea typeface="Consolas" pitchFamily="34" charset="-122"/>
                <a:cs typeface="Consolas" pitchFamily="34" charset="-120"/>
              </a:rPr>
              <a:t>12_memory.md</a:t>
            </a:r>
            <a:endParaRPr lang="en-US" sz="1100" dirty="0"/>
          </a:p>
        </p:txBody>
      </p:sp>
      <p:sp>
        <p:nvSpPr>
          <p:cNvPr id="3" name="Text 1"/>
          <p:cNvSpPr/>
          <p:nvPr/>
        </p:nvSpPr>
        <p:spPr>
          <a:xfrm>
            <a:off x="365760" y="548640"/>
            <a:ext cx="11430000" cy="640080"/>
          </a:xfrm>
          <a:prstGeom prst="rect">
            <a:avLst/>
          </a:prstGeom>
          <a:noFill/>
          <a:ln/>
        </p:spPr>
        <p:txBody>
          <a:bodyPr wrap="square" lIns="0" tIns="0" rIns="0" bIns="0" rtlCol="0" anchor="ctr"/>
          <a:lstStyle/>
          <a:p>
            <a:pPr marL="0" indent="0">
              <a:buNone/>
            </a:pPr>
            <a:r>
              <a:rPr lang="en-US" sz="3000" b="1" dirty="0">
                <a:solidFill>
                  <a:srgbClr val="E6EDF3"/>
                </a:solidFill>
                <a:latin typeface="Consolas" pitchFamily="34" charset="0"/>
                <a:ea typeface="Consolas" pitchFamily="34" charset="-122"/>
                <a:cs typeface="Consolas" pitchFamily="34" charset="-120"/>
              </a:rPr>
              <a:t>Memory layer — ký ức xuyên session</a:t>
            </a:r>
            <a:endParaRPr lang="en-US" sz="3000" dirty="0"/>
          </a:p>
        </p:txBody>
      </p:sp>
      <p:sp>
        <p:nvSpPr>
          <p:cNvPr id="4" name="Text 2"/>
          <p:cNvSpPr/>
          <p:nvPr/>
        </p:nvSpPr>
        <p:spPr>
          <a:xfrm>
            <a:off x="365760" y="1143000"/>
            <a:ext cx="11430000" cy="365760"/>
          </a:xfrm>
          <a:prstGeom prst="rect">
            <a:avLst/>
          </a:prstGeom>
          <a:noFill/>
          <a:ln/>
        </p:spPr>
        <p:txBody>
          <a:bodyPr wrap="square" lIns="0" tIns="0" rIns="0" bIns="0" rtlCol="0" anchor="ctr"/>
          <a:lstStyle/>
          <a:p>
            <a:pPr marL="0" indent="0">
              <a:buNone/>
            </a:pPr>
            <a:r>
              <a:rPr lang="en-US" sz="1400" i="1" dirty="0">
                <a:solidFill>
                  <a:srgbClr val="8B949E"/>
                </a:solidFill>
                <a:latin typeface="Calibri" pitchFamily="34" charset="0"/>
                <a:ea typeface="Calibri" pitchFamily="34" charset="-122"/>
                <a:cs typeface="Calibri" pitchFamily="34" charset="-120"/>
              </a:rPr>
              <a:t>Workers chạy one-shot rồi exit. Memory file thay thế conversation history.</a:t>
            </a:r>
            <a:endParaRPr lang="en-US" sz="1400" dirty="0"/>
          </a:p>
        </p:txBody>
      </p:sp>
      <p:sp>
        <p:nvSpPr>
          <p:cNvPr id="5" name="Text 3"/>
          <p:cNvSpPr/>
          <p:nvPr/>
        </p:nvSpPr>
        <p:spPr>
          <a:xfrm>
            <a:off x="365760" y="1783080"/>
            <a:ext cx="11430000" cy="914400"/>
          </a:xfrm>
          <a:prstGeom prst="rect">
            <a:avLst/>
          </a:prstGeom>
          <a:noFill/>
          <a:ln/>
        </p:spPr>
        <p:txBody>
          <a:bodyPr wrap="square" lIns="0" tIns="0" rIns="0" bIns="0" rtlCol="0" anchor="ctr"/>
          <a:lstStyle/>
          <a:p>
            <a:pPr marL="0" indent="0">
              <a:buNone/>
            </a:pPr>
            <a:r>
              <a:rPr lang="en-US" sz="1400" dirty="0">
                <a:solidFill>
                  <a:srgbClr val="E6EDF3"/>
                </a:solidFill>
                <a:latin typeface="Calibri" pitchFamily="34" charset="0"/>
                <a:ea typeface="Calibri" pitchFamily="34" charset="-122"/>
                <a:cs typeface="Calibri" pitchFamily="34" charset="-120"/>
              </a:rPr>
              <a:t>Mỗi role có file memory/&lt;ROLE&gt;.md — append-only scratchpad của decisions, conventions, gotchas. Commit vào git. Đọc đầu mỗi task, append cuối mỗi task.</a:t>
            </a:r>
            <a:endParaRPr lang="en-US" sz="1400" dirty="0"/>
          </a:p>
        </p:txBody>
      </p:sp>
      <p:sp>
        <p:nvSpPr>
          <p:cNvPr id="6" name="Shape 4"/>
          <p:cNvSpPr/>
          <p:nvPr/>
        </p:nvSpPr>
        <p:spPr>
          <a:xfrm>
            <a:off x="365760" y="2743200"/>
            <a:ext cx="11430000" cy="3383280"/>
          </a:xfrm>
          <a:prstGeom prst="rect">
            <a:avLst/>
          </a:prstGeom>
          <a:solidFill>
            <a:srgbClr val="161B22"/>
          </a:solidFill>
          <a:ln w="12700">
            <a:solidFill>
              <a:srgbClr val="30363D"/>
            </a:solidFill>
            <a:prstDash val="solid"/>
          </a:ln>
        </p:spPr>
        <p:txBody>
          <a:bodyPr/>
          <a:lstStyle/>
          <a:p>
            <a:endParaRPr/>
          </a:p>
        </p:txBody>
      </p:sp>
      <p:sp>
        <p:nvSpPr>
          <p:cNvPr id="7" name="Shape 5"/>
          <p:cNvSpPr/>
          <p:nvPr/>
        </p:nvSpPr>
        <p:spPr>
          <a:xfrm>
            <a:off x="457200" y="2834640"/>
            <a:ext cx="91440" cy="91440"/>
          </a:xfrm>
          <a:prstGeom prst="ellipse">
            <a:avLst/>
          </a:prstGeom>
          <a:solidFill>
            <a:srgbClr val="F85149"/>
          </a:solidFill>
          <a:ln w="12700">
            <a:solidFill>
              <a:srgbClr val="F85149"/>
            </a:solidFill>
            <a:prstDash val="solid"/>
          </a:ln>
        </p:spPr>
        <p:txBody>
          <a:bodyPr/>
          <a:lstStyle/>
          <a:p>
            <a:endParaRPr/>
          </a:p>
        </p:txBody>
      </p:sp>
      <p:sp>
        <p:nvSpPr>
          <p:cNvPr id="8" name="Shape 6"/>
          <p:cNvSpPr/>
          <p:nvPr/>
        </p:nvSpPr>
        <p:spPr>
          <a:xfrm>
            <a:off x="585216" y="2834640"/>
            <a:ext cx="91440" cy="91440"/>
          </a:xfrm>
          <a:prstGeom prst="ellipse">
            <a:avLst/>
          </a:prstGeom>
          <a:solidFill>
            <a:srgbClr val="D29922"/>
          </a:solidFill>
          <a:ln w="12700">
            <a:solidFill>
              <a:srgbClr val="D29922"/>
            </a:solidFill>
            <a:prstDash val="solid"/>
          </a:ln>
        </p:spPr>
        <p:txBody>
          <a:bodyPr/>
          <a:lstStyle/>
          <a:p>
            <a:endParaRPr/>
          </a:p>
        </p:txBody>
      </p:sp>
      <p:sp>
        <p:nvSpPr>
          <p:cNvPr id="9" name="Shape 7"/>
          <p:cNvSpPr/>
          <p:nvPr/>
        </p:nvSpPr>
        <p:spPr>
          <a:xfrm>
            <a:off x="713232" y="2834640"/>
            <a:ext cx="91440" cy="91440"/>
          </a:xfrm>
          <a:prstGeom prst="ellipse">
            <a:avLst/>
          </a:prstGeom>
          <a:solidFill>
            <a:srgbClr val="3FB950"/>
          </a:solidFill>
          <a:ln w="12700">
            <a:solidFill>
              <a:srgbClr val="3FB950"/>
            </a:solidFill>
            <a:prstDash val="solid"/>
          </a:ln>
        </p:spPr>
        <p:txBody>
          <a:bodyPr/>
          <a:lstStyle/>
          <a:p>
            <a:endParaRPr/>
          </a:p>
        </p:txBody>
      </p:sp>
      <p:sp>
        <p:nvSpPr>
          <p:cNvPr id="10" name="Text 8"/>
          <p:cNvSpPr/>
          <p:nvPr/>
        </p:nvSpPr>
        <p:spPr>
          <a:xfrm>
            <a:off x="502920" y="3063240"/>
            <a:ext cx="11155680" cy="3017520"/>
          </a:xfrm>
          <a:prstGeom prst="rect">
            <a:avLst/>
          </a:prstGeom>
          <a:noFill/>
          <a:ln/>
        </p:spPr>
        <p:txBody>
          <a:bodyPr wrap="square" lIns="0" tIns="0" rIns="0" bIns="0" rtlCol="0" anchor="t"/>
          <a:lstStyle/>
          <a:p>
            <a:pPr marL="0" indent="0">
              <a:buNone/>
            </a:pPr>
            <a:r>
              <a:rPr lang="en-US" sz="1200" dirty="0">
                <a:solidFill>
                  <a:srgbClr val="E6EDF3"/>
                </a:solidFill>
                <a:latin typeface="Consolas" pitchFamily="34" charset="0"/>
                <a:ea typeface="Consolas" pitchFamily="34" charset="-122"/>
                <a:cs typeface="Consolas" pitchFamily="34" charset="-120"/>
              </a:rPr>
              <a:t>memory/</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 README.md                  format + discipline</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 _PROJECT_STATE.md          team snapshot (Orchestrator owns)</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 ORCHESTRATOR.md            routing decisions</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 PM.md   SA.md   BA.md      per-role: Decisions / Conventions /</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 UX.md   BE.md   FE.md       Gotchas / Open items I'm tracking</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 QA.md   DELIVERY.md</a:t>
            </a:r>
            <a:endParaRPr lang="en-US" sz="1200" dirty="0"/>
          </a:p>
          <a:p>
            <a:pPr marL="0" indent="0">
              <a:buNone/>
            </a:pPr>
            <a:endParaRPr lang="en-US" sz="1200" dirty="0"/>
          </a:p>
          <a:p>
            <a:pPr marL="0" indent="0">
              <a:buNone/>
            </a:pPr>
            <a:r>
              <a:rPr lang="en-US" sz="1200" dirty="0">
                <a:solidFill>
                  <a:srgbClr val="8B949E"/>
                </a:solidFill>
                <a:latin typeface="Consolas" pitchFamily="34" charset="0"/>
                <a:ea typeface="Consolas" pitchFamily="34" charset="-122"/>
                <a:cs typeface="Consolas" pitchFamily="34" charset="-120"/>
              </a:rPr>
              <a:t># Cấu trúc entry:</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 2026-05-14 18:30 — Postgres on Supabase free tier</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Chose Postgres because user wants free Supabase tier (.pane_answers/SA_xxx.md).</a:t>
            </a:r>
            <a:endParaRPr lang="en-US" sz="1200" dirty="0"/>
          </a:p>
        </p:txBody>
      </p:sp>
      <p:sp>
        <p:nvSpPr>
          <p:cNvPr id="11" name="Text 9"/>
          <p:cNvSpPr/>
          <p:nvPr/>
        </p:nvSpPr>
        <p:spPr>
          <a:xfrm>
            <a:off x="365760" y="6263640"/>
            <a:ext cx="11430000" cy="274320"/>
          </a:xfrm>
          <a:prstGeom prst="rect">
            <a:avLst/>
          </a:prstGeom>
          <a:noFill/>
          <a:ln/>
        </p:spPr>
        <p:txBody>
          <a:bodyPr wrap="square" lIns="0" tIns="0" rIns="0" bIns="0" rtlCol="0" anchor="ctr"/>
          <a:lstStyle/>
          <a:p>
            <a:pPr marL="0" indent="0" algn="ctr">
              <a:buNone/>
            </a:pPr>
            <a:r>
              <a:rPr lang="en-US" sz="1100" i="1" dirty="0">
                <a:solidFill>
                  <a:srgbClr val="D29922"/>
                </a:solidFill>
                <a:latin typeface="Calibri" pitchFamily="34" charset="0"/>
                <a:ea typeface="Calibri" pitchFamily="34" charset="-122"/>
                <a:cs typeface="Calibri" pitchFamily="34" charset="-120"/>
              </a:rPr>
              <a:t>Memory ≠ docs canonical. ADR ghi decisions kiến trúc; memory ghi 'connective tissue' (lý do, gotcha, todo ngắn hạn).</a:t>
            </a:r>
            <a:endParaRPr lang="en-US" sz="1100" dirty="0"/>
          </a:p>
        </p:txBody>
      </p:sp>
      <p:sp>
        <p:nvSpPr>
          <p:cNvPr id="12" name="Text 10"/>
          <p:cNvSpPr/>
          <p:nvPr/>
        </p:nvSpPr>
        <p:spPr>
          <a:xfrm>
            <a:off x="11338560" y="6492240"/>
            <a:ext cx="731520" cy="228600"/>
          </a:xfrm>
          <a:prstGeom prst="rect">
            <a:avLst/>
          </a:prstGeom>
          <a:noFill/>
          <a:ln/>
        </p:spPr>
        <p:txBody>
          <a:bodyPr wrap="square" lIns="0" tIns="0" rIns="0" bIns="0" rtlCol="0" anchor="ctr"/>
          <a:lstStyle/>
          <a:p>
            <a:pPr marL="0" indent="0" algn="r">
              <a:buNone/>
            </a:pPr>
            <a:r>
              <a:rPr lang="en-US" sz="900" dirty="0">
                <a:solidFill>
                  <a:srgbClr val="8B949E"/>
                </a:solidFill>
                <a:latin typeface="Consolas" pitchFamily="34" charset="0"/>
                <a:ea typeface="Consolas" pitchFamily="34" charset="-122"/>
                <a:cs typeface="Consolas" pitchFamily="34" charset="-120"/>
              </a:rPr>
              <a:t>16 / 40</a:t>
            </a:r>
            <a:endParaRPr lang="en-US" sz="900" dirty="0"/>
          </a:p>
        </p:txBody>
      </p:sp>
      <p:sp>
        <p:nvSpPr>
          <p:cNvPr id="13" name="Text 11"/>
          <p:cNvSpPr/>
          <p:nvPr/>
        </p:nvSpPr>
        <p:spPr>
          <a:xfrm>
            <a:off x="365760" y="6492240"/>
            <a:ext cx="1097280" cy="228600"/>
          </a:xfrm>
          <a:prstGeom prst="rect">
            <a:avLst/>
          </a:prstGeom>
          <a:noFill/>
          <a:ln/>
        </p:spPr>
        <p:txBody>
          <a:bodyPr wrap="square" lIns="0" tIns="0" rIns="0" bIns="0" rtlCol="0" anchor="ctr"/>
          <a:lstStyle/>
          <a:p>
            <a:pPr marL="0" indent="0" algn="l">
              <a:buNone/>
            </a:pPr>
            <a:r>
              <a:rPr lang="en-US" sz="900" dirty="0">
                <a:solidFill>
                  <a:srgbClr val="8B949E"/>
                </a:solidFill>
                <a:latin typeface="Consolas" pitchFamily="34" charset="0"/>
                <a:ea typeface="Consolas" pitchFamily="34" charset="-122"/>
                <a:cs typeface="Consolas" pitchFamily="34" charset="-120"/>
              </a:rPr>
              <a:t>v10.23</a:t>
            </a:r>
            <a:endParaRPr lang="en-US" sz="900" dirty="0"/>
          </a:p>
        </p:txBody>
      </p:sp>
      <p:sp>
        <p:nvSpPr>
          <p:cNvPr id="14" name="Text 12"/>
          <p:cNvSpPr/>
          <p:nvPr/>
        </p:nvSpPr>
        <p:spPr>
          <a:xfrm>
            <a:off x="4572000" y="6492240"/>
            <a:ext cx="6400800" cy="228600"/>
          </a:xfrm>
          <a:prstGeom prst="rect">
            <a:avLst/>
          </a:prstGeom>
          <a:noFill/>
          <a:ln/>
        </p:spPr>
        <p:txBody>
          <a:bodyPr wrap="square" lIns="0" tIns="0" rIns="0" bIns="0" rtlCol="0" anchor="ctr"/>
          <a:lstStyle/>
          <a:p>
            <a:pPr marL="0" indent="0" algn="ctr">
              <a:buNone/>
            </a:pPr>
            <a:r>
              <a:rPr lang="en-US" sz="900" dirty="0">
                <a:solidFill>
                  <a:srgbClr val="8B949E"/>
                </a:solidFill>
                <a:latin typeface="Consolas" pitchFamily="34" charset="0"/>
                <a:ea typeface="Consolas" pitchFamily="34" charset="-122"/>
                <a:cs typeface="Consolas" pitchFamily="34" charset="-120"/>
              </a:rPr>
              <a:t>Product Engineering Agent Framework</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365760" y="228600"/>
            <a:ext cx="8229600" cy="274320"/>
          </a:xfrm>
          <a:prstGeom prst="rect">
            <a:avLst/>
          </a:prstGeom>
          <a:noFill/>
          <a:ln/>
        </p:spPr>
        <p:txBody>
          <a:bodyPr wrap="square" lIns="0" tIns="0" rIns="0" bIns="0" rtlCol="0" anchor="ctr"/>
          <a:lstStyle/>
          <a:p>
            <a:pPr marL="0" indent="0">
              <a:buNone/>
            </a:pPr>
            <a:r>
              <a:rPr lang="en-US" sz="1100" dirty="0">
                <a:solidFill>
                  <a:srgbClr val="2EA043"/>
                </a:solidFill>
                <a:latin typeface="Consolas" pitchFamily="34" charset="0"/>
                <a:ea typeface="Consolas" pitchFamily="34" charset="-122"/>
                <a:cs typeface="Consolas" pitchFamily="34" charset="-120"/>
              </a:rPr>
              <a:t>$ </a:t>
            </a:r>
            <a:r>
              <a:rPr lang="en-US" sz="1100" dirty="0">
                <a:solidFill>
                  <a:srgbClr val="8B949E"/>
                </a:solidFill>
                <a:latin typeface="Consolas" pitchFamily="34" charset="0"/>
                <a:ea typeface="Consolas" pitchFamily="34" charset="-122"/>
                <a:cs typeface="Consolas" pitchFamily="34" charset="-120"/>
              </a:rPr>
              <a:t>13_session_resume.md</a:t>
            </a:r>
            <a:endParaRPr lang="en-US" sz="1100" dirty="0"/>
          </a:p>
        </p:txBody>
      </p:sp>
      <p:sp>
        <p:nvSpPr>
          <p:cNvPr id="3" name="Text 1"/>
          <p:cNvSpPr/>
          <p:nvPr/>
        </p:nvSpPr>
        <p:spPr>
          <a:xfrm>
            <a:off x="365760" y="548640"/>
            <a:ext cx="11430000" cy="640080"/>
          </a:xfrm>
          <a:prstGeom prst="rect">
            <a:avLst/>
          </a:prstGeom>
          <a:noFill/>
          <a:ln/>
        </p:spPr>
        <p:txBody>
          <a:bodyPr wrap="square" lIns="0" tIns="0" rIns="0" bIns="0" rtlCol="0" anchor="ctr"/>
          <a:lstStyle/>
          <a:p>
            <a:pPr marL="0" indent="0">
              <a:buNone/>
            </a:pPr>
            <a:r>
              <a:rPr lang="en-US" sz="3000" b="1" dirty="0">
                <a:solidFill>
                  <a:srgbClr val="E6EDF3"/>
                </a:solidFill>
                <a:latin typeface="Consolas" pitchFamily="34" charset="0"/>
                <a:ea typeface="Consolas" pitchFamily="34" charset="-122"/>
                <a:cs typeface="Consolas" pitchFamily="34" charset="-120"/>
              </a:rPr>
              <a:t>Session resume — như team quay lại ngày mới</a:t>
            </a:r>
            <a:endParaRPr lang="en-US" sz="3000" dirty="0"/>
          </a:p>
        </p:txBody>
      </p:sp>
      <p:sp>
        <p:nvSpPr>
          <p:cNvPr id="4" name="Text 2"/>
          <p:cNvSpPr/>
          <p:nvPr/>
        </p:nvSpPr>
        <p:spPr>
          <a:xfrm>
            <a:off x="365760" y="1143000"/>
            <a:ext cx="11430000" cy="365760"/>
          </a:xfrm>
          <a:prstGeom prst="rect">
            <a:avLst/>
          </a:prstGeom>
          <a:noFill/>
          <a:ln/>
        </p:spPr>
        <p:txBody>
          <a:bodyPr wrap="square" lIns="0" tIns="0" rIns="0" bIns="0" rtlCol="0" anchor="ctr"/>
          <a:lstStyle/>
          <a:p>
            <a:pPr marL="0" indent="0">
              <a:buNone/>
            </a:pPr>
            <a:r>
              <a:rPr lang="en-US" sz="1400" i="1" dirty="0">
                <a:solidFill>
                  <a:srgbClr val="8B949E"/>
                </a:solidFill>
                <a:latin typeface="Calibri" pitchFamily="34" charset="0"/>
                <a:ea typeface="Calibri" pitchFamily="34" charset="-122"/>
                <a:cs typeface="Calibri" pitchFamily="34" charset="-120"/>
              </a:rPr>
              <a:t>start_agents_tmux.sh tự detect RESUME vs FRESH</a:t>
            </a:r>
            <a:endParaRPr lang="en-US" sz="1400" dirty="0"/>
          </a:p>
        </p:txBody>
      </p:sp>
      <p:sp>
        <p:nvSpPr>
          <p:cNvPr id="5" name="Shape 3"/>
          <p:cNvSpPr/>
          <p:nvPr/>
        </p:nvSpPr>
        <p:spPr>
          <a:xfrm>
            <a:off x="365760" y="1783080"/>
            <a:ext cx="5852160" cy="4480560"/>
          </a:xfrm>
          <a:prstGeom prst="rect">
            <a:avLst/>
          </a:prstGeom>
          <a:solidFill>
            <a:srgbClr val="161B22"/>
          </a:solidFill>
          <a:ln w="12700">
            <a:solidFill>
              <a:srgbClr val="30363D"/>
            </a:solidFill>
            <a:prstDash val="solid"/>
          </a:ln>
        </p:spPr>
        <p:txBody>
          <a:bodyPr/>
          <a:lstStyle/>
          <a:p>
            <a:endParaRPr/>
          </a:p>
        </p:txBody>
      </p:sp>
      <p:sp>
        <p:nvSpPr>
          <p:cNvPr id="6" name="Shape 4"/>
          <p:cNvSpPr/>
          <p:nvPr/>
        </p:nvSpPr>
        <p:spPr>
          <a:xfrm>
            <a:off x="457200" y="1874520"/>
            <a:ext cx="91440" cy="91440"/>
          </a:xfrm>
          <a:prstGeom prst="ellipse">
            <a:avLst/>
          </a:prstGeom>
          <a:solidFill>
            <a:srgbClr val="F85149"/>
          </a:solidFill>
          <a:ln w="12700">
            <a:solidFill>
              <a:srgbClr val="F85149"/>
            </a:solidFill>
            <a:prstDash val="solid"/>
          </a:ln>
        </p:spPr>
        <p:txBody>
          <a:bodyPr/>
          <a:lstStyle/>
          <a:p>
            <a:endParaRPr/>
          </a:p>
        </p:txBody>
      </p:sp>
      <p:sp>
        <p:nvSpPr>
          <p:cNvPr id="7" name="Shape 5"/>
          <p:cNvSpPr/>
          <p:nvPr/>
        </p:nvSpPr>
        <p:spPr>
          <a:xfrm>
            <a:off x="585216" y="1874520"/>
            <a:ext cx="91440" cy="91440"/>
          </a:xfrm>
          <a:prstGeom prst="ellipse">
            <a:avLst/>
          </a:prstGeom>
          <a:solidFill>
            <a:srgbClr val="D29922"/>
          </a:solidFill>
          <a:ln w="12700">
            <a:solidFill>
              <a:srgbClr val="D29922"/>
            </a:solidFill>
            <a:prstDash val="solid"/>
          </a:ln>
        </p:spPr>
        <p:txBody>
          <a:bodyPr/>
          <a:lstStyle/>
          <a:p>
            <a:endParaRPr/>
          </a:p>
        </p:txBody>
      </p:sp>
      <p:sp>
        <p:nvSpPr>
          <p:cNvPr id="8" name="Shape 6"/>
          <p:cNvSpPr/>
          <p:nvPr/>
        </p:nvSpPr>
        <p:spPr>
          <a:xfrm>
            <a:off x="713232" y="1874520"/>
            <a:ext cx="91440" cy="91440"/>
          </a:xfrm>
          <a:prstGeom prst="ellipse">
            <a:avLst/>
          </a:prstGeom>
          <a:solidFill>
            <a:srgbClr val="3FB950"/>
          </a:solidFill>
          <a:ln w="12700">
            <a:solidFill>
              <a:srgbClr val="3FB950"/>
            </a:solidFill>
            <a:prstDash val="solid"/>
          </a:ln>
        </p:spPr>
        <p:txBody>
          <a:bodyPr/>
          <a:lstStyle/>
          <a:p>
            <a:endParaRPr/>
          </a:p>
        </p:txBody>
      </p:sp>
      <p:sp>
        <p:nvSpPr>
          <p:cNvPr id="9" name="Text 7"/>
          <p:cNvSpPr/>
          <p:nvPr/>
        </p:nvSpPr>
        <p:spPr>
          <a:xfrm>
            <a:off x="502920" y="2103120"/>
            <a:ext cx="5577840" cy="4114800"/>
          </a:xfrm>
          <a:prstGeom prst="rect">
            <a:avLst/>
          </a:prstGeom>
          <a:noFill/>
          <a:ln/>
        </p:spPr>
        <p:txBody>
          <a:bodyPr wrap="square" lIns="0" tIns="0" rIns="0" bIns="0" rtlCol="0" anchor="t"/>
          <a:lstStyle/>
          <a:p>
            <a:pPr marL="0" indent="0">
              <a:buNone/>
            </a:pPr>
            <a:r>
              <a:rPr lang="en-US" sz="1200" dirty="0">
                <a:solidFill>
                  <a:srgbClr val="8B949E"/>
                </a:solidFill>
                <a:latin typeface="Consolas" pitchFamily="34" charset="0"/>
                <a:ea typeface="Consolas" pitchFamily="34" charset="-122"/>
                <a:cs typeface="Consolas" pitchFamily="34" charset="-120"/>
              </a:rPr>
              <a:t># Day 2: bạn chạy lại session</a:t>
            </a:r>
            <a:endParaRPr lang="en-US" sz="1200" dirty="0"/>
          </a:p>
          <a:p>
            <a:pPr marL="0" indent="0">
              <a:buNone/>
            </a:pPr>
            <a:r>
              <a:rPr lang="en-US" sz="1200" dirty="0">
                <a:solidFill>
                  <a:srgbClr val="7CE38B"/>
                </a:solidFill>
                <a:latin typeface="Consolas" pitchFamily="34" charset="0"/>
                <a:ea typeface="Consolas" pitchFamily="34" charset="-122"/>
                <a:cs typeface="Consolas" pitchFamily="34" charset="-120"/>
              </a:rPr>
              <a:t>$ bash scripts/start_agents_tmux.sh \</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       nestfi-ai-room</a:t>
            </a:r>
            <a:endParaRPr lang="en-US" sz="1200" dirty="0"/>
          </a:p>
          <a:p>
            <a:pPr marL="0" indent="0">
              <a:buNone/>
            </a:pP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[v10.5] RESUME mode —</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        non-empty memory/PM.md detected</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[v10.5] Orchestrator sẽ chạy</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        scripts/rescan_project.sh</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        khi first turn</a:t>
            </a:r>
            <a:endParaRPr lang="en-US" sz="1200" dirty="0"/>
          </a:p>
          <a:p>
            <a:pPr marL="0" indent="0">
              <a:buNone/>
            </a:pPr>
            <a:endParaRPr lang="en-US" sz="1200" dirty="0"/>
          </a:p>
          <a:p>
            <a:pPr marL="0" indent="0">
              <a:buNone/>
            </a:pPr>
            <a:r>
              <a:rPr lang="en-US" sz="1200" dirty="0">
                <a:solidFill>
                  <a:srgbClr val="8B949E"/>
                </a:solidFill>
                <a:latin typeface="Consolas" pitchFamily="34" charset="0"/>
                <a:ea typeface="Consolas" pitchFamily="34" charset="-122"/>
                <a:cs typeface="Consolas" pitchFamily="34" charset="-120"/>
              </a:rPr>
              <a:t># 8 giây sau khi opencode load,</a:t>
            </a:r>
            <a:endParaRPr lang="en-US" sz="1200" dirty="0"/>
          </a:p>
          <a:p>
            <a:pPr marL="0" indent="0">
              <a:buNone/>
            </a:pPr>
            <a:r>
              <a:rPr lang="en-US" sz="1200" dirty="0">
                <a:solidFill>
                  <a:srgbClr val="8B949E"/>
                </a:solidFill>
                <a:latin typeface="Consolas" pitchFamily="34" charset="0"/>
                <a:ea typeface="Consolas" pitchFamily="34" charset="-122"/>
                <a:cs typeface="Consolas" pitchFamily="34" charset="-120"/>
              </a:rPr>
              <a:t># auto-ping vào pane 1:</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[RESUME] Session resumed — run</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  bash scripts/rescan_project.sh first.</a:t>
            </a:r>
            <a:endParaRPr lang="en-US" sz="1200" dirty="0"/>
          </a:p>
        </p:txBody>
      </p:sp>
      <p:sp>
        <p:nvSpPr>
          <p:cNvPr id="10" name="Shape 8"/>
          <p:cNvSpPr/>
          <p:nvPr/>
        </p:nvSpPr>
        <p:spPr>
          <a:xfrm>
            <a:off x="6492240" y="1874520"/>
            <a:ext cx="54864" cy="292608"/>
          </a:xfrm>
          <a:prstGeom prst="rect">
            <a:avLst/>
          </a:prstGeom>
          <a:solidFill>
            <a:srgbClr val="7CE38B"/>
          </a:solidFill>
          <a:ln w="12700">
            <a:solidFill>
              <a:srgbClr val="7CE38B"/>
            </a:solidFill>
            <a:prstDash val="solid"/>
          </a:ln>
        </p:spPr>
        <p:txBody>
          <a:bodyPr/>
          <a:lstStyle/>
          <a:p>
            <a:endParaRPr/>
          </a:p>
        </p:txBody>
      </p:sp>
      <p:sp>
        <p:nvSpPr>
          <p:cNvPr id="11" name="Text 9"/>
          <p:cNvSpPr/>
          <p:nvPr/>
        </p:nvSpPr>
        <p:spPr>
          <a:xfrm>
            <a:off x="6629400" y="1874520"/>
            <a:ext cx="5166360" cy="292608"/>
          </a:xfrm>
          <a:prstGeom prst="rect">
            <a:avLst/>
          </a:prstGeom>
          <a:noFill/>
          <a:ln/>
        </p:spPr>
        <p:txBody>
          <a:bodyPr wrap="square" lIns="0" tIns="0" rIns="0" bIns="0" rtlCol="0" anchor="ctr"/>
          <a:lstStyle/>
          <a:p>
            <a:pPr marL="0" indent="0">
              <a:buNone/>
            </a:pPr>
            <a:r>
              <a:rPr lang="en-US" sz="1400" b="1" dirty="0">
                <a:solidFill>
                  <a:srgbClr val="E6EDF3"/>
                </a:solidFill>
                <a:latin typeface="Consolas" pitchFamily="34" charset="0"/>
                <a:ea typeface="Consolas" pitchFamily="34" charset="-122"/>
                <a:cs typeface="Consolas" pitchFamily="34" charset="-120"/>
              </a:rPr>
              <a:t>Orchestrator's first action</a:t>
            </a:r>
            <a:endParaRPr lang="en-US" sz="1400" dirty="0"/>
          </a:p>
        </p:txBody>
      </p:sp>
      <p:sp>
        <p:nvSpPr>
          <p:cNvPr id="12" name="Text 10"/>
          <p:cNvSpPr/>
          <p:nvPr/>
        </p:nvSpPr>
        <p:spPr>
          <a:xfrm>
            <a:off x="6492240" y="2286000"/>
            <a:ext cx="5303520" cy="3657600"/>
          </a:xfrm>
          <a:prstGeom prst="rect">
            <a:avLst/>
          </a:prstGeom>
          <a:noFill/>
          <a:ln/>
        </p:spPr>
        <p:txBody>
          <a:bodyPr wrap="square" lIns="0" tIns="0" rIns="0" bIns="0" rtlCol="0" anchor="ctr"/>
          <a:lstStyle/>
          <a:p>
            <a:pPr marL="0" indent="0">
              <a:buNone/>
            </a:pPr>
            <a:r>
              <a:rPr lang="en-US" sz="1200" b="1" dirty="0">
                <a:solidFill>
                  <a:srgbClr val="7CE38B"/>
                </a:solidFill>
                <a:latin typeface="Consolas" pitchFamily="34" charset="0"/>
                <a:ea typeface="Consolas" pitchFamily="34" charset="-122"/>
                <a:cs typeface="Consolas" pitchFamily="34" charset="-120"/>
              </a:rPr>
              <a:t>▸ </a:t>
            </a:r>
            <a:r>
              <a:rPr lang="en-US" sz="1200" dirty="0">
                <a:solidFill>
                  <a:srgbClr val="E6EDF3"/>
                </a:solidFill>
                <a:latin typeface="Calibri" pitchFamily="34" charset="0"/>
                <a:ea typeface="Calibri" pitchFamily="34" charset="-122"/>
                <a:cs typeface="Calibri" pitchFamily="34" charset="-120"/>
              </a:rPr>
              <a:t>Đọc memory/_PROJECT_STATE.md</a:t>
            </a:r>
            <a:endParaRPr lang="en-US" sz="1200" dirty="0"/>
          </a:p>
          <a:p>
            <a:pPr marL="0" indent="0">
              <a:buNone/>
            </a:pPr>
            <a:r>
              <a:rPr lang="en-US" sz="1200" b="1" dirty="0">
                <a:solidFill>
                  <a:srgbClr val="7CE38B"/>
                </a:solidFill>
                <a:latin typeface="Consolas" pitchFamily="34" charset="0"/>
                <a:ea typeface="Consolas" pitchFamily="34" charset="-122"/>
                <a:cs typeface="Consolas" pitchFamily="34" charset="-120"/>
              </a:rPr>
              <a:t>▸ </a:t>
            </a:r>
            <a:r>
              <a:rPr lang="en-US" sz="1200" dirty="0">
                <a:solidFill>
                  <a:srgbClr val="E6EDF3"/>
                </a:solidFill>
                <a:latin typeface="Calibri" pitchFamily="34" charset="0"/>
                <a:ea typeface="Calibri" pitchFamily="34" charset="-122"/>
                <a:cs typeface="Calibri" pitchFamily="34" charset="-120"/>
              </a:rPr>
              <a:t>Tail 30 dòng memory/&lt;ROLE&gt;.md mỗi role</a:t>
            </a:r>
            <a:endParaRPr lang="en-US" sz="1200" dirty="0"/>
          </a:p>
          <a:p>
            <a:pPr marL="0" indent="0">
              <a:buNone/>
            </a:pPr>
            <a:r>
              <a:rPr lang="en-US" sz="1200" b="1" dirty="0">
                <a:solidFill>
                  <a:srgbClr val="7CE38B"/>
                </a:solidFill>
                <a:latin typeface="Consolas" pitchFamily="34" charset="0"/>
                <a:ea typeface="Consolas" pitchFamily="34" charset="-122"/>
                <a:cs typeface="Consolas" pitchFamily="34" charset="-120"/>
              </a:rPr>
              <a:t>▸ </a:t>
            </a:r>
            <a:r>
              <a:rPr lang="en-US" sz="1200" dirty="0">
                <a:solidFill>
                  <a:srgbClr val="E6EDF3"/>
                </a:solidFill>
                <a:latin typeface="Calibri" pitchFamily="34" charset="0"/>
                <a:ea typeface="Calibri" pitchFamily="34" charset="-122"/>
                <a:cs typeface="Calibri" pitchFamily="34" charset="-120"/>
              </a:rPr>
              <a:t>Liệt kê docs có content (&gt;200B)</a:t>
            </a:r>
            <a:endParaRPr lang="en-US" sz="1200" dirty="0"/>
          </a:p>
          <a:p>
            <a:pPr marL="0" indent="0">
              <a:buNone/>
            </a:pPr>
            <a:r>
              <a:rPr lang="en-US" sz="1200" b="1" dirty="0">
                <a:solidFill>
                  <a:srgbClr val="7CE38B"/>
                </a:solidFill>
                <a:latin typeface="Consolas" pitchFamily="34" charset="0"/>
                <a:ea typeface="Consolas" pitchFamily="34" charset="-122"/>
                <a:cs typeface="Consolas" pitchFamily="34" charset="-120"/>
              </a:rPr>
              <a:t>▸ </a:t>
            </a:r>
            <a:r>
              <a:rPr lang="en-US" sz="1200" dirty="0">
                <a:solidFill>
                  <a:srgbClr val="E6EDF3"/>
                </a:solidFill>
                <a:latin typeface="Calibri" pitchFamily="34" charset="0"/>
                <a:ea typeface="Calibri" pitchFamily="34" charset="-122"/>
                <a:cs typeface="Calibri" pitchFamily="34" charset="-120"/>
              </a:rPr>
              <a:t>Đếm source code BE/FE</a:t>
            </a:r>
            <a:endParaRPr lang="en-US" sz="1200" dirty="0"/>
          </a:p>
          <a:p>
            <a:pPr marL="0" indent="0">
              <a:buNone/>
            </a:pPr>
            <a:r>
              <a:rPr lang="en-US" sz="1200" b="1" dirty="0">
                <a:solidFill>
                  <a:srgbClr val="7CE38B"/>
                </a:solidFill>
                <a:latin typeface="Consolas" pitchFamily="34" charset="0"/>
                <a:ea typeface="Consolas" pitchFamily="34" charset="-122"/>
                <a:cs typeface="Consolas" pitchFamily="34" charset="-120"/>
              </a:rPr>
              <a:t>▸ </a:t>
            </a:r>
            <a:r>
              <a:rPr lang="en-US" sz="1200" dirty="0">
                <a:solidFill>
                  <a:srgbClr val="E6EDF3"/>
                </a:solidFill>
                <a:latin typeface="Calibri" pitchFamily="34" charset="0"/>
                <a:ea typeface="Calibri" pitchFamily="34" charset="-122"/>
                <a:cs typeface="Calibri" pitchFamily="34" charset="-120"/>
              </a:rPr>
              <a:t>Đọc RUNNING_APP.md → live URL</a:t>
            </a:r>
            <a:endParaRPr lang="en-US" sz="1200" dirty="0"/>
          </a:p>
          <a:p>
            <a:pPr marL="0" indent="0">
              <a:buNone/>
            </a:pPr>
            <a:r>
              <a:rPr lang="en-US" sz="1200" b="1" dirty="0">
                <a:solidFill>
                  <a:srgbClr val="7CE38B"/>
                </a:solidFill>
                <a:latin typeface="Consolas" pitchFamily="34" charset="0"/>
                <a:ea typeface="Consolas" pitchFamily="34" charset="-122"/>
                <a:cs typeface="Consolas" pitchFamily="34" charset="-120"/>
              </a:rPr>
              <a:t>▸ </a:t>
            </a:r>
            <a:r>
              <a:rPr lang="en-US" sz="1200" dirty="0">
                <a:solidFill>
                  <a:srgbClr val="E6EDF3"/>
                </a:solidFill>
                <a:latin typeface="Calibri" pitchFamily="34" charset="0"/>
                <a:ea typeface="Calibri" pitchFamily="34" charset="-122"/>
                <a:cs typeface="Calibri" pitchFamily="34" charset="-120"/>
              </a:rPr>
              <a:t>Show inbox: pending Q + notifs</a:t>
            </a:r>
            <a:endParaRPr lang="en-US" sz="1200" dirty="0"/>
          </a:p>
          <a:p>
            <a:pPr marL="0" indent="0">
              <a:buNone/>
            </a:pPr>
            <a:r>
              <a:rPr lang="en-US" sz="1200" b="1" dirty="0">
                <a:solidFill>
                  <a:srgbClr val="7CE38B"/>
                </a:solidFill>
                <a:latin typeface="Consolas" pitchFamily="34" charset="0"/>
                <a:ea typeface="Consolas" pitchFamily="34" charset="-122"/>
                <a:cs typeface="Consolas" pitchFamily="34" charset="-120"/>
              </a:rPr>
              <a:t>▸ </a:t>
            </a:r>
            <a:r>
              <a:rPr lang="en-US" sz="1200" dirty="0">
                <a:solidFill>
                  <a:srgbClr val="E6EDF3"/>
                </a:solidFill>
                <a:latin typeface="Calibri" pitchFamily="34" charset="0"/>
                <a:ea typeface="Calibri" pitchFamily="34" charset="-122"/>
                <a:cs typeface="Calibri" pitchFamily="34" charset="-120"/>
              </a:rPr>
              <a:t>Greet user: 3-5 bullet recap, đợi direction</a:t>
            </a:r>
            <a:endParaRPr lang="en-US" sz="1200" dirty="0"/>
          </a:p>
        </p:txBody>
      </p:sp>
      <p:sp>
        <p:nvSpPr>
          <p:cNvPr id="13" name="Text 11"/>
          <p:cNvSpPr/>
          <p:nvPr/>
        </p:nvSpPr>
        <p:spPr>
          <a:xfrm>
            <a:off x="365760" y="6263640"/>
            <a:ext cx="11430000" cy="274320"/>
          </a:xfrm>
          <a:prstGeom prst="rect">
            <a:avLst/>
          </a:prstGeom>
          <a:noFill/>
          <a:ln/>
        </p:spPr>
        <p:txBody>
          <a:bodyPr wrap="square" lIns="0" tIns="0" rIns="0" bIns="0" rtlCol="0" anchor="ctr"/>
          <a:lstStyle/>
          <a:p>
            <a:pPr marL="0" indent="0" algn="ctr">
              <a:buNone/>
            </a:pPr>
            <a:r>
              <a:rPr lang="en-US" sz="1100" i="1" dirty="0">
                <a:solidFill>
                  <a:srgbClr val="D29922"/>
                </a:solidFill>
                <a:latin typeface="Calibri" pitchFamily="34" charset="0"/>
                <a:ea typeface="Calibri" pitchFamily="34" charset="-122"/>
                <a:cs typeface="Calibri" pitchFamily="34" charset="-120"/>
              </a:rPr>
              <a:t>Orchestrator KHÔNG auto-advance phase. Project tiếp tục đúng nơi để lại.</a:t>
            </a:r>
            <a:endParaRPr lang="en-US" sz="1100" dirty="0"/>
          </a:p>
        </p:txBody>
      </p:sp>
      <p:sp>
        <p:nvSpPr>
          <p:cNvPr id="14" name="Text 12"/>
          <p:cNvSpPr/>
          <p:nvPr/>
        </p:nvSpPr>
        <p:spPr>
          <a:xfrm>
            <a:off x="11338560" y="6492240"/>
            <a:ext cx="731520" cy="228600"/>
          </a:xfrm>
          <a:prstGeom prst="rect">
            <a:avLst/>
          </a:prstGeom>
          <a:noFill/>
          <a:ln/>
        </p:spPr>
        <p:txBody>
          <a:bodyPr wrap="square" lIns="0" tIns="0" rIns="0" bIns="0" rtlCol="0" anchor="ctr"/>
          <a:lstStyle/>
          <a:p>
            <a:pPr marL="0" indent="0" algn="r">
              <a:buNone/>
            </a:pPr>
            <a:r>
              <a:rPr lang="en-US" sz="900" dirty="0">
                <a:solidFill>
                  <a:srgbClr val="8B949E"/>
                </a:solidFill>
                <a:latin typeface="Consolas" pitchFamily="34" charset="0"/>
                <a:ea typeface="Consolas" pitchFamily="34" charset="-122"/>
                <a:cs typeface="Consolas" pitchFamily="34" charset="-120"/>
              </a:rPr>
              <a:t>17 / 40</a:t>
            </a:r>
            <a:endParaRPr lang="en-US" sz="900" dirty="0"/>
          </a:p>
        </p:txBody>
      </p:sp>
      <p:sp>
        <p:nvSpPr>
          <p:cNvPr id="15" name="Text 13"/>
          <p:cNvSpPr/>
          <p:nvPr/>
        </p:nvSpPr>
        <p:spPr>
          <a:xfrm>
            <a:off x="365760" y="6492240"/>
            <a:ext cx="1097280" cy="228600"/>
          </a:xfrm>
          <a:prstGeom prst="rect">
            <a:avLst/>
          </a:prstGeom>
          <a:noFill/>
          <a:ln/>
        </p:spPr>
        <p:txBody>
          <a:bodyPr wrap="square" lIns="0" tIns="0" rIns="0" bIns="0" rtlCol="0" anchor="ctr"/>
          <a:lstStyle/>
          <a:p>
            <a:pPr marL="0" indent="0" algn="l">
              <a:buNone/>
            </a:pPr>
            <a:r>
              <a:rPr lang="en-US" sz="900" dirty="0">
                <a:solidFill>
                  <a:srgbClr val="8B949E"/>
                </a:solidFill>
                <a:latin typeface="Consolas" pitchFamily="34" charset="0"/>
                <a:ea typeface="Consolas" pitchFamily="34" charset="-122"/>
                <a:cs typeface="Consolas" pitchFamily="34" charset="-120"/>
              </a:rPr>
              <a:t>v10.23</a:t>
            </a:r>
            <a:endParaRPr lang="en-US" sz="900" dirty="0"/>
          </a:p>
        </p:txBody>
      </p:sp>
      <p:sp>
        <p:nvSpPr>
          <p:cNvPr id="16" name="Text 14"/>
          <p:cNvSpPr/>
          <p:nvPr/>
        </p:nvSpPr>
        <p:spPr>
          <a:xfrm>
            <a:off x="4572000" y="6492240"/>
            <a:ext cx="6400800" cy="228600"/>
          </a:xfrm>
          <a:prstGeom prst="rect">
            <a:avLst/>
          </a:prstGeom>
          <a:noFill/>
          <a:ln/>
        </p:spPr>
        <p:txBody>
          <a:bodyPr wrap="square" lIns="0" tIns="0" rIns="0" bIns="0" rtlCol="0" anchor="ctr"/>
          <a:lstStyle/>
          <a:p>
            <a:pPr marL="0" indent="0" algn="ctr">
              <a:buNone/>
            </a:pPr>
            <a:r>
              <a:rPr lang="en-US" sz="900" dirty="0">
                <a:solidFill>
                  <a:srgbClr val="8B949E"/>
                </a:solidFill>
                <a:latin typeface="Consolas" pitchFamily="34" charset="0"/>
                <a:ea typeface="Consolas" pitchFamily="34" charset="-122"/>
                <a:cs typeface="Consolas" pitchFamily="34" charset="-120"/>
              </a:rPr>
              <a:t>Product Engineering Agent Framework</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365760" y="228600"/>
            <a:ext cx="8229600" cy="274320"/>
          </a:xfrm>
          <a:prstGeom prst="rect">
            <a:avLst/>
          </a:prstGeom>
          <a:noFill/>
          <a:ln/>
        </p:spPr>
        <p:txBody>
          <a:bodyPr wrap="square" lIns="0" tIns="0" rIns="0" bIns="0" rtlCol="0" anchor="ctr"/>
          <a:lstStyle/>
          <a:p>
            <a:pPr marL="0" indent="0">
              <a:buNone/>
            </a:pPr>
            <a:r>
              <a:rPr lang="en-US" sz="1100" dirty="0">
                <a:solidFill>
                  <a:srgbClr val="2EA043"/>
                </a:solidFill>
                <a:latin typeface="Consolas" pitchFamily="34" charset="0"/>
                <a:ea typeface="Consolas" pitchFamily="34" charset="-122"/>
                <a:cs typeface="Consolas" pitchFamily="34" charset="-120"/>
              </a:rPr>
              <a:t>$ </a:t>
            </a:r>
            <a:r>
              <a:rPr lang="en-US" sz="1100" dirty="0">
                <a:solidFill>
                  <a:srgbClr val="8B949E"/>
                </a:solidFill>
                <a:latin typeface="Consolas" pitchFamily="34" charset="0"/>
                <a:ea typeface="Consolas" pitchFamily="34" charset="-122"/>
                <a:cs typeface="Consolas" pitchFamily="34" charset="-120"/>
              </a:rPr>
              <a:t>14_phase_pipeline.md</a:t>
            </a:r>
            <a:endParaRPr lang="en-US" sz="1100" dirty="0"/>
          </a:p>
        </p:txBody>
      </p:sp>
      <p:sp>
        <p:nvSpPr>
          <p:cNvPr id="3" name="Text 1"/>
          <p:cNvSpPr/>
          <p:nvPr/>
        </p:nvSpPr>
        <p:spPr>
          <a:xfrm>
            <a:off x="365760" y="548640"/>
            <a:ext cx="11430000" cy="640080"/>
          </a:xfrm>
          <a:prstGeom prst="rect">
            <a:avLst/>
          </a:prstGeom>
          <a:noFill/>
          <a:ln/>
        </p:spPr>
        <p:txBody>
          <a:bodyPr wrap="square" lIns="0" tIns="0" rIns="0" bIns="0" rtlCol="0" anchor="ctr"/>
          <a:lstStyle/>
          <a:p>
            <a:pPr marL="0" indent="0">
              <a:buNone/>
            </a:pPr>
            <a:r>
              <a:rPr lang="en-US" sz="3000" b="1" dirty="0">
                <a:solidFill>
                  <a:srgbClr val="E6EDF3"/>
                </a:solidFill>
                <a:latin typeface="Consolas" pitchFamily="34" charset="0"/>
                <a:ea typeface="Consolas" pitchFamily="34" charset="-122"/>
                <a:cs typeface="Consolas" pitchFamily="34" charset="-120"/>
              </a:rPr>
              <a:t>Phase pipeline — 7 giai đoạn</a:t>
            </a:r>
            <a:endParaRPr lang="en-US" sz="3000" dirty="0"/>
          </a:p>
        </p:txBody>
      </p:sp>
      <p:sp>
        <p:nvSpPr>
          <p:cNvPr id="4" name="Text 2"/>
          <p:cNvSpPr/>
          <p:nvPr/>
        </p:nvSpPr>
        <p:spPr>
          <a:xfrm>
            <a:off x="365760" y="1143000"/>
            <a:ext cx="11430000" cy="365760"/>
          </a:xfrm>
          <a:prstGeom prst="rect">
            <a:avLst/>
          </a:prstGeom>
          <a:noFill/>
          <a:ln/>
        </p:spPr>
        <p:txBody>
          <a:bodyPr wrap="square" lIns="0" tIns="0" rIns="0" bIns="0" rtlCol="0" anchor="ctr"/>
          <a:lstStyle/>
          <a:p>
            <a:pPr marL="0" indent="0">
              <a:buNone/>
            </a:pPr>
            <a:r>
              <a:rPr lang="en-US" sz="1400" i="1" dirty="0">
                <a:solidFill>
                  <a:srgbClr val="8B949E"/>
                </a:solidFill>
                <a:latin typeface="Calibri" pitchFamily="34" charset="0"/>
                <a:ea typeface="Calibri" pitchFamily="34" charset="-122"/>
                <a:cs typeface="Calibri" pitchFamily="34" charset="-120"/>
              </a:rPr>
              <a:t>Giống Agile thật: discovery → design → backlog → planning → build → test → delivery</a:t>
            </a:r>
            <a:endParaRPr lang="en-US" sz="1400" dirty="0"/>
          </a:p>
        </p:txBody>
      </p:sp>
      <p:sp>
        <p:nvSpPr>
          <p:cNvPr id="5" name="Shape 3"/>
          <p:cNvSpPr/>
          <p:nvPr/>
        </p:nvSpPr>
        <p:spPr>
          <a:xfrm>
            <a:off x="365760" y="1828800"/>
            <a:ext cx="11430000" cy="603504"/>
          </a:xfrm>
          <a:prstGeom prst="rect">
            <a:avLst/>
          </a:prstGeom>
          <a:solidFill>
            <a:srgbClr val="161B22"/>
          </a:solidFill>
          <a:ln w="12700">
            <a:solidFill>
              <a:srgbClr val="30363D"/>
            </a:solidFill>
            <a:prstDash val="solid"/>
          </a:ln>
        </p:spPr>
        <p:txBody>
          <a:bodyPr/>
          <a:lstStyle/>
          <a:p>
            <a:endParaRPr/>
          </a:p>
        </p:txBody>
      </p:sp>
      <p:sp>
        <p:nvSpPr>
          <p:cNvPr id="6" name="Shape 4"/>
          <p:cNvSpPr/>
          <p:nvPr/>
        </p:nvSpPr>
        <p:spPr>
          <a:xfrm>
            <a:off x="502920" y="1947672"/>
            <a:ext cx="365760" cy="365760"/>
          </a:xfrm>
          <a:prstGeom prst="ellipse">
            <a:avLst/>
          </a:prstGeom>
          <a:solidFill>
            <a:srgbClr val="7CE38B"/>
          </a:solidFill>
          <a:ln w="12700">
            <a:solidFill>
              <a:srgbClr val="7CE38B"/>
            </a:solidFill>
            <a:prstDash val="solid"/>
          </a:ln>
        </p:spPr>
        <p:txBody>
          <a:bodyPr/>
          <a:lstStyle/>
          <a:p>
            <a:endParaRPr/>
          </a:p>
        </p:txBody>
      </p:sp>
      <p:sp>
        <p:nvSpPr>
          <p:cNvPr id="7" name="Text 5"/>
          <p:cNvSpPr/>
          <p:nvPr/>
        </p:nvSpPr>
        <p:spPr>
          <a:xfrm>
            <a:off x="502920" y="1947672"/>
            <a:ext cx="365760" cy="365760"/>
          </a:xfrm>
          <a:prstGeom prst="rect">
            <a:avLst/>
          </a:prstGeom>
          <a:noFill/>
          <a:ln/>
        </p:spPr>
        <p:txBody>
          <a:bodyPr wrap="square" lIns="0" tIns="0" rIns="0" bIns="0" rtlCol="0" anchor="ctr"/>
          <a:lstStyle/>
          <a:p>
            <a:pPr marL="0" indent="0" algn="ctr">
              <a:buNone/>
            </a:pPr>
            <a:r>
              <a:rPr lang="en-US" sz="1400" b="1" dirty="0">
                <a:solidFill>
                  <a:srgbClr val="0D1117"/>
                </a:solidFill>
                <a:latin typeface="Consolas" pitchFamily="34" charset="0"/>
                <a:ea typeface="Consolas" pitchFamily="34" charset="-122"/>
                <a:cs typeface="Consolas" pitchFamily="34" charset="-120"/>
              </a:rPr>
              <a:t>0</a:t>
            </a:r>
            <a:endParaRPr lang="en-US" sz="1400" dirty="0"/>
          </a:p>
        </p:txBody>
      </p:sp>
      <p:sp>
        <p:nvSpPr>
          <p:cNvPr id="8" name="Text 6"/>
          <p:cNvSpPr/>
          <p:nvPr/>
        </p:nvSpPr>
        <p:spPr>
          <a:xfrm>
            <a:off x="1005840" y="1828800"/>
            <a:ext cx="2377440" cy="603504"/>
          </a:xfrm>
          <a:prstGeom prst="rect">
            <a:avLst/>
          </a:prstGeom>
          <a:noFill/>
          <a:ln/>
        </p:spPr>
        <p:txBody>
          <a:bodyPr wrap="square" lIns="0" tIns="0" rIns="0" bIns="0" rtlCol="0" anchor="ctr"/>
          <a:lstStyle/>
          <a:p>
            <a:pPr marL="0" indent="0">
              <a:buNone/>
            </a:pPr>
            <a:r>
              <a:rPr lang="en-US" sz="1400" b="1" dirty="0">
                <a:solidFill>
                  <a:srgbClr val="7CE38B"/>
                </a:solidFill>
                <a:latin typeface="Consolas" pitchFamily="34" charset="0"/>
                <a:ea typeface="Consolas" pitchFamily="34" charset="-122"/>
                <a:cs typeface="Consolas" pitchFamily="34" charset="-120"/>
              </a:rPr>
              <a:t>DISCOVERY</a:t>
            </a:r>
            <a:endParaRPr lang="en-US" sz="1400" dirty="0"/>
          </a:p>
        </p:txBody>
      </p:sp>
      <p:sp>
        <p:nvSpPr>
          <p:cNvPr id="9" name="Text 7"/>
          <p:cNvSpPr/>
          <p:nvPr/>
        </p:nvSpPr>
        <p:spPr>
          <a:xfrm>
            <a:off x="3383280" y="1828800"/>
            <a:ext cx="2286000" cy="603504"/>
          </a:xfrm>
          <a:prstGeom prst="rect">
            <a:avLst/>
          </a:prstGeom>
          <a:noFill/>
          <a:ln/>
        </p:spPr>
        <p:txBody>
          <a:bodyPr wrap="square" lIns="0" tIns="0" rIns="0" bIns="0" rtlCol="0" anchor="ctr"/>
          <a:lstStyle/>
          <a:p>
            <a:pPr marL="0" indent="0">
              <a:buNone/>
            </a:pPr>
            <a:r>
              <a:rPr lang="en-US" sz="1100" dirty="0">
                <a:solidFill>
                  <a:srgbClr val="79C0FF"/>
                </a:solidFill>
                <a:latin typeface="Consolas" pitchFamily="34" charset="0"/>
                <a:ea typeface="Consolas" pitchFamily="34" charset="-122"/>
                <a:cs typeface="Consolas" pitchFamily="34" charset="-120"/>
              </a:rPr>
              <a:t>PM + BA + UX</a:t>
            </a:r>
            <a:endParaRPr lang="en-US" sz="1100" dirty="0"/>
          </a:p>
        </p:txBody>
      </p:sp>
      <p:sp>
        <p:nvSpPr>
          <p:cNvPr id="10" name="Text 8"/>
          <p:cNvSpPr/>
          <p:nvPr/>
        </p:nvSpPr>
        <p:spPr>
          <a:xfrm>
            <a:off x="5760720" y="1828800"/>
            <a:ext cx="5943600" cy="603504"/>
          </a:xfrm>
          <a:prstGeom prst="rect">
            <a:avLst/>
          </a:prstGeom>
          <a:noFill/>
          <a:ln/>
        </p:spPr>
        <p:txBody>
          <a:bodyPr wrap="square" lIns="0" tIns="0" rIns="0" bIns="0" rtlCol="0" anchor="ctr"/>
          <a:lstStyle/>
          <a:p>
            <a:pPr marL="0" indent="0">
              <a:buNone/>
            </a:pPr>
            <a:r>
              <a:rPr lang="en-US" sz="1000" dirty="0">
                <a:solidFill>
                  <a:srgbClr val="E6EDF3"/>
                </a:solidFill>
                <a:latin typeface="Calibri" pitchFamily="34" charset="0"/>
                <a:ea typeface="Calibri" pitchFamily="34" charset="-122"/>
                <a:cs typeface="Calibri" pitchFamily="34" charset="-120"/>
              </a:rPr>
              <a:t>PRD, BUSINESS_REQ, USER_STORIES, UX_FLOW</a:t>
            </a:r>
            <a:endParaRPr lang="en-US" sz="1000" dirty="0"/>
          </a:p>
        </p:txBody>
      </p:sp>
      <p:sp>
        <p:nvSpPr>
          <p:cNvPr id="11" name="Shape 9"/>
          <p:cNvSpPr/>
          <p:nvPr/>
        </p:nvSpPr>
        <p:spPr>
          <a:xfrm>
            <a:off x="365760" y="2487168"/>
            <a:ext cx="11430000" cy="603504"/>
          </a:xfrm>
          <a:prstGeom prst="rect">
            <a:avLst/>
          </a:prstGeom>
          <a:solidFill>
            <a:srgbClr val="1C2128"/>
          </a:solidFill>
          <a:ln w="12700">
            <a:solidFill>
              <a:srgbClr val="30363D"/>
            </a:solidFill>
            <a:prstDash val="solid"/>
          </a:ln>
        </p:spPr>
        <p:txBody>
          <a:bodyPr/>
          <a:lstStyle/>
          <a:p>
            <a:endParaRPr/>
          </a:p>
        </p:txBody>
      </p:sp>
      <p:sp>
        <p:nvSpPr>
          <p:cNvPr id="12" name="Shape 10"/>
          <p:cNvSpPr/>
          <p:nvPr/>
        </p:nvSpPr>
        <p:spPr>
          <a:xfrm>
            <a:off x="502920" y="2606040"/>
            <a:ext cx="365760" cy="365760"/>
          </a:xfrm>
          <a:prstGeom prst="ellipse">
            <a:avLst/>
          </a:prstGeom>
          <a:solidFill>
            <a:srgbClr val="7CE38B"/>
          </a:solidFill>
          <a:ln w="12700">
            <a:solidFill>
              <a:srgbClr val="7CE38B"/>
            </a:solidFill>
            <a:prstDash val="solid"/>
          </a:ln>
        </p:spPr>
        <p:txBody>
          <a:bodyPr/>
          <a:lstStyle/>
          <a:p>
            <a:endParaRPr/>
          </a:p>
        </p:txBody>
      </p:sp>
      <p:sp>
        <p:nvSpPr>
          <p:cNvPr id="13" name="Text 11"/>
          <p:cNvSpPr/>
          <p:nvPr/>
        </p:nvSpPr>
        <p:spPr>
          <a:xfrm>
            <a:off x="502920" y="2606040"/>
            <a:ext cx="365760" cy="365760"/>
          </a:xfrm>
          <a:prstGeom prst="rect">
            <a:avLst/>
          </a:prstGeom>
          <a:noFill/>
          <a:ln/>
        </p:spPr>
        <p:txBody>
          <a:bodyPr wrap="square" lIns="0" tIns="0" rIns="0" bIns="0" rtlCol="0" anchor="ctr"/>
          <a:lstStyle/>
          <a:p>
            <a:pPr marL="0" indent="0" algn="ctr">
              <a:buNone/>
            </a:pPr>
            <a:r>
              <a:rPr lang="en-US" sz="1400" b="1" dirty="0">
                <a:solidFill>
                  <a:srgbClr val="0D1117"/>
                </a:solidFill>
                <a:latin typeface="Consolas" pitchFamily="34" charset="0"/>
                <a:ea typeface="Consolas" pitchFamily="34" charset="-122"/>
                <a:cs typeface="Consolas" pitchFamily="34" charset="-120"/>
              </a:rPr>
              <a:t>1</a:t>
            </a:r>
            <a:endParaRPr lang="en-US" sz="1400" dirty="0"/>
          </a:p>
        </p:txBody>
      </p:sp>
      <p:sp>
        <p:nvSpPr>
          <p:cNvPr id="14" name="Text 12"/>
          <p:cNvSpPr/>
          <p:nvPr/>
        </p:nvSpPr>
        <p:spPr>
          <a:xfrm>
            <a:off x="1005840" y="2487168"/>
            <a:ext cx="2377440" cy="603504"/>
          </a:xfrm>
          <a:prstGeom prst="rect">
            <a:avLst/>
          </a:prstGeom>
          <a:noFill/>
          <a:ln/>
        </p:spPr>
        <p:txBody>
          <a:bodyPr wrap="square" lIns="0" tIns="0" rIns="0" bIns="0" rtlCol="0" anchor="ctr"/>
          <a:lstStyle/>
          <a:p>
            <a:pPr marL="0" indent="0">
              <a:buNone/>
            </a:pPr>
            <a:r>
              <a:rPr lang="en-US" sz="1400" b="1" dirty="0">
                <a:solidFill>
                  <a:srgbClr val="7CE38B"/>
                </a:solidFill>
                <a:latin typeface="Consolas" pitchFamily="34" charset="0"/>
                <a:ea typeface="Consolas" pitchFamily="34" charset="-122"/>
                <a:cs typeface="Consolas" pitchFamily="34" charset="-120"/>
              </a:rPr>
              <a:t>SOLUTION</a:t>
            </a:r>
            <a:endParaRPr lang="en-US" sz="1400" dirty="0"/>
          </a:p>
        </p:txBody>
      </p:sp>
      <p:sp>
        <p:nvSpPr>
          <p:cNvPr id="15" name="Text 13"/>
          <p:cNvSpPr/>
          <p:nvPr/>
        </p:nvSpPr>
        <p:spPr>
          <a:xfrm>
            <a:off x="3383280" y="2487168"/>
            <a:ext cx="2286000" cy="603504"/>
          </a:xfrm>
          <a:prstGeom prst="rect">
            <a:avLst/>
          </a:prstGeom>
          <a:noFill/>
          <a:ln/>
        </p:spPr>
        <p:txBody>
          <a:bodyPr wrap="square" lIns="0" tIns="0" rIns="0" bIns="0" rtlCol="0" anchor="ctr"/>
          <a:lstStyle/>
          <a:p>
            <a:pPr marL="0" indent="0">
              <a:buNone/>
            </a:pPr>
            <a:r>
              <a:rPr lang="en-US" sz="1100" dirty="0">
                <a:solidFill>
                  <a:srgbClr val="79C0FF"/>
                </a:solidFill>
                <a:latin typeface="Consolas" pitchFamily="34" charset="0"/>
                <a:ea typeface="Consolas" pitchFamily="34" charset="-122"/>
                <a:cs typeface="Consolas" pitchFamily="34" charset="-120"/>
              </a:rPr>
              <a:t>SA</a:t>
            </a:r>
            <a:endParaRPr lang="en-US" sz="1100" dirty="0"/>
          </a:p>
        </p:txBody>
      </p:sp>
      <p:sp>
        <p:nvSpPr>
          <p:cNvPr id="16" name="Text 14"/>
          <p:cNvSpPr/>
          <p:nvPr/>
        </p:nvSpPr>
        <p:spPr>
          <a:xfrm>
            <a:off x="5760720" y="2487168"/>
            <a:ext cx="5943600" cy="603504"/>
          </a:xfrm>
          <a:prstGeom prst="rect">
            <a:avLst/>
          </a:prstGeom>
          <a:noFill/>
          <a:ln/>
        </p:spPr>
        <p:txBody>
          <a:bodyPr wrap="square" lIns="0" tIns="0" rIns="0" bIns="0" rtlCol="0" anchor="ctr"/>
          <a:lstStyle/>
          <a:p>
            <a:pPr marL="0" indent="0">
              <a:buNone/>
            </a:pPr>
            <a:r>
              <a:rPr lang="en-US" sz="1000" dirty="0">
                <a:solidFill>
                  <a:srgbClr val="E6EDF3"/>
                </a:solidFill>
                <a:latin typeface="Calibri" pitchFamily="34" charset="0"/>
                <a:ea typeface="Calibri" pitchFamily="34" charset="-122"/>
                <a:cs typeface="Calibri" pitchFamily="34" charset="-120"/>
              </a:rPr>
              <a:t>SOLUTION_ARCH, TECH_STACK ✍ confirmed, ADR, API_CONTRACT</a:t>
            </a:r>
            <a:endParaRPr lang="en-US" sz="1000" dirty="0"/>
          </a:p>
        </p:txBody>
      </p:sp>
      <p:sp>
        <p:nvSpPr>
          <p:cNvPr id="17" name="Shape 15"/>
          <p:cNvSpPr/>
          <p:nvPr/>
        </p:nvSpPr>
        <p:spPr>
          <a:xfrm>
            <a:off x="365760" y="3145536"/>
            <a:ext cx="11430000" cy="603504"/>
          </a:xfrm>
          <a:prstGeom prst="rect">
            <a:avLst/>
          </a:prstGeom>
          <a:solidFill>
            <a:srgbClr val="161B22"/>
          </a:solidFill>
          <a:ln w="12700">
            <a:solidFill>
              <a:srgbClr val="30363D"/>
            </a:solidFill>
            <a:prstDash val="solid"/>
          </a:ln>
        </p:spPr>
        <p:txBody>
          <a:bodyPr/>
          <a:lstStyle/>
          <a:p>
            <a:endParaRPr/>
          </a:p>
        </p:txBody>
      </p:sp>
      <p:sp>
        <p:nvSpPr>
          <p:cNvPr id="18" name="Shape 16"/>
          <p:cNvSpPr/>
          <p:nvPr/>
        </p:nvSpPr>
        <p:spPr>
          <a:xfrm>
            <a:off x="502920" y="3264408"/>
            <a:ext cx="365760" cy="365760"/>
          </a:xfrm>
          <a:prstGeom prst="ellipse">
            <a:avLst/>
          </a:prstGeom>
          <a:solidFill>
            <a:srgbClr val="7CE38B"/>
          </a:solidFill>
          <a:ln w="12700">
            <a:solidFill>
              <a:srgbClr val="7CE38B"/>
            </a:solidFill>
            <a:prstDash val="solid"/>
          </a:ln>
        </p:spPr>
        <p:txBody>
          <a:bodyPr/>
          <a:lstStyle/>
          <a:p>
            <a:endParaRPr/>
          </a:p>
        </p:txBody>
      </p:sp>
      <p:sp>
        <p:nvSpPr>
          <p:cNvPr id="19" name="Text 17"/>
          <p:cNvSpPr/>
          <p:nvPr/>
        </p:nvSpPr>
        <p:spPr>
          <a:xfrm>
            <a:off x="502920" y="3264408"/>
            <a:ext cx="365760" cy="365760"/>
          </a:xfrm>
          <a:prstGeom prst="rect">
            <a:avLst/>
          </a:prstGeom>
          <a:noFill/>
          <a:ln/>
        </p:spPr>
        <p:txBody>
          <a:bodyPr wrap="square" lIns="0" tIns="0" rIns="0" bIns="0" rtlCol="0" anchor="ctr"/>
          <a:lstStyle/>
          <a:p>
            <a:pPr marL="0" indent="0" algn="ctr">
              <a:buNone/>
            </a:pPr>
            <a:r>
              <a:rPr lang="en-US" sz="1400" b="1" dirty="0">
                <a:solidFill>
                  <a:srgbClr val="0D1117"/>
                </a:solidFill>
                <a:latin typeface="Consolas" pitchFamily="34" charset="0"/>
                <a:ea typeface="Consolas" pitchFamily="34" charset="-122"/>
                <a:cs typeface="Consolas" pitchFamily="34" charset="-120"/>
              </a:rPr>
              <a:t>2</a:t>
            </a:r>
            <a:endParaRPr lang="en-US" sz="1400" dirty="0"/>
          </a:p>
        </p:txBody>
      </p:sp>
      <p:sp>
        <p:nvSpPr>
          <p:cNvPr id="20" name="Text 18"/>
          <p:cNvSpPr/>
          <p:nvPr/>
        </p:nvSpPr>
        <p:spPr>
          <a:xfrm>
            <a:off x="1005840" y="3145536"/>
            <a:ext cx="2377440" cy="603504"/>
          </a:xfrm>
          <a:prstGeom prst="rect">
            <a:avLst/>
          </a:prstGeom>
          <a:noFill/>
          <a:ln/>
        </p:spPr>
        <p:txBody>
          <a:bodyPr wrap="square" lIns="0" tIns="0" rIns="0" bIns="0" rtlCol="0" anchor="ctr"/>
          <a:lstStyle/>
          <a:p>
            <a:pPr marL="0" indent="0">
              <a:buNone/>
            </a:pPr>
            <a:r>
              <a:rPr lang="en-US" sz="1400" b="1" dirty="0">
                <a:solidFill>
                  <a:srgbClr val="7CE38B"/>
                </a:solidFill>
                <a:latin typeface="Consolas" pitchFamily="34" charset="0"/>
                <a:ea typeface="Consolas" pitchFamily="34" charset="-122"/>
                <a:cs typeface="Consolas" pitchFamily="34" charset="-120"/>
              </a:rPr>
              <a:t>BACKLOG</a:t>
            </a:r>
            <a:endParaRPr lang="en-US" sz="1400" dirty="0"/>
          </a:p>
        </p:txBody>
      </p:sp>
      <p:sp>
        <p:nvSpPr>
          <p:cNvPr id="21" name="Text 19"/>
          <p:cNvSpPr/>
          <p:nvPr/>
        </p:nvSpPr>
        <p:spPr>
          <a:xfrm>
            <a:off x="3383280" y="3145536"/>
            <a:ext cx="2286000" cy="603504"/>
          </a:xfrm>
          <a:prstGeom prst="rect">
            <a:avLst/>
          </a:prstGeom>
          <a:noFill/>
          <a:ln/>
        </p:spPr>
        <p:txBody>
          <a:bodyPr wrap="square" lIns="0" tIns="0" rIns="0" bIns="0" rtlCol="0" anchor="ctr"/>
          <a:lstStyle/>
          <a:p>
            <a:pPr marL="0" indent="0">
              <a:buNone/>
            </a:pPr>
            <a:r>
              <a:rPr lang="en-US" sz="1100" dirty="0">
                <a:solidFill>
                  <a:srgbClr val="79C0FF"/>
                </a:solidFill>
                <a:latin typeface="Consolas" pitchFamily="34" charset="0"/>
                <a:ea typeface="Consolas" pitchFamily="34" charset="-122"/>
                <a:cs typeface="Consolas" pitchFamily="34" charset="-120"/>
              </a:rPr>
              <a:t>PM + BA + UX + SA</a:t>
            </a:r>
            <a:endParaRPr lang="en-US" sz="1100" dirty="0"/>
          </a:p>
        </p:txBody>
      </p:sp>
      <p:sp>
        <p:nvSpPr>
          <p:cNvPr id="22" name="Text 20"/>
          <p:cNvSpPr/>
          <p:nvPr/>
        </p:nvSpPr>
        <p:spPr>
          <a:xfrm>
            <a:off x="5760720" y="3145536"/>
            <a:ext cx="5943600" cy="603504"/>
          </a:xfrm>
          <a:prstGeom prst="rect">
            <a:avLst/>
          </a:prstGeom>
          <a:noFill/>
          <a:ln/>
        </p:spPr>
        <p:txBody>
          <a:bodyPr wrap="square" lIns="0" tIns="0" rIns="0" bIns="0" rtlCol="0" anchor="ctr"/>
          <a:lstStyle/>
          <a:p>
            <a:pPr marL="0" indent="0">
              <a:buNone/>
            </a:pPr>
            <a:r>
              <a:rPr lang="en-US" sz="1000" dirty="0">
                <a:solidFill>
                  <a:srgbClr val="E6EDF3"/>
                </a:solidFill>
                <a:latin typeface="Calibri" pitchFamily="34" charset="0"/>
                <a:ea typeface="Calibri" pitchFamily="34" charset="-122"/>
                <a:cs typeface="Calibri" pitchFamily="34" charset="-120"/>
              </a:rPr>
              <a:t>BACKLOG ưu tiên, USER_STORIES có AC</a:t>
            </a:r>
            <a:endParaRPr lang="en-US" sz="1000" dirty="0"/>
          </a:p>
        </p:txBody>
      </p:sp>
      <p:sp>
        <p:nvSpPr>
          <p:cNvPr id="23" name="Shape 21"/>
          <p:cNvSpPr/>
          <p:nvPr/>
        </p:nvSpPr>
        <p:spPr>
          <a:xfrm>
            <a:off x="365760" y="3803904"/>
            <a:ext cx="11430000" cy="603504"/>
          </a:xfrm>
          <a:prstGeom prst="rect">
            <a:avLst/>
          </a:prstGeom>
          <a:solidFill>
            <a:srgbClr val="1C2128"/>
          </a:solidFill>
          <a:ln w="12700">
            <a:solidFill>
              <a:srgbClr val="30363D"/>
            </a:solidFill>
            <a:prstDash val="solid"/>
          </a:ln>
        </p:spPr>
        <p:txBody>
          <a:bodyPr/>
          <a:lstStyle/>
          <a:p>
            <a:endParaRPr/>
          </a:p>
        </p:txBody>
      </p:sp>
      <p:sp>
        <p:nvSpPr>
          <p:cNvPr id="24" name="Shape 22"/>
          <p:cNvSpPr/>
          <p:nvPr/>
        </p:nvSpPr>
        <p:spPr>
          <a:xfrm>
            <a:off x="502920" y="3922776"/>
            <a:ext cx="365760" cy="365760"/>
          </a:xfrm>
          <a:prstGeom prst="ellipse">
            <a:avLst/>
          </a:prstGeom>
          <a:solidFill>
            <a:srgbClr val="7CE38B"/>
          </a:solidFill>
          <a:ln w="12700">
            <a:solidFill>
              <a:srgbClr val="7CE38B"/>
            </a:solidFill>
            <a:prstDash val="solid"/>
          </a:ln>
        </p:spPr>
        <p:txBody>
          <a:bodyPr/>
          <a:lstStyle/>
          <a:p>
            <a:endParaRPr/>
          </a:p>
        </p:txBody>
      </p:sp>
      <p:sp>
        <p:nvSpPr>
          <p:cNvPr id="25" name="Text 23"/>
          <p:cNvSpPr/>
          <p:nvPr/>
        </p:nvSpPr>
        <p:spPr>
          <a:xfrm>
            <a:off x="502920" y="3922776"/>
            <a:ext cx="365760" cy="365760"/>
          </a:xfrm>
          <a:prstGeom prst="rect">
            <a:avLst/>
          </a:prstGeom>
          <a:noFill/>
          <a:ln/>
        </p:spPr>
        <p:txBody>
          <a:bodyPr wrap="square" lIns="0" tIns="0" rIns="0" bIns="0" rtlCol="0" anchor="ctr"/>
          <a:lstStyle/>
          <a:p>
            <a:pPr marL="0" indent="0" algn="ctr">
              <a:buNone/>
            </a:pPr>
            <a:r>
              <a:rPr lang="en-US" sz="1400" b="1" dirty="0">
                <a:solidFill>
                  <a:srgbClr val="0D1117"/>
                </a:solidFill>
                <a:latin typeface="Consolas" pitchFamily="34" charset="0"/>
                <a:ea typeface="Consolas" pitchFamily="34" charset="-122"/>
                <a:cs typeface="Consolas" pitchFamily="34" charset="-120"/>
              </a:rPr>
              <a:t>3</a:t>
            </a:r>
            <a:endParaRPr lang="en-US" sz="1400" dirty="0"/>
          </a:p>
        </p:txBody>
      </p:sp>
      <p:sp>
        <p:nvSpPr>
          <p:cNvPr id="26" name="Text 24"/>
          <p:cNvSpPr/>
          <p:nvPr/>
        </p:nvSpPr>
        <p:spPr>
          <a:xfrm>
            <a:off x="1005840" y="3803904"/>
            <a:ext cx="2377440" cy="603504"/>
          </a:xfrm>
          <a:prstGeom prst="rect">
            <a:avLst/>
          </a:prstGeom>
          <a:noFill/>
          <a:ln/>
        </p:spPr>
        <p:txBody>
          <a:bodyPr wrap="square" lIns="0" tIns="0" rIns="0" bIns="0" rtlCol="0" anchor="ctr"/>
          <a:lstStyle/>
          <a:p>
            <a:pPr marL="0" indent="0">
              <a:buNone/>
            </a:pPr>
            <a:r>
              <a:rPr lang="en-US" sz="1400" b="1" dirty="0">
                <a:solidFill>
                  <a:srgbClr val="7CE38B"/>
                </a:solidFill>
                <a:latin typeface="Consolas" pitchFamily="34" charset="0"/>
                <a:ea typeface="Consolas" pitchFamily="34" charset="-122"/>
                <a:cs typeface="Consolas" pitchFamily="34" charset="-120"/>
              </a:rPr>
              <a:t>PLANNING</a:t>
            </a:r>
            <a:endParaRPr lang="en-US" sz="1400" dirty="0"/>
          </a:p>
        </p:txBody>
      </p:sp>
      <p:sp>
        <p:nvSpPr>
          <p:cNvPr id="27" name="Text 25"/>
          <p:cNvSpPr/>
          <p:nvPr/>
        </p:nvSpPr>
        <p:spPr>
          <a:xfrm>
            <a:off x="3383280" y="3803904"/>
            <a:ext cx="2286000" cy="603504"/>
          </a:xfrm>
          <a:prstGeom prst="rect">
            <a:avLst/>
          </a:prstGeom>
          <a:noFill/>
          <a:ln/>
        </p:spPr>
        <p:txBody>
          <a:bodyPr wrap="square" lIns="0" tIns="0" rIns="0" bIns="0" rtlCol="0" anchor="ctr"/>
          <a:lstStyle/>
          <a:p>
            <a:pPr marL="0" indent="0">
              <a:buNone/>
            </a:pPr>
            <a:r>
              <a:rPr lang="en-US" sz="1100" dirty="0">
                <a:solidFill>
                  <a:srgbClr val="79C0FF"/>
                </a:solidFill>
                <a:latin typeface="Consolas" pitchFamily="34" charset="0"/>
                <a:ea typeface="Consolas" pitchFamily="34" charset="-122"/>
                <a:cs typeface="Consolas" pitchFamily="34" charset="-120"/>
              </a:rPr>
              <a:t>BE + FE + QA + DEL</a:t>
            </a:r>
            <a:endParaRPr lang="en-US" sz="1100" dirty="0"/>
          </a:p>
        </p:txBody>
      </p:sp>
      <p:sp>
        <p:nvSpPr>
          <p:cNvPr id="28" name="Text 26"/>
          <p:cNvSpPr/>
          <p:nvPr/>
        </p:nvSpPr>
        <p:spPr>
          <a:xfrm>
            <a:off x="5760720" y="3803904"/>
            <a:ext cx="5943600" cy="603504"/>
          </a:xfrm>
          <a:prstGeom prst="rect">
            <a:avLst/>
          </a:prstGeom>
          <a:noFill/>
          <a:ln/>
        </p:spPr>
        <p:txBody>
          <a:bodyPr wrap="square" lIns="0" tIns="0" rIns="0" bIns="0" rtlCol="0" anchor="ctr"/>
          <a:lstStyle/>
          <a:p>
            <a:pPr marL="0" indent="0">
              <a:buNone/>
            </a:pPr>
            <a:r>
              <a:rPr lang="en-US" sz="1000" dirty="0">
                <a:solidFill>
                  <a:srgbClr val="E6EDF3"/>
                </a:solidFill>
                <a:latin typeface="Calibri" pitchFamily="34" charset="0"/>
                <a:ea typeface="Calibri" pitchFamily="34" charset="-122"/>
                <a:cs typeface="Calibri" pitchFamily="34" charset="-120"/>
              </a:rPr>
              <a:t>BE_PLAN, FE_PLAN, TEST_PLAN, DELIVERY_PLAN</a:t>
            </a:r>
            <a:endParaRPr lang="en-US" sz="1000" dirty="0"/>
          </a:p>
        </p:txBody>
      </p:sp>
      <p:sp>
        <p:nvSpPr>
          <p:cNvPr id="29" name="Shape 27"/>
          <p:cNvSpPr/>
          <p:nvPr/>
        </p:nvSpPr>
        <p:spPr>
          <a:xfrm>
            <a:off x="365760" y="4462272"/>
            <a:ext cx="11430000" cy="603504"/>
          </a:xfrm>
          <a:prstGeom prst="rect">
            <a:avLst/>
          </a:prstGeom>
          <a:solidFill>
            <a:srgbClr val="161B22"/>
          </a:solidFill>
          <a:ln w="12700">
            <a:solidFill>
              <a:srgbClr val="30363D"/>
            </a:solidFill>
            <a:prstDash val="solid"/>
          </a:ln>
        </p:spPr>
        <p:txBody>
          <a:bodyPr/>
          <a:lstStyle/>
          <a:p>
            <a:endParaRPr/>
          </a:p>
        </p:txBody>
      </p:sp>
      <p:sp>
        <p:nvSpPr>
          <p:cNvPr id="30" name="Shape 28"/>
          <p:cNvSpPr/>
          <p:nvPr/>
        </p:nvSpPr>
        <p:spPr>
          <a:xfrm>
            <a:off x="502920" y="4581144"/>
            <a:ext cx="365760" cy="365760"/>
          </a:xfrm>
          <a:prstGeom prst="ellipse">
            <a:avLst/>
          </a:prstGeom>
          <a:solidFill>
            <a:srgbClr val="7CE38B"/>
          </a:solidFill>
          <a:ln w="12700">
            <a:solidFill>
              <a:srgbClr val="7CE38B"/>
            </a:solidFill>
            <a:prstDash val="solid"/>
          </a:ln>
        </p:spPr>
        <p:txBody>
          <a:bodyPr/>
          <a:lstStyle/>
          <a:p>
            <a:endParaRPr/>
          </a:p>
        </p:txBody>
      </p:sp>
      <p:sp>
        <p:nvSpPr>
          <p:cNvPr id="31" name="Text 29"/>
          <p:cNvSpPr/>
          <p:nvPr/>
        </p:nvSpPr>
        <p:spPr>
          <a:xfrm>
            <a:off x="502920" y="4581144"/>
            <a:ext cx="365760" cy="365760"/>
          </a:xfrm>
          <a:prstGeom prst="rect">
            <a:avLst/>
          </a:prstGeom>
          <a:noFill/>
          <a:ln/>
        </p:spPr>
        <p:txBody>
          <a:bodyPr wrap="square" lIns="0" tIns="0" rIns="0" bIns="0" rtlCol="0" anchor="ctr"/>
          <a:lstStyle/>
          <a:p>
            <a:pPr marL="0" indent="0" algn="ctr">
              <a:buNone/>
            </a:pPr>
            <a:r>
              <a:rPr lang="en-US" sz="1400" b="1" dirty="0">
                <a:solidFill>
                  <a:srgbClr val="0D1117"/>
                </a:solidFill>
                <a:latin typeface="Consolas" pitchFamily="34" charset="0"/>
                <a:ea typeface="Consolas" pitchFamily="34" charset="-122"/>
                <a:cs typeface="Consolas" pitchFamily="34" charset="-120"/>
              </a:rPr>
              <a:t>4</a:t>
            </a:r>
            <a:endParaRPr lang="en-US" sz="1400" dirty="0"/>
          </a:p>
        </p:txBody>
      </p:sp>
      <p:sp>
        <p:nvSpPr>
          <p:cNvPr id="32" name="Text 30"/>
          <p:cNvSpPr/>
          <p:nvPr/>
        </p:nvSpPr>
        <p:spPr>
          <a:xfrm>
            <a:off x="1005840" y="4462272"/>
            <a:ext cx="2377440" cy="603504"/>
          </a:xfrm>
          <a:prstGeom prst="rect">
            <a:avLst/>
          </a:prstGeom>
          <a:noFill/>
          <a:ln/>
        </p:spPr>
        <p:txBody>
          <a:bodyPr wrap="square" lIns="0" tIns="0" rIns="0" bIns="0" rtlCol="0" anchor="ctr"/>
          <a:lstStyle/>
          <a:p>
            <a:pPr marL="0" indent="0">
              <a:buNone/>
            </a:pPr>
            <a:r>
              <a:rPr lang="en-US" sz="1400" b="1" dirty="0">
                <a:solidFill>
                  <a:srgbClr val="7CE38B"/>
                </a:solidFill>
                <a:latin typeface="Consolas" pitchFamily="34" charset="0"/>
                <a:ea typeface="Consolas" pitchFamily="34" charset="-122"/>
                <a:cs typeface="Consolas" pitchFamily="34" charset="-120"/>
              </a:rPr>
              <a:t>BUILD</a:t>
            </a:r>
            <a:endParaRPr lang="en-US" sz="1400" dirty="0"/>
          </a:p>
        </p:txBody>
      </p:sp>
      <p:sp>
        <p:nvSpPr>
          <p:cNvPr id="33" name="Text 31"/>
          <p:cNvSpPr/>
          <p:nvPr/>
        </p:nvSpPr>
        <p:spPr>
          <a:xfrm>
            <a:off x="3383280" y="4462272"/>
            <a:ext cx="2286000" cy="603504"/>
          </a:xfrm>
          <a:prstGeom prst="rect">
            <a:avLst/>
          </a:prstGeom>
          <a:noFill/>
          <a:ln/>
        </p:spPr>
        <p:txBody>
          <a:bodyPr wrap="square" lIns="0" tIns="0" rIns="0" bIns="0" rtlCol="0" anchor="ctr"/>
          <a:lstStyle/>
          <a:p>
            <a:pPr marL="0" indent="0">
              <a:buNone/>
            </a:pPr>
            <a:r>
              <a:rPr lang="en-US" sz="1100" dirty="0">
                <a:solidFill>
                  <a:srgbClr val="79C0FF"/>
                </a:solidFill>
                <a:latin typeface="Consolas" pitchFamily="34" charset="0"/>
                <a:ea typeface="Consolas" pitchFamily="34" charset="-122"/>
                <a:cs typeface="Consolas" pitchFamily="34" charset="-120"/>
              </a:rPr>
              <a:t>BE + FE</a:t>
            </a:r>
            <a:endParaRPr lang="en-US" sz="1100" dirty="0"/>
          </a:p>
        </p:txBody>
      </p:sp>
      <p:sp>
        <p:nvSpPr>
          <p:cNvPr id="34" name="Text 32"/>
          <p:cNvSpPr/>
          <p:nvPr/>
        </p:nvSpPr>
        <p:spPr>
          <a:xfrm>
            <a:off x="5760720" y="4462272"/>
            <a:ext cx="5943600" cy="603504"/>
          </a:xfrm>
          <a:prstGeom prst="rect">
            <a:avLst/>
          </a:prstGeom>
          <a:noFill/>
          <a:ln/>
        </p:spPr>
        <p:txBody>
          <a:bodyPr wrap="square" lIns="0" tIns="0" rIns="0" bIns="0" rtlCol="0" anchor="ctr"/>
          <a:lstStyle/>
          <a:p>
            <a:pPr marL="0" indent="0">
              <a:buNone/>
            </a:pPr>
            <a:r>
              <a:rPr lang="en-US" sz="1000" dirty="0">
                <a:solidFill>
                  <a:srgbClr val="E6EDF3"/>
                </a:solidFill>
                <a:latin typeface="Calibri" pitchFamily="34" charset="0"/>
                <a:ea typeface="Calibri" pitchFamily="34" charset="-122"/>
                <a:cs typeface="Calibri" pitchFamily="34" charset="-120"/>
              </a:rPr>
              <a:t>backend/* + frontend/* (source thật)</a:t>
            </a:r>
            <a:endParaRPr lang="en-US" sz="1000" dirty="0"/>
          </a:p>
        </p:txBody>
      </p:sp>
      <p:sp>
        <p:nvSpPr>
          <p:cNvPr id="35" name="Shape 33"/>
          <p:cNvSpPr/>
          <p:nvPr/>
        </p:nvSpPr>
        <p:spPr>
          <a:xfrm>
            <a:off x="365760" y="5120640"/>
            <a:ext cx="11430000" cy="603504"/>
          </a:xfrm>
          <a:prstGeom prst="rect">
            <a:avLst/>
          </a:prstGeom>
          <a:solidFill>
            <a:srgbClr val="1C2128"/>
          </a:solidFill>
          <a:ln w="12700">
            <a:solidFill>
              <a:srgbClr val="30363D"/>
            </a:solidFill>
            <a:prstDash val="solid"/>
          </a:ln>
        </p:spPr>
        <p:txBody>
          <a:bodyPr/>
          <a:lstStyle/>
          <a:p>
            <a:endParaRPr/>
          </a:p>
        </p:txBody>
      </p:sp>
      <p:sp>
        <p:nvSpPr>
          <p:cNvPr id="36" name="Shape 34"/>
          <p:cNvSpPr/>
          <p:nvPr/>
        </p:nvSpPr>
        <p:spPr>
          <a:xfrm>
            <a:off x="502920" y="5239512"/>
            <a:ext cx="365760" cy="365760"/>
          </a:xfrm>
          <a:prstGeom prst="ellipse">
            <a:avLst/>
          </a:prstGeom>
          <a:solidFill>
            <a:srgbClr val="7CE38B"/>
          </a:solidFill>
          <a:ln w="12700">
            <a:solidFill>
              <a:srgbClr val="7CE38B"/>
            </a:solidFill>
            <a:prstDash val="solid"/>
          </a:ln>
        </p:spPr>
        <p:txBody>
          <a:bodyPr/>
          <a:lstStyle/>
          <a:p>
            <a:endParaRPr/>
          </a:p>
        </p:txBody>
      </p:sp>
      <p:sp>
        <p:nvSpPr>
          <p:cNvPr id="37" name="Text 35"/>
          <p:cNvSpPr/>
          <p:nvPr/>
        </p:nvSpPr>
        <p:spPr>
          <a:xfrm>
            <a:off x="502920" y="5239512"/>
            <a:ext cx="365760" cy="365760"/>
          </a:xfrm>
          <a:prstGeom prst="rect">
            <a:avLst/>
          </a:prstGeom>
          <a:noFill/>
          <a:ln/>
        </p:spPr>
        <p:txBody>
          <a:bodyPr wrap="square" lIns="0" tIns="0" rIns="0" bIns="0" rtlCol="0" anchor="ctr"/>
          <a:lstStyle/>
          <a:p>
            <a:pPr marL="0" indent="0" algn="ctr">
              <a:buNone/>
            </a:pPr>
            <a:r>
              <a:rPr lang="en-US" sz="1400" b="1" dirty="0">
                <a:solidFill>
                  <a:srgbClr val="0D1117"/>
                </a:solidFill>
                <a:latin typeface="Consolas" pitchFamily="34" charset="0"/>
                <a:ea typeface="Consolas" pitchFamily="34" charset="-122"/>
                <a:cs typeface="Consolas" pitchFamily="34" charset="-120"/>
              </a:rPr>
              <a:t>5</a:t>
            </a:r>
            <a:endParaRPr lang="en-US" sz="1400" dirty="0"/>
          </a:p>
        </p:txBody>
      </p:sp>
      <p:sp>
        <p:nvSpPr>
          <p:cNvPr id="38" name="Text 36"/>
          <p:cNvSpPr/>
          <p:nvPr/>
        </p:nvSpPr>
        <p:spPr>
          <a:xfrm>
            <a:off x="1005840" y="5120640"/>
            <a:ext cx="2377440" cy="603504"/>
          </a:xfrm>
          <a:prstGeom prst="rect">
            <a:avLst/>
          </a:prstGeom>
          <a:noFill/>
          <a:ln/>
        </p:spPr>
        <p:txBody>
          <a:bodyPr wrap="square" lIns="0" tIns="0" rIns="0" bIns="0" rtlCol="0" anchor="ctr"/>
          <a:lstStyle/>
          <a:p>
            <a:pPr marL="0" indent="0">
              <a:buNone/>
            </a:pPr>
            <a:r>
              <a:rPr lang="en-US" sz="1400" b="1" dirty="0">
                <a:solidFill>
                  <a:srgbClr val="7CE38B"/>
                </a:solidFill>
                <a:latin typeface="Consolas" pitchFamily="34" charset="0"/>
                <a:ea typeface="Consolas" pitchFamily="34" charset="-122"/>
                <a:cs typeface="Consolas" pitchFamily="34" charset="-120"/>
              </a:rPr>
              <a:t>TEST &amp; FIX</a:t>
            </a:r>
            <a:endParaRPr lang="en-US" sz="1400" dirty="0"/>
          </a:p>
        </p:txBody>
      </p:sp>
      <p:sp>
        <p:nvSpPr>
          <p:cNvPr id="39" name="Text 37"/>
          <p:cNvSpPr/>
          <p:nvPr/>
        </p:nvSpPr>
        <p:spPr>
          <a:xfrm>
            <a:off x="3383280" y="5120640"/>
            <a:ext cx="2286000" cy="603504"/>
          </a:xfrm>
          <a:prstGeom prst="rect">
            <a:avLst/>
          </a:prstGeom>
          <a:noFill/>
          <a:ln/>
        </p:spPr>
        <p:txBody>
          <a:bodyPr wrap="square" lIns="0" tIns="0" rIns="0" bIns="0" rtlCol="0" anchor="ctr"/>
          <a:lstStyle/>
          <a:p>
            <a:pPr marL="0" indent="0">
              <a:buNone/>
            </a:pPr>
            <a:r>
              <a:rPr lang="en-US" sz="1100" dirty="0">
                <a:solidFill>
                  <a:srgbClr val="79C0FF"/>
                </a:solidFill>
                <a:latin typeface="Consolas" pitchFamily="34" charset="0"/>
                <a:ea typeface="Consolas" pitchFamily="34" charset="-122"/>
                <a:cs typeface="Consolas" pitchFamily="34" charset="-120"/>
              </a:rPr>
              <a:t>QA + BE + FE</a:t>
            </a:r>
            <a:endParaRPr lang="en-US" sz="1100" dirty="0"/>
          </a:p>
        </p:txBody>
      </p:sp>
      <p:sp>
        <p:nvSpPr>
          <p:cNvPr id="40" name="Text 38"/>
          <p:cNvSpPr/>
          <p:nvPr/>
        </p:nvSpPr>
        <p:spPr>
          <a:xfrm>
            <a:off x="5760720" y="5120640"/>
            <a:ext cx="5943600" cy="603504"/>
          </a:xfrm>
          <a:prstGeom prst="rect">
            <a:avLst/>
          </a:prstGeom>
          <a:noFill/>
          <a:ln/>
        </p:spPr>
        <p:txBody>
          <a:bodyPr wrap="square" lIns="0" tIns="0" rIns="0" bIns="0" rtlCol="0" anchor="ctr"/>
          <a:lstStyle/>
          <a:p>
            <a:pPr marL="0" indent="0">
              <a:buNone/>
            </a:pPr>
            <a:r>
              <a:rPr lang="en-US" sz="1000" dirty="0">
                <a:solidFill>
                  <a:srgbClr val="E6EDF3"/>
                </a:solidFill>
                <a:latin typeface="Calibri" pitchFamily="34" charset="0"/>
                <a:ea typeface="Calibri" pitchFamily="34" charset="-122"/>
                <a:cs typeface="Calibri" pitchFamily="34" charset="-120"/>
              </a:rPr>
              <a:t>TEST_REPORT VERDICT: PASS, BUG_REPORT clean</a:t>
            </a:r>
            <a:endParaRPr lang="en-US" sz="1000" dirty="0"/>
          </a:p>
        </p:txBody>
      </p:sp>
      <p:sp>
        <p:nvSpPr>
          <p:cNvPr id="41" name="Shape 39"/>
          <p:cNvSpPr/>
          <p:nvPr/>
        </p:nvSpPr>
        <p:spPr>
          <a:xfrm>
            <a:off x="365760" y="5779008"/>
            <a:ext cx="11430000" cy="603504"/>
          </a:xfrm>
          <a:prstGeom prst="rect">
            <a:avLst/>
          </a:prstGeom>
          <a:solidFill>
            <a:srgbClr val="161B22"/>
          </a:solidFill>
          <a:ln w="12700">
            <a:solidFill>
              <a:srgbClr val="30363D"/>
            </a:solidFill>
            <a:prstDash val="solid"/>
          </a:ln>
        </p:spPr>
        <p:txBody>
          <a:bodyPr/>
          <a:lstStyle/>
          <a:p>
            <a:endParaRPr/>
          </a:p>
        </p:txBody>
      </p:sp>
      <p:sp>
        <p:nvSpPr>
          <p:cNvPr id="42" name="Shape 40"/>
          <p:cNvSpPr/>
          <p:nvPr/>
        </p:nvSpPr>
        <p:spPr>
          <a:xfrm>
            <a:off x="502920" y="5897880"/>
            <a:ext cx="365760" cy="365760"/>
          </a:xfrm>
          <a:prstGeom prst="ellipse">
            <a:avLst/>
          </a:prstGeom>
          <a:solidFill>
            <a:srgbClr val="7CE38B"/>
          </a:solidFill>
          <a:ln w="12700">
            <a:solidFill>
              <a:srgbClr val="7CE38B"/>
            </a:solidFill>
            <a:prstDash val="solid"/>
          </a:ln>
        </p:spPr>
        <p:txBody>
          <a:bodyPr/>
          <a:lstStyle/>
          <a:p>
            <a:endParaRPr/>
          </a:p>
        </p:txBody>
      </p:sp>
      <p:sp>
        <p:nvSpPr>
          <p:cNvPr id="43" name="Text 41"/>
          <p:cNvSpPr/>
          <p:nvPr/>
        </p:nvSpPr>
        <p:spPr>
          <a:xfrm>
            <a:off x="502920" y="5897880"/>
            <a:ext cx="365760" cy="365760"/>
          </a:xfrm>
          <a:prstGeom prst="rect">
            <a:avLst/>
          </a:prstGeom>
          <a:noFill/>
          <a:ln/>
        </p:spPr>
        <p:txBody>
          <a:bodyPr wrap="square" lIns="0" tIns="0" rIns="0" bIns="0" rtlCol="0" anchor="ctr"/>
          <a:lstStyle/>
          <a:p>
            <a:pPr marL="0" indent="0" algn="ctr">
              <a:buNone/>
            </a:pPr>
            <a:r>
              <a:rPr lang="en-US" sz="1400" b="1" dirty="0">
                <a:solidFill>
                  <a:srgbClr val="0D1117"/>
                </a:solidFill>
                <a:latin typeface="Consolas" pitchFamily="34" charset="0"/>
                <a:ea typeface="Consolas" pitchFamily="34" charset="-122"/>
                <a:cs typeface="Consolas" pitchFamily="34" charset="-120"/>
              </a:rPr>
              <a:t>6</a:t>
            </a:r>
            <a:endParaRPr lang="en-US" sz="1400" dirty="0"/>
          </a:p>
        </p:txBody>
      </p:sp>
      <p:sp>
        <p:nvSpPr>
          <p:cNvPr id="44" name="Text 42"/>
          <p:cNvSpPr/>
          <p:nvPr/>
        </p:nvSpPr>
        <p:spPr>
          <a:xfrm>
            <a:off x="1005840" y="5779008"/>
            <a:ext cx="2377440" cy="603504"/>
          </a:xfrm>
          <a:prstGeom prst="rect">
            <a:avLst/>
          </a:prstGeom>
          <a:noFill/>
          <a:ln/>
        </p:spPr>
        <p:txBody>
          <a:bodyPr wrap="square" lIns="0" tIns="0" rIns="0" bIns="0" rtlCol="0" anchor="ctr"/>
          <a:lstStyle/>
          <a:p>
            <a:pPr marL="0" indent="0">
              <a:buNone/>
            </a:pPr>
            <a:r>
              <a:rPr lang="en-US" sz="1400" b="1" dirty="0">
                <a:solidFill>
                  <a:srgbClr val="7CE38B"/>
                </a:solidFill>
                <a:latin typeface="Consolas" pitchFamily="34" charset="0"/>
                <a:ea typeface="Consolas" pitchFamily="34" charset="-122"/>
                <a:cs typeface="Consolas" pitchFamily="34" charset="-120"/>
              </a:rPr>
              <a:t>DELIVERY</a:t>
            </a:r>
            <a:endParaRPr lang="en-US" sz="1400" dirty="0"/>
          </a:p>
        </p:txBody>
      </p:sp>
      <p:sp>
        <p:nvSpPr>
          <p:cNvPr id="45" name="Text 43"/>
          <p:cNvSpPr/>
          <p:nvPr/>
        </p:nvSpPr>
        <p:spPr>
          <a:xfrm>
            <a:off x="3383280" y="5779008"/>
            <a:ext cx="2286000" cy="603504"/>
          </a:xfrm>
          <a:prstGeom prst="rect">
            <a:avLst/>
          </a:prstGeom>
          <a:noFill/>
          <a:ln/>
        </p:spPr>
        <p:txBody>
          <a:bodyPr wrap="square" lIns="0" tIns="0" rIns="0" bIns="0" rtlCol="0" anchor="ctr"/>
          <a:lstStyle/>
          <a:p>
            <a:pPr marL="0" indent="0">
              <a:buNone/>
            </a:pPr>
            <a:r>
              <a:rPr lang="en-US" sz="1100" dirty="0">
                <a:solidFill>
                  <a:srgbClr val="79C0FF"/>
                </a:solidFill>
                <a:latin typeface="Consolas" pitchFamily="34" charset="0"/>
                <a:ea typeface="Consolas" pitchFamily="34" charset="-122"/>
                <a:cs typeface="Consolas" pitchFamily="34" charset="-120"/>
              </a:rPr>
              <a:t>DELIVERY</a:t>
            </a:r>
            <a:endParaRPr lang="en-US" sz="1100" dirty="0"/>
          </a:p>
        </p:txBody>
      </p:sp>
      <p:sp>
        <p:nvSpPr>
          <p:cNvPr id="46" name="Text 44"/>
          <p:cNvSpPr/>
          <p:nvPr/>
        </p:nvSpPr>
        <p:spPr>
          <a:xfrm>
            <a:off x="5760720" y="5779008"/>
            <a:ext cx="5943600" cy="603504"/>
          </a:xfrm>
          <a:prstGeom prst="rect">
            <a:avLst/>
          </a:prstGeom>
          <a:noFill/>
          <a:ln/>
        </p:spPr>
        <p:txBody>
          <a:bodyPr wrap="square" lIns="0" tIns="0" rIns="0" bIns="0" rtlCol="0" anchor="ctr"/>
          <a:lstStyle/>
          <a:p>
            <a:pPr marL="0" indent="0">
              <a:buNone/>
            </a:pPr>
            <a:r>
              <a:rPr lang="en-US" sz="1000" dirty="0">
                <a:solidFill>
                  <a:srgbClr val="E6EDF3"/>
                </a:solidFill>
                <a:latin typeface="Calibri" pitchFamily="34" charset="0"/>
                <a:ea typeface="Calibri" pitchFamily="34" charset="-122"/>
                <a:cs typeface="Calibri" pitchFamily="34" charset="-120"/>
              </a:rPr>
              <a:t>docker-compose, Dockerfile, RUNNING_APP.md + live URL</a:t>
            </a:r>
            <a:endParaRPr lang="en-US" sz="1000" dirty="0"/>
          </a:p>
        </p:txBody>
      </p:sp>
      <p:sp>
        <p:nvSpPr>
          <p:cNvPr id="47" name="Text 45"/>
          <p:cNvSpPr/>
          <p:nvPr/>
        </p:nvSpPr>
        <p:spPr>
          <a:xfrm>
            <a:off x="11338560" y="6492240"/>
            <a:ext cx="731520" cy="228600"/>
          </a:xfrm>
          <a:prstGeom prst="rect">
            <a:avLst/>
          </a:prstGeom>
          <a:noFill/>
          <a:ln/>
        </p:spPr>
        <p:txBody>
          <a:bodyPr wrap="square" lIns="0" tIns="0" rIns="0" bIns="0" rtlCol="0" anchor="ctr"/>
          <a:lstStyle/>
          <a:p>
            <a:pPr marL="0" indent="0" algn="r">
              <a:buNone/>
            </a:pPr>
            <a:r>
              <a:rPr lang="en-US" sz="900" dirty="0">
                <a:solidFill>
                  <a:srgbClr val="8B949E"/>
                </a:solidFill>
                <a:latin typeface="Consolas" pitchFamily="34" charset="0"/>
                <a:ea typeface="Consolas" pitchFamily="34" charset="-122"/>
                <a:cs typeface="Consolas" pitchFamily="34" charset="-120"/>
              </a:rPr>
              <a:t>18 / 40</a:t>
            </a:r>
            <a:endParaRPr lang="en-US" sz="900" dirty="0"/>
          </a:p>
        </p:txBody>
      </p:sp>
      <p:sp>
        <p:nvSpPr>
          <p:cNvPr id="48" name="Text 46"/>
          <p:cNvSpPr/>
          <p:nvPr/>
        </p:nvSpPr>
        <p:spPr>
          <a:xfrm>
            <a:off x="365760" y="6492240"/>
            <a:ext cx="1097280" cy="228600"/>
          </a:xfrm>
          <a:prstGeom prst="rect">
            <a:avLst/>
          </a:prstGeom>
          <a:noFill/>
          <a:ln/>
        </p:spPr>
        <p:txBody>
          <a:bodyPr wrap="square" lIns="0" tIns="0" rIns="0" bIns="0" rtlCol="0" anchor="ctr"/>
          <a:lstStyle/>
          <a:p>
            <a:pPr marL="0" indent="0" algn="l">
              <a:buNone/>
            </a:pPr>
            <a:r>
              <a:rPr lang="en-US" sz="900" dirty="0">
                <a:solidFill>
                  <a:srgbClr val="8B949E"/>
                </a:solidFill>
                <a:latin typeface="Consolas" pitchFamily="34" charset="0"/>
                <a:ea typeface="Consolas" pitchFamily="34" charset="-122"/>
                <a:cs typeface="Consolas" pitchFamily="34" charset="-120"/>
              </a:rPr>
              <a:t>v10.23</a:t>
            </a:r>
            <a:endParaRPr lang="en-US" sz="900" dirty="0"/>
          </a:p>
        </p:txBody>
      </p:sp>
      <p:sp>
        <p:nvSpPr>
          <p:cNvPr id="49" name="Text 47"/>
          <p:cNvSpPr/>
          <p:nvPr/>
        </p:nvSpPr>
        <p:spPr>
          <a:xfrm>
            <a:off x="4572000" y="6492240"/>
            <a:ext cx="6400800" cy="228600"/>
          </a:xfrm>
          <a:prstGeom prst="rect">
            <a:avLst/>
          </a:prstGeom>
          <a:noFill/>
          <a:ln/>
        </p:spPr>
        <p:txBody>
          <a:bodyPr wrap="square" lIns="0" tIns="0" rIns="0" bIns="0" rtlCol="0" anchor="ctr"/>
          <a:lstStyle/>
          <a:p>
            <a:pPr marL="0" indent="0" algn="ctr">
              <a:buNone/>
            </a:pPr>
            <a:r>
              <a:rPr lang="en-US" sz="900" dirty="0">
                <a:solidFill>
                  <a:srgbClr val="8B949E"/>
                </a:solidFill>
                <a:latin typeface="Consolas" pitchFamily="34" charset="0"/>
                <a:ea typeface="Consolas" pitchFamily="34" charset="-122"/>
                <a:cs typeface="Consolas" pitchFamily="34" charset="-120"/>
              </a:rPr>
              <a:t>Product Engineering Agent Framework</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365760" y="228600"/>
            <a:ext cx="8229600" cy="274320"/>
          </a:xfrm>
          <a:prstGeom prst="rect">
            <a:avLst/>
          </a:prstGeom>
          <a:noFill/>
          <a:ln/>
        </p:spPr>
        <p:txBody>
          <a:bodyPr wrap="square" lIns="0" tIns="0" rIns="0" bIns="0" rtlCol="0" anchor="ctr"/>
          <a:lstStyle/>
          <a:p>
            <a:pPr marL="0" indent="0">
              <a:buNone/>
            </a:pPr>
            <a:r>
              <a:rPr lang="en-US" sz="1100" dirty="0">
                <a:solidFill>
                  <a:srgbClr val="2EA043"/>
                </a:solidFill>
                <a:latin typeface="Consolas" pitchFamily="34" charset="0"/>
                <a:ea typeface="Consolas" pitchFamily="34" charset="-122"/>
                <a:cs typeface="Consolas" pitchFamily="34" charset="-120"/>
              </a:rPr>
              <a:t>$ </a:t>
            </a:r>
            <a:r>
              <a:rPr lang="en-US" sz="1100" dirty="0">
                <a:solidFill>
                  <a:srgbClr val="8B949E"/>
                </a:solidFill>
                <a:latin typeface="Consolas" pitchFamily="34" charset="0"/>
                <a:ea typeface="Consolas" pitchFamily="34" charset="-122"/>
                <a:cs typeface="Consolas" pitchFamily="34" charset="-120"/>
              </a:rPr>
              <a:t>15_phase_gates.md</a:t>
            </a:r>
            <a:endParaRPr lang="en-US" sz="1100" dirty="0"/>
          </a:p>
        </p:txBody>
      </p:sp>
      <p:sp>
        <p:nvSpPr>
          <p:cNvPr id="3" name="Text 1"/>
          <p:cNvSpPr/>
          <p:nvPr/>
        </p:nvSpPr>
        <p:spPr>
          <a:xfrm>
            <a:off x="365760" y="548640"/>
            <a:ext cx="11430000" cy="640080"/>
          </a:xfrm>
          <a:prstGeom prst="rect">
            <a:avLst/>
          </a:prstGeom>
          <a:noFill/>
          <a:ln/>
        </p:spPr>
        <p:txBody>
          <a:bodyPr wrap="square" lIns="0" tIns="0" rIns="0" bIns="0" rtlCol="0" anchor="ctr"/>
          <a:lstStyle/>
          <a:p>
            <a:pPr marL="0" indent="0">
              <a:buNone/>
            </a:pPr>
            <a:r>
              <a:rPr lang="en-US" sz="3000" b="1" dirty="0">
                <a:solidFill>
                  <a:srgbClr val="E6EDF3"/>
                </a:solidFill>
                <a:latin typeface="Consolas" pitchFamily="34" charset="0"/>
                <a:ea typeface="Consolas" pitchFamily="34" charset="-122"/>
                <a:cs typeface="Consolas" pitchFamily="34" charset="-120"/>
              </a:rPr>
              <a:t>Phase gates — không nhảy phase</a:t>
            </a:r>
            <a:endParaRPr lang="en-US" sz="3000" dirty="0"/>
          </a:p>
        </p:txBody>
      </p:sp>
      <p:sp>
        <p:nvSpPr>
          <p:cNvPr id="4" name="Text 2"/>
          <p:cNvSpPr/>
          <p:nvPr/>
        </p:nvSpPr>
        <p:spPr>
          <a:xfrm>
            <a:off x="365760" y="1143000"/>
            <a:ext cx="11430000" cy="365760"/>
          </a:xfrm>
          <a:prstGeom prst="rect">
            <a:avLst/>
          </a:prstGeom>
          <a:noFill/>
          <a:ln/>
        </p:spPr>
        <p:txBody>
          <a:bodyPr wrap="square" lIns="0" tIns="0" rIns="0" bIns="0" rtlCol="0" anchor="ctr"/>
          <a:lstStyle/>
          <a:p>
            <a:pPr marL="0" indent="0">
              <a:buNone/>
            </a:pPr>
            <a:r>
              <a:rPr lang="en-US" sz="1400" i="1" dirty="0">
                <a:solidFill>
                  <a:srgbClr val="8B949E"/>
                </a:solidFill>
                <a:latin typeface="Calibri" pitchFamily="34" charset="0"/>
                <a:ea typeface="Calibri" pitchFamily="34" charset="-122"/>
                <a:cs typeface="Calibri" pitchFamily="34" charset="-120"/>
              </a:rPr>
              <a:t>Không thể vào phase N khi phase N-1 chưa qua exit criteria</a:t>
            </a:r>
            <a:endParaRPr lang="en-US" sz="1400" dirty="0"/>
          </a:p>
        </p:txBody>
      </p:sp>
      <p:sp>
        <p:nvSpPr>
          <p:cNvPr id="5" name="Shape 3"/>
          <p:cNvSpPr/>
          <p:nvPr/>
        </p:nvSpPr>
        <p:spPr>
          <a:xfrm>
            <a:off x="365760" y="1783080"/>
            <a:ext cx="5852160" cy="4480560"/>
          </a:xfrm>
          <a:prstGeom prst="rect">
            <a:avLst/>
          </a:prstGeom>
          <a:solidFill>
            <a:srgbClr val="161B22"/>
          </a:solidFill>
          <a:ln w="12700">
            <a:solidFill>
              <a:srgbClr val="30363D"/>
            </a:solidFill>
            <a:prstDash val="solid"/>
          </a:ln>
        </p:spPr>
        <p:txBody>
          <a:bodyPr/>
          <a:lstStyle/>
          <a:p>
            <a:endParaRPr/>
          </a:p>
        </p:txBody>
      </p:sp>
      <p:sp>
        <p:nvSpPr>
          <p:cNvPr id="6" name="Shape 4"/>
          <p:cNvSpPr/>
          <p:nvPr/>
        </p:nvSpPr>
        <p:spPr>
          <a:xfrm>
            <a:off x="457200" y="1874520"/>
            <a:ext cx="91440" cy="91440"/>
          </a:xfrm>
          <a:prstGeom prst="ellipse">
            <a:avLst/>
          </a:prstGeom>
          <a:solidFill>
            <a:srgbClr val="F85149"/>
          </a:solidFill>
          <a:ln w="12700">
            <a:solidFill>
              <a:srgbClr val="F85149"/>
            </a:solidFill>
            <a:prstDash val="solid"/>
          </a:ln>
        </p:spPr>
        <p:txBody>
          <a:bodyPr/>
          <a:lstStyle/>
          <a:p>
            <a:endParaRPr/>
          </a:p>
        </p:txBody>
      </p:sp>
      <p:sp>
        <p:nvSpPr>
          <p:cNvPr id="7" name="Shape 5"/>
          <p:cNvSpPr/>
          <p:nvPr/>
        </p:nvSpPr>
        <p:spPr>
          <a:xfrm>
            <a:off x="585216" y="1874520"/>
            <a:ext cx="91440" cy="91440"/>
          </a:xfrm>
          <a:prstGeom prst="ellipse">
            <a:avLst/>
          </a:prstGeom>
          <a:solidFill>
            <a:srgbClr val="D29922"/>
          </a:solidFill>
          <a:ln w="12700">
            <a:solidFill>
              <a:srgbClr val="D29922"/>
            </a:solidFill>
            <a:prstDash val="solid"/>
          </a:ln>
        </p:spPr>
        <p:txBody>
          <a:bodyPr/>
          <a:lstStyle/>
          <a:p>
            <a:endParaRPr/>
          </a:p>
        </p:txBody>
      </p:sp>
      <p:sp>
        <p:nvSpPr>
          <p:cNvPr id="8" name="Shape 6"/>
          <p:cNvSpPr/>
          <p:nvPr/>
        </p:nvSpPr>
        <p:spPr>
          <a:xfrm>
            <a:off x="713232" y="1874520"/>
            <a:ext cx="91440" cy="91440"/>
          </a:xfrm>
          <a:prstGeom prst="ellipse">
            <a:avLst/>
          </a:prstGeom>
          <a:solidFill>
            <a:srgbClr val="3FB950"/>
          </a:solidFill>
          <a:ln w="12700">
            <a:solidFill>
              <a:srgbClr val="3FB950"/>
            </a:solidFill>
            <a:prstDash val="solid"/>
          </a:ln>
        </p:spPr>
        <p:txBody>
          <a:bodyPr/>
          <a:lstStyle/>
          <a:p>
            <a:endParaRPr/>
          </a:p>
        </p:txBody>
      </p:sp>
      <p:sp>
        <p:nvSpPr>
          <p:cNvPr id="9" name="Text 7"/>
          <p:cNvSpPr/>
          <p:nvPr/>
        </p:nvSpPr>
        <p:spPr>
          <a:xfrm>
            <a:off x="502920" y="2103120"/>
            <a:ext cx="5577840" cy="4114800"/>
          </a:xfrm>
          <a:prstGeom prst="rect">
            <a:avLst/>
          </a:prstGeom>
          <a:noFill/>
          <a:ln/>
        </p:spPr>
        <p:txBody>
          <a:bodyPr wrap="square" lIns="0" tIns="0" rIns="0" bIns="0" rtlCol="0" anchor="t"/>
          <a:lstStyle/>
          <a:p>
            <a:pPr marL="0" indent="0">
              <a:buNone/>
            </a:pPr>
            <a:r>
              <a:rPr lang="en-US" sz="1200" dirty="0">
                <a:solidFill>
                  <a:srgbClr val="8B949E"/>
                </a:solidFill>
                <a:latin typeface="Consolas" pitchFamily="34" charset="0"/>
                <a:ea typeface="Consolas" pitchFamily="34" charset="-122"/>
                <a:cs typeface="Consolas" pitchFamily="34" charset="-120"/>
              </a:rPr>
              <a:t># Check một phase</a:t>
            </a:r>
            <a:endParaRPr lang="en-US" sz="1200" dirty="0"/>
          </a:p>
          <a:p>
            <a:pPr marL="0" indent="0">
              <a:buNone/>
            </a:pPr>
            <a:r>
              <a:rPr lang="en-US" sz="1200" dirty="0">
                <a:solidFill>
                  <a:srgbClr val="7CE38B"/>
                </a:solidFill>
                <a:latin typeface="Consolas" pitchFamily="34" charset="0"/>
                <a:ea typeface="Consolas" pitchFamily="34" charset="-122"/>
                <a:cs typeface="Consolas" pitchFamily="34" charset="-120"/>
              </a:rPr>
              <a:t>$ bash scripts/check_phase_gate.sh \</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        1_SOLUTION_DESIGN</a:t>
            </a:r>
            <a:endParaRPr lang="en-US" sz="1200" dirty="0"/>
          </a:p>
          <a:p>
            <a:pPr marL="0" indent="0">
              <a:buNone/>
            </a:pPr>
            <a:endParaRPr lang="en-US" sz="1200" dirty="0"/>
          </a:p>
          <a:p>
            <a:pPr marL="0" indent="0">
              <a:buNone/>
            </a:pPr>
            <a:r>
              <a:rPr lang="en-US" sz="1200" dirty="0">
                <a:solidFill>
                  <a:srgbClr val="8B949E"/>
                </a:solidFill>
                <a:latin typeface="Consolas" pitchFamily="34" charset="0"/>
                <a:ea typeface="Consolas" pitchFamily="34" charset="-122"/>
                <a:cs typeface="Consolas" pitchFamily="34" charset="-120"/>
              </a:rPr>
              <a:t># Check tất cả phase tới đó</a:t>
            </a:r>
            <a:endParaRPr lang="en-US" sz="1200" dirty="0"/>
          </a:p>
          <a:p>
            <a:pPr marL="0" indent="0">
              <a:buNone/>
            </a:pPr>
            <a:r>
              <a:rPr lang="en-US" sz="1200" dirty="0">
                <a:solidFill>
                  <a:srgbClr val="7CE38B"/>
                </a:solidFill>
                <a:latin typeface="Consolas" pitchFamily="34" charset="0"/>
                <a:ea typeface="Consolas" pitchFamily="34" charset="-122"/>
                <a:cs typeface="Consolas" pitchFamily="34" charset="-120"/>
              </a:rPr>
              <a:t>$ bash scripts/check_phase_gate.sh \</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        --through 3_IMPLEMENTATION_PLANNING</a:t>
            </a:r>
            <a:endParaRPr lang="en-US" sz="1200" dirty="0"/>
          </a:p>
          <a:p>
            <a:pPr marL="0" indent="0">
              <a:buNone/>
            </a:pPr>
            <a:endParaRPr lang="en-US" sz="1200" dirty="0"/>
          </a:p>
          <a:p>
            <a:pPr marL="0" indent="0">
              <a:buNone/>
            </a:pPr>
            <a:r>
              <a:rPr lang="en-US" sz="1200" dirty="0">
                <a:solidFill>
                  <a:srgbClr val="8B949E"/>
                </a:solidFill>
                <a:latin typeface="Consolas" pitchFamily="34" charset="0"/>
                <a:ea typeface="Consolas" pitchFamily="34" charset="-122"/>
                <a:cs typeface="Consolas" pitchFamily="34" charset="-120"/>
              </a:rPr>
              <a:t># Officially advance (refuse nếu gate fail)</a:t>
            </a:r>
            <a:endParaRPr lang="en-US" sz="1200" dirty="0"/>
          </a:p>
          <a:p>
            <a:pPr marL="0" indent="0">
              <a:buNone/>
            </a:pPr>
            <a:r>
              <a:rPr lang="en-US" sz="1200" dirty="0">
                <a:solidFill>
                  <a:srgbClr val="7CE38B"/>
                </a:solidFill>
                <a:latin typeface="Consolas" pitchFamily="34" charset="0"/>
                <a:ea typeface="Consolas" pitchFamily="34" charset="-122"/>
                <a:cs typeface="Consolas" pitchFamily="34" charset="-120"/>
              </a:rPr>
              <a:t>$ bash scripts/advance_phase.sh \</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        4_BUILD</a:t>
            </a:r>
            <a:endParaRPr lang="en-US" sz="1200" dirty="0"/>
          </a:p>
          <a:p>
            <a:pPr marL="0" indent="0">
              <a:buNone/>
            </a:pPr>
            <a:endParaRPr lang="en-US" sz="1200" dirty="0"/>
          </a:p>
          <a:p>
            <a:pPr marL="0" indent="0">
              <a:buNone/>
            </a:pPr>
            <a:r>
              <a:rPr lang="en-US" sz="1200" dirty="0">
                <a:solidFill>
                  <a:srgbClr val="8B949E"/>
                </a:solidFill>
                <a:latin typeface="Consolas" pitchFamily="34" charset="0"/>
                <a:ea typeface="Consolas" pitchFamily="34" charset="-122"/>
                <a:cs typeface="Consolas" pitchFamily="34" charset="-120"/>
              </a:rPr>
              <a:t># Override khi user explicit waive:</a:t>
            </a:r>
            <a:endParaRPr lang="en-US" sz="1200" dirty="0"/>
          </a:p>
          <a:p>
            <a:pPr marL="0" indent="0">
              <a:buNone/>
            </a:pPr>
            <a:r>
              <a:rPr lang="en-US" sz="1200" dirty="0">
                <a:solidFill>
                  <a:srgbClr val="7CE38B"/>
                </a:solidFill>
                <a:latin typeface="Consolas" pitchFamily="34" charset="0"/>
                <a:ea typeface="Consolas" pitchFamily="34" charset="-122"/>
                <a:cs typeface="Consolas" pitchFamily="34" charset="-120"/>
              </a:rPr>
              <a:t>$ ADVANCE_PHASE_FORCE=1 \</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      bash scripts/advance_phase.sh 6_DELIVERY</a:t>
            </a:r>
            <a:endParaRPr lang="en-US" sz="1200" dirty="0"/>
          </a:p>
        </p:txBody>
      </p:sp>
      <p:sp>
        <p:nvSpPr>
          <p:cNvPr id="10" name="Shape 8"/>
          <p:cNvSpPr/>
          <p:nvPr/>
        </p:nvSpPr>
        <p:spPr>
          <a:xfrm>
            <a:off x="6492240" y="1874520"/>
            <a:ext cx="54864" cy="292608"/>
          </a:xfrm>
          <a:prstGeom prst="rect">
            <a:avLst/>
          </a:prstGeom>
          <a:solidFill>
            <a:srgbClr val="7CE38B"/>
          </a:solidFill>
          <a:ln w="12700">
            <a:solidFill>
              <a:srgbClr val="7CE38B"/>
            </a:solidFill>
            <a:prstDash val="solid"/>
          </a:ln>
        </p:spPr>
        <p:txBody>
          <a:bodyPr/>
          <a:lstStyle/>
          <a:p>
            <a:endParaRPr/>
          </a:p>
        </p:txBody>
      </p:sp>
      <p:sp>
        <p:nvSpPr>
          <p:cNvPr id="11" name="Text 9"/>
          <p:cNvSpPr/>
          <p:nvPr/>
        </p:nvSpPr>
        <p:spPr>
          <a:xfrm>
            <a:off x="6629400" y="1874520"/>
            <a:ext cx="5166360" cy="292608"/>
          </a:xfrm>
          <a:prstGeom prst="rect">
            <a:avLst/>
          </a:prstGeom>
          <a:noFill/>
          <a:ln/>
        </p:spPr>
        <p:txBody>
          <a:bodyPr wrap="square" lIns="0" tIns="0" rIns="0" bIns="0" rtlCol="0" anchor="ctr"/>
          <a:lstStyle/>
          <a:p>
            <a:pPr marL="0" indent="0">
              <a:buNone/>
            </a:pPr>
            <a:r>
              <a:rPr lang="en-US" sz="1400" b="1" dirty="0">
                <a:solidFill>
                  <a:srgbClr val="E6EDF3"/>
                </a:solidFill>
                <a:latin typeface="Consolas" pitchFamily="34" charset="0"/>
                <a:ea typeface="Consolas" pitchFamily="34" charset="-122"/>
                <a:cs typeface="Consolas" pitchFamily="34" charset="-120"/>
              </a:rPr>
              <a:t>Semantic checks (vượt khỏi file-exists)</a:t>
            </a:r>
            <a:endParaRPr lang="en-US" sz="1400" dirty="0"/>
          </a:p>
        </p:txBody>
      </p:sp>
      <p:sp>
        <p:nvSpPr>
          <p:cNvPr id="12" name="Text 10"/>
          <p:cNvSpPr/>
          <p:nvPr/>
        </p:nvSpPr>
        <p:spPr>
          <a:xfrm>
            <a:off x="6492240" y="2331720"/>
            <a:ext cx="5303520" cy="3840480"/>
          </a:xfrm>
          <a:prstGeom prst="rect">
            <a:avLst/>
          </a:prstGeom>
          <a:noFill/>
          <a:ln/>
        </p:spPr>
        <p:txBody>
          <a:bodyPr wrap="square" lIns="0" tIns="0" rIns="0" bIns="0" rtlCol="0" anchor="ctr"/>
          <a:lstStyle/>
          <a:p>
            <a:pPr marL="0" indent="0">
              <a:spcAft>
                <a:spcPts val="600"/>
              </a:spcAft>
              <a:buNone/>
            </a:pPr>
            <a:r>
              <a:rPr lang="en-US" sz="1200" dirty="0">
                <a:solidFill>
                  <a:srgbClr val="E6EDF3"/>
                </a:solidFill>
                <a:latin typeface="Calibri" pitchFamily="34" charset="0"/>
                <a:ea typeface="Calibri" pitchFamily="34" charset="-122"/>
                <a:cs typeface="Calibri" pitchFamily="34" charset="-120"/>
              </a:rPr>
              <a:t>▸ Phase 1 cần </a:t>
            </a:r>
            <a:r>
              <a:rPr lang="en-US" sz="1200" dirty="0">
                <a:solidFill>
                  <a:srgbClr val="7CE38B"/>
                </a:solidFill>
                <a:latin typeface="Consolas" pitchFamily="34" charset="0"/>
                <a:ea typeface="Consolas" pitchFamily="34" charset="-122"/>
                <a:cs typeface="Consolas" pitchFamily="34" charset="-120"/>
              </a:rPr>
              <a:t>TECH_STACK.md </a:t>
            </a:r>
            <a:r>
              <a:rPr lang="en-US" sz="1200" dirty="0">
                <a:solidFill>
                  <a:srgbClr val="E6EDF3"/>
                </a:solidFill>
                <a:latin typeface="Calibri" pitchFamily="34" charset="0"/>
                <a:ea typeface="Calibri" pitchFamily="34" charset="-122"/>
                <a:cs typeface="Calibri" pitchFamily="34" charset="-120"/>
              </a:rPr>
              <a:t>có </a:t>
            </a:r>
            <a:r>
              <a:rPr lang="en-US" sz="1200" dirty="0">
                <a:solidFill>
                  <a:srgbClr val="D29922"/>
                </a:solidFill>
                <a:latin typeface="Consolas" pitchFamily="34" charset="0"/>
                <a:ea typeface="Consolas" pitchFamily="34" charset="-122"/>
                <a:cs typeface="Consolas" pitchFamily="34" charset="-120"/>
              </a:rPr>
              <a:t>"Confirmed by user"</a:t>
            </a:r>
            <a:endParaRPr lang="en-US" sz="1200" dirty="0"/>
          </a:p>
          <a:p>
            <a:pPr marL="0" indent="0">
              <a:spcAft>
                <a:spcPts val="600"/>
              </a:spcAft>
              <a:buNone/>
            </a:pPr>
            <a:r>
              <a:rPr lang="en-US" sz="1200" dirty="0">
                <a:solidFill>
                  <a:srgbClr val="E6EDF3"/>
                </a:solidFill>
                <a:latin typeface="Calibri" pitchFamily="34" charset="0"/>
                <a:ea typeface="Calibri" pitchFamily="34" charset="-122"/>
                <a:cs typeface="Calibri" pitchFamily="34" charset="-120"/>
              </a:rPr>
              <a:t>▸ Phase 4 cần </a:t>
            </a:r>
            <a:r>
              <a:rPr lang="en-US" sz="1200" dirty="0">
                <a:solidFill>
                  <a:srgbClr val="7CE38B"/>
                </a:solidFill>
                <a:latin typeface="Consolas" pitchFamily="34" charset="0"/>
                <a:ea typeface="Consolas" pitchFamily="34" charset="-122"/>
                <a:cs typeface="Consolas" pitchFamily="34" charset="-120"/>
              </a:rPr>
              <a:t>backend/</a:t>
            </a:r>
            <a:r>
              <a:rPr lang="en-US" sz="1200" dirty="0">
                <a:solidFill>
                  <a:srgbClr val="E6EDF3"/>
                </a:solidFill>
                <a:latin typeface="Calibri" pitchFamily="34" charset="0"/>
                <a:ea typeface="Calibri" pitchFamily="34" charset="-122"/>
                <a:cs typeface="Calibri" pitchFamily="34" charset="-120"/>
              </a:rPr>
              <a:t> + </a:t>
            </a:r>
            <a:r>
              <a:rPr lang="en-US" sz="1200" dirty="0">
                <a:solidFill>
                  <a:srgbClr val="7CE38B"/>
                </a:solidFill>
                <a:latin typeface="Consolas" pitchFamily="34" charset="0"/>
                <a:ea typeface="Consolas" pitchFamily="34" charset="-122"/>
                <a:cs typeface="Consolas" pitchFamily="34" charset="-120"/>
              </a:rPr>
              <a:t>frontend/</a:t>
            </a:r>
            <a:r>
              <a:rPr lang="en-US" sz="1200" dirty="0">
                <a:solidFill>
                  <a:srgbClr val="E6EDF3"/>
                </a:solidFill>
                <a:latin typeface="Calibri" pitchFamily="34" charset="0"/>
                <a:ea typeface="Calibri" pitchFamily="34" charset="-122"/>
                <a:cs typeface="Calibri" pitchFamily="34" charset="-120"/>
              </a:rPr>
              <a:t> có source files thật</a:t>
            </a:r>
            <a:endParaRPr lang="en-US" sz="1200" dirty="0"/>
          </a:p>
          <a:p>
            <a:pPr marL="0" indent="0">
              <a:spcAft>
                <a:spcPts val="600"/>
              </a:spcAft>
              <a:buNone/>
            </a:pPr>
            <a:r>
              <a:rPr lang="en-US" sz="1200" dirty="0">
                <a:solidFill>
                  <a:srgbClr val="E6EDF3"/>
                </a:solidFill>
                <a:latin typeface="Calibri" pitchFamily="34" charset="0"/>
                <a:ea typeface="Calibri" pitchFamily="34" charset="-122"/>
                <a:cs typeface="Calibri" pitchFamily="34" charset="-120"/>
              </a:rPr>
              <a:t>▸ Phase 5 cần </a:t>
            </a:r>
            <a:r>
              <a:rPr lang="en-US" sz="1200" dirty="0">
                <a:solidFill>
                  <a:srgbClr val="D29922"/>
                </a:solidFill>
                <a:latin typeface="Consolas" pitchFamily="34" charset="0"/>
                <a:ea typeface="Consolas" pitchFamily="34" charset="-122"/>
                <a:cs typeface="Consolas" pitchFamily="34" charset="-120"/>
              </a:rPr>
              <a:t>VERDICT: PASS </a:t>
            </a:r>
            <a:r>
              <a:rPr lang="en-US" sz="1200" dirty="0">
                <a:solidFill>
                  <a:srgbClr val="E6EDF3"/>
                </a:solidFill>
                <a:latin typeface="Calibri" pitchFamily="34" charset="0"/>
                <a:ea typeface="Calibri" pitchFamily="34" charset="-122"/>
                <a:cs typeface="Calibri" pitchFamily="34" charset="-120"/>
              </a:rPr>
              <a:t>+ no OPEN_CRITICAL / OPEN_MAJOR / RETEST_FAIL</a:t>
            </a:r>
            <a:endParaRPr lang="en-US" sz="1200" dirty="0"/>
          </a:p>
          <a:p>
            <a:pPr marL="0" indent="0">
              <a:spcAft>
                <a:spcPts val="600"/>
              </a:spcAft>
              <a:buNone/>
            </a:pPr>
            <a:r>
              <a:rPr lang="en-US" sz="1200" dirty="0">
                <a:solidFill>
                  <a:srgbClr val="E6EDF3"/>
                </a:solidFill>
                <a:latin typeface="Calibri" pitchFamily="34" charset="0"/>
                <a:ea typeface="Calibri" pitchFamily="34" charset="-122"/>
                <a:cs typeface="Calibri" pitchFamily="34" charset="-120"/>
              </a:rPr>
              <a:t>▸ Phase 6 cần </a:t>
            </a:r>
            <a:r>
              <a:rPr lang="en-US" sz="1200" dirty="0">
                <a:solidFill>
                  <a:srgbClr val="7CE38B"/>
                </a:solidFill>
                <a:latin typeface="Consolas" pitchFamily="34" charset="0"/>
                <a:ea typeface="Consolas" pitchFamily="34" charset="-122"/>
                <a:cs typeface="Consolas" pitchFamily="34" charset="-120"/>
              </a:rPr>
              <a:t>RUNNING_APP.md </a:t>
            </a:r>
            <a:r>
              <a:rPr lang="en-US" sz="1200" dirty="0">
                <a:solidFill>
                  <a:srgbClr val="E6EDF3"/>
                </a:solidFill>
                <a:latin typeface="Calibri" pitchFamily="34" charset="0"/>
                <a:ea typeface="Calibri" pitchFamily="34" charset="-122"/>
                <a:cs typeface="Calibri" pitchFamily="34" charset="-120"/>
              </a:rPr>
              <a:t>có URL </a:t>
            </a:r>
            <a:r>
              <a:rPr lang="en-US" sz="1200" dirty="0">
                <a:solidFill>
                  <a:srgbClr val="D29922"/>
                </a:solidFill>
                <a:latin typeface="Consolas" pitchFamily="34" charset="0"/>
                <a:ea typeface="Consolas" pitchFamily="34" charset="-122"/>
                <a:cs typeface="Consolas" pitchFamily="34" charset="-120"/>
              </a:rPr>
              <a:t>http(s)://</a:t>
            </a:r>
            <a:r>
              <a:rPr lang="en-US" sz="1200" dirty="0">
                <a:solidFill>
                  <a:srgbClr val="E6EDF3"/>
                </a:solidFill>
                <a:latin typeface="Calibri" pitchFamily="34" charset="0"/>
                <a:ea typeface="Calibri" pitchFamily="34" charset="-122"/>
                <a:cs typeface="Calibri" pitchFamily="34" charset="-120"/>
              </a:rPr>
              <a:t> thật</a:t>
            </a:r>
            <a:endParaRPr lang="en-US" sz="1200" dirty="0"/>
          </a:p>
        </p:txBody>
      </p:sp>
      <p:sp>
        <p:nvSpPr>
          <p:cNvPr id="13" name="Text 11"/>
          <p:cNvSpPr/>
          <p:nvPr/>
        </p:nvSpPr>
        <p:spPr>
          <a:xfrm>
            <a:off x="11338560" y="6492240"/>
            <a:ext cx="731520" cy="228600"/>
          </a:xfrm>
          <a:prstGeom prst="rect">
            <a:avLst/>
          </a:prstGeom>
          <a:noFill/>
          <a:ln/>
        </p:spPr>
        <p:txBody>
          <a:bodyPr wrap="square" lIns="0" tIns="0" rIns="0" bIns="0" rtlCol="0" anchor="ctr"/>
          <a:lstStyle/>
          <a:p>
            <a:pPr marL="0" indent="0" algn="r">
              <a:buNone/>
            </a:pPr>
            <a:r>
              <a:rPr lang="en-US" sz="900" dirty="0">
                <a:solidFill>
                  <a:srgbClr val="8B949E"/>
                </a:solidFill>
                <a:latin typeface="Consolas" pitchFamily="34" charset="0"/>
                <a:ea typeface="Consolas" pitchFamily="34" charset="-122"/>
                <a:cs typeface="Consolas" pitchFamily="34" charset="-120"/>
              </a:rPr>
              <a:t>19 / 40</a:t>
            </a:r>
            <a:endParaRPr lang="en-US" sz="900" dirty="0"/>
          </a:p>
        </p:txBody>
      </p:sp>
      <p:sp>
        <p:nvSpPr>
          <p:cNvPr id="14" name="Text 12"/>
          <p:cNvSpPr/>
          <p:nvPr/>
        </p:nvSpPr>
        <p:spPr>
          <a:xfrm>
            <a:off x="365760" y="6492240"/>
            <a:ext cx="1097280" cy="228600"/>
          </a:xfrm>
          <a:prstGeom prst="rect">
            <a:avLst/>
          </a:prstGeom>
          <a:noFill/>
          <a:ln/>
        </p:spPr>
        <p:txBody>
          <a:bodyPr wrap="square" lIns="0" tIns="0" rIns="0" bIns="0" rtlCol="0" anchor="ctr"/>
          <a:lstStyle/>
          <a:p>
            <a:pPr marL="0" indent="0" algn="l">
              <a:buNone/>
            </a:pPr>
            <a:r>
              <a:rPr lang="en-US" sz="900" dirty="0">
                <a:solidFill>
                  <a:srgbClr val="8B949E"/>
                </a:solidFill>
                <a:latin typeface="Consolas" pitchFamily="34" charset="0"/>
                <a:ea typeface="Consolas" pitchFamily="34" charset="-122"/>
                <a:cs typeface="Consolas" pitchFamily="34" charset="-120"/>
              </a:rPr>
              <a:t>v10.23</a:t>
            </a:r>
            <a:endParaRPr lang="en-US" sz="900" dirty="0"/>
          </a:p>
        </p:txBody>
      </p:sp>
      <p:sp>
        <p:nvSpPr>
          <p:cNvPr id="15" name="Text 13"/>
          <p:cNvSpPr/>
          <p:nvPr/>
        </p:nvSpPr>
        <p:spPr>
          <a:xfrm>
            <a:off x="4572000" y="6492240"/>
            <a:ext cx="6400800" cy="228600"/>
          </a:xfrm>
          <a:prstGeom prst="rect">
            <a:avLst/>
          </a:prstGeom>
          <a:noFill/>
          <a:ln/>
        </p:spPr>
        <p:txBody>
          <a:bodyPr wrap="square" lIns="0" tIns="0" rIns="0" bIns="0" rtlCol="0" anchor="ctr"/>
          <a:lstStyle/>
          <a:p>
            <a:pPr marL="0" indent="0" algn="ctr">
              <a:buNone/>
            </a:pPr>
            <a:r>
              <a:rPr lang="en-US" sz="900" dirty="0">
                <a:solidFill>
                  <a:srgbClr val="8B949E"/>
                </a:solidFill>
                <a:latin typeface="Consolas" pitchFamily="34" charset="0"/>
                <a:ea typeface="Consolas" pitchFamily="34" charset="-122"/>
                <a:cs typeface="Consolas" pitchFamily="34" charset="-120"/>
              </a:rPr>
              <a:t>Product Engineering Agent Framework</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365760" y="228600"/>
            <a:ext cx="8229600" cy="274320"/>
          </a:xfrm>
          <a:prstGeom prst="rect">
            <a:avLst/>
          </a:prstGeom>
          <a:noFill/>
          <a:ln/>
        </p:spPr>
        <p:txBody>
          <a:bodyPr wrap="square" lIns="0" tIns="0" rIns="0" bIns="0" rtlCol="0" anchor="ctr"/>
          <a:lstStyle/>
          <a:p>
            <a:pPr marL="0" indent="0">
              <a:buNone/>
            </a:pPr>
            <a:r>
              <a:rPr lang="en-US" sz="1100" dirty="0">
                <a:solidFill>
                  <a:srgbClr val="2EA043"/>
                </a:solidFill>
                <a:latin typeface="Consolas" pitchFamily="34" charset="0"/>
                <a:ea typeface="Consolas" pitchFamily="34" charset="-122"/>
                <a:cs typeface="Consolas" pitchFamily="34" charset="-120"/>
              </a:rPr>
              <a:t>$ </a:t>
            </a:r>
            <a:r>
              <a:rPr lang="en-US" sz="1100" dirty="0">
                <a:solidFill>
                  <a:srgbClr val="8B949E"/>
                </a:solidFill>
                <a:latin typeface="Consolas" pitchFamily="34" charset="0"/>
                <a:ea typeface="Consolas" pitchFamily="34" charset="-122"/>
                <a:cs typeface="Consolas" pitchFamily="34" charset="-120"/>
              </a:rPr>
              <a:t>16_release_gate.md</a:t>
            </a:r>
            <a:endParaRPr lang="en-US" sz="1100" dirty="0"/>
          </a:p>
        </p:txBody>
      </p:sp>
      <p:sp>
        <p:nvSpPr>
          <p:cNvPr id="3" name="Text 1"/>
          <p:cNvSpPr/>
          <p:nvPr/>
        </p:nvSpPr>
        <p:spPr>
          <a:xfrm>
            <a:off x="365760" y="548640"/>
            <a:ext cx="11430000" cy="640080"/>
          </a:xfrm>
          <a:prstGeom prst="rect">
            <a:avLst/>
          </a:prstGeom>
          <a:noFill/>
          <a:ln/>
        </p:spPr>
        <p:txBody>
          <a:bodyPr wrap="square" lIns="0" tIns="0" rIns="0" bIns="0" rtlCol="0" anchor="ctr"/>
          <a:lstStyle/>
          <a:p>
            <a:pPr marL="0" indent="0">
              <a:buNone/>
            </a:pPr>
            <a:r>
              <a:rPr lang="en-US" sz="3000" b="1" dirty="0">
                <a:solidFill>
                  <a:srgbClr val="E6EDF3"/>
                </a:solidFill>
                <a:latin typeface="Consolas" pitchFamily="34" charset="0"/>
                <a:ea typeface="Consolas" pitchFamily="34" charset="-122"/>
                <a:cs typeface="Consolas" pitchFamily="34" charset="-120"/>
              </a:rPr>
              <a:t>Release gate — bug-free hoặc no-ship</a:t>
            </a:r>
            <a:endParaRPr lang="en-US" sz="3000" dirty="0"/>
          </a:p>
        </p:txBody>
      </p:sp>
      <p:sp>
        <p:nvSpPr>
          <p:cNvPr id="4" name="Text 2"/>
          <p:cNvSpPr/>
          <p:nvPr/>
        </p:nvSpPr>
        <p:spPr>
          <a:xfrm>
            <a:off x="365760" y="1143000"/>
            <a:ext cx="11430000" cy="365760"/>
          </a:xfrm>
          <a:prstGeom prst="rect">
            <a:avLst/>
          </a:prstGeom>
          <a:noFill/>
          <a:ln/>
        </p:spPr>
        <p:txBody>
          <a:bodyPr wrap="square" lIns="0" tIns="0" rIns="0" bIns="0" rtlCol="0" anchor="ctr"/>
          <a:lstStyle/>
          <a:p>
            <a:pPr marL="0" indent="0">
              <a:buNone/>
            </a:pPr>
            <a:r>
              <a:rPr lang="en-US" sz="1400" i="1" dirty="0">
                <a:solidFill>
                  <a:srgbClr val="8B949E"/>
                </a:solidFill>
                <a:latin typeface="Calibri" pitchFamily="34" charset="0"/>
                <a:ea typeface="Calibri" pitchFamily="34" charset="-122"/>
                <a:cs typeface="Calibri" pitchFamily="34" charset="-120"/>
              </a:rPr>
              <a:t>DELIVERY refuse deploy nếu TEST_REPORT FAIL hoặc BUG_REPORT có blocker</a:t>
            </a:r>
            <a:endParaRPr lang="en-US" sz="1400" dirty="0"/>
          </a:p>
        </p:txBody>
      </p:sp>
      <p:sp>
        <p:nvSpPr>
          <p:cNvPr id="5" name="Shape 3"/>
          <p:cNvSpPr/>
          <p:nvPr/>
        </p:nvSpPr>
        <p:spPr>
          <a:xfrm>
            <a:off x="365760" y="1783080"/>
            <a:ext cx="5486400" cy="4572000"/>
          </a:xfrm>
          <a:prstGeom prst="rect">
            <a:avLst/>
          </a:prstGeom>
          <a:solidFill>
            <a:srgbClr val="161B22"/>
          </a:solidFill>
          <a:ln w="12700">
            <a:solidFill>
              <a:srgbClr val="30363D"/>
            </a:solidFill>
            <a:prstDash val="solid"/>
          </a:ln>
        </p:spPr>
        <p:txBody>
          <a:bodyPr/>
          <a:lstStyle/>
          <a:p>
            <a:endParaRPr/>
          </a:p>
        </p:txBody>
      </p:sp>
      <p:sp>
        <p:nvSpPr>
          <p:cNvPr id="6" name="Text 4"/>
          <p:cNvSpPr/>
          <p:nvPr/>
        </p:nvSpPr>
        <p:spPr>
          <a:xfrm>
            <a:off x="457200" y="1874520"/>
            <a:ext cx="5303520" cy="365760"/>
          </a:xfrm>
          <a:prstGeom prst="rect">
            <a:avLst/>
          </a:prstGeom>
          <a:noFill/>
          <a:ln/>
        </p:spPr>
        <p:txBody>
          <a:bodyPr wrap="square" lIns="0" tIns="0" rIns="0" bIns="0" rtlCol="0" anchor="ctr"/>
          <a:lstStyle/>
          <a:p>
            <a:pPr marL="0" indent="0">
              <a:buNone/>
            </a:pPr>
            <a:r>
              <a:rPr lang="en-US" sz="1400" b="1" dirty="0">
                <a:solidFill>
                  <a:srgbClr val="7CE38B"/>
                </a:solidFill>
                <a:latin typeface="Consolas" pitchFamily="34" charset="0"/>
                <a:ea typeface="Consolas" pitchFamily="34" charset="-122"/>
                <a:cs typeface="Consolas" pitchFamily="34" charset="-120"/>
              </a:rPr>
              <a:t>Bug status convention (QA)</a:t>
            </a:r>
            <a:endParaRPr lang="en-US" sz="1400" dirty="0"/>
          </a:p>
        </p:txBody>
      </p:sp>
      <p:sp>
        <p:nvSpPr>
          <p:cNvPr id="7" name="Shape 5"/>
          <p:cNvSpPr/>
          <p:nvPr/>
        </p:nvSpPr>
        <p:spPr>
          <a:xfrm>
            <a:off x="548640" y="2441448"/>
            <a:ext cx="146304" cy="146304"/>
          </a:xfrm>
          <a:prstGeom prst="ellipse">
            <a:avLst/>
          </a:prstGeom>
          <a:solidFill>
            <a:srgbClr val="F85149"/>
          </a:solidFill>
          <a:ln w="12700">
            <a:solidFill>
              <a:srgbClr val="F85149"/>
            </a:solidFill>
            <a:prstDash val="solid"/>
          </a:ln>
        </p:spPr>
        <p:txBody>
          <a:bodyPr/>
          <a:lstStyle/>
          <a:p>
            <a:endParaRPr/>
          </a:p>
        </p:txBody>
      </p:sp>
      <p:sp>
        <p:nvSpPr>
          <p:cNvPr id="8" name="Text 6"/>
          <p:cNvSpPr/>
          <p:nvPr/>
        </p:nvSpPr>
        <p:spPr>
          <a:xfrm>
            <a:off x="777240" y="2331720"/>
            <a:ext cx="1828800" cy="365760"/>
          </a:xfrm>
          <a:prstGeom prst="rect">
            <a:avLst/>
          </a:prstGeom>
          <a:noFill/>
          <a:ln/>
        </p:spPr>
        <p:txBody>
          <a:bodyPr wrap="square" lIns="0" tIns="0" rIns="0" bIns="0" rtlCol="0" anchor="ctr"/>
          <a:lstStyle/>
          <a:p>
            <a:pPr marL="0" indent="0">
              <a:buNone/>
            </a:pPr>
            <a:r>
              <a:rPr lang="en-US" sz="1100" b="1" dirty="0">
                <a:solidFill>
                  <a:srgbClr val="F85149"/>
                </a:solidFill>
                <a:latin typeface="Consolas" pitchFamily="34" charset="0"/>
                <a:ea typeface="Consolas" pitchFamily="34" charset="-122"/>
                <a:cs typeface="Consolas" pitchFamily="34" charset="-120"/>
              </a:rPr>
              <a:t>OPEN_CRITICAL</a:t>
            </a:r>
            <a:endParaRPr lang="en-US" sz="1100" dirty="0"/>
          </a:p>
        </p:txBody>
      </p:sp>
      <p:sp>
        <p:nvSpPr>
          <p:cNvPr id="9" name="Text 7"/>
          <p:cNvSpPr/>
          <p:nvPr/>
        </p:nvSpPr>
        <p:spPr>
          <a:xfrm>
            <a:off x="2606040" y="2331720"/>
            <a:ext cx="3108960" cy="365760"/>
          </a:xfrm>
          <a:prstGeom prst="rect">
            <a:avLst/>
          </a:prstGeom>
          <a:noFill/>
          <a:ln/>
        </p:spPr>
        <p:txBody>
          <a:bodyPr wrap="square" lIns="0" tIns="0" rIns="0" bIns="0" rtlCol="0" anchor="ctr"/>
          <a:lstStyle/>
          <a:p>
            <a:pPr marL="0" indent="0">
              <a:buNone/>
            </a:pPr>
            <a:r>
              <a:rPr lang="en-US" sz="1000" dirty="0">
                <a:solidFill>
                  <a:srgbClr val="8B949E"/>
                </a:solidFill>
                <a:latin typeface="Calibri" pitchFamily="34" charset="0"/>
                <a:ea typeface="Calibri" pitchFamily="34" charset="-122"/>
                <a:cs typeface="Calibri" pitchFamily="34" charset="-120"/>
              </a:rPr>
              <a:t>Blocks all use of the app</a:t>
            </a:r>
            <a:endParaRPr lang="en-US" sz="1000" dirty="0"/>
          </a:p>
        </p:txBody>
      </p:sp>
      <p:sp>
        <p:nvSpPr>
          <p:cNvPr id="10" name="Shape 8"/>
          <p:cNvSpPr/>
          <p:nvPr/>
        </p:nvSpPr>
        <p:spPr>
          <a:xfrm>
            <a:off x="548640" y="2807208"/>
            <a:ext cx="146304" cy="146304"/>
          </a:xfrm>
          <a:prstGeom prst="ellipse">
            <a:avLst/>
          </a:prstGeom>
          <a:solidFill>
            <a:srgbClr val="F85149"/>
          </a:solidFill>
          <a:ln w="12700">
            <a:solidFill>
              <a:srgbClr val="F85149"/>
            </a:solidFill>
            <a:prstDash val="solid"/>
          </a:ln>
        </p:spPr>
        <p:txBody>
          <a:bodyPr/>
          <a:lstStyle/>
          <a:p>
            <a:endParaRPr/>
          </a:p>
        </p:txBody>
      </p:sp>
      <p:sp>
        <p:nvSpPr>
          <p:cNvPr id="11" name="Text 9"/>
          <p:cNvSpPr/>
          <p:nvPr/>
        </p:nvSpPr>
        <p:spPr>
          <a:xfrm>
            <a:off x="777240" y="2697480"/>
            <a:ext cx="1828800" cy="365760"/>
          </a:xfrm>
          <a:prstGeom prst="rect">
            <a:avLst/>
          </a:prstGeom>
          <a:noFill/>
          <a:ln/>
        </p:spPr>
        <p:txBody>
          <a:bodyPr wrap="square" lIns="0" tIns="0" rIns="0" bIns="0" rtlCol="0" anchor="ctr"/>
          <a:lstStyle/>
          <a:p>
            <a:pPr marL="0" indent="0">
              <a:buNone/>
            </a:pPr>
            <a:r>
              <a:rPr lang="en-US" sz="1100" b="1" dirty="0">
                <a:solidFill>
                  <a:srgbClr val="F85149"/>
                </a:solidFill>
                <a:latin typeface="Consolas" pitchFamily="34" charset="0"/>
                <a:ea typeface="Consolas" pitchFamily="34" charset="-122"/>
                <a:cs typeface="Consolas" pitchFamily="34" charset="-120"/>
              </a:rPr>
              <a:t>OPEN_MAJOR</a:t>
            </a:r>
            <a:endParaRPr lang="en-US" sz="1100" dirty="0"/>
          </a:p>
        </p:txBody>
      </p:sp>
      <p:sp>
        <p:nvSpPr>
          <p:cNvPr id="12" name="Text 10"/>
          <p:cNvSpPr/>
          <p:nvPr/>
        </p:nvSpPr>
        <p:spPr>
          <a:xfrm>
            <a:off x="2606040" y="2697480"/>
            <a:ext cx="3108960" cy="365760"/>
          </a:xfrm>
          <a:prstGeom prst="rect">
            <a:avLst/>
          </a:prstGeom>
          <a:noFill/>
          <a:ln/>
        </p:spPr>
        <p:txBody>
          <a:bodyPr wrap="square" lIns="0" tIns="0" rIns="0" bIns="0" rtlCol="0" anchor="ctr"/>
          <a:lstStyle/>
          <a:p>
            <a:pPr marL="0" indent="0">
              <a:buNone/>
            </a:pPr>
            <a:r>
              <a:rPr lang="en-US" sz="1000" dirty="0">
                <a:solidFill>
                  <a:srgbClr val="8B949E"/>
                </a:solidFill>
                <a:latin typeface="Calibri" pitchFamily="34" charset="0"/>
                <a:ea typeface="Calibri" pitchFamily="34" charset="-122"/>
                <a:cs typeface="Calibri" pitchFamily="34" charset="-120"/>
              </a:rPr>
              <a:t>Affects primary user story</a:t>
            </a:r>
            <a:endParaRPr lang="en-US" sz="1000" dirty="0"/>
          </a:p>
        </p:txBody>
      </p:sp>
      <p:sp>
        <p:nvSpPr>
          <p:cNvPr id="13" name="Shape 11"/>
          <p:cNvSpPr/>
          <p:nvPr/>
        </p:nvSpPr>
        <p:spPr>
          <a:xfrm>
            <a:off x="548640" y="3172968"/>
            <a:ext cx="146304" cy="146304"/>
          </a:xfrm>
          <a:prstGeom prst="ellipse">
            <a:avLst/>
          </a:prstGeom>
          <a:solidFill>
            <a:srgbClr val="2EA043"/>
          </a:solidFill>
          <a:ln w="12700">
            <a:solidFill>
              <a:srgbClr val="2EA043"/>
            </a:solidFill>
            <a:prstDash val="solid"/>
          </a:ln>
        </p:spPr>
        <p:txBody>
          <a:bodyPr/>
          <a:lstStyle/>
          <a:p>
            <a:endParaRPr/>
          </a:p>
        </p:txBody>
      </p:sp>
      <p:sp>
        <p:nvSpPr>
          <p:cNvPr id="14" name="Text 12"/>
          <p:cNvSpPr/>
          <p:nvPr/>
        </p:nvSpPr>
        <p:spPr>
          <a:xfrm>
            <a:off x="777240" y="3063240"/>
            <a:ext cx="1828800" cy="365760"/>
          </a:xfrm>
          <a:prstGeom prst="rect">
            <a:avLst/>
          </a:prstGeom>
          <a:noFill/>
          <a:ln/>
        </p:spPr>
        <p:txBody>
          <a:bodyPr wrap="square" lIns="0" tIns="0" rIns="0" bIns="0" rtlCol="0" anchor="ctr"/>
          <a:lstStyle/>
          <a:p>
            <a:pPr marL="0" indent="0">
              <a:buNone/>
            </a:pPr>
            <a:r>
              <a:rPr lang="en-US" sz="1100" b="1" dirty="0">
                <a:solidFill>
                  <a:srgbClr val="E6EDF3"/>
                </a:solidFill>
                <a:latin typeface="Consolas" pitchFamily="34" charset="0"/>
                <a:ea typeface="Consolas" pitchFamily="34" charset="-122"/>
                <a:cs typeface="Consolas" pitchFamily="34" charset="-120"/>
              </a:rPr>
              <a:t>OPEN_MINOR</a:t>
            </a:r>
            <a:endParaRPr lang="en-US" sz="1100" dirty="0"/>
          </a:p>
        </p:txBody>
      </p:sp>
      <p:sp>
        <p:nvSpPr>
          <p:cNvPr id="15" name="Text 13"/>
          <p:cNvSpPr/>
          <p:nvPr/>
        </p:nvSpPr>
        <p:spPr>
          <a:xfrm>
            <a:off x="2606040" y="3063240"/>
            <a:ext cx="3108960" cy="365760"/>
          </a:xfrm>
          <a:prstGeom prst="rect">
            <a:avLst/>
          </a:prstGeom>
          <a:noFill/>
          <a:ln/>
        </p:spPr>
        <p:txBody>
          <a:bodyPr wrap="square" lIns="0" tIns="0" rIns="0" bIns="0" rtlCol="0" anchor="ctr"/>
          <a:lstStyle/>
          <a:p>
            <a:pPr marL="0" indent="0">
              <a:buNone/>
            </a:pPr>
            <a:r>
              <a:rPr lang="en-US" sz="1000" dirty="0">
                <a:solidFill>
                  <a:srgbClr val="8B949E"/>
                </a:solidFill>
                <a:latin typeface="Calibri" pitchFamily="34" charset="0"/>
                <a:ea typeface="Calibri" pitchFamily="34" charset="-122"/>
                <a:cs typeface="Calibri" pitchFamily="34" charset="-120"/>
              </a:rPr>
              <a:t>Cosmetic / non-critical</a:t>
            </a:r>
            <a:endParaRPr lang="en-US" sz="1000" dirty="0"/>
          </a:p>
        </p:txBody>
      </p:sp>
      <p:sp>
        <p:nvSpPr>
          <p:cNvPr id="16" name="Shape 14"/>
          <p:cNvSpPr/>
          <p:nvPr/>
        </p:nvSpPr>
        <p:spPr>
          <a:xfrm>
            <a:off x="548640" y="3538728"/>
            <a:ext cx="146304" cy="146304"/>
          </a:xfrm>
          <a:prstGeom prst="ellipse">
            <a:avLst/>
          </a:prstGeom>
          <a:solidFill>
            <a:srgbClr val="2EA043"/>
          </a:solidFill>
          <a:ln w="12700">
            <a:solidFill>
              <a:srgbClr val="2EA043"/>
            </a:solidFill>
            <a:prstDash val="solid"/>
          </a:ln>
        </p:spPr>
        <p:txBody>
          <a:bodyPr/>
          <a:lstStyle/>
          <a:p>
            <a:endParaRPr/>
          </a:p>
        </p:txBody>
      </p:sp>
      <p:sp>
        <p:nvSpPr>
          <p:cNvPr id="17" name="Text 15"/>
          <p:cNvSpPr/>
          <p:nvPr/>
        </p:nvSpPr>
        <p:spPr>
          <a:xfrm>
            <a:off x="777240" y="3429000"/>
            <a:ext cx="1828800" cy="365760"/>
          </a:xfrm>
          <a:prstGeom prst="rect">
            <a:avLst/>
          </a:prstGeom>
          <a:noFill/>
          <a:ln/>
        </p:spPr>
        <p:txBody>
          <a:bodyPr wrap="square" lIns="0" tIns="0" rIns="0" bIns="0" rtlCol="0" anchor="ctr"/>
          <a:lstStyle/>
          <a:p>
            <a:pPr marL="0" indent="0">
              <a:buNone/>
            </a:pPr>
            <a:r>
              <a:rPr lang="en-US" sz="1100" b="1" dirty="0">
                <a:solidFill>
                  <a:srgbClr val="E6EDF3"/>
                </a:solidFill>
                <a:latin typeface="Consolas" pitchFamily="34" charset="0"/>
                <a:ea typeface="Consolas" pitchFamily="34" charset="-122"/>
                <a:cs typeface="Consolas" pitchFamily="34" charset="-120"/>
              </a:rPr>
              <a:t>RETESTING</a:t>
            </a:r>
            <a:endParaRPr lang="en-US" sz="1100" dirty="0"/>
          </a:p>
        </p:txBody>
      </p:sp>
      <p:sp>
        <p:nvSpPr>
          <p:cNvPr id="18" name="Text 16"/>
          <p:cNvSpPr/>
          <p:nvPr/>
        </p:nvSpPr>
        <p:spPr>
          <a:xfrm>
            <a:off x="2606040" y="3429000"/>
            <a:ext cx="3108960" cy="365760"/>
          </a:xfrm>
          <a:prstGeom prst="rect">
            <a:avLst/>
          </a:prstGeom>
          <a:noFill/>
          <a:ln/>
        </p:spPr>
        <p:txBody>
          <a:bodyPr wrap="square" lIns="0" tIns="0" rIns="0" bIns="0" rtlCol="0" anchor="ctr"/>
          <a:lstStyle/>
          <a:p>
            <a:pPr marL="0" indent="0">
              <a:buNone/>
            </a:pPr>
            <a:r>
              <a:rPr lang="en-US" sz="1000" dirty="0">
                <a:solidFill>
                  <a:srgbClr val="8B949E"/>
                </a:solidFill>
                <a:latin typeface="Calibri" pitchFamily="34" charset="0"/>
                <a:ea typeface="Calibri" pitchFamily="34" charset="-122"/>
                <a:cs typeface="Calibri" pitchFamily="34" charset="-120"/>
              </a:rPr>
              <a:t>Fix pushed, QA verifying</a:t>
            </a:r>
            <a:endParaRPr lang="en-US" sz="1000" dirty="0"/>
          </a:p>
        </p:txBody>
      </p:sp>
      <p:sp>
        <p:nvSpPr>
          <p:cNvPr id="19" name="Shape 17"/>
          <p:cNvSpPr/>
          <p:nvPr/>
        </p:nvSpPr>
        <p:spPr>
          <a:xfrm>
            <a:off x="548640" y="3904488"/>
            <a:ext cx="146304" cy="146304"/>
          </a:xfrm>
          <a:prstGeom prst="ellipse">
            <a:avLst/>
          </a:prstGeom>
          <a:solidFill>
            <a:srgbClr val="2EA043"/>
          </a:solidFill>
          <a:ln w="12700">
            <a:solidFill>
              <a:srgbClr val="2EA043"/>
            </a:solidFill>
            <a:prstDash val="solid"/>
          </a:ln>
        </p:spPr>
        <p:txBody>
          <a:bodyPr/>
          <a:lstStyle/>
          <a:p>
            <a:endParaRPr/>
          </a:p>
        </p:txBody>
      </p:sp>
      <p:sp>
        <p:nvSpPr>
          <p:cNvPr id="20" name="Text 18"/>
          <p:cNvSpPr/>
          <p:nvPr/>
        </p:nvSpPr>
        <p:spPr>
          <a:xfrm>
            <a:off x="777240" y="3794760"/>
            <a:ext cx="1828800" cy="365760"/>
          </a:xfrm>
          <a:prstGeom prst="rect">
            <a:avLst/>
          </a:prstGeom>
          <a:noFill/>
          <a:ln/>
        </p:spPr>
        <p:txBody>
          <a:bodyPr wrap="square" lIns="0" tIns="0" rIns="0" bIns="0" rtlCol="0" anchor="ctr"/>
          <a:lstStyle/>
          <a:p>
            <a:pPr marL="0" indent="0">
              <a:buNone/>
            </a:pPr>
            <a:r>
              <a:rPr lang="en-US" sz="1100" b="1" dirty="0">
                <a:solidFill>
                  <a:srgbClr val="E6EDF3"/>
                </a:solidFill>
                <a:latin typeface="Consolas" pitchFamily="34" charset="0"/>
                <a:ea typeface="Consolas" pitchFamily="34" charset="-122"/>
                <a:cs typeface="Consolas" pitchFamily="34" charset="-120"/>
              </a:rPr>
              <a:t>RETEST_PASS</a:t>
            </a:r>
            <a:endParaRPr lang="en-US" sz="1100" dirty="0"/>
          </a:p>
        </p:txBody>
      </p:sp>
      <p:sp>
        <p:nvSpPr>
          <p:cNvPr id="21" name="Text 19"/>
          <p:cNvSpPr/>
          <p:nvPr/>
        </p:nvSpPr>
        <p:spPr>
          <a:xfrm>
            <a:off x="2606040" y="3794760"/>
            <a:ext cx="3108960" cy="365760"/>
          </a:xfrm>
          <a:prstGeom prst="rect">
            <a:avLst/>
          </a:prstGeom>
          <a:noFill/>
          <a:ln/>
        </p:spPr>
        <p:txBody>
          <a:bodyPr wrap="square" lIns="0" tIns="0" rIns="0" bIns="0" rtlCol="0" anchor="ctr"/>
          <a:lstStyle/>
          <a:p>
            <a:pPr marL="0" indent="0">
              <a:buNone/>
            </a:pPr>
            <a:r>
              <a:rPr lang="en-US" sz="1000" dirty="0">
                <a:solidFill>
                  <a:srgbClr val="8B949E"/>
                </a:solidFill>
                <a:latin typeface="Calibri" pitchFamily="34" charset="0"/>
                <a:ea typeface="Calibri" pitchFamily="34" charset="-122"/>
                <a:cs typeface="Calibri" pitchFamily="34" charset="-120"/>
              </a:rPr>
              <a:t>Fix verified</a:t>
            </a:r>
            <a:endParaRPr lang="en-US" sz="1000" dirty="0"/>
          </a:p>
        </p:txBody>
      </p:sp>
      <p:sp>
        <p:nvSpPr>
          <p:cNvPr id="22" name="Shape 20"/>
          <p:cNvSpPr/>
          <p:nvPr/>
        </p:nvSpPr>
        <p:spPr>
          <a:xfrm>
            <a:off x="548640" y="4270248"/>
            <a:ext cx="146304" cy="146304"/>
          </a:xfrm>
          <a:prstGeom prst="ellipse">
            <a:avLst/>
          </a:prstGeom>
          <a:solidFill>
            <a:srgbClr val="F85149"/>
          </a:solidFill>
          <a:ln w="12700">
            <a:solidFill>
              <a:srgbClr val="F85149"/>
            </a:solidFill>
            <a:prstDash val="solid"/>
          </a:ln>
        </p:spPr>
        <p:txBody>
          <a:bodyPr/>
          <a:lstStyle/>
          <a:p>
            <a:endParaRPr/>
          </a:p>
        </p:txBody>
      </p:sp>
      <p:sp>
        <p:nvSpPr>
          <p:cNvPr id="23" name="Text 21"/>
          <p:cNvSpPr/>
          <p:nvPr/>
        </p:nvSpPr>
        <p:spPr>
          <a:xfrm>
            <a:off x="777240" y="4160520"/>
            <a:ext cx="1828800" cy="365760"/>
          </a:xfrm>
          <a:prstGeom prst="rect">
            <a:avLst/>
          </a:prstGeom>
          <a:noFill/>
          <a:ln/>
        </p:spPr>
        <p:txBody>
          <a:bodyPr wrap="square" lIns="0" tIns="0" rIns="0" bIns="0" rtlCol="0" anchor="ctr"/>
          <a:lstStyle/>
          <a:p>
            <a:pPr marL="0" indent="0">
              <a:buNone/>
            </a:pPr>
            <a:r>
              <a:rPr lang="en-US" sz="1100" b="1" dirty="0">
                <a:solidFill>
                  <a:srgbClr val="F85149"/>
                </a:solidFill>
                <a:latin typeface="Consolas" pitchFamily="34" charset="0"/>
                <a:ea typeface="Consolas" pitchFamily="34" charset="-122"/>
                <a:cs typeface="Consolas" pitchFamily="34" charset="-120"/>
              </a:rPr>
              <a:t>RETEST_FAIL</a:t>
            </a:r>
            <a:endParaRPr lang="en-US" sz="1100" dirty="0"/>
          </a:p>
        </p:txBody>
      </p:sp>
      <p:sp>
        <p:nvSpPr>
          <p:cNvPr id="24" name="Text 22"/>
          <p:cNvSpPr/>
          <p:nvPr/>
        </p:nvSpPr>
        <p:spPr>
          <a:xfrm>
            <a:off x="2606040" y="4160520"/>
            <a:ext cx="3108960" cy="365760"/>
          </a:xfrm>
          <a:prstGeom prst="rect">
            <a:avLst/>
          </a:prstGeom>
          <a:noFill/>
          <a:ln/>
        </p:spPr>
        <p:txBody>
          <a:bodyPr wrap="square" lIns="0" tIns="0" rIns="0" bIns="0" rtlCol="0" anchor="ctr"/>
          <a:lstStyle/>
          <a:p>
            <a:pPr marL="0" indent="0">
              <a:buNone/>
            </a:pPr>
            <a:r>
              <a:rPr lang="en-US" sz="1000" dirty="0">
                <a:solidFill>
                  <a:srgbClr val="8B949E"/>
                </a:solidFill>
                <a:latin typeface="Calibri" pitchFamily="34" charset="0"/>
                <a:ea typeface="Calibri" pitchFamily="34" charset="-122"/>
                <a:cs typeface="Calibri" pitchFamily="34" charset="-120"/>
              </a:rPr>
              <a:t>Fix didn't work</a:t>
            </a:r>
            <a:endParaRPr lang="en-US" sz="1000" dirty="0"/>
          </a:p>
        </p:txBody>
      </p:sp>
      <p:sp>
        <p:nvSpPr>
          <p:cNvPr id="25" name="Shape 23"/>
          <p:cNvSpPr/>
          <p:nvPr/>
        </p:nvSpPr>
        <p:spPr>
          <a:xfrm>
            <a:off x="548640" y="4636008"/>
            <a:ext cx="146304" cy="146304"/>
          </a:xfrm>
          <a:prstGeom prst="ellipse">
            <a:avLst/>
          </a:prstGeom>
          <a:solidFill>
            <a:srgbClr val="2EA043"/>
          </a:solidFill>
          <a:ln w="12700">
            <a:solidFill>
              <a:srgbClr val="2EA043"/>
            </a:solidFill>
            <a:prstDash val="solid"/>
          </a:ln>
        </p:spPr>
        <p:txBody>
          <a:bodyPr/>
          <a:lstStyle/>
          <a:p>
            <a:endParaRPr/>
          </a:p>
        </p:txBody>
      </p:sp>
      <p:sp>
        <p:nvSpPr>
          <p:cNvPr id="26" name="Text 24"/>
          <p:cNvSpPr/>
          <p:nvPr/>
        </p:nvSpPr>
        <p:spPr>
          <a:xfrm>
            <a:off x="777240" y="4526280"/>
            <a:ext cx="1828800" cy="365760"/>
          </a:xfrm>
          <a:prstGeom prst="rect">
            <a:avLst/>
          </a:prstGeom>
          <a:noFill/>
          <a:ln/>
        </p:spPr>
        <p:txBody>
          <a:bodyPr wrap="square" lIns="0" tIns="0" rIns="0" bIns="0" rtlCol="0" anchor="ctr"/>
          <a:lstStyle/>
          <a:p>
            <a:pPr marL="0" indent="0">
              <a:buNone/>
            </a:pPr>
            <a:r>
              <a:rPr lang="en-US" sz="1100" b="1" dirty="0">
                <a:solidFill>
                  <a:srgbClr val="E6EDF3"/>
                </a:solidFill>
                <a:latin typeface="Consolas" pitchFamily="34" charset="0"/>
                <a:ea typeface="Consolas" pitchFamily="34" charset="-122"/>
                <a:cs typeface="Consolas" pitchFamily="34" charset="-120"/>
              </a:rPr>
              <a:t>FIXED</a:t>
            </a:r>
            <a:endParaRPr lang="en-US" sz="1100" dirty="0"/>
          </a:p>
        </p:txBody>
      </p:sp>
      <p:sp>
        <p:nvSpPr>
          <p:cNvPr id="27" name="Text 25"/>
          <p:cNvSpPr/>
          <p:nvPr/>
        </p:nvSpPr>
        <p:spPr>
          <a:xfrm>
            <a:off x="2606040" y="4526280"/>
            <a:ext cx="3108960" cy="365760"/>
          </a:xfrm>
          <a:prstGeom prst="rect">
            <a:avLst/>
          </a:prstGeom>
          <a:noFill/>
          <a:ln/>
        </p:spPr>
        <p:txBody>
          <a:bodyPr wrap="square" lIns="0" tIns="0" rIns="0" bIns="0" rtlCol="0" anchor="ctr"/>
          <a:lstStyle/>
          <a:p>
            <a:pPr marL="0" indent="0">
              <a:buNone/>
            </a:pPr>
            <a:r>
              <a:rPr lang="en-US" sz="1000" dirty="0">
                <a:solidFill>
                  <a:srgbClr val="8B949E"/>
                </a:solidFill>
                <a:latin typeface="Calibri" pitchFamily="34" charset="0"/>
                <a:ea typeface="Calibri" pitchFamily="34" charset="-122"/>
                <a:cs typeface="Calibri" pitchFamily="34" charset="-120"/>
              </a:rPr>
              <a:t>Closed</a:t>
            </a:r>
            <a:endParaRPr lang="en-US" sz="1000" dirty="0"/>
          </a:p>
        </p:txBody>
      </p:sp>
      <p:sp>
        <p:nvSpPr>
          <p:cNvPr id="28" name="Shape 26"/>
          <p:cNvSpPr/>
          <p:nvPr/>
        </p:nvSpPr>
        <p:spPr>
          <a:xfrm>
            <a:off x="548640" y="5001768"/>
            <a:ext cx="146304" cy="146304"/>
          </a:xfrm>
          <a:prstGeom prst="ellipse">
            <a:avLst/>
          </a:prstGeom>
          <a:solidFill>
            <a:srgbClr val="2EA043"/>
          </a:solidFill>
          <a:ln w="12700">
            <a:solidFill>
              <a:srgbClr val="2EA043"/>
            </a:solidFill>
            <a:prstDash val="solid"/>
          </a:ln>
        </p:spPr>
        <p:txBody>
          <a:bodyPr/>
          <a:lstStyle/>
          <a:p>
            <a:endParaRPr/>
          </a:p>
        </p:txBody>
      </p:sp>
      <p:sp>
        <p:nvSpPr>
          <p:cNvPr id="29" name="Text 27"/>
          <p:cNvSpPr/>
          <p:nvPr/>
        </p:nvSpPr>
        <p:spPr>
          <a:xfrm>
            <a:off x="777240" y="4892040"/>
            <a:ext cx="1828800" cy="365760"/>
          </a:xfrm>
          <a:prstGeom prst="rect">
            <a:avLst/>
          </a:prstGeom>
          <a:noFill/>
          <a:ln/>
        </p:spPr>
        <p:txBody>
          <a:bodyPr wrap="square" lIns="0" tIns="0" rIns="0" bIns="0" rtlCol="0" anchor="ctr"/>
          <a:lstStyle/>
          <a:p>
            <a:pPr marL="0" indent="0">
              <a:buNone/>
            </a:pPr>
            <a:r>
              <a:rPr lang="en-US" sz="1100" b="1" dirty="0">
                <a:solidFill>
                  <a:srgbClr val="E6EDF3"/>
                </a:solidFill>
                <a:latin typeface="Consolas" pitchFamily="34" charset="0"/>
                <a:ea typeface="Consolas" pitchFamily="34" charset="-122"/>
                <a:cs typeface="Consolas" pitchFamily="34" charset="-120"/>
              </a:rPr>
              <a:t>WONT_FIX</a:t>
            </a:r>
            <a:endParaRPr lang="en-US" sz="1100" dirty="0"/>
          </a:p>
        </p:txBody>
      </p:sp>
      <p:sp>
        <p:nvSpPr>
          <p:cNvPr id="30" name="Text 28"/>
          <p:cNvSpPr/>
          <p:nvPr/>
        </p:nvSpPr>
        <p:spPr>
          <a:xfrm>
            <a:off x="2606040" y="4892040"/>
            <a:ext cx="3108960" cy="365760"/>
          </a:xfrm>
          <a:prstGeom prst="rect">
            <a:avLst/>
          </a:prstGeom>
          <a:noFill/>
          <a:ln/>
        </p:spPr>
        <p:txBody>
          <a:bodyPr wrap="square" lIns="0" tIns="0" rIns="0" bIns="0" rtlCol="0" anchor="ctr"/>
          <a:lstStyle/>
          <a:p>
            <a:pPr marL="0" indent="0">
              <a:buNone/>
            </a:pPr>
            <a:r>
              <a:rPr lang="en-US" sz="1000" dirty="0">
                <a:solidFill>
                  <a:srgbClr val="8B949E"/>
                </a:solidFill>
                <a:latin typeface="Calibri" pitchFamily="34" charset="0"/>
                <a:ea typeface="Calibri" pitchFamily="34" charset="-122"/>
                <a:cs typeface="Calibri" pitchFamily="34" charset="-120"/>
              </a:rPr>
              <a:t>Accepted, not fixing</a:t>
            </a:r>
            <a:endParaRPr lang="en-US" sz="1000" dirty="0"/>
          </a:p>
        </p:txBody>
      </p:sp>
      <p:sp>
        <p:nvSpPr>
          <p:cNvPr id="31" name="Shape 29"/>
          <p:cNvSpPr/>
          <p:nvPr/>
        </p:nvSpPr>
        <p:spPr>
          <a:xfrm>
            <a:off x="6126480" y="1783080"/>
            <a:ext cx="5669280" cy="4572000"/>
          </a:xfrm>
          <a:prstGeom prst="rect">
            <a:avLst/>
          </a:prstGeom>
          <a:solidFill>
            <a:srgbClr val="161B22"/>
          </a:solidFill>
          <a:ln w="12700">
            <a:solidFill>
              <a:srgbClr val="30363D"/>
            </a:solidFill>
            <a:prstDash val="solid"/>
          </a:ln>
        </p:spPr>
        <p:txBody>
          <a:bodyPr/>
          <a:lstStyle/>
          <a:p>
            <a:endParaRPr/>
          </a:p>
        </p:txBody>
      </p:sp>
      <p:sp>
        <p:nvSpPr>
          <p:cNvPr id="32" name="Shape 30"/>
          <p:cNvSpPr/>
          <p:nvPr/>
        </p:nvSpPr>
        <p:spPr>
          <a:xfrm>
            <a:off x="6217920" y="1874520"/>
            <a:ext cx="91440" cy="91440"/>
          </a:xfrm>
          <a:prstGeom prst="ellipse">
            <a:avLst/>
          </a:prstGeom>
          <a:solidFill>
            <a:srgbClr val="F85149"/>
          </a:solidFill>
          <a:ln w="12700">
            <a:solidFill>
              <a:srgbClr val="F85149"/>
            </a:solidFill>
            <a:prstDash val="solid"/>
          </a:ln>
        </p:spPr>
        <p:txBody>
          <a:bodyPr/>
          <a:lstStyle/>
          <a:p>
            <a:endParaRPr/>
          </a:p>
        </p:txBody>
      </p:sp>
      <p:sp>
        <p:nvSpPr>
          <p:cNvPr id="33" name="Shape 31"/>
          <p:cNvSpPr/>
          <p:nvPr/>
        </p:nvSpPr>
        <p:spPr>
          <a:xfrm>
            <a:off x="6345936" y="1874520"/>
            <a:ext cx="91440" cy="91440"/>
          </a:xfrm>
          <a:prstGeom prst="ellipse">
            <a:avLst/>
          </a:prstGeom>
          <a:solidFill>
            <a:srgbClr val="D29922"/>
          </a:solidFill>
          <a:ln w="12700">
            <a:solidFill>
              <a:srgbClr val="D29922"/>
            </a:solidFill>
            <a:prstDash val="solid"/>
          </a:ln>
        </p:spPr>
        <p:txBody>
          <a:bodyPr/>
          <a:lstStyle/>
          <a:p>
            <a:endParaRPr/>
          </a:p>
        </p:txBody>
      </p:sp>
      <p:sp>
        <p:nvSpPr>
          <p:cNvPr id="34" name="Shape 32"/>
          <p:cNvSpPr/>
          <p:nvPr/>
        </p:nvSpPr>
        <p:spPr>
          <a:xfrm>
            <a:off x="6473952" y="1874520"/>
            <a:ext cx="91440" cy="91440"/>
          </a:xfrm>
          <a:prstGeom prst="ellipse">
            <a:avLst/>
          </a:prstGeom>
          <a:solidFill>
            <a:srgbClr val="3FB950"/>
          </a:solidFill>
          <a:ln w="12700">
            <a:solidFill>
              <a:srgbClr val="3FB950"/>
            </a:solidFill>
            <a:prstDash val="solid"/>
          </a:ln>
        </p:spPr>
        <p:txBody>
          <a:bodyPr/>
          <a:lstStyle/>
          <a:p>
            <a:endParaRPr/>
          </a:p>
        </p:txBody>
      </p:sp>
      <p:sp>
        <p:nvSpPr>
          <p:cNvPr id="35" name="Text 33"/>
          <p:cNvSpPr/>
          <p:nvPr/>
        </p:nvSpPr>
        <p:spPr>
          <a:xfrm>
            <a:off x="6263640" y="2103120"/>
            <a:ext cx="5394960" cy="4206240"/>
          </a:xfrm>
          <a:prstGeom prst="rect">
            <a:avLst/>
          </a:prstGeom>
          <a:noFill/>
          <a:ln/>
        </p:spPr>
        <p:txBody>
          <a:bodyPr wrap="square" lIns="0" tIns="0" rIns="0" bIns="0" rtlCol="0" anchor="t"/>
          <a:lstStyle/>
          <a:p>
            <a:pPr marL="0" indent="0">
              <a:buNone/>
            </a:pPr>
            <a:r>
              <a:rPr lang="en-US" sz="1200" dirty="0">
                <a:solidFill>
                  <a:srgbClr val="8B949E"/>
                </a:solidFill>
                <a:latin typeface="Consolas" pitchFamily="34" charset="0"/>
                <a:ea typeface="Consolas" pitchFamily="34" charset="-122"/>
                <a:cs typeface="Consolas" pitchFamily="34" charset="-120"/>
              </a:rPr>
              <a:t># DELIVERY prereq check (v10.9):</a:t>
            </a:r>
            <a:endParaRPr lang="en-US" sz="1200" dirty="0"/>
          </a:p>
          <a:p>
            <a:pPr marL="0" indent="0">
              <a:buNone/>
            </a:pPr>
            <a:r>
              <a:rPr lang="en-US" sz="1200" dirty="0">
                <a:solidFill>
                  <a:srgbClr val="7CE38B"/>
                </a:solidFill>
                <a:latin typeface="Consolas" pitchFamily="34" charset="0"/>
                <a:ea typeface="Consolas" pitchFamily="34" charset="-122"/>
                <a:cs typeface="Consolas" pitchFamily="34" charset="-120"/>
              </a:rPr>
              <a:t>$ bash scripts/check_prerequisites.sh \</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        DELIVERY</a:t>
            </a:r>
            <a:endParaRPr lang="en-US" sz="1200" dirty="0"/>
          </a:p>
          <a:p>
            <a:pPr marL="0" indent="0">
              <a:buNone/>
            </a:pPr>
            <a:endParaRPr lang="en-US" sz="1200" dirty="0"/>
          </a:p>
          <a:p>
            <a:pPr marL="0" indent="0">
              <a:buNone/>
            </a:pPr>
            <a:r>
              <a:rPr lang="en-US" sz="1200" dirty="0">
                <a:solidFill>
                  <a:srgbClr val="8B949E"/>
                </a:solidFill>
                <a:latin typeface="Consolas" pitchFamily="34" charset="0"/>
                <a:ea typeface="Consolas" pitchFamily="34" charset="-122"/>
                <a:cs typeface="Consolas" pitchFamily="34" charset="-120"/>
              </a:rPr>
              <a:t># Hard-blocks unless ALL true:</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  reports/TEST_REPORT.md exists</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  _SIGNED_TECH_STACK_   (Confirmed by user)</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  _VERDICT_PASS_        (TEST_REPORT)</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  _NO_OPEN_CRITICAL_MAJOR_  (BUG_REPORT)</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  _CODE_BE_             (backend/ has src)</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  _CODE_FE_             (frontend/ has src)</a:t>
            </a:r>
            <a:endParaRPr lang="en-US" sz="1200" dirty="0"/>
          </a:p>
          <a:p>
            <a:pPr marL="0" indent="0">
              <a:buNone/>
            </a:pP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 DELIVERY tự refuse, notify Orch,</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   Orch route BE/FE/QA fix trước.</a:t>
            </a:r>
            <a:endParaRPr lang="en-US" sz="1200" dirty="0"/>
          </a:p>
        </p:txBody>
      </p:sp>
      <p:sp>
        <p:nvSpPr>
          <p:cNvPr id="36" name="Text 34"/>
          <p:cNvSpPr/>
          <p:nvPr/>
        </p:nvSpPr>
        <p:spPr>
          <a:xfrm>
            <a:off x="11338560" y="6492240"/>
            <a:ext cx="731520" cy="228600"/>
          </a:xfrm>
          <a:prstGeom prst="rect">
            <a:avLst/>
          </a:prstGeom>
          <a:noFill/>
          <a:ln/>
        </p:spPr>
        <p:txBody>
          <a:bodyPr wrap="square" lIns="0" tIns="0" rIns="0" bIns="0" rtlCol="0" anchor="ctr"/>
          <a:lstStyle/>
          <a:p>
            <a:pPr marL="0" indent="0" algn="r">
              <a:buNone/>
            </a:pPr>
            <a:r>
              <a:rPr lang="en-US" sz="900" dirty="0">
                <a:solidFill>
                  <a:srgbClr val="8B949E"/>
                </a:solidFill>
                <a:latin typeface="Consolas" pitchFamily="34" charset="0"/>
                <a:ea typeface="Consolas" pitchFamily="34" charset="-122"/>
                <a:cs typeface="Consolas" pitchFamily="34" charset="-120"/>
              </a:rPr>
              <a:t>20 / 40</a:t>
            </a:r>
            <a:endParaRPr lang="en-US" sz="900" dirty="0"/>
          </a:p>
        </p:txBody>
      </p:sp>
      <p:sp>
        <p:nvSpPr>
          <p:cNvPr id="37" name="Text 35"/>
          <p:cNvSpPr/>
          <p:nvPr/>
        </p:nvSpPr>
        <p:spPr>
          <a:xfrm>
            <a:off x="365760" y="6492240"/>
            <a:ext cx="1097280" cy="228600"/>
          </a:xfrm>
          <a:prstGeom prst="rect">
            <a:avLst/>
          </a:prstGeom>
          <a:noFill/>
          <a:ln/>
        </p:spPr>
        <p:txBody>
          <a:bodyPr wrap="square" lIns="0" tIns="0" rIns="0" bIns="0" rtlCol="0" anchor="ctr"/>
          <a:lstStyle/>
          <a:p>
            <a:pPr marL="0" indent="0" algn="l">
              <a:buNone/>
            </a:pPr>
            <a:r>
              <a:rPr lang="en-US" sz="900" dirty="0">
                <a:solidFill>
                  <a:srgbClr val="8B949E"/>
                </a:solidFill>
                <a:latin typeface="Consolas" pitchFamily="34" charset="0"/>
                <a:ea typeface="Consolas" pitchFamily="34" charset="-122"/>
                <a:cs typeface="Consolas" pitchFamily="34" charset="-120"/>
              </a:rPr>
              <a:t>v10.23</a:t>
            </a:r>
            <a:endParaRPr lang="en-US" sz="900" dirty="0"/>
          </a:p>
        </p:txBody>
      </p:sp>
      <p:sp>
        <p:nvSpPr>
          <p:cNvPr id="38" name="Text 36"/>
          <p:cNvSpPr/>
          <p:nvPr/>
        </p:nvSpPr>
        <p:spPr>
          <a:xfrm>
            <a:off x="4572000" y="6492240"/>
            <a:ext cx="6400800" cy="228600"/>
          </a:xfrm>
          <a:prstGeom prst="rect">
            <a:avLst/>
          </a:prstGeom>
          <a:noFill/>
          <a:ln/>
        </p:spPr>
        <p:txBody>
          <a:bodyPr wrap="square" lIns="0" tIns="0" rIns="0" bIns="0" rtlCol="0" anchor="ctr"/>
          <a:lstStyle/>
          <a:p>
            <a:pPr marL="0" indent="0" algn="ctr">
              <a:buNone/>
            </a:pPr>
            <a:r>
              <a:rPr lang="en-US" sz="900" dirty="0">
                <a:solidFill>
                  <a:srgbClr val="8B949E"/>
                </a:solidFill>
                <a:latin typeface="Consolas" pitchFamily="34" charset="0"/>
                <a:ea typeface="Consolas" pitchFamily="34" charset="-122"/>
                <a:cs typeface="Consolas" pitchFamily="34" charset="-120"/>
              </a:rPr>
              <a:t>Product Engineering Agent Framework</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365760" y="228600"/>
            <a:ext cx="8229600" cy="274320"/>
          </a:xfrm>
          <a:prstGeom prst="rect">
            <a:avLst/>
          </a:prstGeom>
          <a:noFill/>
          <a:ln/>
        </p:spPr>
        <p:txBody>
          <a:bodyPr wrap="square" lIns="0" tIns="0" rIns="0" bIns="0" rtlCol="0" anchor="ctr"/>
          <a:lstStyle/>
          <a:p>
            <a:pPr marL="0" indent="0">
              <a:buNone/>
            </a:pPr>
            <a:r>
              <a:rPr lang="en-US" sz="1100" dirty="0">
                <a:solidFill>
                  <a:srgbClr val="2EA043"/>
                </a:solidFill>
                <a:latin typeface="Consolas" pitchFamily="34" charset="0"/>
                <a:ea typeface="Consolas" pitchFamily="34" charset="-122"/>
                <a:cs typeface="Consolas" pitchFamily="34" charset="-120"/>
              </a:rPr>
              <a:t>$ </a:t>
            </a:r>
            <a:r>
              <a:rPr lang="en-US" sz="1100" dirty="0">
                <a:solidFill>
                  <a:srgbClr val="8B949E"/>
                </a:solidFill>
                <a:latin typeface="Consolas" pitchFamily="34" charset="0"/>
                <a:ea typeface="Consolas" pitchFamily="34" charset="-122"/>
                <a:cs typeface="Consolas" pitchFamily="34" charset="-120"/>
              </a:rPr>
              <a:t>17_requirements.md</a:t>
            </a:r>
            <a:endParaRPr lang="en-US" sz="1100" dirty="0"/>
          </a:p>
        </p:txBody>
      </p:sp>
      <p:sp>
        <p:nvSpPr>
          <p:cNvPr id="3" name="Text 1"/>
          <p:cNvSpPr/>
          <p:nvPr/>
        </p:nvSpPr>
        <p:spPr>
          <a:xfrm>
            <a:off x="365760" y="548640"/>
            <a:ext cx="11430000" cy="640080"/>
          </a:xfrm>
          <a:prstGeom prst="rect">
            <a:avLst/>
          </a:prstGeom>
          <a:noFill/>
          <a:ln/>
        </p:spPr>
        <p:txBody>
          <a:bodyPr wrap="square" lIns="0" tIns="0" rIns="0" bIns="0" rtlCol="0" anchor="ctr"/>
          <a:lstStyle/>
          <a:p>
            <a:pPr marL="0" indent="0">
              <a:buNone/>
            </a:pPr>
            <a:r>
              <a:rPr lang="en-US" sz="3000" b="1" dirty="0">
                <a:solidFill>
                  <a:srgbClr val="E6EDF3"/>
                </a:solidFill>
                <a:latin typeface="Consolas" pitchFamily="34" charset="0"/>
                <a:ea typeface="Consolas" pitchFamily="34" charset="-122"/>
                <a:cs typeface="Consolas" pitchFamily="34" charset="-120"/>
              </a:rPr>
              <a:t>Requirements — máy bạn cần gì?</a:t>
            </a:r>
            <a:endParaRPr lang="en-US" sz="3000" dirty="0"/>
          </a:p>
        </p:txBody>
      </p:sp>
      <p:sp>
        <p:nvSpPr>
          <p:cNvPr id="4" name="Text 2"/>
          <p:cNvSpPr/>
          <p:nvPr/>
        </p:nvSpPr>
        <p:spPr>
          <a:xfrm>
            <a:off x="365760" y="1143000"/>
            <a:ext cx="11430000" cy="365760"/>
          </a:xfrm>
          <a:prstGeom prst="rect">
            <a:avLst/>
          </a:prstGeom>
          <a:noFill/>
          <a:ln/>
        </p:spPr>
        <p:txBody>
          <a:bodyPr wrap="square" lIns="0" tIns="0" rIns="0" bIns="0" rtlCol="0" anchor="ctr"/>
          <a:lstStyle/>
          <a:p>
            <a:pPr marL="0" indent="0">
              <a:buNone/>
            </a:pPr>
            <a:r>
              <a:rPr lang="en-US" sz="1400" i="1" dirty="0">
                <a:solidFill>
                  <a:srgbClr val="8B949E"/>
                </a:solidFill>
                <a:latin typeface="Calibri" pitchFamily="34" charset="0"/>
                <a:ea typeface="Calibri" pitchFamily="34" charset="-122"/>
                <a:cs typeface="Calibri" pitchFamily="34" charset="-120"/>
              </a:rPr>
              <a:t>macOS + tmux + 1 trong 2 engine (opencode-go HOẶC Claude Code); Linux OK, Windows cần WSL2</a:t>
            </a:r>
            <a:endParaRPr lang="en-US" sz="1400" dirty="0"/>
          </a:p>
        </p:txBody>
      </p:sp>
      <p:sp>
        <p:nvSpPr>
          <p:cNvPr id="5" name="Shape 3"/>
          <p:cNvSpPr/>
          <p:nvPr/>
        </p:nvSpPr>
        <p:spPr>
          <a:xfrm>
            <a:off x="365760" y="1783080"/>
            <a:ext cx="3657600" cy="1325880"/>
          </a:xfrm>
          <a:prstGeom prst="rect">
            <a:avLst/>
          </a:prstGeom>
          <a:solidFill>
            <a:srgbClr val="161B22"/>
          </a:solidFill>
          <a:ln w="12700">
            <a:solidFill>
              <a:srgbClr val="30363D"/>
            </a:solidFill>
            <a:prstDash val="solid"/>
          </a:ln>
        </p:spPr>
        <p:txBody>
          <a:bodyPr/>
          <a:lstStyle/>
          <a:p>
            <a:endParaRPr/>
          </a:p>
        </p:txBody>
      </p:sp>
      <p:sp>
        <p:nvSpPr>
          <p:cNvPr id="6" name="Shape 4"/>
          <p:cNvSpPr/>
          <p:nvPr/>
        </p:nvSpPr>
        <p:spPr>
          <a:xfrm>
            <a:off x="365760" y="1783080"/>
            <a:ext cx="73152" cy="1325880"/>
          </a:xfrm>
          <a:prstGeom prst="rect">
            <a:avLst/>
          </a:prstGeom>
          <a:solidFill>
            <a:srgbClr val="7CE38B"/>
          </a:solidFill>
          <a:ln w="12700">
            <a:solidFill>
              <a:srgbClr val="7CE38B"/>
            </a:solidFill>
            <a:prstDash val="solid"/>
          </a:ln>
        </p:spPr>
        <p:txBody>
          <a:bodyPr/>
          <a:lstStyle/>
          <a:p>
            <a:endParaRPr/>
          </a:p>
        </p:txBody>
      </p:sp>
      <p:sp>
        <p:nvSpPr>
          <p:cNvPr id="7" name="Text 5"/>
          <p:cNvSpPr/>
          <p:nvPr/>
        </p:nvSpPr>
        <p:spPr>
          <a:xfrm>
            <a:off x="548640" y="1828800"/>
            <a:ext cx="1828800" cy="384048"/>
          </a:xfrm>
          <a:prstGeom prst="rect">
            <a:avLst/>
          </a:prstGeom>
          <a:noFill/>
          <a:ln/>
        </p:spPr>
        <p:txBody>
          <a:bodyPr wrap="square" lIns="0" tIns="0" rIns="0" bIns="0" rtlCol="0" anchor="ctr"/>
          <a:lstStyle/>
          <a:p>
            <a:pPr marL="0" indent="0">
              <a:buNone/>
            </a:pPr>
            <a:r>
              <a:rPr lang="en-US" sz="1600" b="1" dirty="0">
                <a:solidFill>
                  <a:srgbClr val="E6EDF3"/>
                </a:solidFill>
                <a:latin typeface="Consolas" pitchFamily="34" charset="0"/>
                <a:ea typeface="Consolas" pitchFamily="34" charset="-122"/>
                <a:cs typeface="Consolas" pitchFamily="34" charset="-120"/>
              </a:rPr>
              <a:t>macOS</a:t>
            </a:r>
            <a:endParaRPr lang="en-US" sz="1600" dirty="0"/>
          </a:p>
        </p:txBody>
      </p:sp>
      <p:sp>
        <p:nvSpPr>
          <p:cNvPr id="8" name="Shape 6"/>
          <p:cNvSpPr/>
          <p:nvPr/>
        </p:nvSpPr>
        <p:spPr>
          <a:xfrm>
            <a:off x="2560320" y="1865376"/>
            <a:ext cx="1371600" cy="292608"/>
          </a:xfrm>
          <a:prstGeom prst="roundRect">
            <a:avLst>
              <a:gd name="adj" fmla="val 18750"/>
            </a:avLst>
          </a:prstGeom>
          <a:solidFill>
            <a:srgbClr val="7CE38B"/>
          </a:solidFill>
          <a:ln w="12700">
            <a:solidFill>
              <a:srgbClr val="7CE38B"/>
            </a:solidFill>
            <a:prstDash val="solid"/>
          </a:ln>
        </p:spPr>
        <p:txBody>
          <a:bodyPr/>
          <a:lstStyle/>
          <a:p>
            <a:endParaRPr/>
          </a:p>
        </p:txBody>
      </p:sp>
      <p:sp>
        <p:nvSpPr>
          <p:cNvPr id="9" name="Text 7"/>
          <p:cNvSpPr/>
          <p:nvPr/>
        </p:nvSpPr>
        <p:spPr>
          <a:xfrm>
            <a:off x="2560320" y="1865376"/>
            <a:ext cx="1371600" cy="292608"/>
          </a:xfrm>
          <a:prstGeom prst="rect">
            <a:avLst/>
          </a:prstGeom>
          <a:noFill/>
          <a:ln/>
        </p:spPr>
        <p:txBody>
          <a:bodyPr wrap="square" lIns="0" tIns="0" rIns="0" bIns="0" rtlCol="0" anchor="ctr"/>
          <a:lstStyle/>
          <a:p>
            <a:pPr marL="0" indent="0" algn="ctr">
              <a:buNone/>
            </a:pPr>
            <a:r>
              <a:rPr lang="en-US" sz="1100" b="1" dirty="0">
                <a:solidFill>
                  <a:srgbClr val="0D1117"/>
                </a:solidFill>
                <a:latin typeface="Consolas" pitchFamily="34" charset="0"/>
                <a:ea typeface="Consolas" pitchFamily="34" charset="-122"/>
                <a:cs typeface="Consolas" pitchFamily="34" charset="-120"/>
              </a:rPr>
              <a:t>PRIMARY</a:t>
            </a:r>
            <a:endParaRPr lang="en-US" sz="1100" dirty="0"/>
          </a:p>
        </p:txBody>
      </p:sp>
      <p:sp>
        <p:nvSpPr>
          <p:cNvPr id="10" name="Text 8"/>
          <p:cNvSpPr/>
          <p:nvPr/>
        </p:nvSpPr>
        <p:spPr>
          <a:xfrm>
            <a:off x="548640" y="2286000"/>
            <a:ext cx="3383280" cy="777240"/>
          </a:xfrm>
          <a:prstGeom prst="rect">
            <a:avLst/>
          </a:prstGeom>
          <a:noFill/>
          <a:ln/>
        </p:spPr>
        <p:txBody>
          <a:bodyPr wrap="square" lIns="0" tIns="0" rIns="0" bIns="0" rtlCol="0" anchor="t"/>
          <a:lstStyle/>
          <a:p>
            <a:pPr marL="0" indent="0">
              <a:buNone/>
            </a:pPr>
            <a:r>
              <a:rPr lang="en-US" sz="1100" dirty="0">
                <a:solidFill>
                  <a:srgbClr val="8B949E"/>
                </a:solidFill>
                <a:latin typeface="Calibri" pitchFamily="34" charset="0"/>
                <a:ea typeface="Calibri" pitchFamily="34" charset="-122"/>
                <a:cs typeface="Calibri" pitchFamily="34" charset="-120"/>
              </a:rPr>
              <a:t>Đã test kỹ. Cần macOS 12+ (Monterey).</a:t>
            </a:r>
            <a:endParaRPr lang="en-US" sz="1100" dirty="0"/>
          </a:p>
        </p:txBody>
      </p:sp>
      <p:sp>
        <p:nvSpPr>
          <p:cNvPr id="11" name="Shape 9"/>
          <p:cNvSpPr/>
          <p:nvPr/>
        </p:nvSpPr>
        <p:spPr>
          <a:xfrm>
            <a:off x="4297680" y="1783080"/>
            <a:ext cx="3657600" cy="1325880"/>
          </a:xfrm>
          <a:prstGeom prst="rect">
            <a:avLst/>
          </a:prstGeom>
          <a:solidFill>
            <a:srgbClr val="161B22"/>
          </a:solidFill>
          <a:ln w="12700">
            <a:solidFill>
              <a:srgbClr val="30363D"/>
            </a:solidFill>
            <a:prstDash val="solid"/>
          </a:ln>
        </p:spPr>
        <p:txBody>
          <a:bodyPr/>
          <a:lstStyle/>
          <a:p>
            <a:endParaRPr/>
          </a:p>
        </p:txBody>
      </p:sp>
      <p:sp>
        <p:nvSpPr>
          <p:cNvPr id="12" name="Shape 10"/>
          <p:cNvSpPr/>
          <p:nvPr/>
        </p:nvSpPr>
        <p:spPr>
          <a:xfrm>
            <a:off x="4297680" y="1783080"/>
            <a:ext cx="73152" cy="1325880"/>
          </a:xfrm>
          <a:prstGeom prst="rect">
            <a:avLst/>
          </a:prstGeom>
          <a:solidFill>
            <a:srgbClr val="D29922"/>
          </a:solidFill>
          <a:ln w="12700">
            <a:solidFill>
              <a:srgbClr val="D29922"/>
            </a:solidFill>
            <a:prstDash val="solid"/>
          </a:ln>
        </p:spPr>
        <p:txBody>
          <a:bodyPr/>
          <a:lstStyle/>
          <a:p>
            <a:endParaRPr/>
          </a:p>
        </p:txBody>
      </p:sp>
      <p:sp>
        <p:nvSpPr>
          <p:cNvPr id="13" name="Text 11"/>
          <p:cNvSpPr/>
          <p:nvPr/>
        </p:nvSpPr>
        <p:spPr>
          <a:xfrm>
            <a:off x="4480560" y="1828800"/>
            <a:ext cx="1828800" cy="384048"/>
          </a:xfrm>
          <a:prstGeom prst="rect">
            <a:avLst/>
          </a:prstGeom>
          <a:noFill/>
          <a:ln/>
        </p:spPr>
        <p:txBody>
          <a:bodyPr wrap="square" lIns="0" tIns="0" rIns="0" bIns="0" rtlCol="0" anchor="ctr"/>
          <a:lstStyle/>
          <a:p>
            <a:pPr marL="0" indent="0">
              <a:buNone/>
            </a:pPr>
            <a:r>
              <a:rPr lang="en-US" sz="1600" b="1" dirty="0">
                <a:solidFill>
                  <a:srgbClr val="E6EDF3"/>
                </a:solidFill>
                <a:latin typeface="Consolas" pitchFamily="34" charset="0"/>
                <a:ea typeface="Consolas" pitchFamily="34" charset="-122"/>
                <a:cs typeface="Consolas" pitchFamily="34" charset="-120"/>
              </a:rPr>
              <a:t>Linux</a:t>
            </a:r>
            <a:endParaRPr lang="en-US" sz="1600" dirty="0"/>
          </a:p>
        </p:txBody>
      </p:sp>
      <p:sp>
        <p:nvSpPr>
          <p:cNvPr id="14" name="Shape 12"/>
          <p:cNvSpPr/>
          <p:nvPr/>
        </p:nvSpPr>
        <p:spPr>
          <a:xfrm>
            <a:off x="6492240" y="1865376"/>
            <a:ext cx="1371600" cy="292608"/>
          </a:xfrm>
          <a:prstGeom prst="roundRect">
            <a:avLst>
              <a:gd name="adj" fmla="val 18750"/>
            </a:avLst>
          </a:prstGeom>
          <a:solidFill>
            <a:srgbClr val="D29922"/>
          </a:solidFill>
          <a:ln w="12700">
            <a:solidFill>
              <a:srgbClr val="D29922"/>
            </a:solidFill>
            <a:prstDash val="solid"/>
          </a:ln>
        </p:spPr>
        <p:txBody>
          <a:bodyPr/>
          <a:lstStyle/>
          <a:p>
            <a:endParaRPr/>
          </a:p>
        </p:txBody>
      </p:sp>
      <p:sp>
        <p:nvSpPr>
          <p:cNvPr id="15" name="Text 13"/>
          <p:cNvSpPr/>
          <p:nvPr/>
        </p:nvSpPr>
        <p:spPr>
          <a:xfrm>
            <a:off x="6492240" y="1865376"/>
            <a:ext cx="1371600" cy="292608"/>
          </a:xfrm>
          <a:prstGeom prst="rect">
            <a:avLst/>
          </a:prstGeom>
          <a:noFill/>
          <a:ln/>
        </p:spPr>
        <p:txBody>
          <a:bodyPr wrap="square" lIns="0" tIns="0" rIns="0" bIns="0" rtlCol="0" anchor="ctr"/>
          <a:lstStyle/>
          <a:p>
            <a:pPr marL="0" indent="0" algn="ctr">
              <a:buNone/>
            </a:pPr>
            <a:r>
              <a:rPr lang="en-US" sz="1100" b="1" dirty="0">
                <a:solidFill>
                  <a:srgbClr val="0D1117"/>
                </a:solidFill>
                <a:latin typeface="Consolas" pitchFamily="34" charset="0"/>
                <a:ea typeface="Consolas" pitchFamily="34" charset="-122"/>
                <a:cs typeface="Consolas" pitchFamily="34" charset="-120"/>
              </a:rPr>
              <a:t>WORKS</a:t>
            </a:r>
            <a:endParaRPr lang="en-US" sz="1100" dirty="0"/>
          </a:p>
        </p:txBody>
      </p:sp>
      <p:sp>
        <p:nvSpPr>
          <p:cNvPr id="16" name="Text 14"/>
          <p:cNvSpPr/>
          <p:nvPr/>
        </p:nvSpPr>
        <p:spPr>
          <a:xfrm>
            <a:off x="4480560" y="2286000"/>
            <a:ext cx="3383280" cy="777240"/>
          </a:xfrm>
          <a:prstGeom prst="rect">
            <a:avLst/>
          </a:prstGeom>
          <a:noFill/>
          <a:ln/>
        </p:spPr>
        <p:txBody>
          <a:bodyPr wrap="square" lIns="0" tIns="0" rIns="0" bIns="0" rtlCol="0" anchor="t"/>
          <a:lstStyle/>
          <a:p>
            <a:pPr marL="0" indent="0">
              <a:buNone/>
            </a:pPr>
            <a:r>
              <a:rPr lang="en-US" sz="1100" dirty="0">
                <a:solidFill>
                  <a:srgbClr val="8B949E"/>
                </a:solidFill>
                <a:latin typeface="Calibri" pitchFamily="34" charset="0"/>
                <a:ea typeface="Calibri" pitchFamily="34" charset="-122"/>
                <a:cs typeface="Calibri" pitchFamily="34" charset="-120"/>
              </a:rPr>
              <a:t>Cần chỉnh nhẹ stat-cmd (BSD vs GNU). Đã handle trong verify_routing.sh.</a:t>
            </a:r>
            <a:endParaRPr lang="en-US" sz="1100" dirty="0"/>
          </a:p>
        </p:txBody>
      </p:sp>
      <p:sp>
        <p:nvSpPr>
          <p:cNvPr id="17" name="Shape 15"/>
          <p:cNvSpPr/>
          <p:nvPr/>
        </p:nvSpPr>
        <p:spPr>
          <a:xfrm>
            <a:off x="8229600" y="1783080"/>
            <a:ext cx="3657600" cy="1325880"/>
          </a:xfrm>
          <a:prstGeom prst="rect">
            <a:avLst/>
          </a:prstGeom>
          <a:solidFill>
            <a:srgbClr val="161B22"/>
          </a:solidFill>
          <a:ln w="12700">
            <a:solidFill>
              <a:srgbClr val="30363D"/>
            </a:solidFill>
            <a:prstDash val="solid"/>
          </a:ln>
        </p:spPr>
        <p:txBody>
          <a:bodyPr/>
          <a:lstStyle/>
          <a:p>
            <a:endParaRPr/>
          </a:p>
        </p:txBody>
      </p:sp>
      <p:sp>
        <p:nvSpPr>
          <p:cNvPr id="18" name="Shape 16"/>
          <p:cNvSpPr/>
          <p:nvPr/>
        </p:nvSpPr>
        <p:spPr>
          <a:xfrm>
            <a:off x="8229600" y="1783080"/>
            <a:ext cx="73152" cy="1325880"/>
          </a:xfrm>
          <a:prstGeom prst="rect">
            <a:avLst/>
          </a:prstGeom>
          <a:solidFill>
            <a:srgbClr val="79C0FF"/>
          </a:solidFill>
          <a:ln w="12700">
            <a:solidFill>
              <a:srgbClr val="79C0FF"/>
            </a:solidFill>
            <a:prstDash val="solid"/>
          </a:ln>
        </p:spPr>
        <p:txBody>
          <a:bodyPr/>
          <a:lstStyle/>
          <a:p>
            <a:endParaRPr/>
          </a:p>
        </p:txBody>
      </p:sp>
      <p:sp>
        <p:nvSpPr>
          <p:cNvPr id="19" name="Text 17"/>
          <p:cNvSpPr/>
          <p:nvPr/>
        </p:nvSpPr>
        <p:spPr>
          <a:xfrm>
            <a:off x="8412480" y="1828800"/>
            <a:ext cx="1828800" cy="384048"/>
          </a:xfrm>
          <a:prstGeom prst="rect">
            <a:avLst/>
          </a:prstGeom>
          <a:noFill/>
          <a:ln/>
        </p:spPr>
        <p:txBody>
          <a:bodyPr wrap="square" lIns="0" tIns="0" rIns="0" bIns="0" rtlCol="0" anchor="ctr"/>
          <a:lstStyle/>
          <a:p>
            <a:pPr marL="0" indent="0">
              <a:buNone/>
            </a:pPr>
            <a:r>
              <a:rPr lang="en-US" sz="1600" b="1" dirty="0">
                <a:solidFill>
                  <a:srgbClr val="E6EDF3"/>
                </a:solidFill>
                <a:latin typeface="Consolas" pitchFamily="34" charset="0"/>
                <a:ea typeface="Consolas" pitchFamily="34" charset="-122"/>
                <a:cs typeface="Consolas" pitchFamily="34" charset="-120"/>
              </a:rPr>
              <a:t>Windows</a:t>
            </a:r>
            <a:endParaRPr lang="en-US" sz="1600" dirty="0"/>
          </a:p>
        </p:txBody>
      </p:sp>
      <p:sp>
        <p:nvSpPr>
          <p:cNvPr id="20" name="Shape 18"/>
          <p:cNvSpPr/>
          <p:nvPr/>
        </p:nvSpPr>
        <p:spPr>
          <a:xfrm>
            <a:off x="10424160" y="1865376"/>
            <a:ext cx="1371600" cy="292608"/>
          </a:xfrm>
          <a:prstGeom prst="roundRect">
            <a:avLst>
              <a:gd name="adj" fmla="val 18750"/>
            </a:avLst>
          </a:prstGeom>
          <a:solidFill>
            <a:srgbClr val="79C0FF"/>
          </a:solidFill>
          <a:ln w="12700">
            <a:solidFill>
              <a:srgbClr val="79C0FF"/>
            </a:solidFill>
            <a:prstDash val="solid"/>
          </a:ln>
        </p:spPr>
        <p:txBody>
          <a:bodyPr/>
          <a:lstStyle/>
          <a:p>
            <a:endParaRPr/>
          </a:p>
        </p:txBody>
      </p:sp>
      <p:sp>
        <p:nvSpPr>
          <p:cNvPr id="21" name="Text 19"/>
          <p:cNvSpPr/>
          <p:nvPr/>
        </p:nvSpPr>
        <p:spPr>
          <a:xfrm>
            <a:off x="10424160" y="1865376"/>
            <a:ext cx="1371600" cy="292608"/>
          </a:xfrm>
          <a:prstGeom prst="rect">
            <a:avLst/>
          </a:prstGeom>
          <a:noFill/>
          <a:ln/>
        </p:spPr>
        <p:txBody>
          <a:bodyPr wrap="square" lIns="0" tIns="0" rIns="0" bIns="0" rtlCol="0" anchor="ctr"/>
          <a:lstStyle/>
          <a:p>
            <a:pPr marL="0" indent="0" algn="ctr">
              <a:buNone/>
            </a:pPr>
            <a:r>
              <a:rPr lang="en-US" sz="1100" b="1" dirty="0">
                <a:solidFill>
                  <a:srgbClr val="0D1117"/>
                </a:solidFill>
                <a:latin typeface="Consolas" pitchFamily="34" charset="0"/>
                <a:ea typeface="Consolas" pitchFamily="34" charset="-122"/>
                <a:cs typeface="Consolas" pitchFamily="34" charset="-120"/>
              </a:rPr>
              <a:t>WSL2 only</a:t>
            </a:r>
            <a:endParaRPr lang="en-US" sz="1100" dirty="0"/>
          </a:p>
        </p:txBody>
      </p:sp>
      <p:sp>
        <p:nvSpPr>
          <p:cNvPr id="22" name="Text 20"/>
          <p:cNvSpPr/>
          <p:nvPr/>
        </p:nvSpPr>
        <p:spPr>
          <a:xfrm>
            <a:off x="8412480" y="2286000"/>
            <a:ext cx="3383280" cy="777240"/>
          </a:xfrm>
          <a:prstGeom prst="rect">
            <a:avLst/>
          </a:prstGeom>
          <a:noFill/>
          <a:ln/>
        </p:spPr>
        <p:txBody>
          <a:bodyPr wrap="square" lIns="0" tIns="0" rIns="0" bIns="0" rtlCol="0" anchor="t"/>
          <a:lstStyle/>
          <a:p>
            <a:pPr marL="0" indent="0">
              <a:buNone/>
            </a:pPr>
            <a:r>
              <a:rPr lang="en-US" sz="1100" dirty="0">
                <a:solidFill>
                  <a:srgbClr val="8B949E"/>
                </a:solidFill>
                <a:latin typeface="Calibri" pitchFamily="34" charset="0"/>
                <a:ea typeface="Calibri" pitchFamily="34" charset="-122"/>
                <a:cs typeface="Calibri" pitchFamily="34" charset="-120"/>
              </a:rPr>
              <a:t>Pure Windows (Git Bash, MSYS) chưa test. Khuyến nghị WSL2 + Ubuntu 22.</a:t>
            </a:r>
            <a:endParaRPr lang="en-US" sz="1100" dirty="0"/>
          </a:p>
        </p:txBody>
      </p:sp>
      <p:sp>
        <p:nvSpPr>
          <p:cNvPr id="23" name="Shape 21"/>
          <p:cNvSpPr/>
          <p:nvPr/>
        </p:nvSpPr>
        <p:spPr>
          <a:xfrm>
            <a:off x="365760" y="3246120"/>
            <a:ext cx="5669280" cy="2743200"/>
          </a:xfrm>
          <a:prstGeom prst="rect">
            <a:avLst/>
          </a:prstGeom>
          <a:solidFill>
            <a:srgbClr val="161B22"/>
          </a:solidFill>
          <a:ln w="12700">
            <a:solidFill>
              <a:srgbClr val="30363D"/>
            </a:solidFill>
            <a:prstDash val="solid"/>
          </a:ln>
        </p:spPr>
        <p:txBody>
          <a:bodyPr/>
          <a:lstStyle/>
          <a:p>
            <a:endParaRPr/>
          </a:p>
        </p:txBody>
      </p:sp>
      <p:sp>
        <p:nvSpPr>
          <p:cNvPr id="24" name="Shape 22"/>
          <p:cNvSpPr/>
          <p:nvPr/>
        </p:nvSpPr>
        <p:spPr>
          <a:xfrm>
            <a:off x="365760" y="3246120"/>
            <a:ext cx="73152" cy="2743200"/>
          </a:xfrm>
          <a:prstGeom prst="rect">
            <a:avLst/>
          </a:prstGeom>
          <a:solidFill>
            <a:srgbClr val="7CE38B"/>
          </a:solidFill>
          <a:ln w="12700">
            <a:solidFill>
              <a:srgbClr val="7CE38B"/>
            </a:solidFill>
            <a:prstDash val="solid"/>
          </a:ln>
        </p:spPr>
        <p:txBody>
          <a:bodyPr/>
          <a:lstStyle/>
          <a:p>
            <a:endParaRPr/>
          </a:p>
        </p:txBody>
      </p:sp>
      <p:sp>
        <p:nvSpPr>
          <p:cNvPr id="25" name="Text 23"/>
          <p:cNvSpPr/>
          <p:nvPr/>
        </p:nvSpPr>
        <p:spPr>
          <a:xfrm>
            <a:off x="548640" y="3337560"/>
            <a:ext cx="5394960" cy="365760"/>
          </a:xfrm>
          <a:prstGeom prst="rect">
            <a:avLst/>
          </a:prstGeom>
          <a:noFill/>
          <a:ln/>
        </p:spPr>
        <p:txBody>
          <a:bodyPr wrap="square" lIns="0" tIns="0" rIns="0" bIns="0" rtlCol="0" anchor="ctr"/>
          <a:lstStyle/>
          <a:p>
            <a:pPr marL="0" indent="0">
              <a:buNone/>
            </a:pPr>
            <a:r>
              <a:rPr lang="en-US" sz="1400" b="1" dirty="0">
                <a:solidFill>
                  <a:srgbClr val="7CE38B"/>
                </a:solidFill>
                <a:latin typeface="Consolas" pitchFamily="34" charset="0"/>
                <a:ea typeface="Consolas" pitchFamily="34" charset="-122"/>
                <a:cs typeface="Consolas" pitchFamily="34" charset="-120"/>
              </a:rPr>
              <a:t>REQUIRED — bắt buộc</a:t>
            </a:r>
            <a:endParaRPr lang="en-US" sz="1400" dirty="0"/>
          </a:p>
        </p:txBody>
      </p:sp>
      <p:sp>
        <p:nvSpPr>
          <p:cNvPr id="26" name="Text 24"/>
          <p:cNvSpPr/>
          <p:nvPr/>
        </p:nvSpPr>
        <p:spPr>
          <a:xfrm>
            <a:off x="640080" y="3749040"/>
            <a:ext cx="5303520" cy="2560320"/>
          </a:xfrm>
          <a:prstGeom prst="rect">
            <a:avLst/>
          </a:prstGeom>
          <a:noFill/>
          <a:ln/>
        </p:spPr>
        <p:txBody>
          <a:bodyPr wrap="square" lIns="0" tIns="0" rIns="0" bIns="0" rtlCol="0" anchor="ctr"/>
          <a:lstStyle/>
          <a:p>
            <a:pPr marL="0" indent="0">
              <a:spcAft>
                <a:spcPts val="400"/>
              </a:spcAft>
              <a:buNone/>
            </a:pPr>
            <a:r>
              <a:rPr lang="en-US" sz="1100" dirty="0">
                <a:solidFill>
                  <a:srgbClr val="7CE38B"/>
                </a:solidFill>
                <a:latin typeface="Consolas" pitchFamily="34" charset="0"/>
                <a:ea typeface="Consolas" pitchFamily="34" charset="-122"/>
                <a:cs typeface="Consolas" pitchFamily="34" charset="-120"/>
              </a:rPr>
              <a:t>tmux        </a:t>
            </a:r>
            <a:r>
              <a:rPr lang="en-US" sz="1100" dirty="0">
                <a:solidFill>
                  <a:srgbClr val="E6EDF3"/>
                </a:solidFill>
                <a:latin typeface="Calibri" pitchFamily="34" charset="0"/>
                <a:ea typeface="Calibri" pitchFamily="34" charset="-122"/>
                <a:cs typeface="Calibri" pitchFamily="34" charset="-120"/>
              </a:rPr>
              <a:t>≥ 3.0  (pane_current_command, display-message -p)</a:t>
            </a:r>
            <a:endParaRPr lang="en-US" sz="1100" dirty="0"/>
          </a:p>
          <a:p>
            <a:pPr marL="0" indent="0">
              <a:spcAft>
                <a:spcPts val="400"/>
              </a:spcAft>
              <a:buNone/>
            </a:pPr>
            <a:r>
              <a:rPr lang="en-US" sz="1100" dirty="0">
                <a:solidFill>
                  <a:srgbClr val="7CE38B"/>
                </a:solidFill>
                <a:latin typeface="Consolas" pitchFamily="34" charset="0"/>
                <a:ea typeface="Consolas" pitchFamily="34" charset="-122"/>
                <a:cs typeface="Consolas" pitchFamily="34" charset="-120"/>
              </a:rPr>
              <a:t>bash        </a:t>
            </a:r>
            <a:r>
              <a:rPr lang="en-US" sz="1100" dirty="0">
                <a:solidFill>
                  <a:srgbClr val="E6EDF3"/>
                </a:solidFill>
                <a:latin typeface="Calibri" pitchFamily="34" charset="0"/>
                <a:ea typeface="Calibri" pitchFamily="34" charset="-122"/>
                <a:cs typeface="Calibri" pitchFamily="34" charset="-120"/>
              </a:rPr>
              <a:t>≥ 3.2  (macOS default OK)</a:t>
            </a:r>
            <a:endParaRPr lang="en-US" sz="1100" dirty="0"/>
          </a:p>
          <a:p>
            <a:pPr marL="0" indent="0">
              <a:spcAft>
                <a:spcPts val="400"/>
              </a:spcAft>
              <a:buNone/>
            </a:pPr>
            <a:r>
              <a:rPr lang="en-US" sz="1100" dirty="0">
                <a:solidFill>
                  <a:srgbClr val="7CE38B"/>
                </a:solidFill>
                <a:latin typeface="Consolas" pitchFamily="34" charset="0"/>
                <a:ea typeface="Consolas" pitchFamily="34" charset="-122"/>
                <a:cs typeface="Consolas" pitchFamily="34" charset="-120"/>
              </a:rPr>
              <a:t>git         </a:t>
            </a:r>
            <a:r>
              <a:rPr lang="en-US" sz="1100" dirty="0">
                <a:solidFill>
                  <a:srgbClr val="E6EDF3"/>
                </a:solidFill>
                <a:latin typeface="Calibri" pitchFamily="34" charset="0"/>
                <a:ea typeface="Calibri" pitchFamily="34" charset="-122"/>
                <a:cs typeface="Calibri" pitchFamily="34" charset="-120"/>
              </a:rPr>
              <a:t>clone repo + lưu memory/ vào VCS</a:t>
            </a:r>
            <a:endParaRPr lang="en-US" sz="1100" dirty="0"/>
          </a:p>
          <a:p>
            <a:pPr marL="0" indent="0">
              <a:spcAft>
                <a:spcPts val="400"/>
              </a:spcAft>
              <a:buNone/>
            </a:pPr>
            <a:r>
              <a:rPr lang="en-US" sz="1100" dirty="0">
                <a:solidFill>
                  <a:srgbClr val="7CE38B"/>
                </a:solidFill>
                <a:latin typeface="Consolas" pitchFamily="34" charset="0"/>
                <a:ea typeface="Consolas" pitchFamily="34" charset="-122"/>
                <a:cs typeface="Consolas" pitchFamily="34" charset="-120"/>
              </a:rPr>
              <a:t>engine      </a:t>
            </a:r>
            <a:r>
              <a:rPr lang="en-US" sz="1100" dirty="0">
                <a:solidFill>
                  <a:srgbClr val="E6EDF3"/>
                </a:solidFill>
                <a:latin typeface="Calibri" pitchFamily="34" charset="0"/>
                <a:ea typeface="Calibri" pitchFamily="34" charset="-122"/>
                <a:cs typeface="Calibri" pitchFamily="34" charset="-120"/>
              </a:rPr>
              <a:t>opencode-go HOẶC claude (chọn 1, default: opencode)</a:t>
            </a:r>
            <a:endParaRPr lang="en-US" sz="1100" dirty="0"/>
          </a:p>
          <a:p>
            <a:pPr marL="0" indent="0">
              <a:spcAft>
                <a:spcPts val="400"/>
              </a:spcAft>
              <a:buNone/>
            </a:pPr>
            <a:r>
              <a:rPr lang="en-US" sz="1100" dirty="0">
                <a:solidFill>
                  <a:srgbClr val="7CE38B"/>
                </a:solidFill>
                <a:latin typeface="Consolas" pitchFamily="34" charset="0"/>
                <a:ea typeface="Consolas" pitchFamily="34" charset="-122"/>
                <a:cs typeface="Consolas" pitchFamily="34" charset="-120"/>
              </a:rPr>
              <a:t>Internet    </a:t>
            </a:r>
            <a:r>
              <a:rPr lang="en-US" sz="1100" dirty="0">
                <a:solidFill>
                  <a:srgbClr val="E6EDF3"/>
                </a:solidFill>
                <a:latin typeface="Calibri" pitchFamily="34" charset="0"/>
                <a:ea typeface="Calibri" pitchFamily="34" charset="-122"/>
                <a:cs typeface="Calibri" pitchFamily="34" charset="-120"/>
              </a:rPr>
              <a:t>engine gọi model API qua mạng</a:t>
            </a:r>
            <a:endParaRPr lang="en-US" sz="1100" dirty="0"/>
          </a:p>
          <a:p>
            <a:pPr marL="0" indent="0">
              <a:spcAft>
                <a:spcPts val="400"/>
              </a:spcAft>
              <a:buNone/>
            </a:pPr>
            <a:r>
              <a:rPr lang="en-US" sz="1100" dirty="0">
                <a:solidFill>
                  <a:srgbClr val="7CE38B"/>
                </a:solidFill>
                <a:latin typeface="Consolas" pitchFamily="34" charset="0"/>
                <a:ea typeface="Consolas" pitchFamily="34" charset="-122"/>
                <a:cs typeface="Consolas" pitchFamily="34" charset="-120"/>
              </a:rPr>
              <a:t>Models      </a:t>
            </a:r>
            <a:r>
              <a:rPr lang="en-US" sz="1100" dirty="0">
                <a:solidFill>
                  <a:srgbClr val="E6EDF3"/>
                </a:solidFill>
                <a:latin typeface="Calibri" pitchFamily="34" charset="0"/>
                <a:ea typeface="Calibri" pitchFamily="34" charset="-122"/>
                <a:cs typeface="Calibri" pitchFamily="34" charset="-120"/>
              </a:rPr>
              <a:t>9 model trong config/agent_models.env phải accessible</a:t>
            </a:r>
            <a:endParaRPr lang="en-US" sz="1100" dirty="0"/>
          </a:p>
        </p:txBody>
      </p:sp>
      <p:sp>
        <p:nvSpPr>
          <p:cNvPr id="27" name="Shape 25"/>
          <p:cNvSpPr/>
          <p:nvPr/>
        </p:nvSpPr>
        <p:spPr>
          <a:xfrm>
            <a:off x="6217920" y="3246120"/>
            <a:ext cx="5577840" cy="2743200"/>
          </a:xfrm>
          <a:prstGeom prst="rect">
            <a:avLst/>
          </a:prstGeom>
          <a:solidFill>
            <a:srgbClr val="161B22"/>
          </a:solidFill>
          <a:ln w="12700">
            <a:solidFill>
              <a:srgbClr val="30363D"/>
            </a:solidFill>
            <a:prstDash val="solid"/>
          </a:ln>
        </p:spPr>
        <p:txBody>
          <a:bodyPr/>
          <a:lstStyle/>
          <a:p>
            <a:endParaRPr/>
          </a:p>
        </p:txBody>
      </p:sp>
      <p:sp>
        <p:nvSpPr>
          <p:cNvPr id="28" name="Shape 26"/>
          <p:cNvSpPr/>
          <p:nvPr/>
        </p:nvSpPr>
        <p:spPr>
          <a:xfrm>
            <a:off x="6217920" y="3246120"/>
            <a:ext cx="73152" cy="2743200"/>
          </a:xfrm>
          <a:prstGeom prst="rect">
            <a:avLst/>
          </a:prstGeom>
          <a:solidFill>
            <a:srgbClr val="D29922"/>
          </a:solidFill>
          <a:ln w="12700">
            <a:solidFill>
              <a:srgbClr val="D29922"/>
            </a:solidFill>
            <a:prstDash val="solid"/>
          </a:ln>
        </p:spPr>
        <p:txBody>
          <a:bodyPr/>
          <a:lstStyle/>
          <a:p>
            <a:endParaRPr/>
          </a:p>
        </p:txBody>
      </p:sp>
      <p:sp>
        <p:nvSpPr>
          <p:cNvPr id="29" name="Text 27"/>
          <p:cNvSpPr/>
          <p:nvPr/>
        </p:nvSpPr>
        <p:spPr>
          <a:xfrm>
            <a:off x="6400800" y="3337560"/>
            <a:ext cx="5394960" cy="365760"/>
          </a:xfrm>
          <a:prstGeom prst="rect">
            <a:avLst/>
          </a:prstGeom>
          <a:noFill/>
          <a:ln/>
        </p:spPr>
        <p:txBody>
          <a:bodyPr wrap="square" lIns="0" tIns="0" rIns="0" bIns="0" rtlCol="0" anchor="ctr"/>
          <a:lstStyle/>
          <a:p>
            <a:pPr marL="0" indent="0">
              <a:buNone/>
            </a:pPr>
            <a:r>
              <a:rPr lang="en-US" sz="1400" b="1" dirty="0">
                <a:solidFill>
                  <a:srgbClr val="D29922"/>
                </a:solidFill>
                <a:latin typeface="Consolas" pitchFamily="34" charset="0"/>
                <a:ea typeface="Consolas" pitchFamily="34" charset="-122"/>
                <a:cs typeface="Consolas" pitchFamily="34" charset="-120"/>
              </a:rPr>
              <a:t>OPTIONAL — theo phase / stack</a:t>
            </a:r>
            <a:endParaRPr lang="en-US" sz="1400" dirty="0"/>
          </a:p>
        </p:txBody>
      </p:sp>
      <p:sp>
        <p:nvSpPr>
          <p:cNvPr id="30" name="Text 28"/>
          <p:cNvSpPr/>
          <p:nvPr/>
        </p:nvSpPr>
        <p:spPr>
          <a:xfrm>
            <a:off x="6492240" y="3749040"/>
            <a:ext cx="5212080" cy="2560320"/>
          </a:xfrm>
          <a:prstGeom prst="rect">
            <a:avLst/>
          </a:prstGeom>
          <a:noFill/>
          <a:ln/>
        </p:spPr>
        <p:txBody>
          <a:bodyPr wrap="square" lIns="0" tIns="0" rIns="0" bIns="0" rtlCol="0" anchor="ctr"/>
          <a:lstStyle/>
          <a:p>
            <a:pPr marL="0" indent="0">
              <a:spcAft>
                <a:spcPts val="400"/>
              </a:spcAft>
              <a:buNone/>
            </a:pPr>
            <a:r>
              <a:rPr lang="en-US" sz="1100" dirty="0">
                <a:solidFill>
                  <a:srgbClr val="D29922"/>
                </a:solidFill>
                <a:latin typeface="Consolas" pitchFamily="34" charset="0"/>
                <a:ea typeface="Consolas" pitchFamily="34" charset="-122"/>
                <a:cs typeface="Consolas" pitchFamily="34" charset="-120"/>
              </a:rPr>
              <a:t>Docker      </a:t>
            </a:r>
            <a:r>
              <a:rPr lang="en-US" sz="1100" dirty="0">
                <a:solidFill>
                  <a:srgbClr val="E6EDF3"/>
                </a:solidFill>
                <a:latin typeface="Calibri" pitchFamily="34" charset="0"/>
                <a:ea typeface="Calibri" pitchFamily="34" charset="-122"/>
                <a:cs typeface="Calibri" pitchFamily="34" charset="-120"/>
              </a:rPr>
              <a:t>Phase 6 DELIVERY: docker compose up</a:t>
            </a:r>
            <a:endParaRPr lang="en-US" sz="1100" dirty="0"/>
          </a:p>
          <a:p>
            <a:pPr marL="0" indent="0">
              <a:spcAft>
                <a:spcPts val="400"/>
              </a:spcAft>
              <a:buNone/>
            </a:pPr>
            <a:r>
              <a:rPr lang="en-US" sz="1100" dirty="0">
                <a:solidFill>
                  <a:srgbClr val="D29922"/>
                </a:solidFill>
                <a:latin typeface="Consolas" pitchFamily="34" charset="0"/>
                <a:ea typeface="Consolas" pitchFamily="34" charset="-122"/>
                <a:cs typeface="Consolas" pitchFamily="34" charset="-120"/>
              </a:rPr>
              <a:t>Python ≥3.12</a:t>
            </a:r>
            <a:r>
              <a:rPr lang="en-US" sz="1100" dirty="0">
                <a:solidFill>
                  <a:srgbClr val="E6EDF3"/>
                </a:solidFill>
                <a:latin typeface="Calibri" pitchFamily="34" charset="0"/>
                <a:ea typeface="Calibri" pitchFamily="34" charset="-122"/>
                <a:cs typeface="Calibri" pitchFamily="34" charset="-120"/>
              </a:rPr>
              <a:t>  Nếu SA chọn FastAPI/Django stack + pytest</a:t>
            </a:r>
            <a:endParaRPr lang="en-US" sz="1100" dirty="0"/>
          </a:p>
          <a:p>
            <a:pPr marL="0" indent="0">
              <a:spcAft>
                <a:spcPts val="400"/>
              </a:spcAft>
              <a:buNone/>
            </a:pPr>
            <a:r>
              <a:rPr lang="en-US" sz="1100" dirty="0">
                <a:solidFill>
                  <a:srgbClr val="D29922"/>
                </a:solidFill>
                <a:latin typeface="Consolas" pitchFamily="34" charset="0"/>
                <a:ea typeface="Consolas" pitchFamily="34" charset="-122"/>
                <a:cs typeface="Consolas" pitchFamily="34" charset="-120"/>
              </a:rPr>
              <a:t>Node ≥ 20   </a:t>
            </a:r>
            <a:r>
              <a:rPr lang="en-US" sz="1100" dirty="0">
                <a:solidFill>
                  <a:srgbClr val="E6EDF3"/>
                </a:solidFill>
                <a:latin typeface="Calibri" pitchFamily="34" charset="0"/>
                <a:ea typeface="Calibri" pitchFamily="34" charset="-122"/>
                <a:cs typeface="Calibri" pitchFamily="34" charset="-120"/>
              </a:rPr>
              <a:t>Nếu SA chọn Next/Vite/TS stack + vitest</a:t>
            </a:r>
            <a:endParaRPr lang="en-US" sz="1100" dirty="0"/>
          </a:p>
          <a:p>
            <a:pPr marL="0" indent="0">
              <a:spcAft>
                <a:spcPts val="400"/>
              </a:spcAft>
              <a:buNone/>
            </a:pPr>
            <a:r>
              <a:rPr lang="en-US" sz="1100" dirty="0">
                <a:solidFill>
                  <a:srgbClr val="D29922"/>
                </a:solidFill>
                <a:latin typeface="Consolas" pitchFamily="34" charset="0"/>
                <a:ea typeface="Consolas" pitchFamily="34" charset="-122"/>
                <a:cs typeface="Consolas" pitchFamily="34" charset="-120"/>
              </a:rPr>
              <a:t>curl, jq    </a:t>
            </a:r>
            <a:r>
              <a:rPr lang="en-US" sz="1100" dirty="0">
                <a:solidFill>
                  <a:srgbClr val="E6EDF3"/>
                </a:solidFill>
                <a:latin typeface="Calibri" pitchFamily="34" charset="0"/>
                <a:ea typeface="Calibri" pitchFamily="34" charset="-122"/>
                <a:cs typeface="Calibri" pitchFamily="34" charset="-120"/>
              </a:rPr>
              <a:t>DELIVERY probe health endpoint, parse JSON config</a:t>
            </a:r>
            <a:endParaRPr lang="en-US" sz="1100" dirty="0"/>
          </a:p>
          <a:p>
            <a:pPr marL="0" indent="0">
              <a:spcAft>
                <a:spcPts val="400"/>
              </a:spcAft>
              <a:buNone/>
            </a:pPr>
            <a:r>
              <a:rPr lang="en-US" sz="1100" dirty="0">
                <a:solidFill>
                  <a:srgbClr val="D29922"/>
                </a:solidFill>
                <a:latin typeface="Consolas" pitchFamily="34" charset="0"/>
                <a:ea typeface="Consolas" pitchFamily="34" charset="-122"/>
                <a:cs typeface="Consolas" pitchFamily="34" charset="-120"/>
              </a:rPr>
              <a:t>ffmpeg/sox  </a:t>
            </a:r>
            <a:r>
              <a:rPr lang="en-US" sz="1100" dirty="0">
                <a:solidFill>
                  <a:srgbClr val="E6EDF3"/>
                </a:solidFill>
                <a:latin typeface="Calibri" pitchFamily="34" charset="0"/>
                <a:ea typeface="Calibri" pitchFamily="34" charset="-122"/>
                <a:cs typeface="Calibri" pitchFamily="34" charset="-120"/>
              </a:rPr>
              <a:t>Nếu QA cần media processing trong test</a:t>
            </a:r>
            <a:endParaRPr lang="en-US" sz="1100" dirty="0"/>
          </a:p>
          <a:p>
            <a:pPr marL="0" indent="0">
              <a:spcAft>
                <a:spcPts val="400"/>
              </a:spcAft>
              <a:buNone/>
            </a:pPr>
            <a:r>
              <a:rPr lang="en-US" sz="1100" dirty="0">
                <a:solidFill>
                  <a:srgbClr val="D29922"/>
                </a:solidFill>
                <a:latin typeface="Consolas" pitchFamily="34" charset="0"/>
                <a:ea typeface="Consolas" pitchFamily="34" charset="-122"/>
                <a:cs typeface="Consolas" pitchFamily="34" charset="-120"/>
              </a:rPr>
              <a:t>Node ≥ 18   </a:t>
            </a:r>
            <a:r>
              <a:rPr lang="en-US" sz="1100" dirty="0">
                <a:solidFill>
                  <a:srgbClr val="E6EDF3"/>
                </a:solidFill>
                <a:latin typeface="Calibri" pitchFamily="34" charset="0"/>
                <a:ea typeface="Calibri" pitchFamily="34" charset="-122"/>
                <a:cs typeface="Calibri" pitchFamily="34" charset="-120"/>
              </a:rPr>
              <a:t>Chỉ cần nếu bạn muốn rebuild slide deck này</a:t>
            </a:r>
            <a:endParaRPr lang="en-US" sz="1100" dirty="0"/>
          </a:p>
        </p:txBody>
      </p:sp>
      <p:sp>
        <p:nvSpPr>
          <p:cNvPr id="31" name="Text 29"/>
          <p:cNvSpPr/>
          <p:nvPr/>
        </p:nvSpPr>
        <p:spPr>
          <a:xfrm>
            <a:off x="365760" y="6126480"/>
            <a:ext cx="11430000" cy="274320"/>
          </a:xfrm>
          <a:prstGeom prst="rect">
            <a:avLst/>
          </a:prstGeom>
          <a:noFill/>
          <a:ln/>
        </p:spPr>
        <p:txBody>
          <a:bodyPr wrap="square" lIns="0" tIns="0" rIns="0" bIns="0" rtlCol="0" anchor="ctr"/>
          <a:lstStyle/>
          <a:p>
            <a:pPr marL="0" indent="0" algn="ctr">
              <a:buNone/>
            </a:pPr>
            <a:r>
              <a:rPr lang="en-US" sz="1100" i="1" dirty="0">
                <a:solidFill>
                  <a:srgbClr val="79C0FF"/>
                </a:solidFill>
                <a:latin typeface="Consolas" pitchFamily="34" charset="0"/>
                <a:ea typeface="Consolas" pitchFamily="34" charset="-122"/>
                <a:cs typeface="Consolas" pitchFamily="34" charset="-120"/>
              </a:rPr>
              <a:t>Verify nhanh: $ tmux -V &amp;&amp; (opencode --version || claude --version) &amp;&amp; git --version &amp;&amp; bash --version</a:t>
            </a:r>
            <a:endParaRPr lang="en-US" sz="1100" dirty="0"/>
          </a:p>
        </p:txBody>
      </p:sp>
      <p:sp>
        <p:nvSpPr>
          <p:cNvPr id="32" name="Text 30"/>
          <p:cNvSpPr/>
          <p:nvPr/>
        </p:nvSpPr>
        <p:spPr>
          <a:xfrm>
            <a:off x="11338560" y="6492240"/>
            <a:ext cx="731520" cy="228600"/>
          </a:xfrm>
          <a:prstGeom prst="rect">
            <a:avLst/>
          </a:prstGeom>
          <a:noFill/>
          <a:ln/>
        </p:spPr>
        <p:txBody>
          <a:bodyPr wrap="square" lIns="0" tIns="0" rIns="0" bIns="0" rtlCol="0" anchor="ctr"/>
          <a:lstStyle/>
          <a:p>
            <a:pPr marL="0" indent="0" algn="r">
              <a:buNone/>
            </a:pPr>
            <a:r>
              <a:rPr lang="en-US" sz="900" dirty="0">
                <a:solidFill>
                  <a:srgbClr val="8B949E"/>
                </a:solidFill>
                <a:latin typeface="Consolas" pitchFamily="34" charset="0"/>
                <a:ea typeface="Consolas" pitchFamily="34" charset="-122"/>
                <a:cs typeface="Consolas" pitchFamily="34" charset="-120"/>
              </a:rPr>
              <a:t>21 / 40</a:t>
            </a:r>
            <a:endParaRPr lang="en-US" sz="900" dirty="0"/>
          </a:p>
        </p:txBody>
      </p:sp>
      <p:sp>
        <p:nvSpPr>
          <p:cNvPr id="33" name="Text 31"/>
          <p:cNvSpPr/>
          <p:nvPr/>
        </p:nvSpPr>
        <p:spPr>
          <a:xfrm>
            <a:off x="365760" y="6492240"/>
            <a:ext cx="1097280" cy="228600"/>
          </a:xfrm>
          <a:prstGeom prst="rect">
            <a:avLst/>
          </a:prstGeom>
          <a:noFill/>
          <a:ln/>
        </p:spPr>
        <p:txBody>
          <a:bodyPr wrap="square" lIns="0" tIns="0" rIns="0" bIns="0" rtlCol="0" anchor="ctr"/>
          <a:lstStyle/>
          <a:p>
            <a:pPr marL="0" indent="0" algn="l">
              <a:buNone/>
            </a:pPr>
            <a:r>
              <a:rPr lang="en-US" sz="900" dirty="0">
                <a:solidFill>
                  <a:srgbClr val="8B949E"/>
                </a:solidFill>
                <a:latin typeface="Consolas" pitchFamily="34" charset="0"/>
                <a:ea typeface="Consolas" pitchFamily="34" charset="-122"/>
                <a:cs typeface="Consolas" pitchFamily="34" charset="-120"/>
              </a:rPr>
              <a:t>v10.23</a:t>
            </a:r>
            <a:endParaRPr lang="en-US" sz="900" dirty="0"/>
          </a:p>
        </p:txBody>
      </p:sp>
      <p:sp>
        <p:nvSpPr>
          <p:cNvPr id="34" name="Text 32"/>
          <p:cNvSpPr/>
          <p:nvPr/>
        </p:nvSpPr>
        <p:spPr>
          <a:xfrm>
            <a:off x="4572000" y="6492240"/>
            <a:ext cx="6400800" cy="228600"/>
          </a:xfrm>
          <a:prstGeom prst="rect">
            <a:avLst/>
          </a:prstGeom>
          <a:noFill/>
          <a:ln/>
        </p:spPr>
        <p:txBody>
          <a:bodyPr wrap="square" lIns="0" tIns="0" rIns="0" bIns="0" rtlCol="0" anchor="ctr"/>
          <a:lstStyle/>
          <a:p>
            <a:pPr marL="0" indent="0" algn="ctr">
              <a:buNone/>
            </a:pPr>
            <a:r>
              <a:rPr lang="en-US" sz="900" dirty="0">
                <a:solidFill>
                  <a:srgbClr val="8B949E"/>
                </a:solidFill>
                <a:latin typeface="Consolas" pitchFamily="34" charset="0"/>
                <a:ea typeface="Consolas" pitchFamily="34" charset="-122"/>
                <a:cs typeface="Consolas" pitchFamily="34" charset="-120"/>
              </a:rPr>
              <a:t>Product Engineering Agent Framework</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365760" y="228600"/>
            <a:ext cx="8229600" cy="274320"/>
          </a:xfrm>
          <a:prstGeom prst="rect">
            <a:avLst/>
          </a:prstGeom>
          <a:noFill/>
          <a:ln/>
        </p:spPr>
        <p:txBody>
          <a:bodyPr wrap="square" lIns="0" tIns="0" rIns="0" bIns="0" rtlCol="0" anchor="ctr"/>
          <a:lstStyle/>
          <a:p>
            <a:pPr marL="0" indent="0">
              <a:buNone/>
            </a:pPr>
            <a:r>
              <a:rPr lang="en-US" sz="1100" dirty="0">
                <a:solidFill>
                  <a:srgbClr val="2EA043"/>
                </a:solidFill>
                <a:latin typeface="Consolas" pitchFamily="34" charset="0"/>
                <a:ea typeface="Consolas" pitchFamily="34" charset="-122"/>
                <a:cs typeface="Consolas" pitchFamily="34" charset="-120"/>
              </a:rPr>
              <a:t>$ </a:t>
            </a:r>
            <a:r>
              <a:rPr lang="en-US" sz="1100" dirty="0">
                <a:solidFill>
                  <a:srgbClr val="8B949E"/>
                </a:solidFill>
                <a:latin typeface="Consolas" pitchFamily="34" charset="0"/>
                <a:ea typeface="Consolas" pitchFamily="34" charset="-122"/>
                <a:cs typeface="Consolas" pitchFamily="34" charset="-120"/>
              </a:rPr>
              <a:t>19_engine_choice.md</a:t>
            </a:r>
            <a:endParaRPr lang="en-US" sz="1100" dirty="0"/>
          </a:p>
        </p:txBody>
      </p:sp>
      <p:sp>
        <p:nvSpPr>
          <p:cNvPr id="3" name="Text 1"/>
          <p:cNvSpPr/>
          <p:nvPr/>
        </p:nvSpPr>
        <p:spPr>
          <a:xfrm>
            <a:off x="365760" y="548640"/>
            <a:ext cx="11430000" cy="640080"/>
          </a:xfrm>
          <a:prstGeom prst="rect">
            <a:avLst/>
          </a:prstGeom>
          <a:noFill/>
          <a:ln/>
        </p:spPr>
        <p:txBody>
          <a:bodyPr wrap="square" lIns="0" tIns="0" rIns="0" bIns="0" rtlCol="0" anchor="ctr"/>
          <a:lstStyle/>
          <a:p>
            <a:pPr marL="0" indent="0">
              <a:buNone/>
            </a:pPr>
            <a:r>
              <a:rPr lang="en-US" sz="3000" b="1" dirty="0">
                <a:solidFill>
                  <a:srgbClr val="E6EDF3"/>
                </a:solidFill>
                <a:latin typeface="Consolas" pitchFamily="34" charset="0"/>
                <a:ea typeface="Consolas" pitchFamily="34" charset="-122"/>
                <a:cs typeface="Consolas" pitchFamily="34" charset="-120"/>
              </a:rPr>
              <a:t>Engine choice (v10.12)</a:t>
            </a:r>
            <a:endParaRPr lang="en-US" sz="3000" dirty="0"/>
          </a:p>
        </p:txBody>
      </p:sp>
      <p:sp>
        <p:nvSpPr>
          <p:cNvPr id="4" name="Text 2"/>
          <p:cNvSpPr/>
          <p:nvPr/>
        </p:nvSpPr>
        <p:spPr>
          <a:xfrm>
            <a:off x="365760" y="1143000"/>
            <a:ext cx="11430000" cy="365760"/>
          </a:xfrm>
          <a:prstGeom prst="rect">
            <a:avLst/>
          </a:prstGeom>
          <a:noFill/>
          <a:ln/>
        </p:spPr>
        <p:txBody>
          <a:bodyPr wrap="square" lIns="0" tIns="0" rIns="0" bIns="0" rtlCol="0" anchor="ctr"/>
          <a:lstStyle/>
          <a:p>
            <a:pPr marL="0" indent="0">
              <a:buNone/>
            </a:pPr>
            <a:r>
              <a:rPr lang="en-US" sz="1400" i="1" dirty="0">
                <a:solidFill>
                  <a:srgbClr val="8B949E"/>
                </a:solidFill>
                <a:latin typeface="Calibri" pitchFamily="34" charset="0"/>
                <a:ea typeface="Calibri" pitchFamily="34" charset="-122"/>
                <a:cs typeface="Calibri" pitchFamily="34" charset="-120"/>
              </a:rPr>
              <a:t>Chọn CLI engine khi start session: --engine opencode (default) hoặc --engine claude</a:t>
            </a:r>
            <a:endParaRPr lang="en-US" sz="1400" dirty="0"/>
          </a:p>
        </p:txBody>
      </p:sp>
      <p:sp>
        <p:nvSpPr>
          <p:cNvPr id="5" name="Shape 3"/>
          <p:cNvSpPr/>
          <p:nvPr/>
        </p:nvSpPr>
        <p:spPr>
          <a:xfrm>
            <a:off x="365760" y="1783080"/>
            <a:ext cx="5532120" cy="4572000"/>
          </a:xfrm>
          <a:prstGeom prst="rect">
            <a:avLst/>
          </a:prstGeom>
          <a:solidFill>
            <a:srgbClr val="161B22"/>
          </a:solidFill>
          <a:ln w="12700">
            <a:solidFill>
              <a:srgbClr val="30363D"/>
            </a:solidFill>
            <a:prstDash val="solid"/>
          </a:ln>
        </p:spPr>
        <p:txBody>
          <a:bodyPr/>
          <a:lstStyle/>
          <a:p>
            <a:endParaRPr/>
          </a:p>
        </p:txBody>
      </p:sp>
      <p:sp>
        <p:nvSpPr>
          <p:cNvPr id="6" name="Shape 4"/>
          <p:cNvSpPr/>
          <p:nvPr/>
        </p:nvSpPr>
        <p:spPr>
          <a:xfrm>
            <a:off x="365760" y="1783080"/>
            <a:ext cx="73152" cy="4572000"/>
          </a:xfrm>
          <a:prstGeom prst="rect">
            <a:avLst/>
          </a:prstGeom>
          <a:solidFill>
            <a:srgbClr val="7CE38B"/>
          </a:solidFill>
          <a:ln w="12700">
            <a:solidFill>
              <a:srgbClr val="7CE38B"/>
            </a:solidFill>
            <a:prstDash val="solid"/>
          </a:ln>
        </p:spPr>
        <p:txBody>
          <a:bodyPr/>
          <a:lstStyle/>
          <a:p>
            <a:endParaRPr/>
          </a:p>
        </p:txBody>
      </p:sp>
      <p:sp>
        <p:nvSpPr>
          <p:cNvPr id="7" name="Text 5"/>
          <p:cNvSpPr/>
          <p:nvPr/>
        </p:nvSpPr>
        <p:spPr>
          <a:xfrm>
            <a:off x="548640" y="1874520"/>
            <a:ext cx="5212080" cy="365760"/>
          </a:xfrm>
          <a:prstGeom prst="rect">
            <a:avLst/>
          </a:prstGeom>
          <a:noFill/>
          <a:ln/>
        </p:spPr>
        <p:txBody>
          <a:bodyPr wrap="square" lIns="0" tIns="0" rIns="0" bIns="0" rtlCol="0" anchor="ctr"/>
          <a:lstStyle/>
          <a:p>
            <a:pPr marL="0" indent="0">
              <a:buNone/>
            </a:pPr>
            <a:r>
              <a:rPr lang="en-US" sz="1600" b="1" dirty="0">
                <a:solidFill>
                  <a:srgbClr val="7CE38B"/>
                </a:solidFill>
                <a:latin typeface="Consolas" pitchFamily="34" charset="0"/>
                <a:ea typeface="Consolas" pitchFamily="34" charset="-122"/>
                <a:cs typeface="Consolas" pitchFamily="34" charset="-120"/>
              </a:rPr>
              <a:t>OpenCode (default)</a:t>
            </a:r>
            <a:endParaRPr lang="en-US" sz="1600" dirty="0"/>
          </a:p>
        </p:txBody>
      </p:sp>
      <p:sp>
        <p:nvSpPr>
          <p:cNvPr id="8" name="Text 6"/>
          <p:cNvSpPr/>
          <p:nvPr/>
        </p:nvSpPr>
        <p:spPr>
          <a:xfrm>
            <a:off x="548640" y="2240280"/>
            <a:ext cx="5212080" cy="274320"/>
          </a:xfrm>
          <a:prstGeom prst="rect">
            <a:avLst/>
          </a:prstGeom>
          <a:noFill/>
          <a:ln/>
        </p:spPr>
        <p:txBody>
          <a:bodyPr wrap="square" lIns="0" tIns="0" rIns="0" bIns="0" rtlCol="0" anchor="ctr"/>
          <a:lstStyle/>
          <a:p>
            <a:pPr marL="0" indent="0">
              <a:buNone/>
            </a:pPr>
            <a:r>
              <a:rPr lang="en-US" sz="1000" i="1" dirty="0">
                <a:solidFill>
                  <a:srgbClr val="8B949E"/>
                </a:solidFill>
                <a:latin typeface="Calibri" pitchFamily="34" charset="0"/>
                <a:ea typeface="Calibri" pitchFamily="34" charset="-122"/>
                <a:cs typeface="Calibri" pitchFamily="34" charset="-120"/>
              </a:rPr>
              <a:t>for: newbie / experimental</a:t>
            </a:r>
            <a:endParaRPr lang="en-US" sz="1000" dirty="0"/>
          </a:p>
        </p:txBody>
      </p:sp>
      <p:sp>
        <p:nvSpPr>
          <p:cNvPr id="9" name="Text 7"/>
          <p:cNvSpPr/>
          <p:nvPr/>
        </p:nvSpPr>
        <p:spPr>
          <a:xfrm>
            <a:off x="548640" y="2560320"/>
            <a:ext cx="5212080" cy="365760"/>
          </a:xfrm>
          <a:prstGeom prst="rect">
            <a:avLst/>
          </a:prstGeom>
          <a:noFill/>
          <a:ln/>
        </p:spPr>
        <p:txBody>
          <a:bodyPr wrap="square" lIns="0" tIns="0" rIns="0" bIns="0" rtlCol="0" anchor="ctr"/>
          <a:lstStyle/>
          <a:p>
            <a:pPr marL="0" indent="0">
              <a:buNone/>
            </a:pPr>
            <a:r>
              <a:rPr lang="en-US" sz="1000" dirty="0">
                <a:solidFill>
                  <a:srgbClr val="7CE38B"/>
                </a:solidFill>
                <a:latin typeface="Consolas" pitchFamily="34" charset="0"/>
                <a:ea typeface="Consolas" pitchFamily="34" charset="-122"/>
                <a:cs typeface="Consolas" pitchFamily="34" charset="-120"/>
              </a:rPr>
              <a:t>$ bash scripts/start_agents_tmux.sh &lt;project&gt;</a:t>
            </a:r>
            <a:endParaRPr lang="en-US" sz="1000" dirty="0"/>
          </a:p>
        </p:txBody>
      </p:sp>
      <p:sp>
        <p:nvSpPr>
          <p:cNvPr id="10" name="Text 8"/>
          <p:cNvSpPr/>
          <p:nvPr/>
        </p:nvSpPr>
        <p:spPr>
          <a:xfrm>
            <a:off x="548640" y="2971800"/>
            <a:ext cx="5212080" cy="822960"/>
          </a:xfrm>
          <a:prstGeom prst="rect">
            <a:avLst/>
          </a:prstGeom>
          <a:noFill/>
          <a:ln/>
        </p:spPr>
        <p:txBody>
          <a:bodyPr wrap="square" lIns="0" tIns="0" rIns="0" bIns="0" rtlCol="0" anchor="t"/>
          <a:lstStyle/>
          <a:p>
            <a:pPr marL="0" indent="0">
              <a:buNone/>
            </a:pPr>
            <a:r>
              <a:rPr lang="en-US" sz="1100" dirty="0">
                <a:solidFill>
                  <a:srgbClr val="E6EDF3"/>
                </a:solidFill>
                <a:latin typeface="Calibri" pitchFamily="34" charset="0"/>
                <a:ea typeface="Calibri" pitchFamily="34" charset="-122"/>
                <a:cs typeface="Calibri" pitchFamily="34" charset="-120"/>
              </a:rPr>
              <a:t>Multi-provider, mix 7 tier model (deepseek, qwen, kimi, glm, mimo…). Tốt để thử nghiệm rẻ.</a:t>
            </a:r>
            <a:endParaRPr lang="en-US" sz="1100" dirty="0"/>
          </a:p>
        </p:txBody>
      </p:sp>
      <p:sp>
        <p:nvSpPr>
          <p:cNvPr id="11" name="Text 9"/>
          <p:cNvSpPr/>
          <p:nvPr/>
        </p:nvSpPr>
        <p:spPr>
          <a:xfrm>
            <a:off x="548640" y="3886200"/>
            <a:ext cx="5212080" cy="1645920"/>
          </a:xfrm>
          <a:prstGeom prst="rect">
            <a:avLst/>
          </a:prstGeom>
          <a:noFill/>
          <a:ln/>
        </p:spPr>
        <p:txBody>
          <a:bodyPr wrap="square" lIns="0" tIns="0" rIns="0" bIns="0" rtlCol="0" anchor="t"/>
          <a:lstStyle/>
          <a:p>
            <a:pPr marL="0" indent="0">
              <a:spcAft>
                <a:spcPts val="200"/>
              </a:spcAft>
              <a:buNone/>
            </a:pPr>
            <a:r>
              <a:rPr lang="en-US" sz="1000" dirty="0">
                <a:solidFill>
                  <a:srgbClr val="E6EDF3"/>
                </a:solidFill>
                <a:latin typeface="Consolas" pitchFamily="34" charset="0"/>
                <a:ea typeface="Consolas" pitchFamily="34" charset="-122"/>
                <a:cs typeface="Consolas" pitchFamily="34" charset="-120"/>
              </a:rPr>
              <a:t>ORCH    opencode-go/glm-5.1</a:t>
            </a:r>
            <a:endParaRPr lang="en-US" sz="1000" dirty="0"/>
          </a:p>
          <a:p>
            <a:pPr marL="0" indent="0">
              <a:spcAft>
                <a:spcPts val="200"/>
              </a:spcAft>
              <a:buNone/>
            </a:pPr>
            <a:r>
              <a:rPr lang="en-US" sz="1000" dirty="0">
                <a:solidFill>
                  <a:srgbClr val="E6EDF3"/>
                </a:solidFill>
                <a:latin typeface="Consolas" pitchFamily="34" charset="0"/>
                <a:ea typeface="Consolas" pitchFamily="34" charset="-122"/>
                <a:cs typeface="Consolas" pitchFamily="34" charset="-120"/>
              </a:rPr>
              <a:t>PM/BA   opencode-go/deepseek-flash, qwen3.6</a:t>
            </a:r>
            <a:endParaRPr lang="en-US" sz="1000" dirty="0"/>
          </a:p>
          <a:p>
            <a:pPr marL="0" indent="0">
              <a:spcAft>
                <a:spcPts val="200"/>
              </a:spcAft>
              <a:buNone/>
            </a:pPr>
            <a:r>
              <a:rPr lang="en-US" sz="1000" dirty="0">
                <a:solidFill>
                  <a:srgbClr val="E6EDF3"/>
                </a:solidFill>
                <a:latin typeface="Consolas" pitchFamily="34" charset="0"/>
                <a:ea typeface="Consolas" pitchFamily="34" charset="-122"/>
                <a:cs typeface="Consolas" pitchFamily="34" charset="-120"/>
              </a:rPr>
              <a:t>SA/BE   opencode-go/deepseek-v4-pro</a:t>
            </a:r>
            <a:endParaRPr lang="en-US" sz="1000" dirty="0"/>
          </a:p>
          <a:p>
            <a:pPr marL="0" indent="0">
              <a:spcAft>
                <a:spcPts val="200"/>
              </a:spcAft>
              <a:buNone/>
            </a:pPr>
            <a:r>
              <a:rPr lang="en-US" sz="1000" dirty="0">
                <a:solidFill>
                  <a:srgbClr val="E6EDF3"/>
                </a:solidFill>
                <a:latin typeface="Consolas" pitchFamily="34" charset="0"/>
                <a:ea typeface="Consolas" pitchFamily="34" charset="-122"/>
                <a:cs typeface="Consolas" pitchFamily="34" charset="-120"/>
              </a:rPr>
              <a:t>FE      opencode-go/kimi-k2.6</a:t>
            </a:r>
            <a:endParaRPr lang="en-US" sz="1000" dirty="0"/>
          </a:p>
          <a:p>
            <a:pPr marL="0" indent="0">
              <a:spcAft>
                <a:spcPts val="200"/>
              </a:spcAft>
              <a:buNone/>
            </a:pPr>
            <a:r>
              <a:rPr lang="en-US" sz="1000" dirty="0">
                <a:solidFill>
                  <a:srgbClr val="E6EDF3"/>
                </a:solidFill>
                <a:latin typeface="Consolas" pitchFamily="34" charset="0"/>
                <a:ea typeface="Consolas" pitchFamily="34" charset="-122"/>
                <a:cs typeface="Consolas" pitchFamily="34" charset="-120"/>
              </a:rPr>
              <a:t>QA      opencode-go/qwen3.5-plus</a:t>
            </a:r>
            <a:endParaRPr lang="en-US" sz="1000" dirty="0"/>
          </a:p>
        </p:txBody>
      </p:sp>
      <p:sp>
        <p:nvSpPr>
          <p:cNvPr id="12" name="Text 10"/>
          <p:cNvSpPr/>
          <p:nvPr/>
        </p:nvSpPr>
        <p:spPr>
          <a:xfrm>
            <a:off x="548640" y="5577840"/>
            <a:ext cx="5212080" cy="274320"/>
          </a:xfrm>
          <a:prstGeom prst="rect">
            <a:avLst/>
          </a:prstGeom>
          <a:noFill/>
          <a:ln/>
        </p:spPr>
        <p:txBody>
          <a:bodyPr wrap="square" lIns="0" tIns="0" rIns="0" bIns="0" rtlCol="0" anchor="ctr"/>
          <a:lstStyle/>
          <a:p>
            <a:pPr marL="0" indent="0">
              <a:buNone/>
            </a:pPr>
            <a:r>
              <a:rPr lang="en-US" sz="1000" dirty="0">
                <a:solidFill>
                  <a:srgbClr val="8B949E"/>
                </a:solidFill>
                <a:latin typeface="Consolas" pitchFamily="34" charset="0"/>
                <a:ea typeface="Consolas" pitchFamily="34" charset="-122"/>
                <a:cs typeface="Consolas" pitchFamily="34" charset="-120"/>
              </a:rPr>
              <a:t>Config: .opencode/config.json + opencode.json</a:t>
            </a:r>
            <a:endParaRPr lang="en-US" sz="1000" dirty="0"/>
          </a:p>
        </p:txBody>
      </p:sp>
      <p:sp>
        <p:nvSpPr>
          <p:cNvPr id="13" name="Text 11"/>
          <p:cNvSpPr/>
          <p:nvPr/>
        </p:nvSpPr>
        <p:spPr>
          <a:xfrm>
            <a:off x="548640" y="5852160"/>
            <a:ext cx="5212080" cy="274320"/>
          </a:xfrm>
          <a:prstGeom prst="rect">
            <a:avLst/>
          </a:prstGeom>
          <a:noFill/>
          <a:ln/>
        </p:spPr>
        <p:txBody>
          <a:bodyPr wrap="square" lIns="0" tIns="0" rIns="0" bIns="0" rtlCol="0" anchor="ctr"/>
          <a:lstStyle/>
          <a:p>
            <a:pPr marL="0" indent="0">
              <a:buNone/>
            </a:pPr>
            <a:r>
              <a:rPr lang="en-US" sz="1000" dirty="0">
                <a:solidFill>
                  <a:srgbClr val="8B949E"/>
                </a:solidFill>
                <a:latin typeface="Consolas" pitchFamily="34" charset="0"/>
                <a:ea typeface="Consolas" pitchFamily="34" charset="-122"/>
                <a:cs typeface="Consolas" pitchFamily="34" charset="-120"/>
              </a:rPr>
              <a:t>Check : dynamic (gọi `opencode models`)</a:t>
            </a:r>
            <a:endParaRPr lang="en-US" sz="1000" dirty="0"/>
          </a:p>
        </p:txBody>
      </p:sp>
      <p:sp>
        <p:nvSpPr>
          <p:cNvPr id="14" name="Shape 12"/>
          <p:cNvSpPr/>
          <p:nvPr/>
        </p:nvSpPr>
        <p:spPr>
          <a:xfrm>
            <a:off x="6263640" y="1783080"/>
            <a:ext cx="5532120" cy="4572000"/>
          </a:xfrm>
          <a:prstGeom prst="rect">
            <a:avLst/>
          </a:prstGeom>
          <a:solidFill>
            <a:srgbClr val="161B22"/>
          </a:solidFill>
          <a:ln w="12700">
            <a:solidFill>
              <a:srgbClr val="30363D"/>
            </a:solidFill>
            <a:prstDash val="solid"/>
          </a:ln>
        </p:spPr>
        <p:txBody>
          <a:bodyPr/>
          <a:lstStyle/>
          <a:p>
            <a:endParaRPr/>
          </a:p>
        </p:txBody>
      </p:sp>
      <p:sp>
        <p:nvSpPr>
          <p:cNvPr id="15" name="Shape 13"/>
          <p:cNvSpPr/>
          <p:nvPr/>
        </p:nvSpPr>
        <p:spPr>
          <a:xfrm>
            <a:off x="6263640" y="1783080"/>
            <a:ext cx="73152" cy="4572000"/>
          </a:xfrm>
          <a:prstGeom prst="rect">
            <a:avLst/>
          </a:prstGeom>
          <a:solidFill>
            <a:srgbClr val="79C0FF"/>
          </a:solidFill>
          <a:ln w="12700">
            <a:solidFill>
              <a:srgbClr val="79C0FF"/>
            </a:solidFill>
            <a:prstDash val="solid"/>
          </a:ln>
        </p:spPr>
        <p:txBody>
          <a:bodyPr/>
          <a:lstStyle/>
          <a:p>
            <a:endParaRPr/>
          </a:p>
        </p:txBody>
      </p:sp>
      <p:sp>
        <p:nvSpPr>
          <p:cNvPr id="16" name="Text 14"/>
          <p:cNvSpPr/>
          <p:nvPr/>
        </p:nvSpPr>
        <p:spPr>
          <a:xfrm>
            <a:off x="6446520" y="1874520"/>
            <a:ext cx="5212080" cy="365760"/>
          </a:xfrm>
          <a:prstGeom prst="rect">
            <a:avLst/>
          </a:prstGeom>
          <a:noFill/>
          <a:ln/>
        </p:spPr>
        <p:txBody>
          <a:bodyPr wrap="square" lIns="0" tIns="0" rIns="0" bIns="0" rtlCol="0" anchor="ctr"/>
          <a:lstStyle/>
          <a:p>
            <a:pPr marL="0" indent="0">
              <a:buNone/>
            </a:pPr>
            <a:r>
              <a:rPr lang="en-US" sz="1600" b="1" dirty="0">
                <a:solidFill>
                  <a:srgbClr val="79C0FF"/>
                </a:solidFill>
                <a:latin typeface="Consolas" pitchFamily="34" charset="0"/>
                <a:ea typeface="Consolas" pitchFamily="34" charset="-122"/>
                <a:cs typeface="Consolas" pitchFamily="34" charset="-120"/>
              </a:rPr>
              <a:t>Claude Code</a:t>
            </a:r>
            <a:endParaRPr lang="en-US" sz="1600" dirty="0"/>
          </a:p>
        </p:txBody>
      </p:sp>
      <p:sp>
        <p:nvSpPr>
          <p:cNvPr id="17" name="Text 15"/>
          <p:cNvSpPr/>
          <p:nvPr/>
        </p:nvSpPr>
        <p:spPr>
          <a:xfrm>
            <a:off x="6446520" y="2240280"/>
            <a:ext cx="5212080" cy="274320"/>
          </a:xfrm>
          <a:prstGeom prst="rect">
            <a:avLst/>
          </a:prstGeom>
          <a:noFill/>
          <a:ln/>
        </p:spPr>
        <p:txBody>
          <a:bodyPr wrap="square" lIns="0" tIns="0" rIns="0" bIns="0" rtlCol="0" anchor="ctr"/>
          <a:lstStyle/>
          <a:p>
            <a:pPr marL="0" indent="0">
              <a:buNone/>
            </a:pPr>
            <a:r>
              <a:rPr lang="en-US" sz="1000" i="1" dirty="0">
                <a:solidFill>
                  <a:srgbClr val="8B949E"/>
                </a:solidFill>
                <a:latin typeface="Calibri" pitchFamily="34" charset="0"/>
                <a:ea typeface="Calibri" pitchFamily="34" charset="-122"/>
                <a:cs typeface="Calibri" pitchFamily="34" charset="-120"/>
              </a:rPr>
              <a:t>for: pro / single-vendor</a:t>
            </a:r>
            <a:endParaRPr lang="en-US" sz="1000" dirty="0"/>
          </a:p>
        </p:txBody>
      </p:sp>
      <p:sp>
        <p:nvSpPr>
          <p:cNvPr id="18" name="Text 16"/>
          <p:cNvSpPr/>
          <p:nvPr/>
        </p:nvSpPr>
        <p:spPr>
          <a:xfrm>
            <a:off x="6446520" y="2560320"/>
            <a:ext cx="5212080" cy="365760"/>
          </a:xfrm>
          <a:prstGeom prst="rect">
            <a:avLst/>
          </a:prstGeom>
          <a:noFill/>
          <a:ln/>
        </p:spPr>
        <p:txBody>
          <a:bodyPr wrap="square" lIns="0" tIns="0" rIns="0" bIns="0" rtlCol="0" anchor="ctr"/>
          <a:lstStyle/>
          <a:p>
            <a:pPr marL="0" indent="0">
              <a:buNone/>
            </a:pPr>
            <a:r>
              <a:rPr lang="en-US" sz="1000" dirty="0">
                <a:solidFill>
                  <a:srgbClr val="79C0FF"/>
                </a:solidFill>
                <a:latin typeface="Consolas" pitchFamily="34" charset="0"/>
                <a:ea typeface="Consolas" pitchFamily="34" charset="-122"/>
                <a:cs typeface="Consolas" pitchFamily="34" charset="-120"/>
              </a:rPr>
              <a:t>$ bash scripts/start_agents_tmux.sh &lt;project&gt; --engine claude</a:t>
            </a:r>
            <a:endParaRPr lang="en-US" sz="1000" dirty="0"/>
          </a:p>
        </p:txBody>
      </p:sp>
      <p:sp>
        <p:nvSpPr>
          <p:cNvPr id="19" name="Text 17"/>
          <p:cNvSpPr/>
          <p:nvPr/>
        </p:nvSpPr>
        <p:spPr>
          <a:xfrm>
            <a:off x="6446520" y="2971800"/>
            <a:ext cx="5212080" cy="822960"/>
          </a:xfrm>
          <a:prstGeom prst="rect">
            <a:avLst/>
          </a:prstGeom>
          <a:noFill/>
          <a:ln/>
        </p:spPr>
        <p:txBody>
          <a:bodyPr wrap="square" lIns="0" tIns="0" rIns="0" bIns="0" rtlCol="0" anchor="t"/>
          <a:lstStyle/>
          <a:p>
            <a:pPr marL="0" indent="0">
              <a:buNone/>
            </a:pPr>
            <a:r>
              <a:rPr lang="en-US" sz="1100" dirty="0">
                <a:solidFill>
                  <a:srgbClr val="E6EDF3"/>
                </a:solidFill>
                <a:latin typeface="Calibri" pitchFamily="34" charset="0"/>
                <a:ea typeface="Calibri" pitchFamily="34" charset="-122"/>
                <a:cs typeface="Calibri" pitchFamily="34" charset="-120"/>
              </a:rPr>
              <a:t>Anthropic only, 3 tier (haiku/sonnet/opus). Setup nhỏ gọn — 1 API key duy nhất.</a:t>
            </a:r>
            <a:endParaRPr lang="en-US" sz="1100" dirty="0"/>
          </a:p>
        </p:txBody>
      </p:sp>
      <p:sp>
        <p:nvSpPr>
          <p:cNvPr id="20" name="Text 18"/>
          <p:cNvSpPr/>
          <p:nvPr/>
        </p:nvSpPr>
        <p:spPr>
          <a:xfrm>
            <a:off x="6446520" y="3886200"/>
            <a:ext cx="5212080" cy="1645920"/>
          </a:xfrm>
          <a:prstGeom prst="rect">
            <a:avLst/>
          </a:prstGeom>
          <a:noFill/>
          <a:ln/>
        </p:spPr>
        <p:txBody>
          <a:bodyPr wrap="square" lIns="0" tIns="0" rIns="0" bIns="0" rtlCol="0" anchor="t"/>
          <a:lstStyle/>
          <a:p>
            <a:pPr marL="0" indent="0">
              <a:spcAft>
                <a:spcPts val="200"/>
              </a:spcAft>
              <a:buNone/>
            </a:pPr>
            <a:r>
              <a:rPr lang="en-US" sz="1000" dirty="0">
                <a:solidFill>
                  <a:srgbClr val="E6EDF3"/>
                </a:solidFill>
                <a:latin typeface="Consolas" pitchFamily="34" charset="0"/>
                <a:ea typeface="Consolas" pitchFamily="34" charset="-122"/>
                <a:cs typeface="Consolas" pitchFamily="34" charset="-120"/>
              </a:rPr>
              <a:t>ORCH    claude-sonnet-4-6</a:t>
            </a:r>
            <a:endParaRPr lang="en-US" sz="1000" dirty="0"/>
          </a:p>
          <a:p>
            <a:pPr marL="0" indent="0">
              <a:spcAft>
                <a:spcPts val="200"/>
              </a:spcAft>
              <a:buNone/>
            </a:pPr>
            <a:r>
              <a:rPr lang="en-US" sz="1000" dirty="0">
                <a:solidFill>
                  <a:srgbClr val="E6EDF3"/>
                </a:solidFill>
                <a:latin typeface="Consolas" pitchFamily="34" charset="0"/>
                <a:ea typeface="Consolas" pitchFamily="34" charset="-122"/>
                <a:cs typeface="Consolas" pitchFamily="34" charset="-120"/>
              </a:rPr>
              <a:t>PM/BA   claude-haiku-4-5</a:t>
            </a:r>
            <a:endParaRPr lang="en-US" sz="1000" dirty="0"/>
          </a:p>
          <a:p>
            <a:pPr marL="0" indent="0">
              <a:spcAft>
                <a:spcPts val="200"/>
              </a:spcAft>
              <a:buNone/>
            </a:pPr>
            <a:r>
              <a:rPr lang="en-US" sz="1000" dirty="0">
                <a:solidFill>
                  <a:srgbClr val="E6EDF3"/>
                </a:solidFill>
                <a:latin typeface="Consolas" pitchFamily="34" charset="0"/>
                <a:ea typeface="Consolas" pitchFamily="34" charset="-122"/>
                <a:cs typeface="Consolas" pitchFamily="34" charset="-120"/>
              </a:rPr>
              <a:t>SA/BE   claude-opus-4-6</a:t>
            </a:r>
            <a:endParaRPr lang="en-US" sz="1000" dirty="0"/>
          </a:p>
          <a:p>
            <a:pPr marL="0" indent="0">
              <a:spcAft>
                <a:spcPts val="200"/>
              </a:spcAft>
              <a:buNone/>
            </a:pPr>
            <a:r>
              <a:rPr lang="en-US" sz="1000" dirty="0">
                <a:solidFill>
                  <a:srgbClr val="E6EDF3"/>
                </a:solidFill>
                <a:latin typeface="Consolas" pitchFamily="34" charset="0"/>
                <a:ea typeface="Consolas" pitchFamily="34" charset="-122"/>
                <a:cs typeface="Consolas" pitchFamily="34" charset="-120"/>
              </a:rPr>
              <a:t>FE      claude-sonnet-4-6</a:t>
            </a:r>
            <a:endParaRPr lang="en-US" sz="1000" dirty="0"/>
          </a:p>
          <a:p>
            <a:pPr marL="0" indent="0">
              <a:spcAft>
                <a:spcPts val="200"/>
              </a:spcAft>
              <a:buNone/>
            </a:pPr>
            <a:r>
              <a:rPr lang="en-US" sz="1000" dirty="0">
                <a:solidFill>
                  <a:srgbClr val="E6EDF3"/>
                </a:solidFill>
                <a:latin typeface="Consolas" pitchFamily="34" charset="0"/>
                <a:ea typeface="Consolas" pitchFamily="34" charset="-122"/>
                <a:cs typeface="Consolas" pitchFamily="34" charset="-120"/>
              </a:rPr>
              <a:t>QA/DEL  claude-haiku-4-5</a:t>
            </a:r>
            <a:endParaRPr lang="en-US" sz="1000" dirty="0"/>
          </a:p>
        </p:txBody>
      </p:sp>
      <p:sp>
        <p:nvSpPr>
          <p:cNvPr id="21" name="Text 19"/>
          <p:cNvSpPr/>
          <p:nvPr/>
        </p:nvSpPr>
        <p:spPr>
          <a:xfrm>
            <a:off x="6446520" y="5577840"/>
            <a:ext cx="5212080" cy="274320"/>
          </a:xfrm>
          <a:prstGeom prst="rect">
            <a:avLst/>
          </a:prstGeom>
          <a:noFill/>
          <a:ln/>
        </p:spPr>
        <p:txBody>
          <a:bodyPr wrap="square" lIns="0" tIns="0" rIns="0" bIns="0" rtlCol="0" anchor="ctr"/>
          <a:lstStyle/>
          <a:p>
            <a:pPr marL="0" indent="0">
              <a:buNone/>
            </a:pPr>
            <a:r>
              <a:rPr lang="en-US" sz="1000" dirty="0">
                <a:solidFill>
                  <a:srgbClr val="8B949E"/>
                </a:solidFill>
                <a:latin typeface="Consolas" pitchFamily="34" charset="0"/>
                <a:ea typeface="Consolas" pitchFamily="34" charset="-122"/>
                <a:cs typeface="Consolas" pitchFamily="34" charset="-120"/>
              </a:rPr>
              <a:t>Config: .claude/settings.json</a:t>
            </a:r>
            <a:endParaRPr lang="en-US" sz="1000" dirty="0"/>
          </a:p>
        </p:txBody>
      </p:sp>
      <p:sp>
        <p:nvSpPr>
          <p:cNvPr id="22" name="Text 20"/>
          <p:cNvSpPr/>
          <p:nvPr/>
        </p:nvSpPr>
        <p:spPr>
          <a:xfrm>
            <a:off x="6446520" y="5852160"/>
            <a:ext cx="5212080" cy="274320"/>
          </a:xfrm>
          <a:prstGeom prst="rect">
            <a:avLst/>
          </a:prstGeom>
          <a:noFill/>
          <a:ln/>
        </p:spPr>
        <p:txBody>
          <a:bodyPr wrap="square" lIns="0" tIns="0" rIns="0" bIns="0" rtlCol="0" anchor="ctr"/>
          <a:lstStyle/>
          <a:p>
            <a:pPr marL="0" indent="0">
              <a:buNone/>
            </a:pPr>
            <a:r>
              <a:rPr lang="en-US" sz="1000" dirty="0">
                <a:solidFill>
                  <a:srgbClr val="8B949E"/>
                </a:solidFill>
                <a:latin typeface="Consolas" pitchFamily="34" charset="0"/>
                <a:ea typeface="Consolas" pitchFamily="34" charset="-122"/>
                <a:cs typeface="Consolas" pitchFamily="34" charset="-120"/>
              </a:rPr>
              <a:t>Check : static (whitelist trong claude.env)</a:t>
            </a:r>
            <a:endParaRPr lang="en-US" sz="1000" dirty="0"/>
          </a:p>
        </p:txBody>
      </p:sp>
      <p:sp>
        <p:nvSpPr>
          <p:cNvPr id="23" name="Text 21"/>
          <p:cNvSpPr/>
          <p:nvPr/>
        </p:nvSpPr>
        <p:spPr>
          <a:xfrm>
            <a:off x="365760" y="6263640"/>
            <a:ext cx="11430000" cy="228600"/>
          </a:xfrm>
          <a:prstGeom prst="rect">
            <a:avLst/>
          </a:prstGeom>
          <a:noFill/>
          <a:ln/>
        </p:spPr>
        <p:txBody>
          <a:bodyPr wrap="square" lIns="0" tIns="0" rIns="0" bIns="0" rtlCol="0" anchor="ctr"/>
          <a:lstStyle/>
          <a:p>
            <a:pPr marL="0" indent="0" algn="ctr">
              <a:buNone/>
            </a:pPr>
            <a:r>
              <a:rPr lang="en-US" sz="1000" i="1" dirty="0">
                <a:solidFill>
                  <a:srgbClr val="79C0FF"/>
                </a:solidFill>
                <a:latin typeface="Calibri" pitchFamily="34" charset="0"/>
                <a:ea typeface="Calibri" pitchFamily="34" charset="-122"/>
                <a:cs typeface="Calibri" pitchFamily="34" charset="-120"/>
              </a:rPr>
              <a:t>Engine choice được persist vào .agent_session — tất cả script (route_to_pane, answer_role, …) đọc tự động.</a:t>
            </a:r>
            <a:endParaRPr lang="en-US" sz="1000" dirty="0"/>
          </a:p>
        </p:txBody>
      </p:sp>
      <p:sp>
        <p:nvSpPr>
          <p:cNvPr id="24" name="Text 22"/>
          <p:cNvSpPr/>
          <p:nvPr/>
        </p:nvSpPr>
        <p:spPr>
          <a:xfrm>
            <a:off x="11338560" y="6492240"/>
            <a:ext cx="731520" cy="228600"/>
          </a:xfrm>
          <a:prstGeom prst="rect">
            <a:avLst/>
          </a:prstGeom>
          <a:noFill/>
          <a:ln/>
        </p:spPr>
        <p:txBody>
          <a:bodyPr wrap="square" lIns="0" tIns="0" rIns="0" bIns="0" rtlCol="0" anchor="ctr"/>
          <a:lstStyle/>
          <a:p>
            <a:pPr marL="0" indent="0" algn="r">
              <a:buNone/>
            </a:pPr>
            <a:r>
              <a:rPr lang="en-US" sz="900" dirty="0">
                <a:solidFill>
                  <a:srgbClr val="8B949E"/>
                </a:solidFill>
                <a:latin typeface="Consolas" pitchFamily="34" charset="0"/>
                <a:ea typeface="Consolas" pitchFamily="34" charset="-122"/>
                <a:cs typeface="Consolas" pitchFamily="34" charset="-120"/>
              </a:rPr>
              <a:t>22 / 40</a:t>
            </a:r>
            <a:endParaRPr lang="en-US" sz="900" dirty="0"/>
          </a:p>
        </p:txBody>
      </p:sp>
      <p:sp>
        <p:nvSpPr>
          <p:cNvPr id="25" name="Text 23"/>
          <p:cNvSpPr/>
          <p:nvPr/>
        </p:nvSpPr>
        <p:spPr>
          <a:xfrm>
            <a:off x="365760" y="6492240"/>
            <a:ext cx="1097280" cy="228600"/>
          </a:xfrm>
          <a:prstGeom prst="rect">
            <a:avLst/>
          </a:prstGeom>
          <a:noFill/>
          <a:ln/>
        </p:spPr>
        <p:txBody>
          <a:bodyPr wrap="square" lIns="0" tIns="0" rIns="0" bIns="0" rtlCol="0" anchor="ctr"/>
          <a:lstStyle/>
          <a:p>
            <a:pPr marL="0" indent="0" algn="l">
              <a:buNone/>
            </a:pPr>
            <a:r>
              <a:rPr lang="en-US" sz="900" dirty="0">
                <a:solidFill>
                  <a:srgbClr val="8B949E"/>
                </a:solidFill>
                <a:latin typeface="Consolas" pitchFamily="34" charset="0"/>
                <a:ea typeface="Consolas" pitchFamily="34" charset="-122"/>
                <a:cs typeface="Consolas" pitchFamily="34" charset="-120"/>
              </a:rPr>
              <a:t>v10.23</a:t>
            </a:r>
            <a:endParaRPr lang="en-US" sz="900" dirty="0"/>
          </a:p>
        </p:txBody>
      </p:sp>
      <p:sp>
        <p:nvSpPr>
          <p:cNvPr id="26" name="Text 24"/>
          <p:cNvSpPr/>
          <p:nvPr/>
        </p:nvSpPr>
        <p:spPr>
          <a:xfrm>
            <a:off x="4572000" y="6492240"/>
            <a:ext cx="6400800" cy="228600"/>
          </a:xfrm>
          <a:prstGeom prst="rect">
            <a:avLst/>
          </a:prstGeom>
          <a:noFill/>
          <a:ln/>
        </p:spPr>
        <p:txBody>
          <a:bodyPr wrap="square" lIns="0" tIns="0" rIns="0" bIns="0" rtlCol="0" anchor="ctr"/>
          <a:lstStyle/>
          <a:p>
            <a:pPr marL="0" indent="0" algn="ctr">
              <a:buNone/>
            </a:pPr>
            <a:r>
              <a:rPr lang="en-US" sz="900" dirty="0">
                <a:solidFill>
                  <a:srgbClr val="8B949E"/>
                </a:solidFill>
                <a:latin typeface="Consolas" pitchFamily="34" charset="0"/>
                <a:ea typeface="Consolas" pitchFamily="34" charset="-122"/>
                <a:cs typeface="Consolas" pitchFamily="34" charset="-120"/>
              </a:rPr>
              <a:t>Product Engineering Agent Framework</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1">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365760" y="228600"/>
            <a:ext cx="8229600" cy="274320"/>
          </a:xfrm>
          <a:prstGeom prst="rect">
            <a:avLst/>
          </a:prstGeom>
          <a:noFill/>
          <a:ln/>
        </p:spPr>
        <p:txBody>
          <a:bodyPr wrap="square" lIns="0" tIns="0" rIns="0" bIns="0" rtlCol="0" anchor="ctr"/>
          <a:lstStyle/>
          <a:p>
            <a:pPr marL="0" indent="0">
              <a:buNone/>
            </a:pPr>
            <a:r>
              <a:rPr lang="en-US" sz="1100" dirty="0">
                <a:solidFill>
                  <a:srgbClr val="2EA043"/>
                </a:solidFill>
                <a:latin typeface="Consolas" pitchFamily="34" charset="0"/>
                <a:ea typeface="Consolas" pitchFamily="34" charset="-122"/>
                <a:cs typeface="Consolas" pitchFamily="34" charset="-120"/>
              </a:rPr>
              <a:t>$ </a:t>
            </a:r>
            <a:r>
              <a:rPr lang="en-US" sz="1100" dirty="0">
                <a:solidFill>
                  <a:srgbClr val="8B949E"/>
                </a:solidFill>
                <a:latin typeface="Consolas" pitchFamily="34" charset="0"/>
                <a:ea typeface="Consolas" pitchFamily="34" charset="-122"/>
                <a:cs typeface="Consolas" pitchFamily="34" charset="-120"/>
              </a:rPr>
              <a:t>18_quick_start.md</a:t>
            </a:r>
            <a:endParaRPr lang="en-US" sz="1100" dirty="0"/>
          </a:p>
        </p:txBody>
      </p:sp>
      <p:sp>
        <p:nvSpPr>
          <p:cNvPr id="3" name="Text 1"/>
          <p:cNvSpPr/>
          <p:nvPr/>
        </p:nvSpPr>
        <p:spPr>
          <a:xfrm>
            <a:off x="365760" y="548640"/>
            <a:ext cx="11430000" cy="640080"/>
          </a:xfrm>
          <a:prstGeom prst="rect">
            <a:avLst/>
          </a:prstGeom>
          <a:noFill/>
          <a:ln/>
        </p:spPr>
        <p:txBody>
          <a:bodyPr wrap="square" lIns="0" tIns="0" rIns="0" bIns="0" rtlCol="0" anchor="ctr"/>
          <a:lstStyle/>
          <a:p>
            <a:pPr marL="0" indent="0">
              <a:buNone/>
            </a:pPr>
            <a:r>
              <a:rPr lang="en-US" sz="3000" b="1" dirty="0">
                <a:solidFill>
                  <a:srgbClr val="E6EDF3"/>
                </a:solidFill>
                <a:latin typeface="Consolas" pitchFamily="34" charset="0"/>
                <a:ea typeface="Consolas" pitchFamily="34" charset="-122"/>
                <a:cs typeface="Consolas" pitchFamily="34" charset="-120"/>
              </a:rPr>
              <a:t>Quick start — 5 lệnh để khởi động</a:t>
            </a:r>
            <a:endParaRPr lang="en-US" sz="3000" dirty="0"/>
          </a:p>
        </p:txBody>
      </p:sp>
      <p:sp>
        <p:nvSpPr>
          <p:cNvPr id="4" name="Text 2"/>
          <p:cNvSpPr/>
          <p:nvPr/>
        </p:nvSpPr>
        <p:spPr>
          <a:xfrm>
            <a:off x="365760" y="1143000"/>
            <a:ext cx="11430000" cy="365760"/>
          </a:xfrm>
          <a:prstGeom prst="rect">
            <a:avLst/>
          </a:prstGeom>
          <a:noFill/>
          <a:ln/>
        </p:spPr>
        <p:txBody>
          <a:bodyPr wrap="square" lIns="0" tIns="0" rIns="0" bIns="0" rtlCol="0" anchor="ctr"/>
          <a:lstStyle/>
          <a:p>
            <a:pPr marL="0" indent="0">
              <a:buNone/>
            </a:pPr>
            <a:r>
              <a:rPr lang="en-US" sz="1400" i="1" dirty="0">
                <a:solidFill>
                  <a:srgbClr val="8B949E"/>
                </a:solidFill>
                <a:latin typeface="Calibri" pitchFamily="34" charset="0"/>
                <a:ea typeface="Calibri" pitchFamily="34" charset="-122"/>
                <a:cs typeface="Calibri" pitchFamily="34" charset="-120"/>
              </a:rPr>
              <a:t>Clone từ GitHub → bootstrap project → talk to Orchestrator</a:t>
            </a:r>
            <a:endParaRPr lang="en-US" sz="1400" dirty="0"/>
          </a:p>
        </p:txBody>
      </p:sp>
      <p:sp>
        <p:nvSpPr>
          <p:cNvPr id="5" name="Shape 3"/>
          <p:cNvSpPr/>
          <p:nvPr/>
        </p:nvSpPr>
        <p:spPr>
          <a:xfrm>
            <a:off x="365760" y="1783080"/>
            <a:ext cx="11430000" cy="4572000"/>
          </a:xfrm>
          <a:prstGeom prst="rect">
            <a:avLst/>
          </a:prstGeom>
          <a:solidFill>
            <a:srgbClr val="161B22"/>
          </a:solidFill>
          <a:ln w="12700">
            <a:solidFill>
              <a:srgbClr val="30363D"/>
            </a:solidFill>
            <a:prstDash val="solid"/>
          </a:ln>
        </p:spPr>
        <p:txBody>
          <a:bodyPr/>
          <a:lstStyle/>
          <a:p>
            <a:endParaRPr/>
          </a:p>
        </p:txBody>
      </p:sp>
      <p:sp>
        <p:nvSpPr>
          <p:cNvPr id="6" name="Shape 4"/>
          <p:cNvSpPr/>
          <p:nvPr/>
        </p:nvSpPr>
        <p:spPr>
          <a:xfrm>
            <a:off x="457200" y="1874520"/>
            <a:ext cx="91440" cy="91440"/>
          </a:xfrm>
          <a:prstGeom prst="ellipse">
            <a:avLst/>
          </a:prstGeom>
          <a:solidFill>
            <a:srgbClr val="F85149"/>
          </a:solidFill>
          <a:ln w="12700">
            <a:solidFill>
              <a:srgbClr val="F85149"/>
            </a:solidFill>
            <a:prstDash val="solid"/>
          </a:ln>
        </p:spPr>
        <p:txBody>
          <a:bodyPr/>
          <a:lstStyle/>
          <a:p>
            <a:endParaRPr/>
          </a:p>
        </p:txBody>
      </p:sp>
      <p:sp>
        <p:nvSpPr>
          <p:cNvPr id="7" name="Shape 5"/>
          <p:cNvSpPr/>
          <p:nvPr/>
        </p:nvSpPr>
        <p:spPr>
          <a:xfrm>
            <a:off x="585216" y="1874520"/>
            <a:ext cx="91440" cy="91440"/>
          </a:xfrm>
          <a:prstGeom prst="ellipse">
            <a:avLst/>
          </a:prstGeom>
          <a:solidFill>
            <a:srgbClr val="D29922"/>
          </a:solidFill>
          <a:ln w="12700">
            <a:solidFill>
              <a:srgbClr val="D29922"/>
            </a:solidFill>
            <a:prstDash val="solid"/>
          </a:ln>
        </p:spPr>
        <p:txBody>
          <a:bodyPr/>
          <a:lstStyle/>
          <a:p>
            <a:endParaRPr/>
          </a:p>
        </p:txBody>
      </p:sp>
      <p:sp>
        <p:nvSpPr>
          <p:cNvPr id="8" name="Shape 6"/>
          <p:cNvSpPr/>
          <p:nvPr/>
        </p:nvSpPr>
        <p:spPr>
          <a:xfrm>
            <a:off x="713232" y="1874520"/>
            <a:ext cx="91440" cy="91440"/>
          </a:xfrm>
          <a:prstGeom prst="ellipse">
            <a:avLst/>
          </a:prstGeom>
          <a:solidFill>
            <a:srgbClr val="3FB950"/>
          </a:solidFill>
          <a:ln w="12700">
            <a:solidFill>
              <a:srgbClr val="3FB950"/>
            </a:solidFill>
            <a:prstDash val="solid"/>
          </a:ln>
        </p:spPr>
        <p:txBody>
          <a:bodyPr/>
          <a:lstStyle/>
          <a:p>
            <a:endParaRPr/>
          </a:p>
        </p:txBody>
      </p:sp>
      <p:sp>
        <p:nvSpPr>
          <p:cNvPr id="9" name="Text 7"/>
          <p:cNvSpPr/>
          <p:nvPr/>
        </p:nvSpPr>
        <p:spPr>
          <a:xfrm>
            <a:off x="502920" y="2103120"/>
            <a:ext cx="11155680" cy="4206240"/>
          </a:xfrm>
          <a:prstGeom prst="rect">
            <a:avLst/>
          </a:prstGeom>
          <a:noFill/>
          <a:ln/>
        </p:spPr>
        <p:txBody>
          <a:bodyPr wrap="square" lIns="0" tIns="0" rIns="0" bIns="0" rtlCol="0" anchor="t"/>
          <a:lstStyle/>
          <a:p>
            <a:pPr marL="0" indent="0">
              <a:buNone/>
            </a:pPr>
            <a:r>
              <a:rPr lang="en-US" sz="1200" dirty="0">
                <a:solidFill>
                  <a:srgbClr val="8B949E"/>
                </a:solidFill>
                <a:latin typeface="Consolas" pitchFamily="34" charset="0"/>
                <a:ea typeface="Consolas" pitchFamily="34" charset="-122"/>
                <a:cs typeface="Consolas" pitchFamily="34" charset="-120"/>
              </a:rPr>
              <a:t># 1. Clone từ GitHub (monorepo learning-vault)</a:t>
            </a:r>
            <a:endParaRPr lang="en-US" sz="1200" dirty="0"/>
          </a:p>
          <a:p>
            <a:pPr marL="0" indent="0">
              <a:buNone/>
            </a:pPr>
            <a:r>
              <a:rPr lang="en-US" sz="1200" dirty="0">
                <a:solidFill>
                  <a:srgbClr val="7CE38B"/>
                </a:solidFill>
                <a:latin typeface="Consolas" pitchFamily="34" charset="0"/>
                <a:ea typeface="Consolas" pitchFamily="34" charset="-122"/>
                <a:cs typeface="Consolas" pitchFamily="34" charset="-120"/>
              </a:rPr>
              <a:t>$ git clone https://github.com/minhtuan-labs/learning-vault.git</a:t>
            </a:r>
            <a:endParaRPr lang="en-US" sz="1200" dirty="0"/>
          </a:p>
          <a:p>
            <a:pPr marL="0" indent="0">
              <a:buNone/>
            </a:pPr>
            <a:r>
              <a:rPr lang="en-US" sz="1200" dirty="0">
                <a:solidFill>
                  <a:srgbClr val="7CE38B"/>
                </a:solidFill>
                <a:latin typeface="Consolas" pitchFamily="34" charset="0"/>
                <a:ea typeface="Consolas" pitchFamily="34" charset="-122"/>
                <a:cs typeface="Consolas" pitchFamily="34" charset="-120"/>
              </a:rPr>
              <a:t>$ cd learning-vault/frameworks/product-engineering-template</a:t>
            </a:r>
            <a:endParaRPr lang="en-US" sz="1200" dirty="0"/>
          </a:p>
          <a:p>
            <a:pPr marL="0" indent="0">
              <a:buNone/>
            </a:pPr>
            <a:endParaRPr lang="en-US" sz="1200" dirty="0"/>
          </a:p>
          <a:p>
            <a:pPr marL="0" indent="0">
              <a:buNone/>
            </a:pPr>
            <a:r>
              <a:rPr lang="en-US" sz="1200" dirty="0">
                <a:solidFill>
                  <a:srgbClr val="8B949E"/>
                </a:solidFill>
                <a:latin typeface="Consolas" pitchFamily="34" charset="0"/>
                <a:ea typeface="Consolas" pitchFamily="34" charset="-122"/>
                <a:cs typeface="Consolas" pitchFamily="34" charset="-120"/>
              </a:rPr>
              <a:t># 2. Copy template ra project mới (hoặc dùng tại chỗ)</a:t>
            </a:r>
            <a:endParaRPr lang="en-US" sz="1200" dirty="0"/>
          </a:p>
          <a:p>
            <a:pPr marL="0" indent="0">
              <a:buNone/>
            </a:pPr>
            <a:r>
              <a:rPr lang="en-US" sz="1200" dirty="0">
                <a:solidFill>
                  <a:srgbClr val="7CE38B"/>
                </a:solidFill>
                <a:latin typeface="Consolas" pitchFamily="34" charset="0"/>
                <a:ea typeface="Consolas" pitchFamily="34" charset="-122"/>
                <a:cs typeface="Consolas" pitchFamily="34" charset="-120"/>
              </a:rPr>
              <a:t>$ cp -R . ~/my-project &amp;&amp; cd ~/my-project</a:t>
            </a:r>
            <a:endParaRPr lang="en-US" sz="1200" dirty="0"/>
          </a:p>
          <a:p>
            <a:pPr marL="0" indent="0">
              <a:buNone/>
            </a:pPr>
            <a:r>
              <a:rPr lang="en-US" sz="1200" dirty="0">
                <a:solidFill>
                  <a:srgbClr val="7CE38B"/>
                </a:solidFill>
                <a:latin typeface="Consolas" pitchFamily="34" charset="0"/>
                <a:ea typeface="Consolas" pitchFamily="34" charset="-122"/>
                <a:cs typeface="Consolas" pitchFamily="34" charset="-120"/>
              </a:rPr>
              <a:t>$ chmod +x scripts/*.sh</a:t>
            </a:r>
            <a:endParaRPr lang="en-US" sz="1200" dirty="0"/>
          </a:p>
          <a:p>
            <a:pPr marL="0" indent="0">
              <a:buNone/>
            </a:pPr>
            <a:endParaRPr lang="en-US" sz="1200" dirty="0"/>
          </a:p>
          <a:p>
            <a:pPr marL="0" indent="0">
              <a:buNone/>
            </a:pPr>
            <a:r>
              <a:rPr lang="en-US" sz="1200" dirty="0">
                <a:solidFill>
                  <a:srgbClr val="8B949E"/>
                </a:solidFill>
                <a:latin typeface="Consolas" pitchFamily="34" charset="0"/>
                <a:ea typeface="Consolas" pitchFamily="34" charset="-122"/>
                <a:cs typeface="Consolas" pitchFamily="34" charset="-120"/>
              </a:rPr>
              <a:t># 3. Mô tả ý tưởng — đây là input duy nhất của user</a:t>
            </a:r>
            <a:endParaRPr lang="en-US" sz="1200" dirty="0"/>
          </a:p>
          <a:p>
            <a:pPr marL="0" indent="0">
              <a:buNone/>
            </a:pPr>
            <a:r>
              <a:rPr lang="en-US" sz="1200" dirty="0">
                <a:solidFill>
                  <a:srgbClr val="7CE38B"/>
                </a:solidFill>
                <a:latin typeface="Consolas" pitchFamily="34" charset="0"/>
                <a:ea typeface="Consolas" pitchFamily="34" charset="-122"/>
                <a:cs typeface="Consolas" pitchFamily="34" charset="-120"/>
              </a:rPr>
              <a:t>$ $EDITOR PRODUCT_IDEA.md</a:t>
            </a:r>
            <a:endParaRPr lang="en-US" sz="1200" dirty="0"/>
          </a:p>
          <a:p>
            <a:pPr marL="0" indent="0">
              <a:buNone/>
            </a:pPr>
            <a:endParaRPr lang="en-US" sz="1200" dirty="0"/>
          </a:p>
          <a:p>
            <a:pPr marL="0" indent="0">
              <a:buNone/>
            </a:pPr>
            <a:r>
              <a:rPr lang="en-US" sz="1200" dirty="0">
                <a:solidFill>
                  <a:srgbClr val="8B949E"/>
                </a:solidFill>
                <a:latin typeface="Consolas" pitchFamily="34" charset="0"/>
                <a:ea typeface="Consolas" pitchFamily="34" charset="-122"/>
                <a:cs typeface="Consolas" pitchFamily="34" charset="-120"/>
              </a:rPr>
              <a:t># 4. Pick engine + verify models (v10.12)</a:t>
            </a:r>
            <a:endParaRPr lang="en-US" sz="1200" dirty="0"/>
          </a:p>
          <a:p>
            <a:pPr marL="0" indent="0">
              <a:buNone/>
            </a:pPr>
            <a:r>
              <a:rPr lang="en-US" sz="1200" dirty="0">
                <a:solidFill>
                  <a:srgbClr val="7CE38B"/>
                </a:solidFill>
                <a:latin typeface="Consolas" pitchFamily="34" charset="0"/>
                <a:ea typeface="Consolas" pitchFamily="34" charset="-122"/>
                <a:cs typeface="Consolas" pitchFamily="34" charset="-120"/>
              </a:rPr>
              <a:t>$ bash scripts/check_models.sh opencode   # hoặc: claude</a:t>
            </a:r>
            <a:endParaRPr lang="en-US" sz="1200" dirty="0"/>
          </a:p>
          <a:p>
            <a:pPr marL="0" indent="0">
              <a:buNone/>
            </a:pPr>
            <a:endParaRPr lang="en-US" sz="1200" dirty="0"/>
          </a:p>
          <a:p>
            <a:pPr marL="0" indent="0">
              <a:buNone/>
            </a:pPr>
            <a:r>
              <a:rPr lang="en-US" sz="1200" dirty="0">
                <a:solidFill>
                  <a:srgbClr val="8B949E"/>
                </a:solidFill>
                <a:latin typeface="Consolas" pitchFamily="34" charset="0"/>
                <a:ea typeface="Consolas" pitchFamily="34" charset="-122"/>
                <a:cs typeface="Consolas" pitchFamily="34" charset="-120"/>
              </a:rPr>
              <a:t># 5. Khởi động 9-pane / 3-window tmux session</a:t>
            </a:r>
            <a:endParaRPr lang="en-US" sz="1200" dirty="0"/>
          </a:p>
          <a:p>
            <a:pPr marL="0" indent="0">
              <a:buNone/>
            </a:pPr>
            <a:r>
              <a:rPr lang="en-US" sz="1200" dirty="0">
                <a:solidFill>
                  <a:srgbClr val="7CE38B"/>
                </a:solidFill>
                <a:latin typeface="Consolas" pitchFamily="34" charset="0"/>
                <a:ea typeface="Consolas" pitchFamily="34" charset="-122"/>
                <a:cs typeface="Consolas" pitchFamily="34" charset="-120"/>
              </a:rPr>
              <a:t>$ bash scripts/start_agents_tmux.sh my-project              # default opencode</a:t>
            </a:r>
            <a:endParaRPr lang="en-US" sz="1200" dirty="0"/>
          </a:p>
          <a:p>
            <a:pPr marL="0" indent="0">
              <a:buNone/>
            </a:pPr>
            <a:r>
              <a:rPr lang="en-US" sz="1200" dirty="0">
                <a:solidFill>
                  <a:srgbClr val="8B949E"/>
                </a:solidFill>
                <a:latin typeface="Consolas" pitchFamily="34" charset="0"/>
                <a:ea typeface="Consolas" pitchFamily="34" charset="-122"/>
                <a:cs typeface="Consolas" pitchFamily="34" charset="-120"/>
              </a:rPr>
              <a:t># hoặc:  bash scripts/start_agents_tmux.sh my-project --engine claude</a:t>
            </a:r>
            <a:endParaRPr lang="en-US" sz="1200" dirty="0"/>
          </a:p>
        </p:txBody>
      </p:sp>
      <p:sp>
        <p:nvSpPr>
          <p:cNvPr id="10" name="Text 8"/>
          <p:cNvSpPr/>
          <p:nvPr/>
        </p:nvSpPr>
        <p:spPr>
          <a:xfrm>
            <a:off x="365760" y="6126480"/>
            <a:ext cx="11430000" cy="365760"/>
          </a:xfrm>
          <a:prstGeom prst="rect">
            <a:avLst/>
          </a:prstGeom>
          <a:noFill/>
          <a:ln/>
        </p:spPr>
        <p:txBody>
          <a:bodyPr wrap="square" lIns="0" tIns="0" rIns="0" bIns="0" rtlCol="0" anchor="ctr"/>
          <a:lstStyle/>
          <a:p>
            <a:pPr marL="0" indent="0" algn="ctr">
              <a:buNone/>
            </a:pPr>
            <a:r>
              <a:rPr lang="en-US" sz="1300" i="1" dirty="0">
                <a:solidFill>
                  <a:srgbClr val="7CE38B"/>
                </a:solidFill>
                <a:latin typeface="Calibri" pitchFamily="34" charset="0"/>
                <a:ea typeface="Calibri" pitchFamily="34" charset="-122"/>
                <a:cs typeface="Calibri" pitchFamily="34" charset="-120"/>
              </a:rPr>
              <a:t>Sau đó chỉ nói với pane 1 (Orchestrator). 8 pane còn lại tự awake khi cần.</a:t>
            </a:r>
            <a:endParaRPr lang="en-US" sz="1300" dirty="0"/>
          </a:p>
        </p:txBody>
      </p:sp>
      <p:sp>
        <p:nvSpPr>
          <p:cNvPr id="11" name="Text 9"/>
          <p:cNvSpPr/>
          <p:nvPr/>
        </p:nvSpPr>
        <p:spPr>
          <a:xfrm>
            <a:off x="11338560" y="6492240"/>
            <a:ext cx="731520" cy="228600"/>
          </a:xfrm>
          <a:prstGeom prst="rect">
            <a:avLst/>
          </a:prstGeom>
          <a:noFill/>
          <a:ln/>
        </p:spPr>
        <p:txBody>
          <a:bodyPr wrap="square" lIns="0" tIns="0" rIns="0" bIns="0" rtlCol="0" anchor="ctr"/>
          <a:lstStyle/>
          <a:p>
            <a:pPr marL="0" indent="0" algn="r">
              <a:buNone/>
            </a:pPr>
            <a:r>
              <a:rPr lang="en-US" sz="900" dirty="0">
                <a:solidFill>
                  <a:srgbClr val="8B949E"/>
                </a:solidFill>
                <a:latin typeface="Consolas" pitchFamily="34" charset="0"/>
                <a:ea typeface="Consolas" pitchFamily="34" charset="-122"/>
                <a:cs typeface="Consolas" pitchFamily="34" charset="-120"/>
              </a:rPr>
              <a:t>23 / 40</a:t>
            </a:r>
            <a:endParaRPr lang="en-US" sz="900" dirty="0"/>
          </a:p>
        </p:txBody>
      </p:sp>
      <p:sp>
        <p:nvSpPr>
          <p:cNvPr id="12" name="Text 10"/>
          <p:cNvSpPr/>
          <p:nvPr/>
        </p:nvSpPr>
        <p:spPr>
          <a:xfrm>
            <a:off x="365760" y="6492240"/>
            <a:ext cx="1097280" cy="228600"/>
          </a:xfrm>
          <a:prstGeom prst="rect">
            <a:avLst/>
          </a:prstGeom>
          <a:noFill/>
          <a:ln/>
        </p:spPr>
        <p:txBody>
          <a:bodyPr wrap="square" lIns="0" tIns="0" rIns="0" bIns="0" rtlCol="0" anchor="ctr"/>
          <a:lstStyle/>
          <a:p>
            <a:pPr marL="0" indent="0" algn="l">
              <a:buNone/>
            </a:pPr>
            <a:r>
              <a:rPr lang="en-US" sz="900" dirty="0">
                <a:solidFill>
                  <a:srgbClr val="8B949E"/>
                </a:solidFill>
                <a:latin typeface="Consolas" pitchFamily="34" charset="0"/>
                <a:ea typeface="Consolas" pitchFamily="34" charset="-122"/>
                <a:cs typeface="Consolas" pitchFamily="34" charset="-120"/>
              </a:rPr>
              <a:t>v10.23</a:t>
            </a:r>
            <a:endParaRPr lang="en-US" sz="900" dirty="0"/>
          </a:p>
        </p:txBody>
      </p:sp>
      <p:sp>
        <p:nvSpPr>
          <p:cNvPr id="13" name="Text 11"/>
          <p:cNvSpPr/>
          <p:nvPr/>
        </p:nvSpPr>
        <p:spPr>
          <a:xfrm>
            <a:off x="4572000" y="6492240"/>
            <a:ext cx="6400800" cy="228600"/>
          </a:xfrm>
          <a:prstGeom prst="rect">
            <a:avLst/>
          </a:prstGeom>
          <a:noFill/>
          <a:ln/>
        </p:spPr>
        <p:txBody>
          <a:bodyPr wrap="square" lIns="0" tIns="0" rIns="0" bIns="0" rtlCol="0" anchor="ctr"/>
          <a:lstStyle/>
          <a:p>
            <a:pPr marL="0" indent="0" algn="ctr">
              <a:buNone/>
            </a:pPr>
            <a:r>
              <a:rPr lang="en-US" sz="900" dirty="0">
                <a:solidFill>
                  <a:srgbClr val="8B949E"/>
                </a:solidFill>
                <a:latin typeface="Consolas" pitchFamily="34" charset="0"/>
                <a:ea typeface="Consolas" pitchFamily="34" charset="-122"/>
                <a:cs typeface="Consolas" pitchFamily="34" charset="-120"/>
              </a:rPr>
              <a:t>Product Engineering Agent Framework</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365760" y="228600"/>
            <a:ext cx="8229600" cy="274320"/>
          </a:xfrm>
          <a:prstGeom prst="rect">
            <a:avLst/>
          </a:prstGeom>
          <a:noFill/>
          <a:ln/>
        </p:spPr>
        <p:txBody>
          <a:bodyPr wrap="square" lIns="0" tIns="0" rIns="0" bIns="0" rtlCol="0" anchor="ctr"/>
          <a:lstStyle/>
          <a:p>
            <a:pPr marL="0" indent="0">
              <a:buNone/>
            </a:pPr>
            <a:r>
              <a:rPr lang="en-US" sz="1100" dirty="0">
                <a:solidFill>
                  <a:srgbClr val="2EA043"/>
                </a:solidFill>
                <a:latin typeface="Consolas" pitchFamily="34" charset="0"/>
                <a:ea typeface="Consolas" pitchFamily="34" charset="-122"/>
                <a:cs typeface="Consolas" pitchFamily="34" charset="-120"/>
              </a:rPr>
              <a:t>$ </a:t>
            </a:r>
            <a:r>
              <a:rPr lang="en-US" sz="1100" dirty="0">
                <a:solidFill>
                  <a:srgbClr val="8B949E"/>
                </a:solidFill>
                <a:latin typeface="Consolas" pitchFamily="34" charset="0"/>
                <a:ea typeface="Consolas" pitchFamily="34" charset="-122"/>
                <a:cs typeface="Consolas" pitchFamily="34" charset="-120"/>
              </a:rPr>
              <a:t>18_workflow_day1.md</a:t>
            </a:r>
            <a:endParaRPr lang="en-US" sz="1100" dirty="0"/>
          </a:p>
        </p:txBody>
      </p:sp>
      <p:sp>
        <p:nvSpPr>
          <p:cNvPr id="3" name="Text 1"/>
          <p:cNvSpPr/>
          <p:nvPr/>
        </p:nvSpPr>
        <p:spPr>
          <a:xfrm>
            <a:off x="365760" y="548640"/>
            <a:ext cx="11430000" cy="640080"/>
          </a:xfrm>
          <a:prstGeom prst="rect">
            <a:avLst/>
          </a:prstGeom>
          <a:noFill/>
          <a:ln/>
        </p:spPr>
        <p:txBody>
          <a:bodyPr wrap="square" lIns="0" tIns="0" rIns="0" bIns="0" rtlCol="0" anchor="ctr"/>
          <a:lstStyle/>
          <a:p>
            <a:pPr marL="0" indent="0">
              <a:buNone/>
            </a:pPr>
            <a:r>
              <a:rPr lang="en-US" sz="3000" b="1" dirty="0">
                <a:solidFill>
                  <a:srgbClr val="E6EDF3"/>
                </a:solidFill>
                <a:latin typeface="Consolas" pitchFamily="34" charset="0"/>
                <a:ea typeface="Consolas" pitchFamily="34" charset="-122"/>
                <a:cs typeface="Consolas" pitchFamily="34" charset="-120"/>
              </a:rPr>
              <a:t>Workflow — Day 1 (Discovery → Solution)</a:t>
            </a:r>
            <a:endParaRPr lang="en-US" sz="3000" dirty="0"/>
          </a:p>
        </p:txBody>
      </p:sp>
      <p:sp>
        <p:nvSpPr>
          <p:cNvPr id="4" name="Text 2"/>
          <p:cNvSpPr/>
          <p:nvPr/>
        </p:nvSpPr>
        <p:spPr>
          <a:xfrm>
            <a:off x="365760" y="1143000"/>
            <a:ext cx="11430000" cy="365760"/>
          </a:xfrm>
          <a:prstGeom prst="rect">
            <a:avLst/>
          </a:prstGeom>
          <a:noFill/>
          <a:ln/>
        </p:spPr>
        <p:txBody>
          <a:bodyPr wrap="square" lIns="0" tIns="0" rIns="0" bIns="0" rtlCol="0" anchor="ctr"/>
          <a:lstStyle/>
          <a:p>
            <a:pPr marL="0" indent="0">
              <a:buNone/>
            </a:pPr>
            <a:r>
              <a:rPr lang="en-US" sz="1400" i="1" dirty="0">
                <a:solidFill>
                  <a:srgbClr val="8B949E"/>
                </a:solidFill>
                <a:latin typeface="Calibri" pitchFamily="34" charset="0"/>
                <a:ea typeface="Calibri" pitchFamily="34" charset="-122"/>
                <a:cs typeface="Calibri" pitchFamily="34" charset="-120"/>
              </a:rPr>
              <a:t>Bạn chỉ chat với Orchestrator, mỗi turn ngắn gọn</a:t>
            </a:r>
            <a:endParaRPr lang="en-US" sz="1400" dirty="0"/>
          </a:p>
        </p:txBody>
      </p:sp>
      <p:sp>
        <p:nvSpPr>
          <p:cNvPr id="5" name="Shape 3"/>
          <p:cNvSpPr/>
          <p:nvPr/>
        </p:nvSpPr>
        <p:spPr>
          <a:xfrm>
            <a:off x="365760" y="1783080"/>
            <a:ext cx="11430000" cy="4572000"/>
          </a:xfrm>
          <a:prstGeom prst="rect">
            <a:avLst/>
          </a:prstGeom>
          <a:solidFill>
            <a:srgbClr val="161B22"/>
          </a:solidFill>
          <a:ln w="12700">
            <a:solidFill>
              <a:srgbClr val="30363D"/>
            </a:solidFill>
            <a:prstDash val="solid"/>
          </a:ln>
        </p:spPr>
        <p:txBody>
          <a:bodyPr/>
          <a:lstStyle/>
          <a:p>
            <a:endParaRPr/>
          </a:p>
        </p:txBody>
      </p:sp>
      <p:sp>
        <p:nvSpPr>
          <p:cNvPr id="6" name="Shape 4"/>
          <p:cNvSpPr/>
          <p:nvPr/>
        </p:nvSpPr>
        <p:spPr>
          <a:xfrm>
            <a:off x="457200" y="1874520"/>
            <a:ext cx="91440" cy="91440"/>
          </a:xfrm>
          <a:prstGeom prst="ellipse">
            <a:avLst/>
          </a:prstGeom>
          <a:solidFill>
            <a:srgbClr val="F85149"/>
          </a:solidFill>
          <a:ln w="12700">
            <a:solidFill>
              <a:srgbClr val="F85149"/>
            </a:solidFill>
            <a:prstDash val="solid"/>
          </a:ln>
        </p:spPr>
        <p:txBody>
          <a:bodyPr/>
          <a:lstStyle/>
          <a:p>
            <a:endParaRPr/>
          </a:p>
        </p:txBody>
      </p:sp>
      <p:sp>
        <p:nvSpPr>
          <p:cNvPr id="7" name="Shape 5"/>
          <p:cNvSpPr/>
          <p:nvPr/>
        </p:nvSpPr>
        <p:spPr>
          <a:xfrm>
            <a:off x="585216" y="1874520"/>
            <a:ext cx="91440" cy="91440"/>
          </a:xfrm>
          <a:prstGeom prst="ellipse">
            <a:avLst/>
          </a:prstGeom>
          <a:solidFill>
            <a:srgbClr val="D29922"/>
          </a:solidFill>
          <a:ln w="12700">
            <a:solidFill>
              <a:srgbClr val="D29922"/>
            </a:solidFill>
            <a:prstDash val="solid"/>
          </a:ln>
        </p:spPr>
        <p:txBody>
          <a:bodyPr/>
          <a:lstStyle/>
          <a:p>
            <a:endParaRPr/>
          </a:p>
        </p:txBody>
      </p:sp>
      <p:sp>
        <p:nvSpPr>
          <p:cNvPr id="8" name="Shape 6"/>
          <p:cNvSpPr/>
          <p:nvPr/>
        </p:nvSpPr>
        <p:spPr>
          <a:xfrm>
            <a:off x="713232" y="1874520"/>
            <a:ext cx="91440" cy="91440"/>
          </a:xfrm>
          <a:prstGeom prst="ellipse">
            <a:avLst/>
          </a:prstGeom>
          <a:solidFill>
            <a:srgbClr val="3FB950"/>
          </a:solidFill>
          <a:ln w="12700">
            <a:solidFill>
              <a:srgbClr val="3FB950"/>
            </a:solidFill>
            <a:prstDash val="solid"/>
          </a:ln>
        </p:spPr>
        <p:txBody>
          <a:bodyPr/>
          <a:lstStyle/>
          <a:p>
            <a:endParaRPr/>
          </a:p>
        </p:txBody>
      </p:sp>
      <p:sp>
        <p:nvSpPr>
          <p:cNvPr id="9" name="Text 7"/>
          <p:cNvSpPr/>
          <p:nvPr/>
        </p:nvSpPr>
        <p:spPr>
          <a:xfrm>
            <a:off x="502920" y="2103120"/>
            <a:ext cx="11155680" cy="4206240"/>
          </a:xfrm>
          <a:prstGeom prst="rect">
            <a:avLst/>
          </a:prstGeom>
          <a:noFill/>
          <a:ln/>
        </p:spPr>
        <p:txBody>
          <a:bodyPr wrap="square" lIns="0" tIns="0" rIns="0" bIns="0" rtlCol="0" anchor="t"/>
          <a:lstStyle/>
          <a:p>
            <a:pPr marL="0" indent="0">
              <a:buNone/>
            </a:pPr>
            <a:r>
              <a:rPr lang="en-US" sz="1200" dirty="0">
                <a:solidFill>
                  <a:srgbClr val="E6EDF3"/>
                </a:solidFill>
                <a:latin typeface="Consolas" pitchFamily="34" charset="0"/>
                <a:ea typeface="Consolas" pitchFamily="34" charset="-122"/>
                <a:cs typeface="Consolas" pitchFamily="34" charset="-120"/>
              </a:rPr>
              <a:t>USER : Bắt đầu dự án NestFi — app quản lý tài chính gia đình.</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ORCH : (delegate_phase.sh discovery → PM, BA, UX song song)</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       Đã route 3 agent. Sẽ ping khi có câu hỏi hoặc xong.</a:t>
            </a:r>
            <a:endParaRPr lang="en-US" sz="1200" dirty="0"/>
          </a:p>
          <a:p>
            <a:pPr marL="0" indent="0">
              <a:buNone/>
            </a:pP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[5 phút sau, SA chưa cần — PM file question vì PRODUCT_IDEA chưa đủ]</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[INBOX] new clarification from PM — đối tượng user chính ai? B2C? B2B?</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ORCH : PM hỏi: bạn nhắm user B2C (cá nhân/gia đình) hay B2B (kế toán)?</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USER : B2C — gia đình 2-5 thành viên, không cần kế toán pro.</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ORCH : (answer_role.sh PM ... → PM resume → ghi PRD)</a:t>
            </a:r>
            <a:endParaRPr lang="en-US" sz="1200" dirty="0"/>
          </a:p>
          <a:p>
            <a:pPr marL="0" indent="0">
              <a:buNone/>
            </a:pP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USER : OK tiếp tục solution design.</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ORCH : (delegate_phase.sh solution → SA, ask về 12 stack dimensions)</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       SA hỏi: Stack đề xuất — Next.js / FastAPI / Postgres / Tailwind …</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USER : OK với defaults, dùng Supabase free tier.</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ORCH : (answer_role.sh SA ... → SA viết TECH_STACK, ADR, API_CONTRACT)</a:t>
            </a:r>
            <a:endParaRPr lang="en-US" sz="1200" dirty="0"/>
          </a:p>
        </p:txBody>
      </p:sp>
      <p:sp>
        <p:nvSpPr>
          <p:cNvPr id="10" name="Text 8"/>
          <p:cNvSpPr/>
          <p:nvPr/>
        </p:nvSpPr>
        <p:spPr>
          <a:xfrm>
            <a:off x="11338560" y="6492240"/>
            <a:ext cx="731520" cy="228600"/>
          </a:xfrm>
          <a:prstGeom prst="rect">
            <a:avLst/>
          </a:prstGeom>
          <a:noFill/>
          <a:ln/>
        </p:spPr>
        <p:txBody>
          <a:bodyPr wrap="square" lIns="0" tIns="0" rIns="0" bIns="0" rtlCol="0" anchor="ctr"/>
          <a:lstStyle/>
          <a:p>
            <a:pPr marL="0" indent="0" algn="r">
              <a:buNone/>
            </a:pPr>
            <a:r>
              <a:rPr lang="en-US" sz="900" dirty="0">
                <a:solidFill>
                  <a:srgbClr val="8B949E"/>
                </a:solidFill>
                <a:latin typeface="Consolas" pitchFamily="34" charset="0"/>
                <a:ea typeface="Consolas" pitchFamily="34" charset="-122"/>
                <a:cs typeface="Consolas" pitchFamily="34" charset="-120"/>
              </a:rPr>
              <a:t>24 / 40</a:t>
            </a:r>
            <a:endParaRPr lang="en-US" sz="900" dirty="0"/>
          </a:p>
        </p:txBody>
      </p:sp>
      <p:sp>
        <p:nvSpPr>
          <p:cNvPr id="11" name="Text 9"/>
          <p:cNvSpPr/>
          <p:nvPr/>
        </p:nvSpPr>
        <p:spPr>
          <a:xfrm>
            <a:off x="365760" y="6492240"/>
            <a:ext cx="1097280" cy="228600"/>
          </a:xfrm>
          <a:prstGeom prst="rect">
            <a:avLst/>
          </a:prstGeom>
          <a:noFill/>
          <a:ln/>
        </p:spPr>
        <p:txBody>
          <a:bodyPr wrap="square" lIns="0" tIns="0" rIns="0" bIns="0" rtlCol="0" anchor="ctr"/>
          <a:lstStyle/>
          <a:p>
            <a:pPr marL="0" indent="0" algn="l">
              <a:buNone/>
            </a:pPr>
            <a:r>
              <a:rPr lang="en-US" sz="900" dirty="0">
                <a:solidFill>
                  <a:srgbClr val="8B949E"/>
                </a:solidFill>
                <a:latin typeface="Consolas" pitchFamily="34" charset="0"/>
                <a:ea typeface="Consolas" pitchFamily="34" charset="-122"/>
                <a:cs typeface="Consolas" pitchFamily="34" charset="-120"/>
              </a:rPr>
              <a:t>v10.23</a:t>
            </a:r>
            <a:endParaRPr lang="en-US" sz="900" dirty="0"/>
          </a:p>
        </p:txBody>
      </p:sp>
      <p:sp>
        <p:nvSpPr>
          <p:cNvPr id="12" name="Text 10"/>
          <p:cNvSpPr/>
          <p:nvPr/>
        </p:nvSpPr>
        <p:spPr>
          <a:xfrm>
            <a:off x="4572000" y="6492240"/>
            <a:ext cx="6400800" cy="228600"/>
          </a:xfrm>
          <a:prstGeom prst="rect">
            <a:avLst/>
          </a:prstGeom>
          <a:noFill/>
          <a:ln/>
        </p:spPr>
        <p:txBody>
          <a:bodyPr wrap="square" lIns="0" tIns="0" rIns="0" bIns="0" rtlCol="0" anchor="ctr"/>
          <a:lstStyle/>
          <a:p>
            <a:pPr marL="0" indent="0" algn="ctr">
              <a:buNone/>
            </a:pPr>
            <a:r>
              <a:rPr lang="en-US" sz="900" dirty="0">
                <a:solidFill>
                  <a:srgbClr val="8B949E"/>
                </a:solidFill>
                <a:latin typeface="Consolas" pitchFamily="34" charset="0"/>
                <a:ea typeface="Consolas" pitchFamily="34" charset="-122"/>
                <a:cs typeface="Consolas" pitchFamily="34" charset="-120"/>
              </a:rPr>
              <a:t>Product Engineering Agent Framework</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3">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365760" y="228600"/>
            <a:ext cx="8229600" cy="274320"/>
          </a:xfrm>
          <a:prstGeom prst="rect">
            <a:avLst/>
          </a:prstGeom>
          <a:noFill/>
          <a:ln/>
        </p:spPr>
        <p:txBody>
          <a:bodyPr wrap="square" lIns="0" tIns="0" rIns="0" bIns="0" rtlCol="0" anchor="ctr"/>
          <a:lstStyle/>
          <a:p>
            <a:pPr marL="0" indent="0">
              <a:buNone/>
            </a:pPr>
            <a:r>
              <a:rPr lang="en-US" sz="1100" dirty="0">
                <a:solidFill>
                  <a:srgbClr val="2EA043"/>
                </a:solidFill>
                <a:latin typeface="Consolas" pitchFamily="34" charset="0"/>
                <a:ea typeface="Consolas" pitchFamily="34" charset="-122"/>
                <a:cs typeface="Consolas" pitchFamily="34" charset="-120"/>
              </a:rPr>
              <a:t>$ </a:t>
            </a:r>
            <a:r>
              <a:rPr lang="en-US" sz="1100" dirty="0">
                <a:solidFill>
                  <a:srgbClr val="8B949E"/>
                </a:solidFill>
                <a:latin typeface="Consolas" pitchFamily="34" charset="0"/>
                <a:ea typeface="Consolas" pitchFamily="34" charset="-122"/>
                <a:cs typeface="Consolas" pitchFamily="34" charset="-120"/>
              </a:rPr>
              <a:t>19_workflow_day2.md</a:t>
            </a:r>
            <a:endParaRPr lang="en-US" sz="1100" dirty="0"/>
          </a:p>
        </p:txBody>
      </p:sp>
      <p:sp>
        <p:nvSpPr>
          <p:cNvPr id="3" name="Text 1"/>
          <p:cNvSpPr/>
          <p:nvPr/>
        </p:nvSpPr>
        <p:spPr>
          <a:xfrm>
            <a:off x="365760" y="548640"/>
            <a:ext cx="11430000" cy="640080"/>
          </a:xfrm>
          <a:prstGeom prst="rect">
            <a:avLst/>
          </a:prstGeom>
          <a:noFill/>
          <a:ln/>
        </p:spPr>
        <p:txBody>
          <a:bodyPr wrap="square" lIns="0" tIns="0" rIns="0" bIns="0" rtlCol="0" anchor="ctr"/>
          <a:lstStyle/>
          <a:p>
            <a:pPr marL="0" indent="0">
              <a:buNone/>
            </a:pPr>
            <a:r>
              <a:rPr lang="en-US" sz="3000" b="1" dirty="0">
                <a:solidFill>
                  <a:srgbClr val="E6EDF3"/>
                </a:solidFill>
                <a:latin typeface="Consolas" pitchFamily="34" charset="0"/>
                <a:ea typeface="Consolas" pitchFamily="34" charset="-122"/>
                <a:cs typeface="Consolas" pitchFamily="34" charset="-120"/>
              </a:rPr>
              <a:t>Workflow — Day 2+ (Build → Test → Release)</a:t>
            </a:r>
            <a:endParaRPr lang="en-US" sz="3000" dirty="0"/>
          </a:p>
        </p:txBody>
      </p:sp>
      <p:sp>
        <p:nvSpPr>
          <p:cNvPr id="4" name="Text 2"/>
          <p:cNvSpPr/>
          <p:nvPr/>
        </p:nvSpPr>
        <p:spPr>
          <a:xfrm>
            <a:off x="365760" y="1143000"/>
            <a:ext cx="11430000" cy="365760"/>
          </a:xfrm>
          <a:prstGeom prst="rect">
            <a:avLst/>
          </a:prstGeom>
          <a:noFill/>
          <a:ln/>
        </p:spPr>
        <p:txBody>
          <a:bodyPr wrap="square" lIns="0" tIns="0" rIns="0" bIns="0" rtlCol="0" anchor="ctr"/>
          <a:lstStyle/>
          <a:p>
            <a:pPr marL="0" indent="0">
              <a:buNone/>
            </a:pPr>
            <a:r>
              <a:rPr lang="en-US" sz="1400" i="1" dirty="0">
                <a:solidFill>
                  <a:srgbClr val="8B949E"/>
                </a:solidFill>
                <a:latin typeface="Calibri" pitchFamily="34" charset="0"/>
                <a:ea typeface="Calibri" pitchFamily="34" charset="-122"/>
                <a:cs typeface="Calibri" pitchFamily="34" charset="-120"/>
              </a:rPr>
              <a:t>Resume từ memory, đẩy tiếp phase, ship</a:t>
            </a:r>
            <a:endParaRPr lang="en-US" sz="1400" dirty="0"/>
          </a:p>
        </p:txBody>
      </p:sp>
      <p:sp>
        <p:nvSpPr>
          <p:cNvPr id="5" name="Shape 3"/>
          <p:cNvSpPr/>
          <p:nvPr/>
        </p:nvSpPr>
        <p:spPr>
          <a:xfrm>
            <a:off x="365760" y="1783080"/>
            <a:ext cx="11430000" cy="4572000"/>
          </a:xfrm>
          <a:prstGeom prst="rect">
            <a:avLst/>
          </a:prstGeom>
          <a:solidFill>
            <a:srgbClr val="161B22"/>
          </a:solidFill>
          <a:ln w="12700">
            <a:solidFill>
              <a:srgbClr val="30363D"/>
            </a:solidFill>
            <a:prstDash val="solid"/>
          </a:ln>
        </p:spPr>
        <p:txBody>
          <a:bodyPr/>
          <a:lstStyle/>
          <a:p>
            <a:endParaRPr/>
          </a:p>
        </p:txBody>
      </p:sp>
      <p:sp>
        <p:nvSpPr>
          <p:cNvPr id="6" name="Shape 4"/>
          <p:cNvSpPr/>
          <p:nvPr/>
        </p:nvSpPr>
        <p:spPr>
          <a:xfrm>
            <a:off x="457200" y="1874520"/>
            <a:ext cx="91440" cy="91440"/>
          </a:xfrm>
          <a:prstGeom prst="ellipse">
            <a:avLst/>
          </a:prstGeom>
          <a:solidFill>
            <a:srgbClr val="F85149"/>
          </a:solidFill>
          <a:ln w="12700">
            <a:solidFill>
              <a:srgbClr val="F85149"/>
            </a:solidFill>
            <a:prstDash val="solid"/>
          </a:ln>
        </p:spPr>
        <p:txBody>
          <a:bodyPr/>
          <a:lstStyle/>
          <a:p>
            <a:endParaRPr/>
          </a:p>
        </p:txBody>
      </p:sp>
      <p:sp>
        <p:nvSpPr>
          <p:cNvPr id="7" name="Shape 5"/>
          <p:cNvSpPr/>
          <p:nvPr/>
        </p:nvSpPr>
        <p:spPr>
          <a:xfrm>
            <a:off x="585216" y="1874520"/>
            <a:ext cx="91440" cy="91440"/>
          </a:xfrm>
          <a:prstGeom prst="ellipse">
            <a:avLst/>
          </a:prstGeom>
          <a:solidFill>
            <a:srgbClr val="D29922"/>
          </a:solidFill>
          <a:ln w="12700">
            <a:solidFill>
              <a:srgbClr val="D29922"/>
            </a:solidFill>
            <a:prstDash val="solid"/>
          </a:ln>
        </p:spPr>
        <p:txBody>
          <a:bodyPr/>
          <a:lstStyle/>
          <a:p>
            <a:endParaRPr/>
          </a:p>
        </p:txBody>
      </p:sp>
      <p:sp>
        <p:nvSpPr>
          <p:cNvPr id="8" name="Shape 6"/>
          <p:cNvSpPr/>
          <p:nvPr/>
        </p:nvSpPr>
        <p:spPr>
          <a:xfrm>
            <a:off x="713232" y="1874520"/>
            <a:ext cx="91440" cy="91440"/>
          </a:xfrm>
          <a:prstGeom prst="ellipse">
            <a:avLst/>
          </a:prstGeom>
          <a:solidFill>
            <a:srgbClr val="3FB950"/>
          </a:solidFill>
          <a:ln w="12700">
            <a:solidFill>
              <a:srgbClr val="3FB950"/>
            </a:solidFill>
            <a:prstDash val="solid"/>
          </a:ln>
        </p:spPr>
        <p:txBody>
          <a:bodyPr/>
          <a:lstStyle/>
          <a:p>
            <a:endParaRPr/>
          </a:p>
        </p:txBody>
      </p:sp>
      <p:sp>
        <p:nvSpPr>
          <p:cNvPr id="9" name="Text 7"/>
          <p:cNvSpPr/>
          <p:nvPr/>
        </p:nvSpPr>
        <p:spPr>
          <a:xfrm>
            <a:off x="502920" y="2103120"/>
            <a:ext cx="11155680" cy="4206240"/>
          </a:xfrm>
          <a:prstGeom prst="rect">
            <a:avLst/>
          </a:prstGeom>
          <a:noFill/>
          <a:ln/>
        </p:spPr>
        <p:txBody>
          <a:bodyPr wrap="square" lIns="0" tIns="0" rIns="0" bIns="0" rtlCol="0" anchor="t"/>
          <a:lstStyle/>
          <a:p>
            <a:pPr marL="0" indent="0">
              <a:buNone/>
            </a:pPr>
            <a:r>
              <a:rPr lang="en-US" sz="1200" dirty="0">
                <a:solidFill>
                  <a:srgbClr val="7CE38B"/>
                </a:solidFill>
                <a:latin typeface="Consolas" pitchFamily="34" charset="0"/>
                <a:ea typeface="Consolas" pitchFamily="34" charset="-122"/>
                <a:cs typeface="Consolas" pitchFamily="34" charset="-120"/>
              </a:rPr>
              <a:t>$ bash scripts/start_agents_tmux.sh nestfi-ai-room</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[v10.5] RESUME mode — non-empty memory/SA.md detected</a:t>
            </a:r>
            <a:endParaRPr lang="en-US" sz="1200" dirty="0"/>
          </a:p>
          <a:p>
            <a:pPr marL="0" indent="0">
              <a:buNone/>
            </a:pP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[Orch auto-ping]  [RESUME] Run rescan_project.sh first.</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ORCH : Chào buổi sáng. Phase hiện tại: 3_PLANNING (BE+FE+QA+DEL done).</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       Sẵn sàng vào 4_BUILD. Có 0 question pending. Tiếp tục?</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USER : Yes, build.</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ORCH : (delegate_phase.sh build → BE + FE)</a:t>
            </a:r>
            <a:endParaRPr lang="en-US" sz="1200" dirty="0"/>
          </a:p>
          <a:p>
            <a:pPr marL="0" indent="0">
              <a:buNone/>
            </a:pP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[~30 phút sau BE và FE đều notify done]</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USER : Ship it.</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ORCH : (delegate_phase.sh release → test phase first)</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       QA chạy test, viết VERDICT: PASS → auto-route DELIVERY.</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       DELIVERY hỏi: ports FE=3000 BE=8000 DB=5432 OK?</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USER : OK defaults.</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ORCH : (answer_role.sh DELIVERY → docker compose up --build -d → URL ready)</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       App live tại http://localhost:3000  ▣  RELEASE_NOTES updated.</a:t>
            </a:r>
            <a:endParaRPr lang="en-US" sz="1200" dirty="0"/>
          </a:p>
        </p:txBody>
      </p:sp>
      <p:sp>
        <p:nvSpPr>
          <p:cNvPr id="10" name="Text 8"/>
          <p:cNvSpPr/>
          <p:nvPr/>
        </p:nvSpPr>
        <p:spPr>
          <a:xfrm>
            <a:off x="11338560" y="6492240"/>
            <a:ext cx="731520" cy="228600"/>
          </a:xfrm>
          <a:prstGeom prst="rect">
            <a:avLst/>
          </a:prstGeom>
          <a:noFill/>
          <a:ln/>
        </p:spPr>
        <p:txBody>
          <a:bodyPr wrap="square" lIns="0" tIns="0" rIns="0" bIns="0" rtlCol="0" anchor="ctr"/>
          <a:lstStyle/>
          <a:p>
            <a:pPr marL="0" indent="0" algn="r">
              <a:buNone/>
            </a:pPr>
            <a:r>
              <a:rPr lang="en-US" sz="900" dirty="0">
                <a:solidFill>
                  <a:srgbClr val="8B949E"/>
                </a:solidFill>
                <a:latin typeface="Consolas" pitchFamily="34" charset="0"/>
                <a:ea typeface="Consolas" pitchFamily="34" charset="-122"/>
                <a:cs typeface="Consolas" pitchFamily="34" charset="-120"/>
              </a:rPr>
              <a:t>25 / 40</a:t>
            </a:r>
            <a:endParaRPr lang="en-US" sz="900" dirty="0"/>
          </a:p>
        </p:txBody>
      </p:sp>
      <p:sp>
        <p:nvSpPr>
          <p:cNvPr id="11" name="Text 9"/>
          <p:cNvSpPr/>
          <p:nvPr/>
        </p:nvSpPr>
        <p:spPr>
          <a:xfrm>
            <a:off x="365760" y="6492240"/>
            <a:ext cx="1097280" cy="228600"/>
          </a:xfrm>
          <a:prstGeom prst="rect">
            <a:avLst/>
          </a:prstGeom>
          <a:noFill/>
          <a:ln/>
        </p:spPr>
        <p:txBody>
          <a:bodyPr wrap="square" lIns="0" tIns="0" rIns="0" bIns="0" rtlCol="0" anchor="ctr"/>
          <a:lstStyle/>
          <a:p>
            <a:pPr marL="0" indent="0" algn="l">
              <a:buNone/>
            </a:pPr>
            <a:r>
              <a:rPr lang="en-US" sz="900" dirty="0">
                <a:solidFill>
                  <a:srgbClr val="8B949E"/>
                </a:solidFill>
                <a:latin typeface="Consolas" pitchFamily="34" charset="0"/>
                <a:ea typeface="Consolas" pitchFamily="34" charset="-122"/>
                <a:cs typeface="Consolas" pitchFamily="34" charset="-120"/>
              </a:rPr>
              <a:t>v10.23</a:t>
            </a:r>
            <a:endParaRPr lang="en-US" sz="900" dirty="0"/>
          </a:p>
        </p:txBody>
      </p:sp>
      <p:sp>
        <p:nvSpPr>
          <p:cNvPr id="12" name="Text 10"/>
          <p:cNvSpPr/>
          <p:nvPr/>
        </p:nvSpPr>
        <p:spPr>
          <a:xfrm>
            <a:off x="4572000" y="6492240"/>
            <a:ext cx="6400800" cy="228600"/>
          </a:xfrm>
          <a:prstGeom prst="rect">
            <a:avLst/>
          </a:prstGeom>
          <a:noFill/>
          <a:ln/>
        </p:spPr>
        <p:txBody>
          <a:bodyPr wrap="square" lIns="0" tIns="0" rIns="0" bIns="0" rtlCol="0" anchor="ctr"/>
          <a:lstStyle/>
          <a:p>
            <a:pPr marL="0" indent="0" algn="ctr">
              <a:buNone/>
            </a:pPr>
            <a:r>
              <a:rPr lang="en-US" sz="900" dirty="0">
                <a:solidFill>
                  <a:srgbClr val="8B949E"/>
                </a:solidFill>
                <a:latin typeface="Consolas" pitchFamily="34" charset="0"/>
                <a:ea typeface="Consolas" pitchFamily="34" charset="-122"/>
                <a:cs typeface="Consolas" pitchFamily="34" charset="-120"/>
              </a:rPr>
              <a:t>Product Engineering Agent Framework</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4">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365760" y="228600"/>
            <a:ext cx="8229600" cy="274320"/>
          </a:xfrm>
          <a:prstGeom prst="rect">
            <a:avLst/>
          </a:prstGeom>
          <a:noFill/>
          <a:ln/>
        </p:spPr>
        <p:txBody>
          <a:bodyPr wrap="square" lIns="0" tIns="0" rIns="0" bIns="0" rtlCol="0" anchor="ctr"/>
          <a:lstStyle/>
          <a:p>
            <a:pPr marL="0" indent="0">
              <a:buNone/>
            </a:pPr>
            <a:r>
              <a:rPr lang="en-US" sz="1100" dirty="0">
                <a:solidFill>
                  <a:srgbClr val="2EA043"/>
                </a:solidFill>
                <a:latin typeface="Consolas" pitchFamily="34" charset="0"/>
                <a:ea typeface="Consolas" pitchFamily="34" charset="-122"/>
                <a:cs typeface="Consolas" pitchFamily="34" charset="-120"/>
              </a:rPr>
              <a:t>$ </a:t>
            </a:r>
            <a:r>
              <a:rPr lang="en-US" sz="1100" dirty="0">
                <a:solidFill>
                  <a:srgbClr val="8B949E"/>
                </a:solidFill>
                <a:latin typeface="Consolas" pitchFamily="34" charset="0"/>
                <a:ea typeface="Consolas" pitchFamily="34" charset="-122"/>
                <a:cs typeface="Consolas" pitchFamily="34" charset="-120"/>
              </a:rPr>
              <a:t>20_tech_stack_protocol.md</a:t>
            </a:r>
            <a:endParaRPr lang="en-US" sz="1100" dirty="0"/>
          </a:p>
        </p:txBody>
      </p:sp>
      <p:sp>
        <p:nvSpPr>
          <p:cNvPr id="3" name="Text 1"/>
          <p:cNvSpPr/>
          <p:nvPr/>
        </p:nvSpPr>
        <p:spPr>
          <a:xfrm>
            <a:off x="365760" y="548640"/>
            <a:ext cx="11430000" cy="640080"/>
          </a:xfrm>
          <a:prstGeom prst="rect">
            <a:avLst/>
          </a:prstGeom>
          <a:noFill/>
          <a:ln/>
        </p:spPr>
        <p:txBody>
          <a:bodyPr wrap="square" lIns="0" tIns="0" rIns="0" bIns="0" rtlCol="0" anchor="ctr"/>
          <a:lstStyle/>
          <a:p>
            <a:pPr marL="0" indent="0">
              <a:buNone/>
            </a:pPr>
            <a:r>
              <a:rPr lang="en-US" sz="3000" b="1" dirty="0">
                <a:solidFill>
                  <a:srgbClr val="E6EDF3"/>
                </a:solidFill>
                <a:latin typeface="Consolas" pitchFamily="34" charset="0"/>
                <a:ea typeface="Consolas" pitchFamily="34" charset="-122"/>
                <a:cs typeface="Consolas" pitchFamily="34" charset="-120"/>
              </a:rPr>
              <a:t>Tech Stack Confirmation Protocol (v10.7)</a:t>
            </a:r>
            <a:endParaRPr lang="en-US" sz="3000" dirty="0"/>
          </a:p>
        </p:txBody>
      </p:sp>
      <p:sp>
        <p:nvSpPr>
          <p:cNvPr id="4" name="Text 2"/>
          <p:cNvSpPr/>
          <p:nvPr/>
        </p:nvSpPr>
        <p:spPr>
          <a:xfrm>
            <a:off x="365760" y="1143000"/>
            <a:ext cx="11430000" cy="365760"/>
          </a:xfrm>
          <a:prstGeom prst="rect">
            <a:avLst/>
          </a:prstGeom>
          <a:noFill/>
          <a:ln/>
        </p:spPr>
        <p:txBody>
          <a:bodyPr wrap="square" lIns="0" tIns="0" rIns="0" bIns="0" rtlCol="0" anchor="ctr"/>
          <a:lstStyle/>
          <a:p>
            <a:pPr marL="0" indent="0">
              <a:buNone/>
            </a:pPr>
            <a:r>
              <a:rPr lang="en-US" sz="1400" i="1" dirty="0">
                <a:solidFill>
                  <a:srgbClr val="8B949E"/>
                </a:solidFill>
                <a:latin typeface="Calibri" pitchFamily="34" charset="0"/>
                <a:ea typeface="Calibri" pitchFamily="34" charset="-122"/>
                <a:cs typeface="Calibri" pitchFamily="34" charset="-120"/>
              </a:rPr>
              <a:t>SA không được tự pick Next.js/React/Postgres trên auto-pilot</a:t>
            </a:r>
            <a:endParaRPr lang="en-US" sz="1400" dirty="0"/>
          </a:p>
        </p:txBody>
      </p:sp>
      <p:sp>
        <p:nvSpPr>
          <p:cNvPr id="5" name="Text 3"/>
          <p:cNvSpPr/>
          <p:nvPr/>
        </p:nvSpPr>
        <p:spPr>
          <a:xfrm>
            <a:off x="365760" y="1783080"/>
            <a:ext cx="11430000" cy="640080"/>
          </a:xfrm>
          <a:prstGeom prst="rect">
            <a:avLst/>
          </a:prstGeom>
          <a:noFill/>
          <a:ln/>
        </p:spPr>
        <p:txBody>
          <a:bodyPr wrap="square" lIns="0" tIns="0" rIns="0" bIns="0" rtlCol="0" anchor="ctr"/>
          <a:lstStyle/>
          <a:p>
            <a:pPr marL="0" indent="0">
              <a:buNone/>
            </a:pPr>
            <a:r>
              <a:rPr lang="en-US" sz="1300" dirty="0">
                <a:solidFill>
                  <a:srgbClr val="E6EDF3"/>
                </a:solidFill>
                <a:latin typeface="Calibri" pitchFamily="34" charset="0"/>
                <a:ea typeface="Calibri" pitchFamily="34" charset="-122"/>
                <a:cs typeface="Calibri" pitchFamily="34" charset="-120"/>
              </a:rPr>
              <a:t>Trước khi viết TECH_STACK.md, SA phải gửi 1 câu hỏi batched với 12 dimensions để user confirm hoặc override:</a:t>
            </a:r>
            <a:endParaRPr lang="en-US" sz="1300" dirty="0"/>
          </a:p>
        </p:txBody>
      </p:sp>
      <p:sp>
        <p:nvSpPr>
          <p:cNvPr id="6" name="Shape 4"/>
          <p:cNvSpPr/>
          <p:nvPr/>
        </p:nvSpPr>
        <p:spPr>
          <a:xfrm>
            <a:off x="365760" y="2606040"/>
            <a:ext cx="3749040" cy="411480"/>
          </a:xfrm>
          <a:prstGeom prst="rect">
            <a:avLst/>
          </a:prstGeom>
          <a:solidFill>
            <a:srgbClr val="161B22"/>
          </a:solidFill>
          <a:ln w="12700">
            <a:solidFill>
              <a:srgbClr val="30363D"/>
            </a:solidFill>
            <a:prstDash val="solid"/>
          </a:ln>
        </p:spPr>
        <p:txBody>
          <a:bodyPr/>
          <a:lstStyle/>
          <a:p>
            <a:endParaRPr/>
          </a:p>
        </p:txBody>
      </p:sp>
      <p:sp>
        <p:nvSpPr>
          <p:cNvPr id="7" name="Shape 5"/>
          <p:cNvSpPr/>
          <p:nvPr/>
        </p:nvSpPr>
        <p:spPr>
          <a:xfrm>
            <a:off x="365760" y="2606040"/>
            <a:ext cx="54864" cy="411480"/>
          </a:xfrm>
          <a:prstGeom prst="rect">
            <a:avLst/>
          </a:prstGeom>
          <a:solidFill>
            <a:srgbClr val="7CE38B"/>
          </a:solidFill>
          <a:ln w="12700">
            <a:solidFill>
              <a:srgbClr val="7CE38B"/>
            </a:solidFill>
            <a:prstDash val="solid"/>
          </a:ln>
        </p:spPr>
        <p:txBody>
          <a:bodyPr/>
          <a:lstStyle/>
          <a:p>
            <a:endParaRPr/>
          </a:p>
        </p:txBody>
      </p:sp>
      <p:sp>
        <p:nvSpPr>
          <p:cNvPr id="8" name="Text 6"/>
          <p:cNvSpPr/>
          <p:nvPr/>
        </p:nvSpPr>
        <p:spPr>
          <a:xfrm>
            <a:off x="502920" y="2606040"/>
            <a:ext cx="3566160" cy="411480"/>
          </a:xfrm>
          <a:prstGeom prst="rect">
            <a:avLst/>
          </a:prstGeom>
          <a:noFill/>
          <a:ln/>
        </p:spPr>
        <p:txBody>
          <a:bodyPr wrap="square" lIns="0" tIns="0" rIns="0" bIns="0" rtlCol="0" anchor="ctr"/>
          <a:lstStyle/>
          <a:p>
            <a:pPr marL="0" indent="0">
              <a:buNone/>
            </a:pPr>
            <a:r>
              <a:rPr lang="en-US" sz="1200" dirty="0">
                <a:solidFill>
                  <a:srgbClr val="E6EDF3"/>
                </a:solidFill>
                <a:latin typeface="Consolas" pitchFamily="34" charset="0"/>
                <a:ea typeface="Consolas" pitchFamily="34" charset="-122"/>
                <a:cs typeface="Consolas" pitchFamily="34" charset="-120"/>
              </a:rPr>
              <a:t>1. Frontend framework</a:t>
            </a:r>
            <a:endParaRPr lang="en-US" sz="1200" dirty="0"/>
          </a:p>
        </p:txBody>
      </p:sp>
      <p:sp>
        <p:nvSpPr>
          <p:cNvPr id="9" name="Shape 7"/>
          <p:cNvSpPr/>
          <p:nvPr/>
        </p:nvSpPr>
        <p:spPr>
          <a:xfrm>
            <a:off x="4297680" y="2606040"/>
            <a:ext cx="3749040" cy="411480"/>
          </a:xfrm>
          <a:prstGeom prst="rect">
            <a:avLst/>
          </a:prstGeom>
          <a:solidFill>
            <a:srgbClr val="161B22"/>
          </a:solidFill>
          <a:ln w="12700">
            <a:solidFill>
              <a:srgbClr val="30363D"/>
            </a:solidFill>
            <a:prstDash val="solid"/>
          </a:ln>
        </p:spPr>
        <p:txBody>
          <a:bodyPr/>
          <a:lstStyle/>
          <a:p>
            <a:endParaRPr/>
          </a:p>
        </p:txBody>
      </p:sp>
      <p:sp>
        <p:nvSpPr>
          <p:cNvPr id="10" name="Shape 8"/>
          <p:cNvSpPr/>
          <p:nvPr/>
        </p:nvSpPr>
        <p:spPr>
          <a:xfrm>
            <a:off x="4297680" y="2606040"/>
            <a:ext cx="54864" cy="411480"/>
          </a:xfrm>
          <a:prstGeom prst="rect">
            <a:avLst/>
          </a:prstGeom>
          <a:solidFill>
            <a:srgbClr val="7CE38B"/>
          </a:solidFill>
          <a:ln w="12700">
            <a:solidFill>
              <a:srgbClr val="7CE38B"/>
            </a:solidFill>
            <a:prstDash val="solid"/>
          </a:ln>
        </p:spPr>
        <p:txBody>
          <a:bodyPr/>
          <a:lstStyle/>
          <a:p>
            <a:endParaRPr/>
          </a:p>
        </p:txBody>
      </p:sp>
      <p:sp>
        <p:nvSpPr>
          <p:cNvPr id="11" name="Text 9"/>
          <p:cNvSpPr/>
          <p:nvPr/>
        </p:nvSpPr>
        <p:spPr>
          <a:xfrm>
            <a:off x="4434840" y="2606040"/>
            <a:ext cx="3566160" cy="411480"/>
          </a:xfrm>
          <a:prstGeom prst="rect">
            <a:avLst/>
          </a:prstGeom>
          <a:noFill/>
          <a:ln/>
        </p:spPr>
        <p:txBody>
          <a:bodyPr wrap="square" lIns="0" tIns="0" rIns="0" bIns="0" rtlCol="0" anchor="ctr"/>
          <a:lstStyle/>
          <a:p>
            <a:pPr marL="0" indent="0">
              <a:buNone/>
            </a:pPr>
            <a:r>
              <a:rPr lang="en-US" sz="1200" dirty="0">
                <a:solidFill>
                  <a:srgbClr val="E6EDF3"/>
                </a:solidFill>
                <a:latin typeface="Consolas" pitchFamily="34" charset="0"/>
                <a:ea typeface="Consolas" pitchFamily="34" charset="-122"/>
                <a:cs typeface="Consolas" pitchFamily="34" charset="-120"/>
              </a:rPr>
              <a:t>2. Frontend language</a:t>
            </a:r>
            <a:endParaRPr lang="en-US" sz="1200" dirty="0"/>
          </a:p>
        </p:txBody>
      </p:sp>
      <p:sp>
        <p:nvSpPr>
          <p:cNvPr id="12" name="Shape 10"/>
          <p:cNvSpPr/>
          <p:nvPr/>
        </p:nvSpPr>
        <p:spPr>
          <a:xfrm>
            <a:off x="8229600" y="2606040"/>
            <a:ext cx="3749040" cy="411480"/>
          </a:xfrm>
          <a:prstGeom prst="rect">
            <a:avLst/>
          </a:prstGeom>
          <a:solidFill>
            <a:srgbClr val="161B22"/>
          </a:solidFill>
          <a:ln w="12700">
            <a:solidFill>
              <a:srgbClr val="30363D"/>
            </a:solidFill>
            <a:prstDash val="solid"/>
          </a:ln>
        </p:spPr>
        <p:txBody>
          <a:bodyPr/>
          <a:lstStyle/>
          <a:p>
            <a:endParaRPr/>
          </a:p>
        </p:txBody>
      </p:sp>
      <p:sp>
        <p:nvSpPr>
          <p:cNvPr id="13" name="Shape 11"/>
          <p:cNvSpPr/>
          <p:nvPr/>
        </p:nvSpPr>
        <p:spPr>
          <a:xfrm>
            <a:off x="8229600" y="2606040"/>
            <a:ext cx="54864" cy="411480"/>
          </a:xfrm>
          <a:prstGeom prst="rect">
            <a:avLst/>
          </a:prstGeom>
          <a:solidFill>
            <a:srgbClr val="7CE38B"/>
          </a:solidFill>
          <a:ln w="12700">
            <a:solidFill>
              <a:srgbClr val="7CE38B"/>
            </a:solidFill>
            <a:prstDash val="solid"/>
          </a:ln>
        </p:spPr>
        <p:txBody>
          <a:bodyPr/>
          <a:lstStyle/>
          <a:p>
            <a:endParaRPr/>
          </a:p>
        </p:txBody>
      </p:sp>
      <p:sp>
        <p:nvSpPr>
          <p:cNvPr id="14" name="Text 12"/>
          <p:cNvSpPr/>
          <p:nvPr/>
        </p:nvSpPr>
        <p:spPr>
          <a:xfrm>
            <a:off x="8366760" y="2606040"/>
            <a:ext cx="3566160" cy="411480"/>
          </a:xfrm>
          <a:prstGeom prst="rect">
            <a:avLst/>
          </a:prstGeom>
          <a:noFill/>
          <a:ln/>
        </p:spPr>
        <p:txBody>
          <a:bodyPr wrap="square" lIns="0" tIns="0" rIns="0" bIns="0" rtlCol="0" anchor="ctr"/>
          <a:lstStyle/>
          <a:p>
            <a:pPr marL="0" indent="0">
              <a:buNone/>
            </a:pPr>
            <a:r>
              <a:rPr lang="en-US" sz="1200" dirty="0">
                <a:solidFill>
                  <a:srgbClr val="E6EDF3"/>
                </a:solidFill>
                <a:latin typeface="Consolas" pitchFamily="34" charset="0"/>
                <a:ea typeface="Consolas" pitchFamily="34" charset="-122"/>
                <a:cs typeface="Consolas" pitchFamily="34" charset="-120"/>
              </a:rPr>
              <a:t>3. UI / design system</a:t>
            </a:r>
            <a:endParaRPr lang="en-US" sz="1200" dirty="0"/>
          </a:p>
        </p:txBody>
      </p:sp>
      <p:sp>
        <p:nvSpPr>
          <p:cNvPr id="15" name="Shape 13"/>
          <p:cNvSpPr/>
          <p:nvPr/>
        </p:nvSpPr>
        <p:spPr>
          <a:xfrm>
            <a:off x="365760" y="3108960"/>
            <a:ext cx="3749040" cy="411480"/>
          </a:xfrm>
          <a:prstGeom prst="rect">
            <a:avLst/>
          </a:prstGeom>
          <a:solidFill>
            <a:srgbClr val="161B22"/>
          </a:solidFill>
          <a:ln w="12700">
            <a:solidFill>
              <a:srgbClr val="30363D"/>
            </a:solidFill>
            <a:prstDash val="solid"/>
          </a:ln>
        </p:spPr>
        <p:txBody>
          <a:bodyPr/>
          <a:lstStyle/>
          <a:p>
            <a:endParaRPr/>
          </a:p>
        </p:txBody>
      </p:sp>
      <p:sp>
        <p:nvSpPr>
          <p:cNvPr id="16" name="Shape 14"/>
          <p:cNvSpPr/>
          <p:nvPr/>
        </p:nvSpPr>
        <p:spPr>
          <a:xfrm>
            <a:off x="365760" y="3108960"/>
            <a:ext cx="54864" cy="411480"/>
          </a:xfrm>
          <a:prstGeom prst="rect">
            <a:avLst/>
          </a:prstGeom>
          <a:solidFill>
            <a:srgbClr val="7CE38B"/>
          </a:solidFill>
          <a:ln w="12700">
            <a:solidFill>
              <a:srgbClr val="7CE38B"/>
            </a:solidFill>
            <a:prstDash val="solid"/>
          </a:ln>
        </p:spPr>
        <p:txBody>
          <a:bodyPr/>
          <a:lstStyle/>
          <a:p>
            <a:endParaRPr/>
          </a:p>
        </p:txBody>
      </p:sp>
      <p:sp>
        <p:nvSpPr>
          <p:cNvPr id="17" name="Text 15"/>
          <p:cNvSpPr/>
          <p:nvPr/>
        </p:nvSpPr>
        <p:spPr>
          <a:xfrm>
            <a:off x="502920" y="3108960"/>
            <a:ext cx="3566160" cy="411480"/>
          </a:xfrm>
          <a:prstGeom prst="rect">
            <a:avLst/>
          </a:prstGeom>
          <a:noFill/>
          <a:ln/>
        </p:spPr>
        <p:txBody>
          <a:bodyPr wrap="square" lIns="0" tIns="0" rIns="0" bIns="0" rtlCol="0" anchor="ctr"/>
          <a:lstStyle/>
          <a:p>
            <a:pPr marL="0" indent="0">
              <a:buNone/>
            </a:pPr>
            <a:r>
              <a:rPr lang="en-US" sz="1200" dirty="0">
                <a:solidFill>
                  <a:srgbClr val="E6EDF3"/>
                </a:solidFill>
                <a:latin typeface="Consolas" pitchFamily="34" charset="0"/>
                <a:ea typeface="Consolas" pitchFamily="34" charset="-122"/>
                <a:cs typeface="Consolas" pitchFamily="34" charset="-120"/>
              </a:rPr>
              <a:t>4. Backend language</a:t>
            </a:r>
            <a:endParaRPr lang="en-US" sz="1200" dirty="0"/>
          </a:p>
        </p:txBody>
      </p:sp>
      <p:sp>
        <p:nvSpPr>
          <p:cNvPr id="18" name="Shape 16"/>
          <p:cNvSpPr/>
          <p:nvPr/>
        </p:nvSpPr>
        <p:spPr>
          <a:xfrm>
            <a:off x="4297680" y="3108960"/>
            <a:ext cx="3749040" cy="411480"/>
          </a:xfrm>
          <a:prstGeom prst="rect">
            <a:avLst/>
          </a:prstGeom>
          <a:solidFill>
            <a:srgbClr val="161B22"/>
          </a:solidFill>
          <a:ln w="12700">
            <a:solidFill>
              <a:srgbClr val="30363D"/>
            </a:solidFill>
            <a:prstDash val="solid"/>
          </a:ln>
        </p:spPr>
        <p:txBody>
          <a:bodyPr/>
          <a:lstStyle/>
          <a:p>
            <a:endParaRPr/>
          </a:p>
        </p:txBody>
      </p:sp>
      <p:sp>
        <p:nvSpPr>
          <p:cNvPr id="19" name="Shape 17"/>
          <p:cNvSpPr/>
          <p:nvPr/>
        </p:nvSpPr>
        <p:spPr>
          <a:xfrm>
            <a:off x="4297680" y="3108960"/>
            <a:ext cx="54864" cy="411480"/>
          </a:xfrm>
          <a:prstGeom prst="rect">
            <a:avLst/>
          </a:prstGeom>
          <a:solidFill>
            <a:srgbClr val="7CE38B"/>
          </a:solidFill>
          <a:ln w="12700">
            <a:solidFill>
              <a:srgbClr val="7CE38B"/>
            </a:solidFill>
            <a:prstDash val="solid"/>
          </a:ln>
        </p:spPr>
        <p:txBody>
          <a:bodyPr/>
          <a:lstStyle/>
          <a:p>
            <a:endParaRPr/>
          </a:p>
        </p:txBody>
      </p:sp>
      <p:sp>
        <p:nvSpPr>
          <p:cNvPr id="20" name="Text 18"/>
          <p:cNvSpPr/>
          <p:nvPr/>
        </p:nvSpPr>
        <p:spPr>
          <a:xfrm>
            <a:off x="4434840" y="3108960"/>
            <a:ext cx="3566160" cy="411480"/>
          </a:xfrm>
          <a:prstGeom prst="rect">
            <a:avLst/>
          </a:prstGeom>
          <a:noFill/>
          <a:ln/>
        </p:spPr>
        <p:txBody>
          <a:bodyPr wrap="square" lIns="0" tIns="0" rIns="0" bIns="0" rtlCol="0" anchor="ctr"/>
          <a:lstStyle/>
          <a:p>
            <a:pPr marL="0" indent="0">
              <a:buNone/>
            </a:pPr>
            <a:r>
              <a:rPr lang="en-US" sz="1200" dirty="0">
                <a:solidFill>
                  <a:srgbClr val="E6EDF3"/>
                </a:solidFill>
                <a:latin typeface="Consolas" pitchFamily="34" charset="0"/>
                <a:ea typeface="Consolas" pitchFamily="34" charset="-122"/>
                <a:cs typeface="Consolas" pitchFamily="34" charset="-120"/>
              </a:rPr>
              <a:t>5. Backend framework</a:t>
            </a:r>
            <a:endParaRPr lang="en-US" sz="1200" dirty="0"/>
          </a:p>
        </p:txBody>
      </p:sp>
      <p:sp>
        <p:nvSpPr>
          <p:cNvPr id="21" name="Shape 19"/>
          <p:cNvSpPr/>
          <p:nvPr/>
        </p:nvSpPr>
        <p:spPr>
          <a:xfrm>
            <a:off x="8229600" y="3108960"/>
            <a:ext cx="3749040" cy="411480"/>
          </a:xfrm>
          <a:prstGeom prst="rect">
            <a:avLst/>
          </a:prstGeom>
          <a:solidFill>
            <a:srgbClr val="161B22"/>
          </a:solidFill>
          <a:ln w="12700">
            <a:solidFill>
              <a:srgbClr val="30363D"/>
            </a:solidFill>
            <a:prstDash val="solid"/>
          </a:ln>
        </p:spPr>
        <p:txBody>
          <a:bodyPr/>
          <a:lstStyle/>
          <a:p>
            <a:endParaRPr/>
          </a:p>
        </p:txBody>
      </p:sp>
      <p:sp>
        <p:nvSpPr>
          <p:cNvPr id="22" name="Shape 20"/>
          <p:cNvSpPr/>
          <p:nvPr/>
        </p:nvSpPr>
        <p:spPr>
          <a:xfrm>
            <a:off x="8229600" y="3108960"/>
            <a:ext cx="54864" cy="411480"/>
          </a:xfrm>
          <a:prstGeom prst="rect">
            <a:avLst/>
          </a:prstGeom>
          <a:solidFill>
            <a:srgbClr val="7CE38B"/>
          </a:solidFill>
          <a:ln w="12700">
            <a:solidFill>
              <a:srgbClr val="7CE38B"/>
            </a:solidFill>
            <a:prstDash val="solid"/>
          </a:ln>
        </p:spPr>
        <p:txBody>
          <a:bodyPr/>
          <a:lstStyle/>
          <a:p>
            <a:endParaRPr/>
          </a:p>
        </p:txBody>
      </p:sp>
      <p:sp>
        <p:nvSpPr>
          <p:cNvPr id="23" name="Text 21"/>
          <p:cNvSpPr/>
          <p:nvPr/>
        </p:nvSpPr>
        <p:spPr>
          <a:xfrm>
            <a:off x="8366760" y="3108960"/>
            <a:ext cx="3566160" cy="411480"/>
          </a:xfrm>
          <a:prstGeom prst="rect">
            <a:avLst/>
          </a:prstGeom>
          <a:noFill/>
          <a:ln/>
        </p:spPr>
        <p:txBody>
          <a:bodyPr wrap="square" lIns="0" tIns="0" rIns="0" bIns="0" rtlCol="0" anchor="ctr"/>
          <a:lstStyle/>
          <a:p>
            <a:pPr marL="0" indent="0">
              <a:buNone/>
            </a:pPr>
            <a:r>
              <a:rPr lang="en-US" sz="1200" dirty="0">
                <a:solidFill>
                  <a:srgbClr val="E6EDF3"/>
                </a:solidFill>
                <a:latin typeface="Consolas" pitchFamily="34" charset="0"/>
                <a:ea typeface="Consolas" pitchFamily="34" charset="-122"/>
                <a:cs typeface="Consolas" pitchFamily="34" charset="-120"/>
              </a:rPr>
              <a:t>6. Primary datastore</a:t>
            </a:r>
            <a:endParaRPr lang="en-US" sz="1200" dirty="0"/>
          </a:p>
        </p:txBody>
      </p:sp>
      <p:sp>
        <p:nvSpPr>
          <p:cNvPr id="24" name="Shape 22"/>
          <p:cNvSpPr/>
          <p:nvPr/>
        </p:nvSpPr>
        <p:spPr>
          <a:xfrm>
            <a:off x="365760" y="3611880"/>
            <a:ext cx="3749040" cy="411480"/>
          </a:xfrm>
          <a:prstGeom prst="rect">
            <a:avLst/>
          </a:prstGeom>
          <a:solidFill>
            <a:srgbClr val="161B22"/>
          </a:solidFill>
          <a:ln w="12700">
            <a:solidFill>
              <a:srgbClr val="30363D"/>
            </a:solidFill>
            <a:prstDash val="solid"/>
          </a:ln>
        </p:spPr>
        <p:txBody>
          <a:bodyPr/>
          <a:lstStyle/>
          <a:p>
            <a:endParaRPr/>
          </a:p>
        </p:txBody>
      </p:sp>
      <p:sp>
        <p:nvSpPr>
          <p:cNvPr id="25" name="Shape 23"/>
          <p:cNvSpPr/>
          <p:nvPr/>
        </p:nvSpPr>
        <p:spPr>
          <a:xfrm>
            <a:off x="365760" y="3611880"/>
            <a:ext cx="54864" cy="411480"/>
          </a:xfrm>
          <a:prstGeom prst="rect">
            <a:avLst/>
          </a:prstGeom>
          <a:solidFill>
            <a:srgbClr val="7CE38B"/>
          </a:solidFill>
          <a:ln w="12700">
            <a:solidFill>
              <a:srgbClr val="7CE38B"/>
            </a:solidFill>
            <a:prstDash val="solid"/>
          </a:ln>
        </p:spPr>
        <p:txBody>
          <a:bodyPr/>
          <a:lstStyle/>
          <a:p>
            <a:endParaRPr/>
          </a:p>
        </p:txBody>
      </p:sp>
      <p:sp>
        <p:nvSpPr>
          <p:cNvPr id="26" name="Text 24"/>
          <p:cNvSpPr/>
          <p:nvPr/>
        </p:nvSpPr>
        <p:spPr>
          <a:xfrm>
            <a:off x="502920" y="3611880"/>
            <a:ext cx="3566160" cy="411480"/>
          </a:xfrm>
          <a:prstGeom prst="rect">
            <a:avLst/>
          </a:prstGeom>
          <a:noFill/>
          <a:ln/>
        </p:spPr>
        <p:txBody>
          <a:bodyPr wrap="square" lIns="0" tIns="0" rIns="0" bIns="0" rtlCol="0" anchor="ctr"/>
          <a:lstStyle/>
          <a:p>
            <a:pPr marL="0" indent="0">
              <a:buNone/>
            </a:pPr>
            <a:r>
              <a:rPr lang="en-US" sz="1200" dirty="0">
                <a:solidFill>
                  <a:srgbClr val="E6EDF3"/>
                </a:solidFill>
                <a:latin typeface="Consolas" pitchFamily="34" charset="0"/>
                <a:ea typeface="Consolas" pitchFamily="34" charset="-122"/>
                <a:cs typeface="Consolas" pitchFamily="34" charset="-120"/>
              </a:rPr>
              <a:t>7. ORM / data layer</a:t>
            </a:r>
            <a:endParaRPr lang="en-US" sz="1200" dirty="0"/>
          </a:p>
        </p:txBody>
      </p:sp>
      <p:sp>
        <p:nvSpPr>
          <p:cNvPr id="27" name="Shape 25"/>
          <p:cNvSpPr/>
          <p:nvPr/>
        </p:nvSpPr>
        <p:spPr>
          <a:xfrm>
            <a:off x="4297680" y="3611880"/>
            <a:ext cx="3749040" cy="411480"/>
          </a:xfrm>
          <a:prstGeom prst="rect">
            <a:avLst/>
          </a:prstGeom>
          <a:solidFill>
            <a:srgbClr val="161B22"/>
          </a:solidFill>
          <a:ln w="12700">
            <a:solidFill>
              <a:srgbClr val="30363D"/>
            </a:solidFill>
            <a:prstDash val="solid"/>
          </a:ln>
        </p:spPr>
        <p:txBody>
          <a:bodyPr/>
          <a:lstStyle/>
          <a:p>
            <a:endParaRPr/>
          </a:p>
        </p:txBody>
      </p:sp>
      <p:sp>
        <p:nvSpPr>
          <p:cNvPr id="28" name="Shape 26"/>
          <p:cNvSpPr/>
          <p:nvPr/>
        </p:nvSpPr>
        <p:spPr>
          <a:xfrm>
            <a:off x="4297680" y="3611880"/>
            <a:ext cx="54864" cy="411480"/>
          </a:xfrm>
          <a:prstGeom prst="rect">
            <a:avLst/>
          </a:prstGeom>
          <a:solidFill>
            <a:srgbClr val="7CE38B"/>
          </a:solidFill>
          <a:ln w="12700">
            <a:solidFill>
              <a:srgbClr val="7CE38B"/>
            </a:solidFill>
            <a:prstDash val="solid"/>
          </a:ln>
        </p:spPr>
        <p:txBody>
          <a:bodyPr/>
          <a:lstStyle/>
          <a:p>
            <a:endParaRPr/>
          </a:p>
        </p:txBody>
      </p:sp>
      <p:sp>
        <p:nvSpPr>
          <p:cNvPr id="29" name="Text 27"/>
          <p:cNvSpPr/>
          <p:nvPr/>
        </p:nvSpPr>
        <p:spPr>
          <a:xfrm>
            <a:off x="4434840" y="3611880"/>
            <a:ext cx="3566160" cy="411480"/>
          </a:xfrm>
          <a:prstGeom prst="rect">
            <a:avLst/>
          </a:prstGeom>
          <a:noFill/>
          <a:ln/>
        </p:spPr>
        <p:txBody>
          <a:bodyPr wrap="square" lIns="0" tIns="0" rIns="0" bIns="0" rtlCol="0" anchor="ctr"/>
          <a:lstStyle/>
          <a:p>
            <a:pPr marL="0" indent="0">
              <a:buNone/>
            </a:pPr>
            <a:r>
              <a:rPr lang="en-US" sz="1200" dirty="0">
                <a:solidFill>
                  <a:srgbClr val="E6EDF3"/>
                </a:solidFill>
                <a:latin typeface="Consolas" pitchFamily="34" charset="0"/>
                <a:ea typeface="Consolas" pitchFamily="34" charset="-122"/>
                <a:cs typeface="Consolas" pitchFamily="34" charset="-120"/>
              </a:rPr>
              <a:t>8. Auth approach</a:t>
            </a:r>
            <a:endParaRPr lang="en-US" sz="1200" dirty="0"/>
          </a:p>
        </p:txBody>
      </p:sp>
      <p:sp>
        <p:nvSpPr>
          <p:cNvPr id="30" name="Shape 28"/>
          <p:cNvSpPr/>
          <p:nvPr/>
        </p:nvSpPr>
        <p:spPr>
          <a:xfrm>
            <a:off x="8229600" y="3611880"/>
            <a:ext cx="3749040" cy="411480"/>
          </a:xfrm>
          <a:prstGeom prst="rect">
            <a:avLst/>
          </a:prstGeom>
          <a:solidFill>
            <a:srgbClr val="161B22"/>
          </a:solidFill>
          <a:ln w="12700">
            <a:solidFill>
              <a:srgbClr val="30363D"/>
            </a:solidFill>
            <a:prstDash val="solid"/>
          </a:ln>
        </p:spPr>
        <p:txBody>
          <a:bodyPr/>
          <a:lstStyle/>
          <a:p>
            <a:endParaRPr/>
          </a:p>
        </p:txBody>
      </p:sp>
      <p:sp>
        <p:nvSpPr>
          <p:cNvPr id="31" name="Shape 29"/>
          <p:cNvSpPr/>
          <p:nvPr/>
        </p:nvSpPr>
        <p:spPr>
          <a:xfrm>
            <a:off x="8229600" y="3611880"/>
            <a:ext cx="54864" cy="411480"/>
          </a:xfrm>
          <a:prstGeom prst="rect">
            <a:avLst/>
          </a:prstGeom>
          <a:solidFill>
            <a:srgbClr val="7CE38B"/>
          </a:solidFill>
          <a:ln w="12700">
            <a:solidFill>
              <a:srgbClr val="7CE38B"/>
            </a:solidFill>
            <a:prstDash val="solid"/>
          </a:ln>
        </p:spPr>
        <p:txBody>
          <a:bodyPr/>
          <a:lstStyle/>
          <a:p>
            <a:endParaRPr/>
          </a:p>
        </p:txBody>
      </p:sp>
      <p:sp>
        <p:nvSpPr>
          <p:cNvPr id="32" name="Text 30"/>
          <p:cNvSpPr/>
          <p:nvPr/>
        </p:nvSpPr>
        <p:spPr>
          <a:xfrm>
            <a:off x="8366760" y="3611880"/>
            <a:ext cx="3566160" cy="411480"/>
          </a:xfrm>
          <a:prstGeom prst="rect">
            <a:avLst/>
          </a:prstGeom>
          <a:noFill/>
          <a:ln/>
        </p:spPr>
        <p:txBody>
          <a:bodyPr wrap="square" lIns="0" tIns="0" rIns="0" bIns="0" rtlCol="0" anchor="ctr"/>
          <a:lstStyle/>
          <a:p>
            <a:pPr marL="0" indent="0">
              <a:buNone/>
            </a:pPr>
            <a:r>
              <a:rPr lang="en-US" sz="1200" dirty="0">
                <a:solidFill>
                  <a:srgbClr val="E6EDF3"/>
                </a:solidFill>
                <a:latin typeface="Consolas" pitchFamily="34" charset="0"/>
                <a:ea typeface="Consolas" pitchFamily="34" charset="-122"/>
                <a:cs typeface="Consolas" pitchFamily="34" charset="-120"/>
              </a:rPr>
              <a:t>9. Cache / queue / search</a:t>
            </a:r>
            <a:endParaRPr lang="en-US" sz="1200" dirty="0"/>
          </a:p>
        </p:txBody>
      </p:sp>
      <p:sp>
        <p:nvSpPr>
          <p:cNvPr id="33" name="Shape 31"/>
          <p:cNvSpPr/>
          <p:nvPr/>
        </p:nvSpPr>
        <p:spPr>
          <a:xfrm>
            <a:off x="365760" y="4114800"/>
            <a:ext cx="3749040" cy="411480"/>
          </a:xfrm>
          <a:prstGeom prst="rect">
            <a:avLst/>
          </a:prstGeom>
          <a:solidFill>
            <a:srgbClr val="161B22"/>
          </a:solidFill>
          <a:ln w="12700">
            <a:solidFill>
              <a:srgbClr val="30363D"/>
            </a:solidFill>
            <a:prstDash val="solid"/>
          </a:ln>
        </p:spPr>
        <p:txBody>
          <a:bodyPr/>
          <a:lstStyle/>
          <a:p>
            <a:endParaRPr/>
          </a:p>
        </p:txBody>
      </p:sp>
      <p:sp>
        <p:nvSpPr>
          <p:cNvPr id="34" name="Shape 32"/>
          <p:cNvSpPr/>
          <p:nvPr/>
        </p:nvSpPr>
        <p:spPr>
          <a:xfrm>
            <a:off x="365760" y="4114800"/>
            <a:ext cx="54864" cy="411480"/>
          </a:xfrm>
          <a:prstGeom prst="rect">
            <a:avLst/>
          </a:prstGeom>
          <a:solidFill>
            <a:srgbClr val="7CE38B"/>
          </a:solidFill>
          <a:ln w="12700">
            <a:solidFill>
              <a:srgbClr val="7CE38B"/>
            </a:solidFill>
            <a:prstDash val="solid"/>
          </a:ln>
        </p:spPr>
        <p:txBody>
          <a:bodyPr/>
          <a:lstStyle/>
          <a:p>
            <a:endParaRPr/>
          </a:p>
        </p:txBody>
      </p:sp>
      <p:sp>
        <p:nvSpPr>
          <p:cNvPr id="35" name="Text 33"/>
          <p:cNvSpPr/>
          <p:nvPr/>
        </p:nvSpPr>
        <p:spPr>
          <a:xfrm>
            <a:off x="502920" y="4114800"/>
            <a:ext cx="3566160" cy="411480"/>
          </a:xfrm>
          <a:prstGeom prst="rect">
            <a:avLst/>
          </a:prstGeom>
          <a:noFill/>
          <a:ln/>
        </p:spPr>
        <p:txBody>
          <a:bodyPr wrap="square" lIns="0" tIns="0" rIns="0" bIns="0" rtlCol="0" anchor="ctr"/>
          <a:lstStyle/>
          <a:p>
            <a:pPr marL="0" indent="0">
              <a:buNone/>
            </a:pPr>
            <a:r>
              <a:rPr lang="en-US" sz="1200" dirty="0">
                <a:solidFill>
                  <a:srgbClr val="E6EDF3"/>
                </a:solidFill>
                <a:latin typeface="Consolas" pitchFamily="34" charset="0"/>
                <a:ea typeface="Consolas" pitchFamily="34" charset="-122"/>
                <a:cs typeface="Consolas" pitchFamily="34" charset="-120"/>
              </a:rPr>
              <a:t>10. Hosting target</a:t>
            </a:r>
            <a:endParaRPr lang="en-US" sz="1200" dirty="0"/>
          </a:p>
        </p:txBody>
      </p:sp>
      <p:sp>
        <p:nvSpPr>
          <p:cNvPr id="36" name="Shape 34"/>
          <p:cNvSpPr/>
          <p:nvPr/>
        </p:nvSpPr>
        <p:spPr>
          <a:xfrm>
            <a:off x="4297680" y="4114800"/>
            <a:ext cx="3749040" cy="411480"/>
          </a:xfrm>
          <a:prstGeom prst="rect">
            <a:avLst/>
          </a:prstGeom>
          <a:solidFill>
            <a:srgbClr val="161B22"/>
          </a:solidFill>
          <a:ln w="12700">
            <a:solidFill>
              <a:srgbClr val="30363D"/>
            </a:solidFill>
            <a:prstDash val="solid"/>
          </a:ln>
        </p:spPr>
        <p:txBody>
          <a:bodyPr/>
          <a:lstStyle/>
          <a:p>
            <a:endParaRPr/>
          </a:p>
        </p:txBody>
      </p:sp>
      <p:sp>
        <p:nvSpPr>
          <p:cNvPr id="37" name="Shape 35"/>
          <p:cNvSpPr/>
          <p:nvPr/>
        </p:nvSpPr>
        <p:spPr>
          <a:xfrm>
            <a:off x="4297680" y="4114800"/>
            <a:ext cx="54864" cy="411480"/>
          </a:xfrm>
          <a:prstGeom prst="rect">
            <a:avLst/>
          </a:prstGeom>
          <a:solidFill>
            <a:srgbClr val="7CE38B"/>
          </a:solidFill>
          <a:ln w="12700">
            <a:solidFill>
              <a:srgbClr val="7CE38B"/>
            </a:solidFill>
            <a:prstDash val="solid"/>
          </a:ln>
        </p:spPr>
        <p:txBody>
          <a:bodyPr/>
          <a:lstStyle/>
          <a:p>
            <a:endParaRPr/>
          </a:p>
        </p:txBody>
      </p:sp>
      <p:sp>
        <p:nvSpPr>
          <p:cNvPr id="38" name="Text 36"/>
          <p:cNvSpPr/>
          <p:nvPr/>
        </p:nvSpPr>
        <p:spPr>
          <a:xfrm>
            <a:off x="4434840" y="4114800"/>
            <a:ext cx="3566160" cy="411480"/>
          </a:xfrm>
          <a:prstGeom prst="rect">
            <a:avLst/>
          </a:prstGeom>
          <a:noFill/>
          <a:ln/>
        </p:spPr>
        <p:txBody>
          <a:bodyPr wrap="square" lIns="0" tIns="0" rIns="0" bIns="0" rtlCol="0" anchor="ctr"/>
          <a:lstStyle/>
          <a:p>
            <a:pPr marL="0" indent="0">
              <a:buNone/>
            </a:pPr>
            <a:r>
              <a:rPr lang="en-US" sz="1200" dirty="0">
                <a:solidFill>
                  <a:srgbClr val="E6EDF3"/>
                </a:solidFill>
                <a:latin typeface="Consolas" pitchFamily="34" charset="0"/>
                <a:ea typeface="Consolas" pitchFamily="34" charset="-122"/>
                <a:cs typeface="Consolas" pitchFamily="34" charset="-120"/>
              </a:rPr>
              <a:t>11. Code layout</a:t>
            </a:r>
            <a:endParaRPr lang="en-US" sz="1200" dirty="0"/>
          </a:p>
        </p:txBody>
      </p:sp>
      <p:sp>
        <p:nvSpPr>
          <p:cNvPr id="39" name="Shape 37"/>
          <p:cNvSpPr/>
          <p:nvPr/>
        </p:nvSpPr>
        <p:spPr>
          <a:xfrm>
            <a:off x="8229600" y="4114800"/>
            <a:ext cx="3749040" cy="411480"/>
          </a:xfrm>
          <a:prstGeom prst="rect">
            <a:avLst/>
          </a:prstGeom>
          <a:solidFill>
            <a:srgbClr val="161B22"/>
          </a:solidFill>
          <a:ln w="12700">
            <a:solidFill>
              <a:srgbClr val="30363D"/>
            </a:solidFill>
            <a:prstDash val="solid"/>
          </a:ln>
        </p:spPr>
        <p:txBody>
          <a:bodyPr/>
          <a:lstStyle/>
          <a:p>
            <a:endParaRPr/>
          </a:p>
        </p:txBody>
      </p:sp>
      <p:sp>
        <p:nvSpPr>
          <p:cNvPr id="40" name="Shape 38"/>
          <p:cNvSpPr/>
          <p:nvPr/>
        </p:nvSpPr>
        <p:spPr>
          <a:xfrm>
            <a:off x="8229600" y="4114800"/>
            <a:ext cx="54864" cy="411480"/>
          </a:xfrm>
          <a:prstGeom prst="rect">
            <a:avLst/>
          </a:prstGeom>
          <a:solidFill>
            <a:srgbClr val="7CE38B"/>
          </a:solidFill>
          <a:ln w="12700">
            <a:solidFill>
              <a:srgbClr val="7CE38B"/>
            </a:solidFill>
            <a:prstDash val="solid"/>
          </a:ln>
        </p:spPr>
        <p:txBody>
          <a:bodyPr/>
          <a:lstStyle/>
          <a:p>
            <a:endParaRPr/>
          </a:p>
        </p:txBody>
      </p:sp>
      <p:sp>
        <p:nvSpPr>
          <p:cNvPr id="41" name="Text 39"/>
          <p:cNvSpPr/>
          <p:nvPr/>
        </p:nvSpPr>
        <p:spPr>
          <a:xfrm>
            <a:off x="8366760" y="4114800"/>
            <a:ext cx="3566160" cy="411480"/>
          </a:xfrm>
          <a:prstGeom prst="rect">
            <a:avLst/>
          </a:prstGeom>
          <a:noFill/>
          <a:ln/>
        </p:spPr>
        <p:txBody>
          <a:bodyPr wrap="square" lIns="0" tIns="0" rIns="0" bIns="0" rtlCol="0" anchor="ctr"/>
          <a:lstStyle/>
          <a:p>
            <a:pPr marL="0" indent="0">
              <a:buNone/>
            </a:pPr>
            <a:r>
              <a:rPr lang="en-US" sz="1200" dirty="0">
                <a:solidFill>
                  <a:srgbClr val="E6EDF3"/>
                </a:solidFill>
                <a:latin typeface="Consolas" pitchFamily="34" charset="0"/>
                <a:ea typeface="Consolas" pitchFamily="34" charset="-122"/>
                <a:cs typeface="Consolas" pitchFamily="34" charset="-120"/>
              </a:rPr>
              <a:t>12. Package manager</a:t>
            </a:r>
            <a:endParaRPr lang="en-US" sz="1200" dirty="0"/>
          </a:p>
        </p:txBody>
      </p:sp>
      <p:sp>
        <p:nvSpPr>
          <p:cNvPr id="42" name="Text 40"/>
          <p:cNvSpPr/>
          <p:nvPr/>
        </p:nvSpPr>
        <p:spPr>
          <a:xfrm>
            <a:off x="365760" y="5989320"/>
            <a:ext cx="11430000" cy="457200"/>
          </a:xfrm>
          <a:prstGeom prst="rect">
            <a:avLst/>
          </a:prstGeom>
          <a:noFill/>
          <a:ln/>
        </p:spPr>
        <p:txBody>
          <a:bodyPr wrap="square" lIns="0" tIns="0" rIns="0" bIns="0" rtlCol="0" anchor="ctr"/>
          <a:lstStyle/>
          <a:p>
            <a:pPr marL="0" indent="0" algn="ctr">
              <a:buNone/>
            </a:pPr>
            <a:r>
              <a:rPr lang="en-US" sz="1100" i="1" dirty="0">
                <a:solidFill>
                  <a:srgbClr val="D29922"/>
                </a:solidFill>
                <a:latin typeface="Calibri" pitchFamily="34" charset="0"/>
                <a:ea typeface="Calibri" pitchFamily="34" charset="-122"/>
                <a:cs typeface="Calibri" pitchFamily="34" charset="-120"/>
              </a:rPr>
              <a:t>Sau khi user trả lời, SA quote answer verbatim vào TECH_STACK.md + dòng "Confirmed by user (qid: SA_xxx)". Phase 1 gate kiểm tra dòng này.</a:t>
            </a:r>
            <a:endParaRPr lang="en-US" sz="1100" dirty="0"/>
          </a:p>
        </p:txBody>
      </p:sp>
      <p:sp>
        <p:nvSpPr>
          <p:cNvPr id="43" name="Text 41"/>
          <p:cNvSpPr/>
          <p:nvPr/>
        </p:nvSpPr>
        <p:spPr>
          <a:xfrm>
            <a:off x="11338560" y="6492240"/>
            <a:ext cx="731520" cy="228600"/>
          </a:xfrm>
          <a:prstGeom prst="rect">
            <a:avLst/>
          </a:prstGeom>
          <a:noFill/>
          <a:ln/>
        </p:spPr>
        <p:txBody>
          <a:bodyPr wrap="square" lIns="0" tIns="0" rIns="0" bIns="0" rtlCol="0" anchor="ctr"/>
          <a:lstStyle/>
          <a:p>
            <a:pPr marL="0" indent="0" algn="r">
              <a:buNone/>
            </a:pPr>
            <a:r>
              <a:rPr lang="en-US" sz="900" dirty="0">
                <a:solidFill>
                  <a:srgbClr val="8B949E"/>
                </a:solidFill>
                <a:latin typeface="Consolas" pitchFamily="34" charset="0"/>
                <a:ea typeface="Consolas" pitchFamily="34" charset="-122"/>
                <a:cs typeface="Consolas" pitchFamily="34" charset="-120"/>
              </a:rPr>
              <a:t>26 / 40</a:t>
            </a:r>
            <a:endParaRPr lang="en-US" sz="900" dirty="0"/>
          </a:p>
        </p:txBody>
      </p:sp>
      <p:sp>
        <p:nvSpPr>
          <p:cNvPr id="44" name="Text 42"/>
          <p:cNvSpPr/>
          <p:nvPr/>
        </p:nvSpPr>
        <p:spPr>
          <a:xfrm>
            <a:off x="365760" y="6492240"/>
            <a:ext cx="1097280" cy="228600"/>
          </a:xfrm>
          <a:prstGeom prst="rect">
            <a:avLst/>
          </a:prstGeom>
          <a:noFill/>
          <a:ln/>
        </p:spPr>
        <p:txBody>
          <a:bodyPr wrap="square" lIns="0" tIns="0" rIns="0" bIns="0" rtlCol="0" anchor="ctr"/>
          <a:lstStyle/>
          <a:p>
            <a:pPr marL="0" indent="0" algn="l">
              <a:buNone/>
            </a:pPr>
            <a:r>
              <a:rPr lang="en-US" sz="900" dirty="0">
                <a:solidFill>
                  <a:srgbClr val="8B949E"/>
                </a:solidFill>
                <a:latin typeface="Consolas" pitchFamily="34" charset="0"/>
                <a:ea typeface="Consolas" pitchFamily="34" charset="-122"/>
                <a:cs typeface="Consolas" pitchFamily="34" charset="-120"/>
              </a:rPr>
              <a:t>v10.23</a:t>
            </a:r>
            <a:endParaRPr lang="en-US" sz="900" dirty="0"/>
          </a:p>
        </p:txBody>
      </p:sp>
      <p:sp>
        <p:nvSpPr>
          <p:cNvPr id="45" name="Text 43"/>
          <p:cNvSpPr/>
          <p:nvPr/>
        </p:nvSpPr>
        <p:spPr>
          <a:xfrm>
            <a:off x="4572000" y="6492240"/>
            <a:ext cx="6400800" cy="228600"/>
          </a:xfrm>
          <a:prstGeom prst="rect">
            <a:avLst/>
          </a:prstGeom>
          <a:noFill/>
          <a:ln/>
        </p:spPr>
        <p:txBody>
          <a:bodyPr wrap="square" lIns="0" tIns="0" rIns="0" bIns="0" rtlCol="0" anchor="ctr"/>
          <a:lstStyle/>
          <a:p>
            <a:pPr marL="0" indent="0" algn="ctr">
              <a:buNone/>
            </a:pPr>
            <a:r>
              <a:rPr lang="en-US" sz="900" dirty="0">
                <a:solidFill>
                  <a:srgbClr val="8B949E"/>
                </a:solidFill>
                <a:latin typeface="Consolas" pitchFamily="34" charset="0"/>
                <a:ea typeface="Consolas" pitchFamily="34" charset="-122"/>
                <a:cs typeface="Consolas" pitchFamily="34" charset="-120"/>
              </a:rPr>
              <a:t>Product Engineering Agent Framework</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5">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365760" y="228600"/>
            <a:ext cx="8229600" cy="274320"/>
          </a:xfrm>
          <a:prstGeom prst="rect">
            <a:avLst/>
          </a:prstGeom>
          <a:noFill/>
          <a:ln/>
        </p:spPr>
        <p:txBody>
          <a:bodyPr wrap="square" lIns="0" tIns="0" rIns="0" bIns="0" rtlCol="0" anchor="ctr"/>
          <a:lstStyle/>
          <a:p>
            <a:pPr marL="0" indent="0">
              <a:buNone/>
            </a:pPr>
            <a:r>
              <a:rPr lang="en-US" sz="1100" dirty="0">
                <a:solidFill>
                  <a:srgbClr val="2EA043"/>
                </a:solidFill>
                <a:latin typeface="Consolas" pitchFamily="34" charset="0"/>
                <a:ea typeface="Consolas" pitchFamily="34" charset="-122"/>
                <a:cs typeface="Consolas" pitchFamily="34" charset="-120"/>
              </a:rPr>
              <a:t>$ </a:t>
            </a:r>
            <a:r>
              <a:rPr lang="en-US" sz="1100" dirty="0">
                <a:solidFill>
                  <a:srgbClr val="8B949E"/>
                </a:solidFill>
                <a:latin typeface="Consolas" pitchFamily="34" charset="0"/>
                <a:ea typeface="Consolas" pitchFamily="34" charset="-122"/>
                <a:cs typeface="Consolas" pitchFamily="34" charset="-120"/>
              </a:rPr>
              <a:t>21_stay_in_lane.md</a:t>
            </a:r>
            <a:endParaRPr lang="en-US" sz="1100" dirty="0"/>
          </a:p>
        </p:txBody>
      </p:sp>
      <p:sp>
        <p:nvSpPr>
          <p:cNvPr id="3" name="Text 1"/>
          <p:cNvSpPr/>
          <p:nvPr/>
        </p:nvSpPr>
        <p:spPr>
          <a:xfrm>
            <a:off x="365760" y="548640"/>
            <a:ext cx="11430000" cy="640080"/>
          </a:xfrm>
          <a:prstGeom prst="rect">
            <a:avLst/>
          </a:prstGeom>
          <a:noFill/>
          <a:ln/>
        </p:spPr>
        <p:txBody>
          <a:bodyPr wrap="square" lIns="0" tIns="0" rIns="0" bIns="0" rtlCol="0" anchor="ctr"/>
          <a:lstStyle/>
          <a:p>
            <a:pPr marL="0" indent="0">
              <a:buNone/>
            </a:pPr>
            <a:r>
              <a:rPr lang="en-US" sz="3000" b="1" dirty="0">
                <a:solidFill>
                  <a:srgbClr val="E6EDF3"/>
                </a:solidFill>
                <a:latin typeface="Consolas" pitchFamily="34" charset="0"/>
                <a:ea typeface="Consolas" pitchFamily="34" charset="-122"/>
                <a:cs typeface="Consolas" pitchFamily="34" charset="-120"/>
              </a:rPr>
              <a:t>Stay in your lane (v10.10)</a:t>
            </a:r>
            <a:endParaRPr lang="en-US" sz="3000" dirty="0"/>
          </a:p>
        </p:txBody>
      </p:sp>
      <p:sp>
        <p:nvSpPr>
          <p:cNvPr id="4" name="Text 2"/>
          <p:cNvSpPr/>
          <p:nvPr/>
        </p:nvSpPr>
        <p:spPr>
          <a:xfrm>
            <a:off x="365760" y="1143000"/>
            <a:ext cx="11430000" cy="365760"/>
          </a:xfrm>
          <a:prstGeom prst="rect">
            <a:avLst/>
          </a:prstGeom>
          <a:noFill/>
          <a:ln/>
        </p:spPr>
        <p:txBody>
          <a:bodyPr wrap="square" lIns="0" tIns="0" rIns="0" bIns="0" rtlCol="0" anchor="ctr"/>
          <a:lstStyle/>
          <a:p>
            <a:pPr marL="0" indent="0">
              <a:buNone/>
            </a:pPr>
            <a:r>
              <a:rPr lang="en-US" sz="1400" i="1" dirty="0">
                <a:solidFill>
                  <a:srgbClr val="8B949E"/>
                </a:solidFill>
                <a:latin typeface="Calibri" pitchFamily="34" charset="0"/>
                <a:ea typeface="Calibri" pitchFamily="34" charset="-122"/>
                <a:cs typeface="Calibri" pitchFamily="34" charset="-120"/>
              </a:rPr>
              <a:t>Mỗi role có write boundary. Cross-boundary = route owner, không tự làm.</a:t>
            </a:r>
            <a:endParaRPr lang="en-US" sz="1400" dirty="0"/>
          </a:p>
        </p:txBody>
      </p:sp>
      <p:sp>
        <p:nvSpPr>
          <p:cNvPr id="5" name="Shape 3"/>
          <p:cNvSpPr/>
          <p:nvPr/>
        </p:nvSpPr>
        <p:spPr>
          <a:xfrm>
            <a:off x="365760" y="1783080"/>
            <a:ext cx="11430000" cy="457200"/>
          </a:xfrm>
          <a:prstGeom prst="rect">
            <a:avLst/>
          </a:prstGeom>
          <a:solidFill>
            <a:srgbClr val="161B22"/>
          </a:solidFill>
          <a:ln w="12700">
            <a:solidFill>
              <a:srgbClr val="30363D"/>
            </a:solidFill>
            <a:prstDash val="solid"/>
          </a:ln>
        </p:spPr>
        <p:txBody>
          <a:bodyPr/>
          <a:lstStyle/>
          <a:p>
            <a:endParaRPr/>
          </a:p>
        </p:txBody>
      </p:sp>
      <p:sp>
        <p:nvSpPr>
          <p:cNvPr id="6" name="Shape 4"/>
          <p:cNvSpPr/>
          <p:nvPr/>
        </p:nvSpPr>
        <p:spPr>
          <a:xfrm>
            <a:off x="365760" y="1783080"/>
            <a:ext cx="73152" cy="457200"/>
          </a:xfrm>
          <a:prstGeom prst="rect">
            <a:avLst/>
          </a:prstGeom>
          <a:solidFill>
            <a:srgbClr val="7CE38B"/>
          </a:solidFill>
          <a:ln w="12700">
            <a:solidFill>
              <a:srgbClr val="7CE38B"/>
            </a:solidFill>
            <a:prstDash val="solid"/>
          </a:ln>
        </p:spPr>
        <p:txBody>
          <a:bodyPr/>
          <a:lstStyle/>
          <a:p>
            <a:endParaRPr/>
          </a:p>
        </p:txBody>
      </p:sp>
      <p:sp>
        <p:nvSpPr>
          <p:cNvPr id="7" name="Text 5"/>
          <p:cNvSpPr/>
          <p:nvPr/>
        </p:nvSpPr>
        <p:spPr>
          <a:xfrm>
            <a:off x="548640" y="1783080"/>
            <a:ext cx="1828800" cy="457200"/>
          </a:xfrm>
          <a:prstGeom prst="rect">
            <a:avLst/>
          </a:prstGeom>
          <a:noFill/>
          <a:ln/>
        </p:spPr>
        <p:txBody>
          <a:bodyPr wrap="square" lIns="0" tIns="0" rIns="0" bIns="0" rtlCol="0" anchor="ctr"/>
          <a:lstStyle/>
          <a:p>
            <a:pPr marL="0" indent="0">
              <a:buNone/>
            </a:pPr>
            <a:r>
              <a:rPr lang="en-US" sz="1300" b="1" dirty="0">
                <a:solidFill>
                  <a:srgbClr val="7CE38B"/>
                </a:solidFill>
                <a:latin typeface="Consolas" pitchFamily="34" charset="0"/>
                <a:ea typeface="Consolas" pitchFamily="34" charset="-122"/>
                <a:cs typeface="Consolas" pitchFamily="34" charset="-120"/>
              </a:rPr>
              <a:t>PM</a:t>
            </a:r>
            <a:endParaRPr lang="en-US" sz="1300" dirty="0"/>
          </a:p>
        </p:txBody>
      </p:sp>
      <p:sp>
        <p:nvSpPr>
          <p:cNvPr id="8" name="Text 6"/>
          <p:cNvSpPr/>
          <p:nvPr/>
        </p:nvSpPr>
        <p:spPr>
          <a:xfrm>
            <a:off x="2468880" y="1783080"/>
            <a:ext cx="9235440" cy="457200"/>
          </a:xfrm>
          <a:prstGeom prst="rect">
            <a:avLst/>
          </a:prstGeom>
          <a:noFill/>
          <a:ln/>
        </p:spPr>
        <p:txBody>
          <a:bodyPr wrap="square" lIns="0" tIns="0" rIns="0" bIns="0" rtlCol="0" anchor="ctr"/>
          <a:lstStyle/>
          <a:p>
            <a:pPr marL="0" indent="0">
              <a:buNone/>
            </a:pPr>
            <a:r>
              <a:rPr lang="en-US" sz="1100" dirty="0">
                <a:solidFill>
                  <a:srgbClr val="E6EDF3"/>
                </a:solidFill>
                <a:latin typeface="Consolas" pitchFamily="34" charset="0"/>
                <a:ea typeface="Consolas" pitchFamily="34" charset="-122"/>
                <a:cs typeface="Consolas" pitchFamily="34" charset="-120"/>
              </a:rPr>
              <a:t>docs/product/{PRD,ROADMAP}.md, planning/{BACKLOG,OPEN_QUESTIONS}.md</a:t>
            </a:r>
            <a:endParaRPr lang="en-US" sz="1100" dirty="0"/>
          </a:p>
        </p:txBody>
      </p:sp>
      <p:sp>
        <p:nvSpPr>
          <p:cNvPr id="9" name="Shape 7"/>
          <p:cNvSpPr/>
          <p:nvPr/>
        </p:nvSpPr>
        <p:spPr>
          <a:xfrm>
            <a:off x="365760" y="2286000"/>
            <a:ext cx="11430000" cy="457200"/>
          </a:xfrm>
          <a:prstGeom prst="rect">
            <a:avLst/>
          </a:prstGeom>
          <a:solidFill>
            <a:srgbClr val="1C2128"/>
          </a:solidFill>
          <a:ln w="12700">
            <a:solidFill>
              <a:srgbClr val="30363D"/>
            </a:solidFill>
            <a:prstDash val="solid"/>
          </a:ln>
        </p:spPr>
        <p:txBody>
          <a:bodyPr/>
          <a:lstStyle/>
          <a:p>
            <a:endParaRPr/>
          </a:p>
        </p:txBody>
      </p:sp>
      <p:sp>
        <p:nvSpPr>
          <p:cNvPr id="10" name="Shape 8"/>
          <p:cNvSpPr/>
          <p:nvPr/>
        </p:nvSpPr>
        <p:spPr>
          <a:xfrm>
            <a:off x="365760" y="2286000"/>
            <a:ext cx="73152" cy="457200"/>
          </a:xfrm>
          <a:prstGeom prst="rect">
            <a:avLst/>
          </a:prstGeom>
          <a:solidFill>
            <a:srgbClr val="7CE38B"/>
          </a:solidFill>
          <a:ln w="12700">
            <a:solidFill>
              <a:srgbClr val="7CE38B"/>
            </a:solidFill>
            <a:prstDash val="solid"/>
          </a:ln>
        </p:spPr>
        <p:txBody>
          <a:bodyPr/>
          <a:lstStyle/>
          <a:p>
            <a:endParaRPr/>
          </a:p>
        </p:txBody>
      </p:sp>
      <p:sp>
        <p:nvSpPr>
          <p:cNvPr id="11" name="Text 9"/>
          <p:cNvSpPr/>
          <p:nvPr/>
        </p:nvSpPr>
        <p:spPr>
          <a:xfrm>
            <a:off x="548640" y="2286000"/>
            <a:ext cx="1828800" cy="457200"/>
          </a:xfrm>
          <a:prstGeom prst="rect">
            <a:avLst/>
          </a:prstGeom>
          <a:noFill/>
          <a:ln/>
        </p:spPr>
        <p:txBody>
          <a:bodyPr wrap="square" lIns="0" tIns="0" rIns="0" bIns="0" rtlCol="0" anchor="ctr"/>
          <a:lstStyle/>
          <a:p>
            <a:pPr marL="0" indent="0">
              <a:buNone/>
            </a:pPr>
            <a:r>
              <a:rPr lang="en-US" sz="1300" b="1" dirty="0">
                <a:solidFill>
                  <a:srgbClr val="7CE38B"/>
                </a:solidFill>
                <a:latin typeface="Consolas" pitchFamily="34" charset="0"/>
                <a:ea typeface="Consolas" pitchFamily="34" charset="-122"/>
                <a:cs typeface="Consolas" pitchFamily="34" charset="-120"/>
              </a:rPr>
              <a:t>SA</a:t>
            </a:r>
            <a:endParaRPr lang="en-US" sz="1300" dirty="0"/>
          </a:p>
        </p:txBody>
      </p:sp>
      <p:sp>
        <p:nvSpPr>
          <p:cNvPr id="12" name="Text 10"/>
          <p:cNvSpPr/>
          <p:nvPr/>
        </p:nvSpPr>
        <p:spPr>
          <a:xfrm>
            <a:off x="2468880" y="2286000"/>
            <a:ext cx="9235440" cy="457200"/>
          </a:xfrm>
          <a:prstGeom prst="rect">
            <a:avLst/>
          </a:prstGeom>
          <a:noFill/>
          <a:ln/>
        </p:spPr>
        <p:txBody>
          <a:bodyPr wrap="square" lIns="0" tIns="0" rIns="0" bIns="0" rtlCol="0" anchor="ctr"/>
          <a:lstStyle/>
          <a:p>
            <a:pPr marL="0" indent="0">
              <a:buNone/>
            </a:pPr>
            <a:r>
              <a:rPr lang="en-US" sz="1100" dirty="0">
                <a:solidFill>
                  <a:srgbClr val="E6EDF3"/>
                </a:solidFill>
                <a:latin typeface="Consolas" pitchFamily="34" charset="0"/>
                <a:ea typeface="Consolas" pitchFamily="34" charset="-122"/>
                <a:cs typeface="Consolas" pitchFamily="34" charset="-120"/>
              </a:rPr>
              <a:t>docs/architecture/*.md</a:t>
            </a:r>
            <a:endParaRPr lang="en-US" sz="1100" dirty="0"/>
          </a:p>
        </p:txBody>
      </p:sp>
      <p:sp>
        <p:nvSpPr>
          <p:cNvPr id="13" name="Shape 11"/>
          <p:cNvSpPr/>
          <p:nvPr/>
        </p:nvSpPr>
        <p:spPr>
          <a:xfrm>
            <a:off x="365760" y="2788920"/>
            <a:ext cx="11430000" cy="457200"/>
          </a:xfrm>
          <a:prstGeom prst="rect">
            <a:avLst/>
          </a:prstGeom>
          <a:solidFill>
            <a:srgbClr val="161B22"/>
          </a:solidFill>
          <a:ln w="12700">
            <a:solidFill>
              <a:srgbClr val="30363D"/>
            </a:solidFill>
            <a:prstDash val="solid"/>
          </a:ln>
        </p:spPr>
        <p:txBody>
          <a:bodyPr/>
          <a:lstStyle/>
          <a:p>
            <a:endParaRPr/>
          </a:p>
        </p:txBody>
      </p:sp>
      <p:sp>
        <p:nvSpPr>
          <p:cNvPr id="14" name="Shape 12"/>
          <p:cNvSpPr/>
          <p:nvPr/>
        </p:nvSpPr>
        <p:spPr>
          <a:xfrm>
            <a:off x="365760" y="2788920"/>
            <a:ext cx="73152" cy="457200"/>
          </a:xfrm>
          <a:prstGeom prst="rect">
            <a:avLst/>
          </a:prstGeom>
          <a:solidFill>
            <a:srgbClr val="7CE38B"/>
          </a:solidFill>
          <a:ln w="12700">
            <a:solidFill>
              <a:srgbClr val="7CE38B"/>
            </a:solidFill>
            <a:prstDash val="solid"/>
          </a:ln>
        </p:spPr>
        <p:txBody>
          <a:bodyPr/>
          <a:lstStyle/>
          <a:p>
            <a:endParaRPr/>
          </a:p>
        </p:txBody>
      </p:sp>
      <p:sp>
        <p:nvSpPr>
          <p:cNvPr id="15" name="Text 13"/>
          <p:cNvSpPr/>
          <p:nvPr/>
        </p:nvSpPr>
        <p:spPr>
          <a:xfrm>
            <a:off x="548640" y="2788920"/>
            <a:ext cx="1828800" cy="457200"/>
          </a:xfrm>
          <a:prstGeom prst="rect">
            <a:avLst/>
          </a:prstGeom>
          <a:noFill/>
          <a:ln/>
        </p:spPr>
        <p:txBody>
          <a:bodyPr wrap="square" lIns="0" tIns="0" rIns="0" bIns="0" rtlCol="0" anchor="ctr"/>
          <a:lstStyle/>
          <a:p>
            <a:pPr marL="0" indent="0">
              <a:buNone/>
            </a:pPr>
            <a:r>
              <a:rPr lang="en-US" sz="1300" b="1" dirty="0">
                <a:solidFill>
                  <a:srgbClr val="7CE38B"/>
                </a:solidFill>
                <a:latin typeface="Consolas" pitchFamily="34" charset="0"/>
                <a:ea typeface="Consolas" pitchFamily="34" charset="-122"/>
                <a:cs typeface="Consolas" pitchFamily="34" charset="-120"/>
              </a:rPr>
              <a:t>BA</a:t>
            </a:r>
            <a:endParaRPr lang="en-US" sz="1300" dirty="0"/>
          </a:p>
        </p:txBody>
      </p:sp>
      <p:sp>
        <p:nvSpPr>
          <p:cNvPr id="16" name="Text 14"/>
          <p:cNvSpPr/>
          <p:nvPr/>
        </p:nvSpPr>
        <p:spPr>
          <a:xfrm>
            <a:off x="2468880" y="2788920"/>
            <a:ext cx="9235440" cy="457200"/>
          </a:xfrm>
          <a:prstGeom prst="rect">
            <a:avLst/>
          </a:prstGeom>
          <a:noFill/>
          <a:ln/>
        </p:spPr>
        <p:txBody>
          <a:bodyPr wrap="square" lIns="0" tIns="0" rIns="0" bIns="0" rtlCol="0" anchor="ctr"/>
          <a:lstStyle/>
          <a:p>
            <a:pPr marL="0" indent="0">
              <a:buNone/>
            </a:pPr>
            <a:r>
              <a:rPr lang="en-US" sz="1100" dirty="0">
                <a:solidFill>
                  <a:srgbClr val="E6EDF3"/>
                </a:solidFill>
                <a:latin typeface="Consolas" pitchFamily="34" charset="0"/>
                <a:ea typeface="Consolas" pitchFamily="34" charset="-122"/>
                <a:cs typeface="Consolas" pitchFamily="34" charset="-120"/>
              </a:rPr>
              <a:t>docs/business/*.md</a:t>
            </a:r>
            <a:endParaRPr lang="en-US" sz="1100" dirty="0"/>
          </a:p>
        </p:txBody>
      </p:sp>
      <p:sp>
        <p:nvSpPr>
          <p:cNvPr id="17" name="Shape 15"/>
          <p:cNvSpPr/>
          <p:nvPr/>
        </p:nvSpPr>
        <p:spPr>
          <a:xfrm>
            <a:off x="365760" y="3291840"/>
            <a:ext cx="11430000" cy="457200"/>
          </a:xfrm>
          <a:prstGeom prst="rect">
            <a:avLst/>
          </a:prstGeom>
          <a:solidFill>
            <a:srgbClr val="1C2128"/>
          </a:solidFill>
          <a:ln w="12700">
            <a:solidFill>
              <a:srgbClr val="30363D"/>
            </a:solidFill>
            <a:prstDash val="solid"/>
          </a:ln>
        </p:spPr>
        <p:txBody>
          <a:bodyPr/>
          <a:lstStyle/>
          <a:p>
            <a:endParaRPr/>
          </a:p>
        </p:txBody>
      </p:sp>
      <p:sp>
        <p:nvSpPr>
          <p:cNvPr id="18" name="Shape 16"/>
          <p:cNvSpPr/>
          <p:nvPr/>
        </p:nvSpPr>
        <p:spPr>
          <a:xfrm>
            <a:off x="365760" y="3291840"/>
            <a:ext cx="73152" cy="457200"/>
          </a:xfrm>
          <a:prstGeom prst="rect">
            <a:avLst/>
          </a:prstGeom>
          <a:solidFill>
            <a:srgbClr val="7CE38B"/>
          </a:solidFill>
          <a:ln w="12700">
            <a:solidFill>
              <a:srgbClr val="7CE38B"/>
            </a:solidFill>
            <a:prstDash val="solid"/>
          </a:ln>
        </p:spPr>
        <p:txBody>
          <a:bodyPr/>
          <a:lstStyle/>
          <a:p>
            <a:endParaRPr/>
          </a:p>
        </p:txBody>
      </p:sp>
      <p:sp>
        <p:nvSpPr>
          <p:cNvPr id="19" name="Text 17"/>
          <p:cNvSpPr/>
          <p:nvPr/>
        </p:nvSpPr>
        <p:spPr>
          <a:xfrm>
            <a:off x="548640" y="3291840"/>
            <a:ext cx="1828800" cy="457200"/>
          </a:xfrm>
          <a:prstGeom prst="rect">
            <a:avLst/>
          </a:prstGeom>
          <a:noFill/>
          <a:ln/>
        </p:spPr>
        <p:txBody>
          <a:bodyPr wrap="square" lIns="0" tIns="0" rIns="0" bIns="0" rtlCol="0" anchor="ctr"/>
          <a:lstStyle/>
          <a:p>
            <a:pPr marL="0" indent="0">
              <a:buNone/>
            </a:pPr>
            <a:r>
              <a:rPr lang="en-US" sz="1300" b="1" dirty="0">
                <a:solidFill>
                  <a:srgbClr val="7CE38B"/>
                </a:solidFill>
                <a:latin typeface="Consolas" pitchFamily="34" charset="0"/>
                <a:ea typeface="Consolas" pitchFamily="34" charset="-122"/>
                <a:cs typeface="Consolas" pitchFamily="34" charset="-120"/>
              </a:rPr>
              <a:t>UX</a:t>
            </a:r>
            <a:endParaRPr lang="en-US" sz="1300" dirty="0"/>
          </a:p>
        </p:txBody>
      </p:sp>
      <p:sp>
        <p:nvSpPr>
          <p:cNvPr id="20" name="Text 18"/>
          <p:cNvSpPr/>
          <p:nvPr/>
        </p:nvSpPr>
        <p:spPr>
          <a:xfrm>
            <a:off x="2468880" y="3291840"/>
            <a:ext cx="9235440" cy="457200"/>
          </a:xfrm>
          <a:prstGeom prst="rect">
            <a:avLst/>
          </a:prstGeom>
          <a:noFill/>
          <a:ln/>
        </p:spPr>
        <p:txBody>
          <a:bodyPr wrap="square" lIns="0" tIns="0" rIns="0" bIns="0" rtlCol="0" anchor="ctr"/>
          <a:lstStyle/>
          <a:p>
            <a:pPr marL="0" indent="0">
              <a:buNone/>
            </a:pPr>
            <a:r>
              <a:rPr lang="en-US" sz="1100" dirty="0">
                <a:solidFill>
                  <a:srgbClr val="E6EDF3"/>
                </a:solidFill>
                <a:latin typeface="Consolas" pitchFamily="34" charset="0"/>
                <a:ea typeface="Consolas" pitchFamily="34" charset="-122"/>
                <a:cs typeface="Consolas" pitchFamily="34" charset="-120"/>
              </a:rPr>
              <a:t>docs/product/{UX_FLOW,WIREFRAMES,DESIGN_NOTES}.md</a:t>
            </a:r>
            <a:endParaRPr lang="en-US" sz="1100" dirty="0"/>
          </a:p>
        </p:txBody>
      </p:sp>
      <p:sp>
        <p:nvSpPr>
          <p:cNvPr id="21" name="Shape 19"/>
          <p:cNvSpPr/>
          <p:nvPr/>
        </p:nvSpPr>
        <p:spPr>
          <a:xfrm>
            <a:off x="365760" y="3794760"/>
            <a:ext cx="11430000" cy="457200"/>
          </a:xfrm>
          <a:prstGeom prst="rect">
            <a:avLst/>
          </a:prstGeom>
          <a:solidFill>
            <a:srgbClr val="161B22"/>
          </a:solidFill>
          <a:ln w="12700">
            <a:solidFill>
              <a:srgbClr val="30363D"/>
            </a:solidFill>
            <a:prstDash val="solid"/>
          </a:ln>
        </p:spPr>
        <p:txBody>
          <a:bodyPr/>
          <a:lstStyle/>
          <a:p>
            <a:endParaRPr/>
          </a:p>
        </p:txBody>
      </p:sp>
      <p:sp>
        <p:nvSpPr>
          <p:cNvPr id="22" name="Shape 20"/>
          <p:cNvSpPr/>
          <p:nvPr/>
        </p:nvSpPr>
        <p:spPr>
          <a:xfrm>
            <a:off x="365760" y="3794760"/>
            <a:ext cx="73152" cy="457200"/>
          </a:xfrm>
          <a:prstGeom prst="rect">
            <a:avLst/>
          </a:prstGeom>
          <a:solidFill>
            <a:srgbClr val="7CE38B"/>
          </a:solidFill>
          <a:ln w="12700">
            <a:solidFill>
              <a:srgbClr val="7CE38B"/>
            </a:solidFill>
            <a:prstDash val="solid"/>
          </a:ln>
        </p:spPr>
        <p:txBody>
          <a:bodyPr/>
          <a:lstStyle/>
          <a:p>
            <a:endParaRPr/>
          </a:p>
        </p:txBody>
      </p:sp>
      <p:sp>
        <p:nvSpPr>
          <p:cNvPr id="23" name="Text 21"/>
          <p:cNvSpPr/>
          <p:nvPr/>
        </p:nvSpPr>
        <p:spPr>
          <a:xfrm>
            <a:off x="548640" y="3794760"/>
            <a:ext cx="1828800" cy="457200"/>
          </a:xfrm>
          <a:prstGeom prst="rect">
            <a:avLst/>
          </a:prstGeom>
          <a:noFill/>
          <a:ln/>
        </p:spPr>
        <p:txBody>
          <a:bodyPr wrap="square" lIns="0" tIns="0" rIns="0" bIns="0" rtlCol="0" anchor="ctr"/>
          <a:lstStyle/>
          <a:p>
            <a:pPr marL="0" indent="0">
              <a:buNone/>
            </a:pPr>
            <a:r>
              <a:rPr lang="en-US" sz="1300" b="1" dirty="0">
                <a:solidFill>
                  <a:srgbClr val="7CE38B"/>
                </a:solidFill>
                <a:latin typeface="Consolas" pitchFamily="34" charset="0"/>
                <a:ea typeface="Consolas" pitchFamily="34" charset="-122"/>
                <a:cs typeface="Consolas" pitchFamily="34" charset="-120"/>
              </a:rPr>
              <a:t>BE</a:t>
            </a:r>
            <a:endParaRPr lang="en-US" sz="1300" dirty="0"/>
          </a:p>
        </p:txBody>
      </p:sp>
      <p:sp>
        <p:nvSpPr>
          <p:cNvPr id="24" name="Text 22"/>
          <p:cNvSpPr/>
          <p:nvPr/>
        </p:nvSpPr>
        <p:spPr>
          <a:xfrm>
            <a:off x="2468880" y="3794760"/>
            <a:ext cx="9235440" cy="457200"/>
          </a:xfrm>
          <a:prstGeom prst="rect">
            <a:avLst/>
          </a:prstGeom>
          <a:noFill/>
          <a:ln/>
        </p:spPr>
        <p:txBody>
          <a:bodyPr wrap="square" lIns="0" tIns="0" rIns="0" bIns="0" rtlCol="0" anchor="ctr"/>
          <a:lstStyle/>
          <a:p>
            <a:pPr marL="0" indent="0">
              <a:buNone/>
            </a:pPr>
            <a:r>
              <a:rPr lang="en-US" sz="1100" dirty="0">
                <a:solidFill>
                  <a:srgbClr val="E6EDF3"/>
                </a:solidFill>
                <a:latin typeface="Consolas" pitchFamily="34" charset="0"/>
                <a:ea typeface="Consolas" pitchFamily="34" charset="-122"/>
                <a:cs typeface="Consolas" pitchFamily="34" charset="-120"/>
              </a:rPr>
              <a:t>backend/* (source), planning/BE_PLAN.md</a:t>
            </a:r>
            <a:endParaRPr lang="en-US" sz="1100" dirty="0"/>
          </a:p>
        </p:txBody>
      </p:sp>
      <p:sp>
        <p:nvSpPr>
          <p:cNvPr id="25" name="Shape 23"/>
          <p:cNvSpPr/>
          <p:nvPr/>
        </p:nvSpPr>
        <p:spPr>
          <a:xfrm>
            <a:off x="365760" y="4297680"/>
            <a:ext cx="11430000" cy="457200"/>
          </a:xfrm>
          <a:prstGeom prst="rect">
            <a:avLst/>
          </a:prstGeom>
          <a:solidFill>
            <a:srgbClr val="1C2128"/>
          </a:solidFill>
          <a:ln w="12700">
            <a:solidFill>
              <a:srgbClr val="30363D"/>
            </a:solidFill>
            <a:prstDash val="solid"/>
          </a:ln>
        </p:spPr>
        <p:txBody>
          <a:bodyPr/>
          <a:lstStyle/>
          <a:p>
            <a:endParaRPr/>
          </a:p>
        </p:txBody>
      </p:sp>
      <p:sp>
        <p:nvSpPr>
          <p:cNvPr id="26" name="Shape 24"/>
          <p:cNvSpPr/>
          <p:nvPr/>
        </p:nvSpPr>
        <p:spPr>
          <a:xfrm>
            <a:off x="365760" y="4297680"/>
            <a:ext cx="73152" cy="457200"/>
          </a:xfrm>
          <a:prstGeom prst="rect">
            <a:avLst/>
          </a:prstGeom>
          <a:solidFill>
            <a:srgbClr val="7CE38B"/>
          </a:solidFill>
          <a:ln w="12700">
            <a:solidFill>
              <a:srgbClr val="7CE38B"/>
            </a:solidFill>
            <a:prstDash val="solid"/>
          </a:ln>
        </p:spPr>
        <p:txBody>
          <a:bodyPr/>
          <a:lstStyle/>
          <a:p>
            <a:endParaRPr/>
          </a:p>
        </p:txBody>
      </p:sp>
      <p:sp>
        <p:nvSpPr>
          <p:cNvPr id="27" name="Text 25"/>
          <p:cNvSpPr/>
          <p:nvPr/>
        </p:nvSpPr>
        <p:spPr>
          <a:xfrm>
            <a:off x="548640" y="4297680"/>
            <a:ext cx="1828800" cy="457200"/>
          </a:xfrm>
          <a:prstGeom prst="rect">
            <a:avLst/>
          </a:prstGeom>
          <a:noFill/>
          <a:ln/>
        </p:spPr>
        <p:txBody>
          <a:bodyPr wrap="square" lIns="0" tIns="0" rIns="0" bIns="0" rtlCol="0" anchor="ctr"/>
          <a:lstStyle/>
          <a:p>
            <a:pPr marL="0" indent="0">
              <a:buNone/>
            </a:pPr>
            <a:r>
              <a:rPr lang="en-US" sz="1300" b="1" dirty="0">
                <a:solidFill>
                  <a:srgbClr val="7CE38B"/>
                </a:solidFill>
                <a:latin typeface="Consolas" pitchFamily="34" charset="0"/>
                <a:ea typeface="Consolas" pitchFamily="34" charset="-122"/>
                <a:cs typeface="Consolas" pitchFamily="34" charset="-120"/>
              </a:rPr>
              <a:t>FE</a:t>
            </a:r>
            <a:endParaRPr lang="en-US" sz="1300" dirty="0"/>
          </a:p>
        </p:txBody>
      </p:sp>
      <p:sp>
        <p:nvSpPr>
          <p:cNvPr id="28" name="Text 26"/>
          <p:cNvSpPr/>
          <p:nvPr/>
        </p:nvSpPr>
        <p:spPr>
          <a:xfrm>
            <a:off x="2468880" y="4297680"/>
            <a:ext cx="9235440" cy="457200"/>
          </a:xfrm>
          <a:prstGeom prst="rect">
            <a:avLst/>
          </a:prstGeom>
          <a:noFill/>
          <a:ln/>
        </p:spPr>
        <p:txBody>
          <a:bodyPr wrap="square" lIns="0" tIns="0" rIns="0" bIns="0" rtlCol="0" anchor="ctr"/>
          <a:lstStyle/>
          <a:p>
            <a:pPr marL="0" indent="0">
              <a:buNone/>
            </a:pPr>
            <a:r>
              <a:rPr lang="en-US" sz="1100" dirty="0">
                <a:solidFill>
                  <a:srgbClr val="E6EDF3"/>
                </a:solidFill>
                <a:latin typeface="Consolas" pitchFamily="34" charset="0"/>
                <a:ea typeface="Consolas" pitchFamily="34" charset="-122"/>
                <a:cs typeface="Consolas" pitchFamily="34" charset="-120"/>
              </a:rPr>
              <a:t>frontend/* (source), planning/FE_PLAN.md</a:t>
            </a:r>
            <a:endParaRPr lang="en-US" sz="1100" dirty="0"/>
          </a:p>
        </p:txBody>
      </p:sp>
      <p:sp>
        <p:nvSpPr>
          <p:cNvPr id="29" name="Shape 27"/>
          <p:cNvSpPr/>
          <p:nvPr/>
        </p:nvSpPr>
        <p:spPr>
          <a:xfrm>
            <a:off x="365760" y="4800600"/>
            <a:ext cx="11430000" cy="457200"/>
          </a:xfrm>
          <a:prstGeom prst="rect">
            <a:avLst/>
          </a:prstGeom>
          <a:solidFill>
            <a:srgbClr val="161B22"/>
          </a:solidFill>
          <a:ln w="12700">
            <a:solidFill>
              <a:srgbClr val="30363D"/>
            </a:solidFill>
            <a:prstDash val="solid"/>
          </a:ln>
        </p:spPr>
        <p:txBody>
          <a:bodyPr/>
          <a:lstStyle/>
          <a:p>
            <a:endParaRPr/>
          </a:p>
        </p:txBody>
      </p:sp>
      <p:sp>
        <p:nvSpPr>
          <p:cNvPr id="30" name="Shape 28"/>
          <p:cNvSpPr/>
          <p:nvPr/>
        </p:nvSpPr>
        <p:spPr>
          <a:xfrm>
            <a:off x="365760" y="4800600"/>
            <a:ext cx="73152" cy="457200"/>
          </a:xfrm>
          <a:prstGeom prst="rect">
            <a:avLst/>
          </a:prstGeom>
          <a:solidFill>
            <a:srgbClr val="7CE38B"/>
          </a:solidFill>
          <a:ln w="12700">
            <a:solidFill>
              <a:srgbClr val="7CE38B"/>
            </a:solidFill>
            <a:prstDash val="solid"/>
          </a:ln>
        </p:spPr>
        <p:txBody>
          <a:bodyPr/>
          <a:lstStyle/>
          <a:p>
            <a:endParaRPr/>
          </a:p>
        </p:txBody>
      </p:sp>
      <p:sp>
        <p:nvSpPr>
          <p:cNvPr id="31" name="Text 29"/>
          <p:cNvSpPr/>
          <p:nvPr/>
        </p:nvSpPr>
        <p:spPr>
          <a:xfrm>
            <a:off x="548640" y="4800600"/>
            <a:ext cx="1828800" cy="457200"/>
          </a:xfrm>
          <a:prstGeom prst="rect">
            <a:avLst/>
          </a:prstGeom>
          <a:noFill/>
          <a:ln/>
        </p:spPr>
        <p:txBody>
          <a:bodyPr wrap="square" lIns="0" tIns="0" rIns="0" bIns="0" rtlCol="0" anchor="ctr"/>
          <a:lstStyle/>
          <a:p>
            <a:pPr marL="0" indent="0">
              <a:buNone/>
            </a:pPr>
            <a:r>
              <a:rPr lang="en-US" sz="1300" b="1" dirty="0">
                <a:solidFill>
                  <a:srgbClr val="7CE38B"/>
                </a:solidFill>
                <a:latin typeface="Consolas" pitchFamily="34" charset="0"/>
                <a:ea typeface="Consolas" pitchFamily="34" charset="-122"/>
                <a:cs typeface="Consolas" pitchFamily="34" charset="-120"/>
              </a:rPr>
              <a:t>QA</a:t>
            </a:r>
            <a:endParaRPr lang="en-US" sz="1300" dirty="0"/>
          </a:p>
        </p:txBody>
      </p:sp>
      <p:sp>
        <p:nvSpPr>
          <p:cNvPr id="32" name="Text 30"/>
          <p:cNvSpPr/>
          <p:nvPr/>
        </p:nvSpPr>
        <p:spPr>
          <a:xfrm>
            <a:off x="2468880" y="4800600"/>
            <a:ext cx="9235440" cy="457200"/>
          </a:xfrm>
          <a:prstGeom prst="rect">
            <a:avLst/>
          </a:prstGeom>
          <a:noFill/>
          <a:ln/>
        </p:spPr>
        <p:txBody>
          <a:bodyPr wrap="square" lIns="0" tIns="0" rIns="0" bIns="0" rtlCol="0" anchor="ctr"/>
          <a:lstStyle/>
          <a:p>
            <a:pPr marL="0" indent="0">
              <a:buNone/>
            </a:pPr>
            <a:r>
              <a:rPr lang="en-US" sz="1100" dirty="0">
                <a:solidFill>
                  <a:srgbClr val="E6EDF3"/>
                </a:solidFill>
                <a:latin typeface="Consolas" pitchFamily="34" charset="0"/>
                <a:ea typeface="Consolas" pitchFamily="34" charset="-122"/>
                <a:cs typeface="Consolas" pitchFamily="34" charset="-120"/>
              </a:rPr>
              <a:t>docs/qa/*.md, reports/*.md, plus tests if BE/FE didn't</a:t>
            </a:r>
            <a:endParaRPr lang="en-US" sz="1100" dirty="0"/>
          </a:p>
        </p:txBody>
      </p:sp>
      <p:sp>
        <p:nvSpPr>
          <p:cNvPr id="33" name="Shape 31"/>
          <p:cNvSpPr/>
          <p:nvPr/>
        </p:nvSpPr>
        <p:spPr>
          <a:xfrm>
            <a:off x="365760" y="5303520"/>
            <a:ext cx="11430000" cy="457200"/>
          </a:xfrm>
          <a:prstGeom prst="rect">
            <a:avLst/>
          </a:prstGeom>
          <a:solidFill>
            <a:srgbClr val="1C2128"/>
          </a:solidFill>
          <a:ln w="12700">
            <a:solidFill>
              <a:srgbClr val="30363D"/>
            </a:solidFill>
            <a:prstDash val="solid"/>
          </a:ln>
        </p:spPr>
        <p:txBody>
          <a:bodyPr/>
          <a:lstStyle/>
          <a:p>
            <a:endParaRPr/>
          </a:p>
        </p:txBody>
      </p:sp>
      <p:sp>
        <p:nvSpPr>
          <p:cNvPr id="34" name="Shape 32"/>
          <p:cNvSpPr/>
          <p:nvPr/>
        </p:nvSpPr>
        <p:spPr>
          <a:xfrm>
            <a:off x="365760" y="5303520"/>
            <a:ext cx="73152" cy="457200"/>
          </a:xfrm>
          <a:prstGeom prst="rect">
            <a:avLst/>
          </a:prstGeom>
          <a:solidFill>
            <a:srgbClr val="7CE38B"/>
          </a:solidFill>
          <a:ln w="12700">
            <a:solidFill>
              <a:srgbClr val="7CE38B"/>
            </a:solidFill>
            <a:prstDash val="solid"/>
          </a:ln>
        </p:spPr>
        <p:txBody>
          <a:bodyPr/>
          <a:lstStyle/>
          <a:p>
            <a:endParaRPr/>
          </a:p>
        </p:txBody>
      </p:sp>
      <p:sp>
        <p:nvSpPr>
          <p:cNvPr id="35" name="Text 33"/>
          <p:cNvSpPr/>
          <p:nvPr/>
        </p:nvSpPr>
        <p:spPr>
          <a:xfrm>
            <a:off x="548640" y="5303520"/>
            <a:ext cx="1828800" cy="457200"/>
          </a:xfrm>
          <a:prstGeom prst="rect">
            <a:avLst/>
          </a:prstGeom>
          <a:noFill/>
          <a:ln/>
        </p:spPr>
        <p:txBody>
          <a:bodyPr wrap="square" lIns="0" tIns="0" rIns="0" bIns="0" rtlCol="0" anchor="ctr"/>
          <a:lstStyle/>
          <a:p>
            <a:pPr marL="0" indent="0">
              <a:buNone/>
            </a:pPr>
            <a:r>
              <a:rPr lang="en-US" sz="1300" b="1" dirty="0">
                <a:solidFill>
                  <a:srgbClr val="7CE38B"/>
                </a:solidFill>
                <a:latin typeface="Consolas" pitchFamily="34" charset="0"/>
                <a:ea typeface="Consolas" pitchFamily="34" charset="-122"/>
                <a:cs typeface="Consolas" pitchFamily="34" charset="-120"/>
              </a:rPr>
              <a:t>DELIVERY</a:t>
            </a:r>
            <a:endParaRPr lang="en-US" sz="1300" dirty="0"/>
          </a:p>
        </p:txBody>
      </p:sp>
      <p:sp>
        <p:nvSpPr>
          <p:cNvPr id="36" name="Text 34"/>
          <p:cNvSpPr/>
          <p:nvPr/>
        </p:nvSpPr>
        <p:spPr>
          <a:xfrm>
            <a:off x="2468880" y="5303520"/>
            <a:ext cx="9235440" cy="457200"/>
          </a:xfrm>
          <a:prstGeom prst="rect">
            <a:avLst/>
          </a:prstGeom>
          <a:noFill/>
          <a:ln/>
        </p:spPr>
        <p:txBody>
          <a:bodyPr wrap="square" lIns="0" tIns="0" rIns="0" bIns="0" rtlCol="0" anchor="ctr"/>
          <a:lstStyle/>
          <a:p>
            <a:pPr marL="0" indent="0">
              <a:buNone/>
            </a:pPr>
            <a:r>
              <a:rPr lang="en-US" sz="1100" dirty="0">
                <a:solidFill>
                  <a:srgbClr val="E6EDF3"/>
                </a:solidFill>
                <a:latin typeface="Consolas" pitchFamily="34" charset="0"/>
                <a:ea typeface="Consolas" pitchFamily="34" charset="-122"/>
                <a:cs typeface="Consolas" pitchFamily="34" charset="-120"/>
              </a:rPr>
              <a:t>Dockerfiles, docker-compose.yml, .env.example, docs/delivery/*</a:t>
            </a:r>
            <a:endParaRPr lang="en-US" sz="1100" dirty="0"/>
          </a:p>
        </p:txBody>
      </p:sp>
      <p:sp>
        <p:nvSpPr>
          <p:cNvPr id="37" name="Shape 35"/>
          <p:cNvSpPr/>
          <p:nvPr/>
        </p:nvSpPr>
        <p:spPr>
          <a:xfrm>
            <a:off x="365760" y="5806440"/>
            <a:ext cx="11430000" cy="457200"/>
          </a:xfrm>
          <a:prstGeom prst="rect">
            <a:avLst/>
          </a:prstGeom>
          <a:solidFill>
            <a:srgbClr val="161B22"/>
          </a:solidFill>
          <a:ln w="12700">
            <a:solidFill>
              <a:srgbClr val="30363D"/>
            </a:solidFill>
            <a:prstDash val="solid"/>
          </a:ln>
        </p:spPr>
        <p:txBody>
          <a:bodyPr/>
          <a:lstStyle/>
          <a:p>
            <a:endParaRPr/>
          </a:p>
        </p:txBody>
      </p:sp>
      <p:sp>
        <p:nvSpPr>
          <p:cNvPr id="38" name="Shape 36"/>
          <p:cNvSpPr/>
          <p:nvPr/>
        </p:nvSpPr>
        <p:spPr>
          <a:xfrm>
            <a:off x="365760" y="5806440"/>
            <a:ext cx="73152" cy="457200"/>
          </a:xfrm>
          <a:prstGeom prst="rect">
            <a:avLst/>
          </a:prstGeom>
          <a:solidFill>
            <a:srgbClr val="7CE38B"/>
          </a:solidFill>
          <a:ln w="12700">
            <a:solidFill>
              <a:srgbClr val="7CE38B"/>
            </a:solidFill>
            <a:prstDash val="solid"/>
          </a:ln>
        </p:spPr>
        <p:txBody>
          <a:bodyPr/>
          <a:lstStyle/>
          <a:p>
            <a:endParaRPr/>
          </a:p>
        </p:txBody>
      </p:sp>
      <p:sp>
        <p:nvSpPr>
          <p:cNvPr id="39" name="Text 37"/>
          <p:cNvSpPr/>
          <p:nvPr/>
        </p:nvSpPr>
        <p:spPr>
          <a:xfrm>
            <a:off x="548640" y="5806440"/>
            <a:ext cx="1828800" cy="457200"/>
          </a:xfrm>
          <a:prstGeom prst="rect">
            <a:avLst/>
          </a:prstGeom>
          <a:noFill/>
          <a:ln/>
        </p:spPr>
        <p:txBody>
          <a:bodyPr wrap="square" lIns="0" tIns="0" rIns="0" bIns="0" rtlCol="0" anchor="ctr"/>
          <a:lstStyle/>
          <a:p>
            <a:pPr marL="0" indent="0">
              <a:buNone/>
            </a:pPr>
            <a:r>
              <a:rPr lang="en-US" sz="1300" b="1" dirty="0">
                <a:solidFill>
                  <a:srgbClr val="7CE38B"/>
                </a:solidFill>
                <a:latin typeface="Consolas" pitchFamily="34" charset="0"/>
                <a:ea typeface="Consolas" pitchFamily="34" charset="-122"/>
                <a:cs typeface="Consolas" pitchFamily="34" charset="-120"/>
              </a:rPr>
              <a:t>ORCHESTRATOR</a:t>
            </a:r>
            <a:endParaRPr lang="en-US" sz="1300" dirty="0"/>
          </a:p>
        </p:txBody>
      </p:sp>
      <p:sp>
        <p:nvSpPr>
          <p:cNvPr id="40" name="Text 38"/>
          <p:cNvSpPr/>
          <p:nvPr/>
        </p:nvSpPr>
        <p:spPr>
          <a:xfrm>
            <a:off x="2468880" y="5806440"/>
            <a:ext cx="9235440" cy="457200"/>
          </a:xfrm>
          <a:prstGeom prst="rect">
            <a:avLst/>
          </a:prstGeom>
          <a:noFill/>
          <a:ln/>
        </p:spPr>
        <p:txBody>
          <a:bodyPr wrap="square" lIns="0" tIns="0" rIns="0" bIns="0" rtlCol="0" anchor="ctr"/>
          <a:lstStyle/>
          <a:p>
            <a:pPr marL="0" indent="0">
              <a:buNone/>
            </a:pPr>
            <a:r>
              <a:rPr lang="en-US" sz="1100" dirty="0">
                <a:solidFill>
                  <a:srgbClr val="E6EDF3"/>
                </a:solidFill>
                <a:latin typeface="Consolas" pitchFamily="34" charset="0"/>
                <a:ea typeface="Consolas" pitchFamily="34" charset="-122"/>
                <a:cs typeface="Consolas" pitchFamily="34" charset="-120"/>
              </a:rPr>
              <a:t>TASK.md, memory/_PROJECT_STATE.md (coordinator only)</a:t>
            </a:r>
            <a:endParaRPr lang="en-US" sz="1100" dirty="0"/>
          </a:p>
        </p:txBody>
      </p:sp>
      <p:sp>
        <p:nvSpPr>
          <p:cNvPr id="41" name="Text 39"/>
          <p:cNvSpPr/>
          <p:nvPr/>
        </p:nvSpPr>
        <p:spPr>
          <a:xfrm>
            <a:off x="365760" y="6126480"/>
            <a:ext cx="11430000" cy="320040"/>
          </a:xfrm>
          <a:prstGeom prst="rect">
            <a:avLst/>
          </a:prstGeom>
          <a:noFill/>
          <a:ln/>
        </p:spPr>
        <p:txBody>
          <a:bodyPr wrap="square" lIns="0" tIns="0" rIns="0" bIns="0" rtlCol="0" anchor="ctr"/>
          <a:lstStyle/>
          <a:p>
            <a:pPr marL="0" indent="0" algn="ctr">
              <a:buNone/>
            </a:pPr>
            <a:r>
              <a:rPr lang="en-US" sz="1100" i="1" dirty="0">
                <a:solidFill>
                  <a:srgbClr val="D29922"/>
                </a:solidFill>
                <a:latin typeface="Calibri" pitchFamily="34" charset="0"/>
                <a:ea typeface="Calibri" pitchFamily="34" charset="-122"/>
                <a:cs typeface="Calibri" pitchFamily="34" charset="-120"/>
              </a:rPr>
              <a:t>Đọc tự do, ghi giới hạn. DELIVERY hit FE build bug → route FE (hoặc SA triage), KHÔNG tự sửa frontend/.</a:t>
            </a:r>
            <a:endParaRPr lang="en-US" sz="1100" dirty="0"/>
          </a:p>
        </p:txBody>
      </p:sp>
      <p:sp>
        <p:nvSpPr>
          <p:cNvPr id="42" name="Text 40"/>
          <p:cNvSpPr/>
          <p:nvPr/>
        </p:nvSpPr>
        <p:spPr>
          <a:xfrm>
            <a:off x="11338560" y="6492240"/>
            <a:ext cx="731520" cy="228600"/>
          </a:xfrm>
          <a:prstGeom prst="rect">
            <a:avLst/>
          </a:prstGeom>
          <a:noFill/>
          <a:ln/>
        </p:spPr>
        <p:txBody>
          <a:bodyPr wrap="square" lIns="0" tIns="0" rIns="0" bIns="0" rtlCol="0" anchor="ctr"/>
          <a:lstStyle/>
          <a:p>
            <a:pPr marL="0" indent="0" algn="r">
              <a:buNone/>
            </a:pPr>
            <a:r>
              <a:rPr lang="en-US" sz="900" dirty="0">
                <a:solidFill>
                  <a:srgbClr val="8B949E"/>
                </a:solidFill>
                <a:latin typeface="Consolas" pitchFamily="34" charset="0"/>
                <a:ea typeface="Consolas" pitchFamily="34" charset="-122"/>
                <a:cs typeface="Consolas" pitchFamily="34" charset="-120"/>
              </a:rPr>
              <a:t>27 / 40</a:t>
            </a:r>
            <a:endParaRPr lang="en-US" sz="900" dirty="0"/>
          </a:p>
        </p:txBody>
      </p:sp>
      <p:sp>
        <p:nvSpPr>
          <p:cNvPr id="43" name="Text 41"/>
          <p:cNvSpPr/>
          <p:nvPr/>
        </p:nvSpPr>
        <p:spPr>
          <a:xfrm>
            <a:off x="365760" y="6492240"/>
            <a:ext cx="1097280" cy="228600"/>
          </a:xfrm>
          <a:prstGeom prst="rect">
            <a:avLst/>
          </a:prstGeom>
          <a:noFill/>
          <a:ln/>
        </p:spPr>
        <p:txBody>
          <a:bodyPr wrap="square" lIns="0" tIns="0" rIns="0" bIns="0" rtlCol="0" anchor="ctr"/>
          <a:lstStyle/>
          <a:p>
            <a:pPr marL="0" indent="0" algn="l">
              <a:buNone/>
            </a:pPr>
            <a:r>
              <a:rPr lang="en-US" sz="900" dirty="0">
                <a:solidFill>
                  <a:srgbClr val="8B949E"/>
                </a:solidFill>
                <a:latin typeface="Consolas" pitchFamily="34" charset="0"/>
                <a:ea typeface="Consolas" pitchFamily="34" charset="-122"/>
                <a:cs typeface="Consolas" pitchFamily="34" charset="-120"/>
              </a:rPr>
              <a:t>v10.23</a:t>
            </a:r>
            <a:endParaRPr lang="en-US" sz="900" dirty="0"/>
          </a:p>
        </p:txBody>
      </p:sp>
      <p:sp>
        <p:nvSpPr>
          <p:cNvPr id="44" name="Text 42"/>
          <p:cNvSpPr/>
          <p:nvPr/>
        </p:nvSpPr>
        <p:spPr>
          <a:xfrm>
            <a:off x="4572000" y="6492240"/>
            <a:ext cx="6400800" cy="228600"/>
          </a:xfrm>
          <a:prstGeom prst="rect">
            <a:avLst/>
          </a:prstGeom>
          <a:noFill/>
          <a:ln/>
        </p:spPr>
        <p:txBody>
          <a:bodyPr wrap="square" lIns="0" tIns="0" rIns="0" bIns="0" rtlCol="0" anchor="ctr"/>
          <a:lstStyle/>
          <a:p>
            <a:pPr marL="0" indent="0" algn="ctr">
              <a:buNone/>
            </a:pPr>
            <a:r>
              <a:rPr lang="en-US" sz="900" dirty="0">
                <a:solidFill>
                  <a:srgbClr val="8B949E"/>
                </a:solidFill>
                <a:latin typeface="Consolas" pitchFamily="34" charset="0"/>
                <a:ea typeface="Consolas" pitchFamily="34" charset="-122"/>
                <a:cs typeface="Consolas" pitchFamily="34" charset="-120"/>
              </a:rPr>
              <a:t>Product Engineering Agent Framework</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6">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365760" y="228600"/>
            <a:ext cx="8229600" cy="274320"/>
          </a:xfrm>
          <a:prstGeom prst="rect">
            <a:avLst/>
          </a:prstGeom>
          <a:noFill/>
          <a:ln/>
        </p:spPr>
        <p:txBody>
          <a:bodyPr wrap="square" lIns="0" tIns="0" rIns="0" bIns="0" rtlCol="0" anchor="ctr"/>
          <a:lstStyle/>
          <a:p>
            <a:pPr marL="0" indent="0">
              <a:buNone/>
            </a:pPr>
            <a:r>
              <a:rPr lang="en-US" sz="1100" dirty="0">
                <a:solidFill>
                  <a:srgbClr val="2EA043"/>
                </a:solidFill>
                <a:latin typeface="Consolas" pitchFamily="34" charset="0"/>
                <a:ea typeface="Consolas" pitchFamily="34" charset="-122"/>
                <a:cs typeface="Consolas" pitchFamily="34" charset="-120"/>
              </a:rPr>
              <a:t>$ </a:t>
            </a:r>
            <a:r>
              <a:rPr lang="en-US" sz="1100" dirty="0">
                <a:solidFill>
                  <a:srgbClr val="8B949E"/>
                </a:solidFill>
                <a:latin typeface="Consolas" pitchFamily="34" charset="0"/>
                <a:ea typeface="Consolas" pitchFamily="34" charset="-122"/>
                <a:cs typeface="Consolas" pitchFamily="34" charset="-120"/>
              </a:rPr>
              <a:t>22_prerequisite_check.md</a:t>
            </a:r>
            <a:endParaRPr lang="en-US" sz="1100" dirty="0"/>
          </a:p>
        </p:txBody>
      </p:sp>
      <p:sp>
        <p:nvSpPr>
          <p:cNvPr id="3" name="Text 1"/>
          <p:cNvSpPr/>
          <p:nvPr/>
        </p:nvSpPr>
        <p:spPr>
          <a:xfrm>
            <a:off x="365760" y="548640"/>
            <a:ext cx="11430000" cy="640080"/>
          </a:xfrm>
          <a:prstGeom prst="rect">
            <a:avLst/>
          </a:prstGeom>
          <a:noFill/>
          <a:ln/>
        </p:spPr>
        <p:txBody>
          <a:bodyPr wrap="square" lIns="0" tIns="0" rIns="0" bIns="0" rtlCol="0" anchor="ctr"/>
          <a:lstStyle/>
          <a:p>
            <a:pPr marL="0" indent="0">
              <a:buNone/>
            </a:pPr>
            <a:r>
              <a:rPr lang="en-US" sz="3000" b="1" dirty="0">
                <a:solidFill>
                  <a:srgbClr val="E6EDF3"/>
                </a:solidFill>
                <a:latin typeface="Consolas" pitchFamily="34" charset="0"/>
                <a:ea typeface="Consolas" pitchFamily="34" charset="-122"/>
                <a:cs typeface="Consolas" pitchFamily="34" charset="-120"/>
              </a:rPr>
              <a:t>Prerequisite check (v10.8)</a:t>
            </a:r>
            <a:endParaRPr lang="en-US" sz="3000" dirty="0"/>
          </a:p>
        </p:txBody>
      </p:sp>
      <p:sp>
        <p:nvSpPr>
          <p:cNvPr id="4" name="Text 2"/>
          <p:cNvSpPr/>
          <p:nvPr/>
        </p:nvSpPr>
        <p:spPr>
          <a:xfrm>
            <a:off x="365760" y="1143000"/>
            <a:ext cx="11430000" cy="365760"/>
          </a:xfrm>
          <a:prstGeom prst="rect">
            <a:avLst/>
          </a:prstGeom>
          <a:noFill/>
          <a:ln/>
        </p:spPr>
        <p:txBody>
          <a:bodyPr wrap="square" lIns="0" tIns="0" rIns="0" bIns="0" rtlCol="0" anchor="ctr"/>
          <a:lstStyle/>
          <a:p>
            <a:pPr marL="0" indent="0">
              <a:buNone/>
            </a:pPr>
            <a:r>
              <a:rPr lang="en-US" sz="1400" i="1" dirty="0">
                <a:solidFill>
                  <a:srgbClr val="8B949E"/>
                </a:solidFill>
                <a:latin typeface="Calibri" pitchFamily="34" charset="0"/>
                <a:ea typeface="Calibri" pitchFamily="34" charset="-122"/>
                <a:cs typeface="Calibri" pitchFamily="34" charset="-120"/>
              </a:rPr>
              <a:t>Worker không bao giờ guess thiếu input — block và route upstream</a:t>
            </a:r>
            <a:endParaRPr lang="en-US" sz="1400" dirty="0"/>
          </a:p>
        </p:txBody>
      </p:sp>
      <p:sp>
        <p:nvSpPr>
          <p:cNvPr id="5" name="Shape 3"/>
          <p:cNvSpPr/>
          <p:nvPr/>
        </p:nvSpPr>
        <p:spPr>
          <a:xfrm>
            <a:off x="365760" y="1783080"/>
            <a:ext cx="5852160" cy="4480560"/>
          </a:xfrm>
          <a:prstGeom prst="rect">
            <a:avLst/>
          </a:prstGeom>
          <a:solidFill>
            <a:srgbClr val="161B22"/>
          </a:solidFill>
          <a:ln w="12700">
            <a:solidFill>
              <a:srgbClr val="30363D"/>
            </a:solidFill>
            <a:prstDash val="solid"/>
          </a:ln>
        </p:spPr>
        <p:txBody>
          <a:bodyPr/>
          <a:lstStyle/>
          <a:p>
            <a:endParaRPr/>
          </a:p>
        </p:txBody>
      </p:sp>
      <p:sp>
        <p:nvSpPr>
          <p:cNvPr id="6" name="Shape 4"/>
          <p:cNvSpPr/>
          <p:nvPr/>
        </p:nvSpPr>
        <p:spPr>
          <a:xfrm>
            <a:off x="457200" y="1874520"/>
            <a:ext cx="91440" cy="91440"/>
          </a:xfrm>
          <a:prstGeom prst="ellipse">
            <a:avLst/>
          </a:prstGeom>
          <a:solidFill>
            <a:srgbClr val="F85149"/>
          </a:solidFill>
          <a:ln w="12700">
            <a:solidFill>
              <a:srgbClr val="F85149"/>
            </a:solidFill>
            <a:prstDash val="solid"/>
          </a:ln>
        </p:spPr>
        <p:txBody>
          <a:bodyPr/>
          <a:lstStyle/>
          <a:p>
            <a:endParaRPr/>
          </a:p>
        </p:txBody>
      </p:sp>
      <p:sp>
        <p:nvSpPr>
          <p:cNvPr id="7" name="Shape 5"/>
          <p:cNvSpPr/>
          <p:nvPr/>
        </p:nvSpPr>
        <p:spPr>
          <a:xfrm>
            <a:off x="585216" y="1874520"/>
            <a:ext cx="91440" cy="91440"/>
          </a:xfrm>
          <a:prstGeom prst="ellipse">
            <a:avLst/>
          </a:prstGeom>
          <a:solidFill>
            <a:srgbClr val="D29922"/>
          </a:solidFill>
          <a:ln w="12700">
            <a:solidFill>
              <a:srgbClr val="D29922"/>
            </a:solidFill>
            <a:prstDash val="solid"/>
          </a:ln>
        </p:spPr>
        <p:txBody>
          <a:bodyPr/>
          <a:lstStyle/>
          <a:p>
            <a:endParaRPr/>
          </a:p>
        </p:txBody>
      </p:sp>
      <p:sp>
        <p:nvSpPr>
          <p:cNvPr id="8" name="Shape 6"/>
          <p:cNvSpPr/>
          <p:nvPr/>
        </p:nvSpPr>
        <p:spPr>
          <a:xfrm>
            <a:off x="713232" y="1874520"/>
            <a:ext cx="91440" cy="91440"/>
          </a:xfrm>
          <a:prstGeom prst="ellipse">
            <a:avLst/>
          </a:prstGeom>
          <a:solidFill>
            <a:srgbClr val="3FB950"/>
          </a:solidFill>
          <a:ln w="12700">
            <a:solidFill>
              <a:srgbClr val="3FB950"/>
            </a:solidFill>
            <a:prstDash val="solid"/>
          </a:ln>
        </p:spPr>
        <p:txBody>
          <a:bodyPr/>
          <a:lstStyle/>
          <a:p>
            <a:endParaRPr/>
          </a:p>
        </p:txBody>
      </p:sp>
      <p:sp>
        <p:nvSpPr>
          <p:cNvPr id="9" name="Text 7"/>
          <p:cNvSpPr/>
          <p:nvPr/>
        </p:nvSpPr>
        <p:spPr>
          <a:xfrm>
            <a:off x="502920" y="2103120"/>
            <a:ext cx="5577840" cy="4114800"/>
          </a:xfrm>
          <a:prstGeom prst="rect">
            <a:avLst/>
          </a:prstGeom>
          <a:noFill/>
          <a:ln/>
        </p:spPr>
        <p:txBody>
          <a:bodyPr wrap="square" lIns="0" tIns="0" rIns="0" bIns="0" rtlCol="0" anchor="t"/>
          <a:lstStyle/>
          <a:p>
            <a:pPr marL="0" indent="0">
              <a:buNone/>
            </a:pPr>
            <a:r>
              <a:rPr lang="en-US" sz="1200" dirty="0">
                <a:solidFill>
                  <a:srgbClr val="8B949E"/>
                </a:solidFill>
                <a:latin typeface="Consolas" pitchFamily="34" charset="0"/>
                <a:ea typeface="Consolas" pitchFamily="34" charset="-122"/>
                <a:cs typeface="Consolas" pitchFamily="34" charset="-120"/>
              </a:rPr>
              <a:t># Worker chạy đầu mọi task:</a:t>
            </a:r>
            <a:endParaRPr lang="en-US" sz="1200" dirty="0"/>
          </a:p>
          <a:p>
            <a:pPr marL="0" indent="0">
              <a:buNone/>
            </a:pPr>
            <a:r>
              <a:rPr lang="en-US" sz="1200" dirty="0">
                <a:solidFill>
                  <a:srgbClr val="7CE38B"/>
                </a:solidFill>
                <a:latin typeface="Consolas" pitchFamily="34" charset="0"/>
                <a:ea typeface="Consolas" pitchFamily="34" charset="-122"/>
                <a:cs typeface="Consolas" pitchFamily="34" charset="-120"/>
              </a:rPr>
              <a:t>$ bash scripts/check_prerequisites.sh BE</a:t>
            </a:r>
            <a:endParaRPr lang="en-US" sz="1200" dirty="0"/>
          </a:p>
          <a:p>
            <a:pPr marL="0" indent="0">
              <a:buNone/>
            </a:pP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Prerequisite check for BE</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  docs/architecture/API_CONTRACT.md   MISSING</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  docs/architecture/TECH_STACK.md     OK</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  planning/BE_PLAN.md                 SKELETON</a:t>
            </a:r>
            <a:endParaRPr lang="en-US" sz="1200" dirty="0"/>
          </a:p>
          <a:p>
            <a:pPr marL="0" indent="0">
              <a:buNone/>
            </a:pP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BLOCKED — BE cannot proceed. 2 missing.</a:t>
            </a:r>
            <a:endParaRPr lang="en-US" sz="1200" dirty="0"/>
          </a:p>
          <a:p>
            <a:pPr marL="0" indent="0">
              <a:buNone/>
            </a:pP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Required action:</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  notify_orchestrator.sh BE \</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  "Cannot proceed — missing API_CONTRACT.md,</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   BE_PLAN.md. Need SA, BE to produce."</a:t>
            </a:r>
            <a:endParaRPr lang="en-US" sz="1200" dirty="0"/>
          </a:p>
        </p:txBody>
      </p:sp>
      <p:sp>
        <p:nvSpPr>
          <p:cNvPr id="10" name="Shape 8"/>
          <p:cNvSpPr/>
          <p:nvPr/>
        </p:nvSpPr>
        <p:spPr>
          <a:xfrm>
            <a:off x="6492240" y="1874520"/>
            <a:ext cx="54864" cy="292608"/>
          </a:xfrm>
          <a:prstGeom prst="rect">
            <a:avLst/>
          </a:prstGeom>
          <a:solidFill>
            <a:srgbClr val="7CE38B"/>
          </a:solidFill>
          <a:ln w="12700">
            <a:solidFill>
              <a:srgbClr val="7CE38B"/>
            </a:solidFill>
            <a:prstDash val="solid"/>
          </a:ln>
        </p:spPr>
        <p:txBody>
          <a:bodyPr/>
          <a:lstStyle/>
          <a:p>
            <a:endParaRPr/>
          </a:p>
        </p:txBody>
      </p:sp>
      <p:sp>
        <p:nvSpPr>
          <p:cNvPr id="11" name="Text 9"/>
          <p:cNvSpPr/>
          <p:nvPr/>
        </p:nvSpPr>
        <p:spPr>
          <a:xfrm>
            <a:off x="6629400" y="1874520"/>
            <a:ext cx="5166360" cy="292608"/>
          </a:xfrm>
          <a:prstGeom prst="rect">
            <a:avLst/>
          </a:prstGeom>
          <a:noFill/>
          <a:ln/>
        </p:spPr>
        <p:txBody>
          <a:bodyPr wrap="square" lIns="0" tIns="0" rIns="0" bIns="0" rtlCol="0" anchor="ctr"/>
          <a:lstStyle/>
          <a:p>
            <a:pPr marL="0" indent="0">
              <a:buNone/>
            </a:pPr>
            <a:r>
              <a:rPr lang="en-US" sz="1400" b="1" dirty="0">
                <a:solidFill>
                  <a:srgbClr val="E6EDF3"/>
                </a:solidFill>
                <a:latin typeface="Consolas" pitchFamily="34" charset="0"/>
                <a:ea typeface="Consolas" pitchFamily="34" charset="-122"/>
                <a:cs typeface="Consolas" pitchFamily="34" charset="-120"/>
              </a:rPr>
              <a:t>Orchestrator coordinates</a:t>
            </a:r>
            <a:endParaRPr lang="en-US" sz="1400" dirty="0"/>
          </a:p>
        </p:txBody>
      </p:sp>
      <p:sp>
        <p:nvSpPr>
          <p:cNvPr id="12" name="Text 10"/>
          <p:cNvSpPr/>
          <p:nvPr/>
        </p:nvSpPr>
        <p:spPr>
          <a:xfrm>
            <a:off x="6492240" y="2286000"/>
            <a:ext cx="5303520" cy="3931920"/>
          </a:xfrm>
          <a:prstGeom prst="rect">
            <a:avLst/>
          </a:prstGeom>
          <a:noFill/>
          <a:ln/>
        </p:spPr>
        <p:txBody>
          <a:bodyPr wrap="square" lIns="0" tIns="0" rIns="0" bIns="0" rtlCol="0" anchor="ctr"/>
          <a:lstStyle/>
          <a:p>
            <a:pPr marL="0" indent="0">
              <a:spcAft>
                <a:spcPts val="400"/>
              </a:spcAft>
              <a:buNone/>
            </a:pPr>
            <a:r>
              <a:rPr lang="en-US" sz="1100" dirty="0">
                <a:solidFill>
                  <a:srgbClr val="E6EDF3"/>
                </a:solidFill>
                <a:latin typeface="Calibri" pitchFamily="34" charset="0"/>
                <a:ea typeface="Calibri" pitchFamily="34" charset="-122"/>
                <a:cs typeface="Calibri" pitchFamily="34" charset="-120"/>
              </a:rPr>
              <a:t>1. Nhận notification BE blocked.</a:t>
            </a:r>
            <a:endParaRPr lang="en-US" sz="1100" dirty="0"/>
          </a:p>
          <a:p>
            <a:pPr marL="0" indent="0">
              <a:spcAft>
                <a:spcPts val="400"/>
              </a:spcAft>
              <a:buNone/>
            </a:pPr>
            <a:r>
              <a:rPr lang="en-US" sz="1100" dirty="0">
                <a:solidFill>
                  <a:srgbClr val="E6EDF3"/>
                </a:solidFill>
                <a:latin typeface="Calibri" pitchFamily="34" charset="0"/>
                <a:ea typeface="Calibri" pitchFamily="34" charset="-122"/>
                <a:cs typeface="Calibri" pitchFamily="34" charset="-120"/>
              </a:rPr>
              <a:t>2. Parse missing list + owners.</a:t>
            </a:r>
            <a:endParaRPr lang="en-US" sz="1100" dirty="0"/>
          </a:p>
          <a:p>
            <a:pPr marL="0" indent="0">
              <a:spcAft>
                <a:spcPts val="400"/>
              </a:spcAft>
              <a:buNone/>
            </a:pPr>
            <a:r>
              <a:rPr lang="en-US" sz="1100" dirty="0">
                <a:solidFill>
                  <a:srgbClr val="E6EDF3"/>
                </a:solidFill>
                <a:latin typeface="Calibri" pitchFamily="34" charset="0"/>
                <a:ea typeface="Calibri" pitchFamily="34" charset="-122"/>
                <a:cs typeface="Calibri" pitchFamily="34" charset="-120"/>
              </a:rPr>
              <a:t>3. Route mỗi upstream owner:</a:t>
            </a:r>
            <a:endParaRPr lang="en-US" sz="1100" dirty="0"/>
          </a:p>
          <a:p>
            <a:pPr marL="0" indent="0">
              <a:spcAft>
                <a:spcPts val="400"/>
              </a:spcAft>
              <a:buNone/>
            </a:pPr>
            <a:r>
              <a:rPr lang="en-US" sz="1100" dirty="0">
                <a:solidFill>
                  <a:srgbClr val="79C0FF"/>
                </a:solidFill>
                <a:latin typeface="Consolas" pitchFamily="34" charset="0"/>
                <a:ea typeface="Consolas" pitchFamily="34" charset="-122"/>
                <a:cs typeface="Consolas" pitchFamily="34" charset="-120"/>
              </a:rPr>
              <a:t>     → SA: produce API_CONTRACT.md</a:t>
            </a:r>
            <a:endParaRPr lang="en-US" sz="1100" dirty="0"/>
          </a:p>
          <a:p>
            <a:pPr marL="0" indent="0">
              <a:spcAft>
                <a:spcPts val="400"/>
              </a:spcAft>
              <a:buNone/>
            </a:pPr>
            <a:r>
              <a:rPr lang="en-US" sz="1100" dirty="0">
                <a:solidFill>
                  <a:srgbClr val="E6EDF3"/>
                </a:solidFill>
                <a:latin typeface="Calibri" pitchFamily="34" charset="0"/>
                <a:ea typeface="Calibri" pitchFamily="34" charset="-122"/>
                <a:cs typeface="Calibri" pitchFamily="34" charset="-120"/>
              </a:rPr>
              <a:t>4. Update memory/_PROJECT_STATE.md</a:t>
            </a:r>
            <a:endParaRPr lang="en-US" sz="1100" dirty="0"/>
          </a:p>
          <a:p>
            <a:pPr marL="0" indent="0">
              <a:spcAft>
                <a:spcPts val="400"/>
              </a:spcAft>
              <a:buNone/>
            </a:pPr>
            <a:r>
              <a:rPr lang="en-US" sz="1100" dirty="0">
                <a:solidFill>
                  <a:srgbClr val="8B949E"/>
                </a:solidFill>
                <a:latin typeface="Consolas" pitchFamily="34" charset="0"/>
                <a:ea typeface="Consolas" pitchFamily="34" charset="-122"/>
                <a:cs typeface="Consolas" pitchFamily="34" charset="-120"/>
              </a:rPr>
              <a:t>     Active workstreams = SA writing</a:t>
            </a:r>
            <a:endParaRPr lang="en-US" sz="1100" dirty="0"/>
          </a:p>
          <a:p>
            <a:pPr marL="0" indent="0">
              <a:spcAft>
                <a:spcPts val="400"/>
              </a:spcAft>
              <a:buNone/>
            </a:pPr>
            <a:r>
              <a:rPr lang="en-US" sz="1100" dirty="0">
                <a:solidFill>
                  <a:srgbClr val="E6EDF3"/>
                </a:solidFill>
                <a:latin typeface="Calibri" pitchFamily="34" charset="0"/>
                <a:ea typeface="Calibri" pitchFamily="34" charset="-122"/>
                <a:cs typeface="Calibri" pitchFamily="34" charset="-120"/>
              </a:rPr>
              <a:t>5. Khi SA notify "done":</a:t>
            </a:r>
            <a:endParaRPr lang="en-US" sz="1100" dirty="0"/>
          </a:p>
          <a:p>
            <a:pPr marL="0" indent="0">
              <a:spcAft>
                <a:spcPts val="400"/>
              </a:spcAft>
              <a:buNone/>
            </a:pPr>
            <a:r>
              <a:rPr lang="en-US" sz="1100" dirty="0">
                <a:solidFill>
                  <a:srgbClr val="7CE38B"/>
                </a:solidFill>
                <a:latin typeface="Consolas" pitchFamily="34" charset="0"/>
                <a:ea typeface="Consolas" pitchFamily="34" charset="-122"/>
                <a:cs typeface="Consolas" pitchFamily="34" charset="-120"/>
              </a:rPr>
              <a:t>     check_prerequisites.sh BE → OK</a:t>
            </a:r>
            <a:endParaRPr lang="en-US" sz="1100" dirty="0"/>
          </a:p>
          <a:p>
            <a:pPr marL="0" indent="0">
              <a:spcAft>
                <a:spcPts val="400"/>
              </a:spcAft>
              <a:buNone/>
            </a:pPr>
            <a:r>
              <a:rPr lang="en-US" sz="1100" dirty="0">
                <a:solidFill>
                  <a:srgbClr val="7CE38B"/>
                </a:solidFill>
                <a:latin typeface="Consolas" pitchFamily="34" charset="0"/>
                <a:ea typeface="Consolas" pitchFamily="34" charset="-122"/>
                <a:cs typeface="Consolas" pitchFamily="34" charset="-120"/>
              </a:rPr>
              <a:t>     route_to_pane.sh BE "&lt;orig task&gt;"</a:t>
            </a:r>
            <a:endParaRPr lang="en-US" sz="1100" dirty="0"/>
          </a:p>
        </p:txBody>
      </p:sp>
      <p:sp>
        <p:nvSpPr>
          <p:cNvPr id="13" name="Text 11"/>
          <p:cNvSpPr/>
          <p:nvPr/>
        </p:nvSpPr>
        <p:spPr>
          <a:xfrm>
            <a:off x="11338560" y="6492240"/>
            <a:ext cx="731520" cy="228600"/>
          </a:xfrm>
          <a:prstGeom prst="rect">
            <a:avLst/>
          </a:prstGeom>
          <a:noFill/>
          <a:ln/>
        </p:spPr>
        <p:txBody>
          <a:bodyPr wrap="square" lIns="0" tIns="0" rIns="0" bIns="0" rtlCol="0" anchor="ctr"/>
          <a:lstStyle/>
          <a:p>
            <a:pPr marL="0" indent="0" algn="r">
              <a:buNone/>
            </a:pPr>
            <a:r>
              <a:rPr lang="en-US" sz="900" dirty="0">
                <a:solidFill>
                  <a:srgbClr val="8B949E"/>
                </a:solidFill>
                <a:latin typeface="Consolas" pitchFamily="34" charset="0"/>
                <a:ea typeface="Consolas" pitchFamily="34" charset="-122"/>
                <a:cs typeface="Consolas" pitchFamily="34" charset="-120"/>
              </a:rPr>
              <a:t>28 / 40</a:t>
            </a:r>
            <a:endParaRPr lang="en-US" sz="900" dirty="0"/>
          </a:p>
        </p:txBody>
      </p:sp>
      <p:sp>
        <p:nvSpPr>
          <p:cNvPr id="14" name="Text 12"/>
          <p:cNvSpPr/>
          <p:nvPr/>
        </p:nvSpPr>
        <p:spPr>
          <a:xfrm>
            <a:off x="365760" y="6492240"/>
            <a:ext cx="1097280" cy="228600"/>
          </a:xfrm>
          <a:prstGeom prst="rect">
            <a:avLst/>
          </a:prstGeom>
          <a:noFill/>
          <a:ln/>
        </p:spPr>
        <p:txBody>
          <a:bodyPr wrap="square" lIns="0" tIns="0" rIns="0" bIns="0" rtlCol="0" anchor="ctr"/>
          <a:lstStyle/>
          <a:p>
            <a:pPr marL="0" indent="0" algn="l">
              <a:buNone/>
            </a:pPr>
            <a:r>
              <a:rPr lang="en-US" sz="900" dirty="0">
                <a:solidFill>
                  <a:srgbClr val="8B949E"/>
                </a:solidFill>
                <a:latin typeface="Consolas" pitchFamily="34" charset="0"/>
                <a:ea typeface="Consolas" pitchFamily="34" charset="-122"/>
                <a:cs typeface="Consolas" pitchFamily="34" charset="-120"/>
              </a:rPr>
              <a:t>v10.23</a:t>
            </a:r>
            <a:endParaRPr lang="en-US" sz="900" dirty="0"/>
          </a:p>
        </p:txBody>
      </p:sp>
      <p:sp>
        <p:nvSpPr>
          <p:cNvPr id="15" name="Text 13"/>
          <p:cNvSpPr/>
          <p:nvPr/>
        </p:nvSpPr>
        <p:spPr>
          <a:xfrm>
            <a:off x="4572000" y="6492240"/>
            <a:ext cx="6400800" cy="228600"/>
          </a:xfrm>
          <a:prstGeom prst="rect">
            <a:avLst/>
          </a:prstGeom>
          <a:noFill/>
          <a:ln/>
        </p:spPr>
        <p:txBody>
          <a:bodyPr wrap="square" lIns="0" tIns="0" rIns="0" bIns="0" rtlCol="0" anchor="ctr"/>
          <a:lstStyle/>
          <a:p>
            <a:pPr marL="0" indent="0" algn="ctr">
              <a:buNone/>
            </a:pPr>
            <a:r>
              <a:rPr lang="en-US" sz="900" dirty="0">
                <a:solidFill>
                  <a:srgbClr val="8B949E"/>
                </a:solidFill>
                <a:latin typeface="Consolas" pitchFamily="34" charset="0"/>
                <a:ea typeface="Consolas" pitchFamily="34" charset="-122"/>
                <a:cs typeface="Consolas" pitchFamily="34" charset="-120"/>
              </a:rPr>
              <a:t>Product Engineering Agent Framework</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7">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365760" y="228600"/>
            <a:ext cx="8229600" cy="274320"/>
          </a:xfrm>
          <a:prstGeom prst="rect">
            <a:avLst/>
          </a:prstGeom>
          <a:noFill/>
          <a:ln/>
        </p:spPr>
        <p:txBody>
          <a:bodyPr wrap="square" lIns="0" tIns="0" rIns="0" bIns="0" rtlCol="0" anchor="ctr"/>
          <a:lstStyle/>
          <a:p>
            <a:pPr marL="0" indent="0">
              <a:buNone/>
            </a:pPr>
            <a:r>
              <a:rPr lang="en-US" sz="1100" dirty="0">
                <a:solidFill>
                  <a:srgbClr val="2EA043"/>
                </a:solidFill>
                <a:latin typeface="Consolas" pitchFamily="34" charset="0"/>
                <a:ea typeface="Consolas" pitchFamily="34" charset="-122"/>
                <a:cs typeface="Consolas" pitchFamily="34" charset="-120"/>
              </a:rPr>
              <a:t>$ </a:t>
            </a:r>
            <a:r>
              <a:rPr lang="en-US" sz="1100" dirty="0">
                <a:solidFill>
                  <a:srgbClr val="8B949E"/>
                </a:solidFill>
                <a:latin typeface="Consolas" pitchFamily="34" charset="0"/>
                <a:ea typeface="Consolas" pitchFamily="34" charset="-122"/>
                <a:cs typeface="Consolas" pitchFamily="34" charset="-120"/>
              </a:rPr>
              <a:t>23_build_failure_routing.md</a:t>
            </a:r>
            <a:endParaRPr lang="en-US" sz="1100" dirty="0"/>
          </a:p>
        </p:txBody>
      </p:sp>
      <p:sp>
        <p:nvSpPr>
          <p:cNvPr id="3" name="Text 1"/>
          <p:cNvSpPr/>
          <p:nvPr/>
        </p:nvSpPr>
        <p:spPr>
          <a:xfrm>
            <a:off x="365760" y="548640"/>
            <a:ext cx="11430000" cy="640080"/>
          </a:xfrm>
          <a:prstGeom prst="rect">
            <a:avLst/>
          </a:prstGeom>
          <a:noFill/>
          <a:ln/>
        </p:spPr>
        <p:txBody>
          <a:bodyPr wrap="square" lIns="0" tIns="0" rIns="0" bIns="0" rtlCol="0" anchor="ctr"/>
          <a:lstStyle/>
          <a:p>
            <a:pPr marL="0" indent="0">
              <a:buNone/>
            </a:pPr>
            <a:r>
              <a:rPr lang="en-US" sz="3000" b="1" dirty="0">
                <a:solidFill>
                  <a:srgbClr val="E6EDF3"/>
                </a:solidFill>
                <a:latin typeface="Consolas" pitchFamily="34" charset="0"/>
                <a:ea typeface="Consolas" pitchFamily="34" charset="-122"/>
                <a:cs typeface="Consolas" pitchFamily="34" charset="-120"/>
              </a:rPr>
              <a:t>Build failure routing (v10.10)</a:t>
            </a:r>
            <a:endParaRPr lang="en-US" sz="3000" dirty="0"/>
          </a:p>
        </p:txBody>
      </p:sp>
      <p:sp>
        <p:nvSpPr>
          <p:cNvPr id="4" name="Text 2"/>
          <p:cNvSpPr/>
          <p:nvPr/>
        </p:nvSpPr>
        <p:spPr>
          <a:xfrm>
            <a:off x="365760" y="1143000"/>
            <a:ext cx="11430000" cy="365760"/>
          </a:xfrm>
          <a:prstGeom prst="rect">
            <a:avLst/>
          </a:prstGeom>
          <a:noFill/>
          <a:ln/>
        </p:spPr>
        <p:txBody>
          <a:bodyPr wrap="square" lIns="0" tIns="0" rIns="0" bIns="0" rtlCol="0" anchor="ctr"/>
          <a:lstStyle/>
          <a:p>
            <a:pPr marL="0" indent="0">
              <a:buNone/>
            </a:pPr>
            <a:r>
              <a:rPr lang="en-US" sz="1400" i="1" dirty="0">
                <a:solidFill>
                  <a:srgbClr val="8B949E"/>
                </a:solidFill>
                <a:latin typeface="Calibri" pitchFamily="34" charset="0"/>
                <a:ea typeface="Calibri" pitchFamily="34" charset="-122"/>
                <a:cs typeface="Calibri" pitchFamily="34" charset="-120"/>
              </a:rPr>
              <a:t>DELIVERY phát hiện lỗi build → route đúng owner, KHÔNG tự sửa</a:t>
            </a:r>
            <a:endParaRPr lang="en-US" sz="1400" dirty="0"/>
          </a:p>
        </p:txBody>
      </p:sp>
      <p:sp>
        <p:nvSpPr>
          <p:cNvPr id="5" name="Shape 3"/>
          <p:cNvSpPr/>
          <p:nvPr/>
        </p:nvSpPr>
        <p:spPr>
          <a:xfrm>
            <a:off x="365760" y="1783080"/>
            <a:ext cx="11430000" cy="4572000"/>
          </a:xfrm>
          <a:prstGeom prst="rect">
            <a:avLst/>
          </a:prstGeom>
          <a:solidFill>
            <a:srgbClr val="161B22"/>
          </a:solidFill>
          <a:ln w="12700">
            <a:solidFill>
              <a:srgbClr val="30363D"/>
            </a:solidFill>
            <a:prstDash val="solid"/>
          </a:ln>
        </p:spPr>
        <p:txBody>
          <a:bodyPr/>
          <a:lstStyle/>
          <a:p>
            <a:endParaRPr/>
          </a:p>
        </p:txBody>
      </p:sp>
      <p:sp>
        <p:nvSpPr>
          <p:cNvPr id="6" name="Shape 4"/>
          <p:cNvSpPr/>
          <p:nvPr/>
        </p:nvSpPr>
        <p:spPr>
          <a:xfrm>
            <a:off x="457200" y="1874520"/>
            <a:ext cx="91440" cy="91440"/>
          </a:xfrm>
          <a:prstGeom prst="ellipse">
            <a:avLst/>
          </a:prstGeom>
          <a:solidFill>
            <a:srgbClr val="F85149"/>
          </a:solidFill>
          <a:ln w="12700">
            <a:solidFill>
              <a:srgbClr val="F85149"/>
            </a:solidFill>
            <a:prstDash val="solid"/>
          </a:ln>
        </p:spPr>
        <p:txBody>
          <a:bodyPr/>
          <a:lstStyle/>
          <a:p>
            <a:endParaRPr/>
          </a:p>
        </p:txBody>
      </p:sp>
      <p:sp>
        <p:nvSpPr>
          <p:cNvPr id="7" name="Shape 5"/>
          <p:cNvSpPr/>
          <p:nvPr/>
        </p:nvSpPr>
        <p:spPr>
          <a:xfrm>
            <a:off x="585216" y="1874520"/>
            <a:ext cx="91440" cy="91440"/>
          </a:xfrm>
          <a:prstGeom prst="ellipse">
            <a:avLst/>
          </a:prstGeom>
          <a:solidFill>
            <a:srgbClr val="D29922"/>
          </a:solidFill>
          <a:ln w="12700">
            <a:solidFill>
              <a:srgbClr val="D29922"/>
            </a:solidFill>
            <a:prstDash val="solid"/>
          </a:ln>
        </p:spPr>
        <p:txBody>
          <a:bodyPr/>
          <a:lstStyle/>
          <a:p>
            <a:endParaRPr/>
          </a:p>
        </p:txBody>
      </p:sp>
      <p:sp>
        <p:nvSpPr>
          <p:cNvPr id="8" name="Shape 6"/>
          <p:cNvSpPr/>
          <p:nvPr/>
        </p:nvSpPr>
        <p:spPr>
          <a:xfrm>
            <a:off x="713232" y="1874520"/>
            <a:ext cx="91440" cy="91440"/>
          </a:xfrm>
          <a:prstGeom prst="ellipse">
            <a:avLst/>
          </a:prstGeom>
          <a:solidFill>
            <a:srgbClr val="3FB950"/>
          </a:solidFill>
          <a:ln w="12700">
            <a:solidFill>
              <a:srgbClr val="3FB950"/>
            </a:solidFill>
            <a:prstDash val="solid"/>
          </a:ln>
        </p:spPr>
        <p:txBody>
          <a:bodyPr/>
          <a:lstStyle/>
          <a:p>
            <a:endParaRPr/>
          </a:p>
        </p:txBody>
      </p:sp>
      <p:sp>
        <p:nvSpPr>
          <p:cNvPr id="9" name="Text 7"/>
          <p:cNvSpPr/>
          <p:nvPr/>
        </p:nvSpPr>
        <p:spPr>
          <a:xfrm>
            <a:off x="502920" y="2103120"/>
            <a:ext cx="11155680" cy="4206240"/>
          </a:xfrm>
          <a:prstGeom prst="rect">
            <a:avLst/>
          </a:prstGeom>
          <a:noFill/>
          <a:ln/>
        </p:spPr>
        <p:txBody>
          <a:bodyPr wrap="square" lIns="0" tIns="0" rIns="0" bIns="0" rtlCol="0" anchor="t"/>
          <a:lstStyle/>
          <a:p>
            <a:pPr marL="0" indent="0">
              <a:buNone/>
            </a:pPr>
            <a:r>
              <a:rPr lang="en-US" sz="1200" dirty="0">
                <a:solidFill>
                  <a:srgbClr val="8B949E"/>
                </a:solidFill>
                <a:latin typeface="Consolas" pitchFamily="34" charset="0"/>
                <a:ea typeface="Consolas" pitchFamily="34" charset="-122"/>
                <a:cs typeface="Consolas" pitchFamily="34" charset="-120"/>
              </a:rPr>
              <a:t># Anti-pattern (v10.10 forbids):</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[DELIVERY]  docker compose build → fails: "HStack.justify"</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            → reads frontend/nestfi/pages/family_selection.py    ✗ WRONG</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            → greps "justify" in frontend/nestfi               ✗ WRONG</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            → edits FE source                                     ✗✗ VERY WRONG</a:t>
            </a:r>
            <a:endParaRPr lang="en-US" sz="1200" dirty="0"/>
          </a:p>
          <a:p>
            <a:pPr marL="0" indent="0">
              <a:buNone/>
            </a:pPr>
            <a:endParaRPr lang="en-US" sz="1200" dirty="0"/>
          </a:p>
          <a:p>
            <a:pPr marL="0" indent="0">
              <a:buNone/>
            </a:pPr>
            <a:r>
              <a:rPr lang="en-US" sz="1200" dirty="0">
                <a:solidFill>
                  <a:srgbClr val="8B949E"/>
                </a:solidFill>
                <a:latin typeface="Consolas" pitchFamily="34" charset="0"/>
                <a:ea typeface="Consolas" pitchFamily="34" charset="-122"/>
                <a:cs typeface="Consolas" pitchFamily="34" charset="-120"/>
              </a:rPr>
              <a:t># Correct flow (v10.10):</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[DELIVERY]  tail -50 docs/delivery/_last_build.log</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            → "target frontend: failed to solve"</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            $ route_to_pane.sh FE "Build failed. See _last_build.log.</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                  Failing line: HStack.justify. Likely outdated Reflex</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                  API in pages/. Fix FE source. Notify when ready."</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            $ notify_orchestrator.sh DELIVERY "Build FAIL — routed FE"</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            → exit</a:t>
            </a:r>
            <a:endParaRPr lang="en-US" sz="1200" dirty="0"/>
          </a:p>
          <a:p>
            <a:pPr marL="0" indent="0">
              <a:buNone/>
            </a:pPr>
            <a:r>
              <a:rPr lang="en-US" sz="1200" dirty="0">
                <a:solidFill>
                  <a:srgbClr val="E6EDF3"/>
                </a:solidFill>
                <a:latin typeface="Consolas" pitchFamily="34" charset="0"/>
                <a:ea typeface="Consolas" pitchFamily="34" charset="-122"/>
                <a:cs typeface="Consolas" pitchFamily="34" charset="-120"/>
              </a:rPr>
              <a:t>[Orch]      ack user → wait FE notify done → re-route DELIVERY</a:t>
            </a:r>
            <a:endParaRPr lang="en-US" sz="1200" dirty="0"/>
          </a:p>
        </p:txBody>
      </p:sp>
      <p:sp>
        <p:nvSpPr>
          <p:cNvPr id="10" name="Text 8"/>
          <p:cNvSpPr/>
          <p:nvPr/>
        </p:nvSpPr>
        <p:spPr>
          <a:xfrm>
            <a:off x="11338560" y="6492240"/>
            <a:ext cx="731520" cy="228600"/>
          </a:xfrm>
          <a:prstGeom prst="rect">
            <a:avLst/>
          </a:prstGeom>
          <a:noFill/>
          <a:ln/>
        </p:spPr>
        <p:txBody>
          <a:bodyPr wrap="square" lIns="0" tIns="0" rIns="0" bIns="0" rtlCol="0" anchor="ctr"/>
          <a:lstStyle/>
          <a:p>
            <a:pPr marL="0" indent="0" algn="r">
              <a:buNone/>
            </a:pPr>
            <a:r>
              <a:rPr lang="en-US" sz="900" dirty="0">
                <a:solidFill>
                  <a:srgbClr val="8B949E"/>
                </a:solidFill>
                <a:latin typeface="Consolas" pitchFamily="34" charset="0"/>
                <a:ea typeface="Consolas" pitchFamily="34" charset="-122"/>
                <a:cs typeface="Consolas" pitchFamily="34" charset="-120"/>
              </a:rPr>
              <a:t>29 / 40</a:t>
            </a:r>
            <a:endParaRPr lang="en-US" sz="900" dirty="0"/>
          </a:p>
        </p:txBody>
      </p:sp>
      <p:sp>
        <p:nvSpPr>
          <p:cNvPr id="11" name="Text 9"/>
          <p:cNvSpPr/>
          <p:nvPr/>
        </p:nvSpPr>
        <p:spPr>
          <a:xfrm>
            <a:off x="365760" y="6492240"/>
            <a:ext cx="1097280" cy="228600"/>
          </a:xfrm>
          <a:prstGeom prst="rect">
            <a:avLst/>
          </a:prstGeom>
          <a:noFill/>
          <a:ln/>
        </p:spPr>
        <p:txBody>
          <a:bodyPr wrap="square" lIns="0" tIns="0" rIns="0" bIns="0" rtlCol="0" anchor="ctr"/>
          <a:lstStyle/>
          <a:p>
            <a:pPr marL="0" indent="0" algn="l">
              <a:buNone/>
            </a:pPr>
            <a:r>
              <a:rPr lang="en-US" sz="900" dirty="0">
                <a:solidFill>
                  <a:srgbClr val="8B949E"/>
                </a:solidFill>
                <a:latin typeface="Consolas" pitchFamily="34" charset="0"/>
                <a:ea typeface="Consolas" pitchFamily="34" charset="-122"/>
                <a:cs typeface="Consolas" pitchFamily="34" charset="-120"/>
              </a:rPr>
              <a:t>v10.23</a:t>
            </a:r>
            <a:endParaRPr lang="en-US" sz="900" dirty="0"/>
          </a:p>
        </p:txBody>
      </p:sp>
      <p:sp>
        <p:nvSpPr>
          <p:cNvPr id="12" name="Text 10"/>
          <p:cNvSpPr/>
          <p:nvPr/>
        </p:nvSpPr>
        <p:spPr>
          <a:xfrm>
            <a:off x="4572000" y="6492240"/>
            <a:ext cx="6400800" cy="228600"/>
          </a:xfrm>
          <a:prstGeom prst="rect">
            <a:avLst/>
          </a:prstGeom>
          <a:noFill/>
          <a:ln/>
        </p:spPr>
        <p:txBody>
          <a:bodyPr wrap="square" lIns="0" tIns="0" rIns="0" bIns="0" rtlCol="0" anchor="ctr"/>
          <a:lstStyle/>
          <a:p>
            <a:pPr marL="0" indent="0" algn="ctr">
              <a:buNone/>
            </a:pPr>
            <a:r>
              <a:rPr lang="en-US" sz="900" dirty="0">
                <a:solidFill>
                  <a:srgbClr val="8B949E"/>
                </a:solidFill>
                <a:latin typeface="Consolas" pitchFamily="34" charset="0"/>
                <a:ea typeface="Consolas" pitchFamily="34" charset="-122"/>
                <a:cs typeface="Consolas" pitchFamily="34" charset="-120"/>
              </a:rPr>
              <a:t>Product Engineering Agent Framework</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8">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365760" y="228600"/>
            <a:ext cx="8229600" cy="274320"/>
          </a:xfrm>
          <a:prstGeom prst="rect">
            <a:avLst/>
          </a:prstGeom>
          <a:noFill/>
          <a:ln/>
        </p:spPr>
        <p:txBody>
          <a:bodyPr wrap="square" lIns="0" tIns="0" rIns="0" bIns="0" rtlCol="0" anchor="ctr"/>
          <a:lstStyle/>
          <a:p>
            <a:pPr marL="0" indent="0">
              <a:buNone/>
            </a:pPr>
            <a:r>
              <a:rPr lang="en-US" sz="1100" dirty="0">
                <a:solidFill>
                  <a:srgbClr val="2EA043"/>
                </a:solidFill>
                <a:latin typeface="Consolas" pitchFamily="34" charset="0"/>
                <a:ea typeface="Consolas" pitchFamily="34" charset="-122"/>
                <a:cs typeface="Consolas" pitchFamily="34" charset="-120"/>
              </a:rPr>
              <a:t>$ </a:t>
            </a:r>
            <a:r>
              <a:rPr lang="en-US" sz="1100" dirty="0">
                <a:solidFill>
                  <a:srgbClr val="8B949E"/>
                </a:solidFill>
                <a:latin typeface="Consolas" pitchFamily="34" charset="0"/>
                <a:ea typeface="Consolas" pitchFamily="34" charset="-122"/>
                <a:cs typeface="Consolas" pitchFamily="34" charset="-120"/>
              </a:rPr>
              <a:t>24_framework_immutable.md</a:t>
            </a:r>
            <a:endParaRPr lang="en-US" sz="1100" dirty="0"/>
          </a:p>
        </p:txBody>
      </p:sp>
      <p:sp>
        <p:nvSpPr>
          <p:cNvPr id="3" name="Text 1"/>
          <p:cNvSpPr/>
          <p:nvPr/>
        </p:nvSpPr>
        <p:spPr>
          <a:xfrm>
            <a:off x="365760" y="548640"/>
            <a:ext cx="11430000" cy="640080"/>
          </a:xfrm>
          <a:prstGeom prst="rect">
            <a:avLst/>
          </a:prstGeom>
          <a:noFill/>
          <a:ln/>
        </p:spPr>
        <p:txBody>
          <a:bodyPr wrap="square" lIns="0" tIns="0" rIns="0" bIns="0" rtlCol="0" anchor="ctr"/>
          <a:lstStyle/>
          <a:p>
            <a:pPr marL="0" indent="0">
              <a:buNone/>
            </a:pPr>
            <a:r>
              <a:rPr lang="en-US" sz="3000" b="1" dirty="0">
                <a:solidFill>
                  <a:srgbClr val="E6EDF3"/>
                </a:solidFill>
                <a:latin typeface="Consolas" pitchFamily="34" charset="0"/>
                <a:ea typeface="Consolas" pitchFamily="34" charset="-122"/>
                <a:cs typeface="Consolas" pitchFamily="34" charset="-120"/>
              </a:rPr>
              <a:t>Framework files immutable (v10.11)</a:t>
            </a:r>
            <a:endParaRPr lang="en-US" sz="3000" dirty="0"/>
          </a:p>
        </p:txBody>
      </p:sp>
      <p:sp>
        <p:nvSpPr>
          <p:cNvPr id="4" name="Text 2"/>
          <p:cNvSpPr/>
          <p:nvPr/>
        </p:nvSpPr>
        <p:spPr>
          <a:xfrm>
            <a:off x="365760" y="1143000"/>
            <a:ext cx="11430000" cy="365760"/>
          </a:xfrm>
          <a:prstGeom prst="rect">
            <a:avLst/>
          </a:prstGeom>
          <a:noFill/>
          <a:ln/>
        </p:spPr>
        <p:txBody>
          <a:bodyPr wrap="square" lIns="0" tIns="0" rIns="0" bIns="0" rtlCol="0" anchor="ctr"/>
          <a:lstStyle/>
          <a:p>
            <a:pPr marL="0" indent="0">
              <a:buNone/>
            </a:pPr>
            <a:r>
              <a:rPr lang="en-US" sz="1400" i="1" dirty="0">
                <a:solidFill>
                  <a:srgbClr val="8B949E"/>
                </a:solidFill>
                <a:latin typeface="Calibri" pitchFamily="34" charset="0"/>
                <a:ea typeface="Calibri" pitchFamily="34" charset="-122"/>
                <a:cs typeface="Calibri" pitchFamily="34" charset="-120"/>
              </a:rPr>
              <a:t>Agents không sửa AGENTS.md, prompts/, scripts/, config/ … Sync template bằng script.</a:t>
            </a:r>
            <a:endParaRPr lang="en-US" sz="1400" dirty="0"/>
          </a:p>
        </p:txBody>
      </p:sp>
      <p:sp>
        <p:nvSpPr>
          <p:cNvPr id="5" name="Shape 3"/>
          <p:cNvSpPr/>
          <p:nvPr/>
        </p:nvSpPr>
        <p:spPr>
          <a:xfrm>
            <a:off x="365760" y="1783080"/>
            <a:ext cx="5669280" cy="4572000"/>
          </a:xfrm>
          <a:prstGeom prst="rect">
            <a:avLst/>
          </a:prstGeom>
          <a:solidFill>
            <a:srgbClr val="161B22"/>
          </a:solidFill>
          <a:ln w="12700">
            <a:solidFill>
              <a:srgbClr val="30363D"/>
            </a:solidFill>
            <a:prstDash val="solid"/>
          </a:ln>
        </p:spPr>
        <p:txBody>
          <a:bodyPr/>
          <a:lstStyle/>
          <a:p>
            <a:endParaRPr/>
          </a:p>
        </p:txBody>
      </p:sp>
      <p:sp>
        <p:nvSpPr>
          <p:cNvPr id="6" name="Text 4"/>
          <p:cNvSpPr/>
          <p:nvPr/>
        </p:nvSpPr>
        <p:spPr>
          <a:xfrm>
            <a:off x="457200" y="1874520"/>
            <a:ext cx="5486400" cy="365760"/>
          </a:xfrm>
          <a:prstGeom prst="rect">
            <a:avLst/>
          </a:prstGeom>
          <a:noFill/>
          <a:ln/>
        </p:spPr>
        <p:txBody>
          <a:bodyPr wrap="square" lIns="0" tIns="0" rIns="0" bIns="0" rtlCol="0" anchor="ctr"/>
          <a:lstStyle/>
          <a:p>
            <a:pPr marL="0" indent="0">
              <a:buNone/>
            </a:pPr>
            <a:r>
              <a:rPr lang="en-US" sz="1400" b="1" dirty="0">
                <a:solidFill>
                  <a:srgbClr val="F85149"/>
                </a:solidFill>
                <a:latin typeface="Consolas" pitchFamily="34" charset="0"/>
                <a:ea typeface="Consolas" pitchFamily="34" charset="-122"/>
                <a:cs typeface="Consolas" pitchFamily="34" charset="-120"/>
              </a:rPr>
              <a:t>Read-only cho mọi agent</a:t>
            </a:r>
            <a:endParaRPr lang="en-US" sz="1400" dirty="0"/>
          </a:p>
        </p:txBody>
      </p:sp>
      <p:sp>
        <p:nvSpPr>
          <p:cNvPr id="7" name="Text 5"/>
          <p:cNvSpPr/>
          <p:nvPr/>
        </p:nvSpPr>
        <p:spPr>
          <a:xfrm>
            <a:off x="457200" y="2331720"/>
            <a:ext cx="5486400" cy="3931920"/>
          </a:xfrm>
          <a:prstGeom prst="rect">
            <a:avLst/>
          </a:prstGeom>
          <a:noFill/>
          <a:ln/>
        </p:spPr>
        <p:txBody>
          <a:bodyPr wrap="square" lIns="0" tIns="0" rIns="0" bIns="0" rtlCol="0" anchor="t"/>
          <a:lstStyle/>
          <a:p>
            <a:pPr marL="0" indent="0">
              <a:buNone/>
            </a:pPr>
            <a:r>
              <a:rPr lang="en-US" sz="1100" dirty="0">
                <a:solidFill>
                  <a:srgbClr val="E6EDF3"/>
                </a:solidFill>
                <a:latin typeface="Consolas" pitchFamily="34" charset="0"/>
                <a:ea typeface="Consolas" pitchFamily="34" charset="-122"/>
                <a:cs typeface="Consolas" pitchFamily="34" charset="-120"/>
              </a:rPr>
              <a:t>  AGENTS.md</a:t>
            </a:r>
            <a:endParaRPr lang="en-US" sz="1100" dirty="0"/>
          </a:p>
          <a:p>
            <a:pPr marL="0" indent="0">
              <a:buNone/>
            </a:pPr>
            <a:r>
              <a:rPr lang="en-US" sz="1100" dirty="0">
                <a:solidFill>
                  <a:srgbClr val="E6EDF3"/>
                </a:solidFill>
                <a:latin typeface="Consolas" pitchFamily="34" charset="0"/>
                <a:ea typeface="Consolas" pitchFamily="34" charset="-122"/>
                <a:cs typeface="Consolas" pitchFamily="34" charset="-120"/>
              </a:rPr>
              <a:t>  README.md  VERSION.md  LICENSE  .gitignore</a:t>
            </a:r>
            <a:endParaRPr lang="en-US" sz="1100" dirty="0"/>
          </a:p>
          <a:p>
            <a:pPr marL="0" indent="0">
              <a:buNone/>
            </a:pPr>
            <a:r>
              <a:rPr lang="en-US" sz="1100" dirty="0">
                <a:solidFill>
                  <a:srgbClr val="E6EDF3"/>
                </a:solidFill>
                <a:latin typeface="Consolas" pitchFamily="34" charset="0"/>
                <a:ea typeface="Consolas" pitchFamily="34" charset="-122"/>
                <a:cs typeface="Consolas" pitchFamily="34" charset="-120"/>
              </a:rPr>
              <a:t>  PRODUCT_ENGINEERING.md</a:t>
            </a:r>
            <a:endParaRPr lang="en-US" sz="1100" dirty="0"/>
          </a:p>
          <a:p>
            <a:pPr marL="0" indent="0">
              <a:buNone/>
            </a:pPr>
            <a:r>
              <a:rPr lang="en-US" sz="1100" dirty="0">
                <a:solidFill>
                  <a:srgbClr val="E6EDF3"/>
                </a:solidFill>
                <a:latin typeface="Consolas" pitchFamily="34" charset="0"/>
                <a:ea typeface="Consolas" pitchFamily="34" charset="-122"/>
                <a:cs typeface="Consolas" pitchFamily="34" charset="-120"/>
              </a:rPr>
              <a:t>  .opencode/config.json  opencode.json</a:t>
            </a:r>
            <a:endParaRPr lang="en-US" sz="1100" dirty="0"/>
          </a:p>
          <a:p>
            <a:pPr marL="0" indent="0">
              <a:buNone/>
            </a:pPr>
            <a:r>
              <a:rPr lang="en-US" sz="1100" dirty="0">
                <a:solidFill>
                  <a:srgbClr val="E6EDF3"/>
                </a:solidFill>
                <a:latin typeface="Consolas" pitchFamily="34" charset="0"/>
                <a:ea typeface="Consolas" pitchFamily="34" charset="-122"/>
                <a:cs typeface="Consolas" pitchFamily="34" charset="-120"/>
              </a:rPr>
              <a:t>  scripts/*.sh                 (toàn bộ)</a:t>
            </a:r>
            <a:endParaRPr lang="en-US" sz="1100" dirty="0"/>
          </a:p>
          <a:p>
            <a:pPr marL="0" indent="0">
              <a:buNone/>
            </a:pPr>
            <a:r>
              <a:rPr lang="en-US" sz="1100" dirty="0">
                <a:solidFill>
                  <a:srgbClr val="E6EDF3"/>
                </a:solidFill>
                <a:latin typeface="Consolas" pitchFamily="34" charset="0"/>
                <a:ea typeface="Consolas" pitchFamily="34" charset="-122"/>
                <a:cs typeface="Consolas" pitchFamily="34" charset="-120"/>
              </a:rPr>
              <a:t>  prompts/agents/*.md          (mọi role prompt)</a:t>
            </a:r>
            <a:endParaRPr lang="en-US" sz="1100" dirty="0"/>
          </a:p>
          <a:p>
            <a:pPr marL="0" indent="0">
              <a:buNone/>
            </a:pPr>
            <a:r>
              <a:rPr lang="en-US" sz="1100" dirty="0">
                <a:solidFill>
                  <a:srgbClr val="E6EDF3"/>
                </a:solidFill>
                <a:latin typeface="Consolas" pitchFamily="34" charset="0"/>
                <a:ea typeface="Consolas" pitchFamily="34" charset="-122"/>
                <a:cs typeface="Consolas" pitchFamily="34" charset="-120"/>
              </a:rPr>
              <a:t>  config/*                     (env, json, md)</a:t>
            </a:r>
            <a:endParaRPr lang="en-US" sz="1100" dirty="0"/>
          </a:p>
          <a:p>
            <a:pPr marL="0" indent="0">
              <a:buNone/>
            </a:pPr>
            <a:r>
              <a:rPr lang="en-US" sz="1100" dirty="0">
                <a:solidFill>
                  <a:srgbClr val="E6EDF3"/>
                </a:solidFill>
                <a:latin typeface="Consolas" pitchFamily="34" charset="0"/>
                <a:ea typeface="Consolas" pitchFamily="34" charset="-122"/>
                <a:cs typeface="Consolas" pitchFamily="34" charset="-120"/>
              </a:rPr>
              <a:t>  planning/{PANE_ROUTING,ORCH_RUNTIME,AGENT_WORKFLOW}.md</a:t>
            </a:r>
            <a:endParaRPr lang="en-US" sz="1100" dirty="0"/>
          </a:p>
          <a:p>
            <a:pPr marL="0" indent="0">
              <a:buNone/>
            </a:pPr>
            <a:r>
              <a:rPr lang="en-US" sz="1100" dirty="0">
                <a:solidFill>
                  <a:srgbClr val="E6EDF3"/>
                </a:solidFill>
                <a:latin typeface="Consolas" pitchFamily="34" charset="0"/>
                <a:ea typeface="Consolas" pitchFamily="34" charset="-122"/>
                <a:cs typeface="Consolas" pitchFamily="34" charset="-120"/>
              </a:rPr>
              <a:t>  docs/delivery/{OPENCODE_SETUP,TMUX_USAGE}.md</a:t>
            </a:r>
            <a:endParaRPr lang="en-US" sz="1100" dirty="0"/>
          </a:p>
          <a:p>
            <a:pPr marL="0" indent="0">
              <a:buNone/>
            </a:pPr>
            <a:r>
              <a:rPr lang="en-US" sz="1100" dirty="0">
                <a:solidFill>
                  <a:srgbClr val="E6EDF3"/>
                </a:solidFill>
                <a:latin typeface="Consolas" pitchFamily="34" charset="0"/>
                <a:ea typeface="Consolas" pitchFamily="34" charset="-122"/>
                <a:cs typeface="Consolas" pitchFamily="34" charset="-120"/>
              </a:rPr>
              <a:t>  memory/README.md</a:t>
            </a:r>
            <a:endParaRPr lang="en-US" sz="1100" dirty="0"/>
          </a:p>
        </p:txBody>
      </p:sp>
      <p:sp>
        <p:nvSpPr>
          <p:cNvPr id="8" name="Shape 6"/>
          <p:cNvSpPr/>
          <p:nvPr/>
        </p:nvSpPr>
        <p:spPr>
          <a:xfrm>
            <a:off x="6217920" y="1783080"/>
            <a:ext cx="5577840" cy="4572000"/>
          </a:xfrm>
          <a:prstGeom prst="rect">
            <a:avLst/>
          </a:prstGeom>
          <a:solidFill>
            <a:srgbClr val="161B22"/>
          </a:solidFill>
          <a:ln w="12700">
            <a:solidFill>
              <a:srgbClr val="30363D"/>
            </a:solidFill>
            <a:prstDash val="solid"/>
          </a:ln>
        </p:spPr>
        <p:txBody>
          <a:bodyPr/>
          <a:lstStyle/>
          <a:p>
            <a:endParaRPr/>
          </a:p>
        </p:txBody>
      </p:sp>
      <p:sp>
        <p:nvSpPr>
          <p:cNvPr id="9" name="Text 7"/>
          <p:cNvSpPr/>
          <p:nvPr/>
        </p:nvSpPr>
        <p:spPr>
          <a:xfrm>
            <a:off x="6309360" y="1874520"/>
            <a:ext cx="5394960" cy="365760"/>
          </a:xfrm>
          <a:prstGeom prst="rect">
            <a:avLst/>
          </a:prstGeom>
          <a:noFill/>
          <a:ln/>
        </p:spPr>
        <p:txBody>
          <a:bodyPr wrap="square" lIns="0" tIns="0" rIns="0" bIns="0" rtlCol="0" anchor="ctr"/>
          <a:lstStyle/>
          <a:p>
            <a:pPr marL="0" indent="0">
              <a:buNone/>
            </a:pPr>
            <a:r>
              <a:rPr lang="en-US" sz="1400" b="1" dirty="0">
                <a:solidFill>
                  <a:srgbClr val="7CE38B"/>
                </a:solidFill>
                <a:latin typeface="Consolas" pitchFamily="34" charset="0"/>
                <a:ea typeface="Consolas" pitchFamily="34" charset="-122"/>
                <a:cs typeface="Consolas" pitchFamily="34" charset="-120"/>
              </a:rPr>
              <a:t>Sync an toàn từ template mới</a:t>
            </a:r>
            <a:endParaRPr lang="en-US" sz="1400" dirty="0"/>
          </a:p>
        </p:txBody>
      </p:sp>
      <p:sp>
        <p:nvSpPr>
          <p:cNvPr id="10" name="Text 8"/>
          <p:cNvSpPr/>
          <p:nvPr/>
        </p:nvSpPr>
        <p:spPr>
          <a:xfrm>
            <a:off x="6309360" y="2331720"/>
            <a:ext cx="5394960" cy="3931920"/>
          </a:xfrm>
          <a:prstGeom prst="rect">
            <a:avLst/>
          </a:prstGeom>
          <a:noFill/>
          <a:ln/>
        </p:spPr>
        <p:txBody>
          <a:bodyPr wrap="square" lIns="0" tIns="0" rIns="0" bIns="0" rtlCol="0" anchor="t"/>
          <a:lstStyle/>
          <a:p>
            <a:pPr marL="0" indent="0">
              <a:buNone/>
            </a:pPr>
            <a:r>
              <a:rPr lang="en-US" sz="1100" dirty="0">
                <a:solidFill>
                  <a:srgbClr val="8B949E"/>
                </a:solidFill>
                <a:latin typeface="Consolas" pitchFamily="34" charset="0"/>
                <a:ea typeface="Consolas" pitchFamily="34" charset="-122"/>
                <a:cs typeface="Consolas" pitchFamily="34" charset="-120"/>
              </a:rPr>
              <a:t># Dry-run xem sẽ làm gì:</a:t>
            </a:r>
            <a:endParaRPr lang="en-US" sz="1100" dirty="0"/>
          </a:p>
          <a:p>
            <a:pPr marL="0" indent="0">
              <a:buNone/>
            </a:pPr>
            <a:r>
              <a:rPr lang="en-US" sz="1100" dirty="0">
                <a:solidFill>
                  <a:srgbClr val="7CE38B"/>
                </a:solidFill>
                <a:latin typeface="Consolas" pitchFamily="34" charset="0"/>
                <a:ea typeface="Consolas" pitchFamily="34" charset="-122"/>
                <a:cs typeface="Consolas" pitchFamily="34" charset="-120"/>
              </a:rPr>
              <a:t>$ bash scripts/sync_framework_from_template.sh \</a:t>
            </a:r>
            <a:endParaRPr lang="en-US" sz="1100" dirty="0"/>
          </a:p>
          <a:p>
            <a:pPr marL="0" indent="0">
              <a:buNone/>
            </a:pPr>
            <a:r>
              <a:rPr lang="en-US" sz="1100" dirty="0">
                <a:solidFill>
                  <a:srgbClr val="7CE38B"/>
                </a:solidFill>
                <a:latin typeface="Consolas" pitchFamily="34" charset="0"/>
                <a:ea typeface="Consolas" pitchFamily="34" charset="-122"/>
                <a:cs typeface="Consolas" pitchFamily="34" charset="-120"/>
              </a:rPr>
              <a:t>    ../product-engineering-template --dry-run</a:t>
            </a:r>
            <a:endParaRPr lang="en-US" sz="1100" dirty="0"/>
          </a:p>
          <a:p>
            <a:pPr marL="0" indent="0">
              <a:buNone/>
            </a:pPr>
            <a:endParaRPr lang="en-US" sz="1100" dirty="0"/>
          </a:p>
          <a:p>
            <a:pPr marL="0" indent="0">
              <a:buNone/>
            </a:pPr>
            <a:r>
              <a:rPr lang="en-US" sz="1100" dirty="0">
                <a:solidFill>
                  <a:srgbClr val="8B949E"/>
                </a:solidFill>
                <a:latin typeface="Consolas" pitchFamily="34" charset="0"/>
                <a:ea typeface="Consolas" pitchFamily="34" charset="-122"/>
                <a:cs typeface="Consolas" pitchFamily="34" charset="-120"/>
              </a:rPr>
              <a:t># Apply:</a:t>
            </a:r>
            <a:endParaRPr lang="en-US" sz="1100" dirty="0"/>
          </a:p>
          <a:p>
            <a:pPr marL="0" indent="0">
              <a:buNone/>
            </a:pPr>
            <a:r>
              <a:rPr lang="en-US" sz="1100" dirty="0">
                <a:solidFill>
                  <a:srgbClr val="7CE38B"/>
                </a:solidFill>
                <a:latin typeface="Consolas" pitchFamily="34" charset="0"/>
                <a:ea typeface="Consolas" pitchFamily="34" charset="-122"/>
                <a:cs typeface="Consolas" pitchFamily="34" charset="-120"/>
              </a:rPr>
              <a:t>$ bash scripts/sync_framework_from_template.sh \</a:t>
            </a:r>
            <a:endParaRPr lang="en-US" sz="1100" dirty="0"/>
          </a:p>
          <a:p>
            <a:pPr marL="0" indent="0">
              <a:buNone/>
            </a:pPr>
            <a:r>
              <a:rPr lang="en-US" sz="1100" dirty="0">
                <a:solidFill>
                  <a:srgbClr val="7CE38B"/>
                </a:solidFill>
                <a:latin typeface="Consolas" pitchFamily="34" charset="0"/>
                <a:ea typeface="Consolas" pitchFamily="34" charset="-122"/>
                <a:cs typeface="Consolas" pitchFamily="34" charset="-120"/>
              </a:rPr>
              <a:t>    ../product-engineering-template</a:t>
            </a:r>
            <a:endParaRPr lang="en-US" sz="1100" dirty="0"/>
          </a:p>
          <a:p>
            <a:pPr marL="0" indent="0">
              <a:buNone/>
            </a:pPr>
            <a:endParaRPr lang="en-US" sz="1100" dirty="0"/>
          </a:p>
          <a:p>
            <a:pPr marL="0" indent="0">
              <a:buNone/>
            </a:pPr>
            <a:r>
              <a:rPr lang="en-US" sz="1100" dirty="0">
                <a:solidFill>
                  <a:srgbClr val="E6EDF3"/>
                </a:solidFill>
                <a:latin typeface="Calibri" pitchFamily="34" charset="0"/>
                <a:ea typeface="Calibri" pitchFamily="34" charset="-122"/>
                <a:cs typeface="Calibri" pitchFamily="34" charset="-120"/>
              </a:rPr>
              <a:t>Mọi file bị overwrite được backup vào</a:t>
            </a:r>
            <a:endParaRPr lang="en-US" sz="1100" dirty="0"/>
          </a:p>
          <a:p>
            <a:pPr marL="0" indent="0">
              <a:buNone/>
            </a:pPr>
            <a:r>
              <a:rPr lang="en-US" sz="1100" dirty="0">
                <a:solidFill>
                  <a:srgbClr val="79C0FF"/>
                </a:solidFill>
                <a:latin typeface="Consolas" pitchFamily="34" charset="0"/>
                <a:ea typeface="Consolas" pitchFamily="34" charset="-122"/>
                <a:cs typeface="Consolas" pitchFamily="34" charset="-120"/>
              </a:rPr>
              <a:t>.framework_sync_backup/&lt;timestamp&gt;/</a:t>
            </a:r>
            <a:endParaRPr lang="en-US" sz="1100" dirty="0"/>
          </a:p>
          <a:p>
            <a:pPr marL="0" indent="0">
              <a:buNone/>
            </a:pPr>
            <a:endParaRPr lang="en-US" sz="1100" dirty="0"/>
          </a:p>
          <a:p>
            <a:pPr marL="0" indent="0">
              <a:buNone/>
            </a:pPr>
            <a:r>
              <a:rPr lang="en-US" sz="1100" dirty="0">
                <a:solidFill>
                  <a:srgbClr val="E6EDF3"/>
                </a:solidFill>
                <a:latin typeface="Calibri" pitchFamily="34" charset="0"/>
                <a:ea typeface="Calibri" pitchFamily="34" charset="-122"/>
                <a:cs typeface="Calibri" pitchFamily="34" charset="-120"/>
              </a:rPr>
              <a:t>PRODUCT_IDEA.md, TASK.md, memory/*, docs/</a:t>
            </a:r>
            <a:endParaRPr lang="en-US" sz="1100" dirty="0"/>
          </a:p>
          <a:p>
            <a:pPr marL="0" indent="0">
              <a:buNone/>
            </a:pPr>
            <a:r>
              <a:rPr lang="en-US" sz="1100" dirty="0">
                <a:solidFill>
                  <a:srgbClr val="E6EDF3"/>
                </a:solidFill>
                <a:latin typeface="Calibri" pitchFamily="34" charset="0"/>
                <a:ea typeface="Calibri" pitchFamily="34" charset="-122"/>
                <a:cs typeface="Calibri" pitchFamily="34" charset="-120"/>
              </a:rPr>
              <a:t>outputs, backend/, frontend/ KHÔNG bị đụng.</a:t>
            </a:r>
            <a:endParaRPr lang="en-US" sz="1100" dirty="0"/>
          </a:p>
        </p:txBody>
      </p:sp>
      <p:sp>
        <p:nvSpPr>
          <p:cNvPr id="11" name="Text 9"/>
          <p:cNvSpPr/>
          <p:nvPr/>
        </p:nvSpPr>
        <p:spPr>
          <a:xfrm>
            <a:off x="11338560" y="6492240"/>
            <a:ext cx="731520" cy="228600"/>
          </a:xfrm>
          <a:prstGeom prst="rect">
            <a:avLst/>
          </a:prstGeom>
          <a:noFill/>
          <a:ln/>
        </p:spPr>
        <p:txBody>
          <a:bodyPr wrap="square" lIns="0" tIns="0" rIns="0" bIns="0" rtlCol="0" anchor="ctr"/>
          <a:lstStyle/>
          <a:p>
            <a:pPr marL="0" indent="0" algn="r">
              <a:buNone/>
            </a:pPr>
            <a:r>
              <a:rPr lang="en-US" sz="900" dirty="0">
                <a:solidFill>
                  <a:srgbClr val="8B949E"/>
                </a:solidFill>
                <a:latin typeface="Consolas" pitchFamily="34" charset="0"/>
                <a:ea typeface="Consolas" pitchFamily="34" charset="-122"/>
                <a:cs typeface="Consolas" pitchFamily="34" charset="-120"/>
              </a:rPr>
              <a:t>30 / 40</a:t>
            </a:r>
            <a:endParaRPr lang="en-US" sz="900" dirty="0"/>
          </a:p>
        </p:txBody>
      </p:sp>
      <p:sp>
        <p:nvSpPr>
          <p:cNvPr id="12" name="Text 10"/>
          <p:cNvSpPr/>
          <p:nvPr/>
        </p:nvSpPr>
        <p:spPr>
          <a:xfrm>
            <a:off x="365760" y="6492240"/>
            <a:ext cx="1097280" cy="228600"/>
          </a:xfrm>
          <a:prstGeom prst="rect">
            <a:avLst/>
          </a:prstGeom>
          <a:noFill/>
          <a:ln/>
        </p:spPr>
        <p:txBody>
          <a:bodyPr wrap="square" lIns="0" tIns="0" rIns="0" bIns="0" rtlCol="0" anchor="ctr"/>
          <a:lstStyle/>
          <a:p>
            <a:pPr marL="0" indent="0" algn="l">
              <a:buNone/>
            </a:pPr>
            <a:r>
              <a:rPr lang="en-US" sz="900" dirty="0">
                <a:solidFill>
                  <a:srgbClr val="8B949E"/>
                </a:solidFill>
                <a:latin typeface="Consolas" pitchFamily="34" charset="0"/>
                <a:ea typeface="Consolas" pitchFamily="34" charset="-122"/>
                <a:cs typeface="Consolas" pitchFamily="34" charset="-120"/>
              </a:rPr>
              <a:t>v10.23</a:t>
            </a:r>
            <a:endParaRPr lang="en-US" sz="900" dirty="0"/>
          </a:p>
        </p:txBody>
      </p:sp>
      <p:sp>
        <p:nvSpPr>
          <p:cNvPr id="13" name="Text 11"/>
          <p:cNvSpPr/>
          <p:nvPr/>
        </p:nvSpPr>
        <p:spPr>
          <a:xfrm>
            <a:off x="4572000" y="6492240"/>
            <a:ext cx="6400800" cy="228600"/>
          </a:xfrm>
          <a:prstGeom prst="rect">
            <a:avLst/>
          </a:prstGeom>
          <a:noFill/>
          <a:ln/>
        </p:spPr>
        <p:txBody>
          <a:bodyPr wrap="square" lIns="0" tIns="0" rIns="0" bIns="0" rtlCol="0" anchor="ctr"/>
          <a:lstStyle/>
          <a:p>
            <a:pPr marL="0" indent="0" algn="ctr">
              <a:buNone/>
            </a:pPr>
            <a:r>
              <a:rPr lang="en-US" sz="900" dirty="0">
                <a:solidFill>
                  <a:srgbClr val="8B949E"/>
                </a:solidFill>
                <a:latin typeface="Consolas" pitchFamily="34" charset="0"/>
                <a:ea typeface="Consolas" pitchFamily="34" charset="-122"/>
                <a:cs typeface="Consolas" pitchFamily="34" charset="-120"/>
              </a:rPr>
              <a:t>Product Engineering Agent Framework</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28600"/>
            <a:ext cx="8229600" cy="274320"/>
          </a:xfrm>
          <a:prstGeom prst="rect">
            <a:avLst/>
          </a:prstGeom>
          <a:noFill/>
        </p:spPr>
        <p:txBody>
          <a:bodyPr wrap="none" lIns="0" tIns="0">
            <a:spAutoFit/>
          </a:bodyPr>
          <a:lstStyle/>
          <a:p>
            <a:r>
              <a:rPr sz="1100">
                <a:solidFill>
                  <a:srgbClr val="2EA043"/>
                </a:solidFill>
                <a:latin typeface="Consolas"/>
              </a:rPr>
              <a:t>$ </a:t>
            </a:r>
            <a:r>
              <a:rPr sz="1100">
                <a:solidFill>
                  <a:srgbClr val="8B949E"/>
                </a:solidFill>
                <a:latin typeface="Consolas"/>
              </a:rPr>
              <a:t>27_continuous_orchestration.md</a:t>
            </a:r>
          </a:p>
        </p:txBody>
      </p:sp>
      <p:sp>
        <p:nvSpPr>
          <p:cNvPr id="4" name="TextBox 3"/>
          <p:cNvSpPr txBox="1"/>
          <p:nvPr/>
        </p:nvSpPr>
        <p:spPr>
          <a:xfrm>
            <a:off x="365760" y="548640"/>
            <a:ext cx="11430000" cy="640080"/>
          </a:xfrm>
          <a:prstGeom prst="rect">
            <a:avLst/>
          </a:prstGeom>
          <a:noFill/>
        </p:spPr>
        <p:txBody>
          <a:bodyPr wrap="square" lIns="0" tIns="0" rIns="0" bIns="0" anchor="t">
            <a:spAutoFit/>
          </a:bodyPr>
          <a:lstStyle/>
          <a:p>
            <a:pPr algn="l"/>
            <a:r>
              <a:rPr sz="3000" b="0" i="0">
                <a:solidFill>
                  <a:srgbClr val="E6EDF3"/>
                </a:solidFill>
                <a:latin typeface="Consolas"/>
              </a:rPr>
              <a:t>Continuous orchestration (v10.13/14)</a:t>
            </a:r>
          </a:p>
        </p:txBody>
      </p:sp>
      <p:sp>
        <p:nvSpPr>
          <p:cNvPr id="5" name="TextBox 4"/>
          <p:cNvSpPr txBox="1"/>
          <p:nvPr/>
        </p:nvSpPr>
        <p:spPr>
          <a:xfrm>
            <a:off x="365760" y="1143000"/>
            <a:ext cx="11430000" cy="365760"/>
          </a:xfrm>
          <a:prstGeom prst="rect">
            <a:avLst/>
          </a:prstGeom>
          <a:noFill/>
        </p:spPr>
        <p:txBody>
          <a:bodyPr wrap="square" lIns="0" tIns="0" rIns="0" bIns="0" anchor="t">
            <a:spAutoFit/>
          </a:bodyPr>
          <a:lstStyle/>
          <a:p>
            <a:pPr algn="l"/>
            <a:r>
              <a:rPr sz="1400" b="0" i="0">
                <a:solidFill>
                  <a:srgbClr val="8B949E"/>
                </a:solidFill>
                <a:latin typeface="Calibri"/>
              </a:rPr>
              <a:t>Workers tự báo cáo, watcher tự reroute — không cần user nhắc</a:t>
            </a:r>
          </a:p>
        </p:txBody>
      </p:sp>
      <p:sp>
        <p:nvSpPr>
          <p:cNvPr id="6" name="Rounded Rectangle 5"/>
          <p:cNvSpPr/>
          <p:nvPr/>
        </p:nvSpPr>
        <p:spPr>
          <a:xfrm>
            <a:off x="365760" y="1783080"/>
            <a:ext cx="5486400" cy="4389120"/>
          </a:xfrm>
          <a:prstGeom prst="roundRect">
            <a:avLst>
              <a:gd name="adj" fmla="val 5000"/>
            </a:avLst>
          </a:prstGeom>
          <a:solidFill>
            <a:srgbClr val="161B22"/>
          </a:solidFill>
          <a:ln w="12700">
            <a:solidFill>
              <a:srgbClr val="2EA0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874519"/>
            <a:ext cx="5120640" cy="365760"/>
          </a:xfrm>
          <a:prstGeom prst="rect">
            <a:avLst/>
          </a:prstGeom>
          <a:noFill/>
        </p:spPr>
        <p:txBody>
          <a:bodyPr wrap="square" lIns="0" tIns="0" rIns="0" bIns="0" anchor="t">
            <a:spAutoFit/>
          </a:bodyPr>
          <a:lstStyle/>
          <a:p>
            <a:pPr algn="l"/>
            <a:r>
              <a:rPr sz="1600" b="1" i="0">
                <a:solidFill>
                  <a:srgbClr val="2EA043"/>
                </a:solidFill>
                <a:latin typeface="Consolas"/>
              </a:rPr>
              <a:t>v10.13 — Complete-and-notify</a:t>
            </a:r>
          </a:p>
        </p:txBody>
      </p:sp>
      <p:sp>
        <p:nvSpPr>
          <p:cNvPr id="8" name="TextBox 7"/>
          <p:cNvSpPr txBox="1"/>
          <p:nvPr/>
        </p:nvSpPr>
        <p:spPr>
          <a:xfrm>
            <a:off x="548640" y="2286000"/>
            <a:ext cx="5120640" cy="3749039"/>
          </a:xfrm>
          <a:prstGeom prst="rect">
            <a:avLst/>
          </a:prstGeom>
          <a:noFill/>
        </p:spPr>
        <p:txBody>
          <a:bodyPr wrap="square" lIns="0" tIns="0" rIns="0" bIns="0" anchor="t">
            <a:spAutoFit/>
          </a:bodyPr>
          <a:lstStyle/>
          <a:p>
            <a:pPr algn="l"/>
            <a:r>
              <a:rPr sz="1100" b="0" i="0">
                <a:solidFill>
                  <a:srgbClr val="E6EDF3"/>
                </a:solidFill>
                <a:latin typeface="Consolas"/>
              </a:rPr>
              <a:t>Mọi worker (PM/SA/BA/UX/BE/FE/QA/DEL) MUST call:</a:t>
            </a:r>
          </a:p>
          <a:p>
            <a:pPr algn="l"/>
            <a:endParaRPr sz="1100" b="0" i="0">
              <a:solidFill>
                <a:srgbClr val="E6EDF3"/>
              </a:solidFill>
              <a:latin typeface="Consolas"/>
            </a:endParaRPr>
          </a:p>
          <a:p>
            <a:pPr algn="l"/>
            <a:r>
              <a:rPr sz="1100" b="0" i="0">
                <a:solidFill>
                  <a:srgbClr val="E6EDF3"/>
                </a:solidFill>
                <a:latin typeface="Consolas"/>
              </a:rPr>
              <a:t>  bash scripts/notify_orchestrator.sh \</a:t>
            </a:r>
          </a:p>
          <a:p>
            <a:pPr algn="l"/>
            <a:r>
              <a:rPr sz="1100" b="0" i="0">
                <a:solidFill>
                  <a:srgbClr val="E6EDF3"/>
                </a:solidFill>
                <a:latin typeface="Consolas"/>
              </a:rPr>
              <a:t>    &lt;ROLE&gt; "Done — &lt;paths&gt;. Summary: &lt;2-3 sentences&gt;"</a:t>
            </a:r>
          </a:p>
          <a:p>
            <a:pPr algn="l"/>
            <a:endParaRPr sz="1100" b="0" i="0">
              <a:solidFill>
                <a:srgbClr val="E6EDF3"/>
              </a:solidFill>
              <a:latin typeface="Consolas"/>
            </a:endParaRPr>
          </a:p>
          <a:p>
            <a:pPr algn="l"/>
            <a:r>
              <a:rPr sz="1100" b="0" i="0">
                <a:solidFill>
                  <a:srgbClr val="E6EDF3"/>
                </a:solidFill>
                <a:latin typeface="Consolas"/>
              </a:rPr>
              <a:t>trước khi exit — kể cả khi 'rõ ràng đã xong'.</a:t>
            </a:r>
          </a:p>
          <a:p>
            <a:pPr algn="l"/>
            <a:endParaRPr sz="1100" b="0" i="0">
              <a:solidFill>
                <a:srgbClr val="E6EDF3"/>
              </a:solidFill>
              <a:latin typeface="Consolas"/>
            </a:endParaRPr>
          </a:p>
          <a:p>
            <a:pPr algn="l"/>
            <a:r>
              <a:rPr sz="1100" b="0" i="0">
                <a:solidFill>
                  <a:srgbClr val="E6EDF3"/>
                </a:solidFill>
                <a:latin typeface="Consolas"/>
              </a:rPr>
              <a:t>v10.18 thêm safety net: route_to_pane.sh wrapper</a:t>
            </a:r>
          </a:p>
          <a:p>
            <a:pPr algn="l"/>
            <a:r>
              <a:rPr sz="1100" b="0" i="0">
                <a:solidFill>
                  <a:srgbClr val="E6EDF3"/>
                </a:solidFill>
                <a:latin typeface="Consolas"/>
              </a:rPr>
              <a:t>tự fire fallback notify nếu worker quên</a:t>
            </a:r>
          </a:p>
          <a:p>
            <a:pPr algn="l"/>
            <a:r>
              <a:rPr sz="1100" b="0" i="0">
                <a:solidFill>
                  <a:srgbClr val="E6EDF3"/>
                </a:solidFill>
                <a:latin typeface="Consolas"/>
              </a:rPr>
              <a:t>(dedup 30s window — không double-fire).</a:t>
            </a:r>
          </a:p>
          <a:p>
            <a:pPr algn="l"/>
            <a:endParaRPr sz="1100" b="0" i="0">
              <a:solidFill>
                <a:srgbClr val="E6EDF3"/>
              </a:solidFill>
              <a:latin typeface="Consolas"/>
            </a:endParaRPr>
          </a:p>
          <a:p>
            <a:pPr algn="l"/>
            <a:r>
              <a:rPr sz="1100" b="0" i="0">
                <a:solidFill>
                  <a:srgbClr val="E6EDF3"/>
                </a:solidFill>
                <a:latin typeface="Consolas"/>
              </a:rPr>
              <a:t>Active reporting: Orchestrator mỗi turn chạy</a:t>
            </a:r>
          </a:p>
          <a:p>
            <a:pPr algn="l"/>
            <a:r>
              <a:rPr sz="1100" b="0" i="0">
                <a:solidFill>
                  <a:srgbClr val="E6EDF3"/>
                </a:solidFill>
                <a:latin typeface="Consolas"/>
              </a:rPr>
              <a:t>list_pending_questions.sh + list_pending_watches.sh</a:t>
            </a:r>
          </a:p>
          <a:p>
            <a:pPr algn="l"/>
            <a:r>
              <a:rPr sz="1100" b="0" i="0">
                <a:solidFill>
                  <a:srgbClr val="E6EDF3"/>
                </a:solidFill>
                <a:latin typeface="Consolas"/>
              </a:rPr>
              <a:t>+ check_phase_gate.sh → surface trước khi reply user.</a:t>
            </a:r>
          </a:p>
        </p:txBody>
      </p:sp>
      <p:sp>
        <p:nvSpPr>
          <p:cNvPr id="9" name="Rounded Rectangle 8"/>
          <p:cNvSpPr/>
          <p:nvPr/>
        </p:nvSpPr>
        <p:spPr>
          <a:xfrm>
            <a:off x="6217920" y="1783080"/>
            <a:ext cx="5577840" cy="4389120"/>
          </a:xfrm>
          <a:prstGeom prst="roundRect">
            <a:avLst>
              <a:gd name="adj" fmla="val 5000"/>
            </a:avLst>
          </a:prstGeom>
          <a:solidFill>
            <a:srgbClr val="161B22"/>
          </a:solidFill>
          <a:ln w="12700">
            <a:solidFill>
              <a:srgbClr val="7CE3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1874519"/>
            <a:ext cx="5212080" cy="365760"/>
          </a:xfrm>
          <a:prstGeom prst="rect">
            <a:avLst/>
          </a:prstGeom>
          <a:noFill/>
        </p:spPr>
        <p:txBody>
          <a:bodyPr wrap="square" lIns="0" tIns="0" rIns="0" bIns="0" anchor="t">
            <a:spAutoFit/>
          </a:bodyPr>
          <a:lstStyle/>
          <a:p>
            <a:pPr algn="l"/>
            <a:r>
              <a:rPr sz="1600" b="1" i="0">
                <a:solidFill>
                  <a:srgbClr val="7CE38B"/>
                </a:solidFill>
                <a:latin typeface="Consolas"/>
              </a:rPr>
              <a:t>v10.14 — watcher_daemon</a:t>
            </a:r>
          </a:p>
        </p:txBody>
      </p:sp>
      <p:sp>
        <p:nvSpPr>
          <p:cNvPr id="11" name="TextBox 10"/>
          <p:cNvSpPr txBox="1"/>
          <p:nvPr/>
        </p:nvSpPr>
        <p:spPr>
          <a:xfrm>
            <a:off x="6400800" y="2286000"/>
            <a:ext cx="5212080" cy="3749039"/>
          </a:xfrm>
          <a:prstGeom prst="rect">
            <a:avLst/>
          </a:prstGeom>
          <a:noFill/>
        </p:spPr>
        <p:txBody>
          <a:bodyPr wrap="square" lIns="0" tIns="0" rIns="0" bIns="0" anchor="t">
            <a:spAutoFit/>
          </a:bodyPr>
          <a:lstStyle/>
          <a:p>
            <a:pPr algn="l"/>
            <a:r>
              <a:rPr sz="1100" b="0" i="0">
                <a:solidFill>
                  <a:srgbClr val="E6EDF3"/>
                </a:solidFill>
                <a:latin typeface="Consolas"/>
              </a:rPr>
              <a:t>Background process — engine-agnostic.</a:t>
            </a:r>
          </a:p>
          <a:p>
            <a:pPr algn="l"/>
            <a:r>
              <a:rPr sz="1100" b="0" i="0">
                <a:solidFill>
                  <a:srgbClr val="E6EDF3"/>
                </a:solidFill>
                <a:latin typeface="Consolas"/>
              </a:rPr>
              <a:t>Khởi động bởi start_agents_tmux.sh</a:t>
            </a:r>
          </a:p>
          <a:p>
            <a:pPr algn="l"/>
            <a:r>
              <a:rPr sz="1100" b="0" i="0">
                <a:solidFill>
                  <a:srgbClr val="E6EDF3"/>
                </a:solidFill>
                <a:latin typeface="Consolas"/>
              </a:rPr>
              <a:t>(PID lưu .watcher.pid). Mỗi 15 giây poll:</a:t>
            </a:r>
          </a:p>
          <a:p>
            <a:pPr algn="l"/>
            <a:endParaRPr sz="1100" b="0" i="0">
              <a:solidFill>
                <a:srgbClr val="E6EDF3"/>
              </a:solidFill>
              <a:latin typeface="Consolas"/>
            </a:endParaRPr>
          </a:p>
          <a:p>
            <a:pPr algn="l"/>
            <a:r>
              <a:rPr sz="1100" b="0" i="0">
                <a:solidFill>
                  <a:srgbClr val="E6EDF3"/>
                </a:solidFill>
                <a:latin typeface="Consolas"/>
              </a:rPr>
              <a:t>1. .pane_watches/*.watch — workers parked,</a:t>
            </a:r>
          </a:p>
          <a:p>
            <a:pPr algn="l"/>
            <a:r>
              <a:rPr sz="1100" b="0" i="0">
                <a:solidFill>
                  <a:srgbClr val="E6EDF3"/>
                </a:solidFill>
                <a:latin typeface="Consolas"/>
              </a:rPr>
              <a:t>   đợi upstream file landing</a:t>
            </a:r>
          </a:p>
          <a:p>
            <a:pPr algn="l"/>
            <a:r>
              <a:rPr sz="1100" b="0" i="0">
                <a:solidFill>
                  <a:srgbClr val="E6EDF3"/>
                </a:solidFill>
                <a:latin typeface="Consolas"/>
              </a:rPr>
              <a:t>2. .pane_heartbeats/*.beat — workers active</a:t>
            </a:r>
          </a:p>
          <a:p>
            <a:pPr algn="l"/>
            <a:r>
              <a:rPr sz="1100" b="0" i="0">
                <a:solidFill>
                  <a:srgbClr val="E6EDF3"/>
                </a:solidFill>
                <a:latin typeface="Consolas"/>
              </a:rPr>
              <a:t>   (touch mỗi 10s); detect stall sau 90s</a:t>
            </a:r>
          </a:p>
          <a:p>
            <a:pPr algn="l"/>
            <a:endParaRPr sz="1100" b="0" i="0">
              <a:solidFill>
                <a:srgbClr val="E6EDF3"/>
              </a:solidFill>
              <a:latin typeface="Consolas"/>
            </a:endParaRPr>
          </a:p>
          <a:p>
            <a:pPr algn="l"/>
            <a:r>
              <a:rPr sz="1100" b="0" i="0">
                <a:solidFill>
                  <a:srgbClr val="E6EDF3"/>
                </a:solidFill>
                <a:latin typeface="Consolas"/>
              </a:rPr>
              <a:t>Khi dependency landing:</a:t>
            </a:r>
          </a:p>
          <a:p>
            <a:pPr algn="l"/>
            <a:r>
              <a:rPr sz="1100" b="0" i="0">
                <a:solidFill>
                  <a:srgbClr val="E6EDF3"/>
                </a:solidFill>
                <a:latin typeface="Consolas"/>
              </a:rPr>
              <a:t>  → route_to_pane.sh &lt;ROLE&gt; "&lt;resume task&gt;"</a:t>
            </a:r>
          </a:p>
          <a:p>
            <a:pPr algn="l"/>
            <a:r>
              <a:rPr sz="1100" b="0" i="0">
                <a:solidFill>
                  <a:srgbClr val="E6EDF3"/>
                </a:solidFill>
                <a:latin typeface="Consolas"/>
              </a:rPr>
              <a:t>  → notify_orchestrator (auto-resume signal)</a:t>
            </a:r>
          </a:p>
          <a:p>
            <a:pPr algn="l"/>
            <a:endParaRPr sz="1100" b="0" i="0">
              <a:solidFill>
                <a:srgbClr val="E6EDF3"/>
              </a:solidFill>
              <a:latin typeface="Consolas"/>
            </a:endParaRPr>
          </a:p>
          <a:p>
            <a:pPr algn="l"/>
            <a:r>
              <a:rPr sz="1100" b="0" i="0">
                <a:solidFill>
                  <a:srgbClr val="E6EDF3"/>
                </a:solidFill>
                <a:latin typeface="Consolas"/>
              </a:rPr>
              <a:t>Worker chỉ cần: bash scripts/file_watch.sh</a:t>
            </a:r>
          </a:p>
          <a:p>
            <a:pPr algn="l"/>
            <a:r>
              <a:rPr sz="1100" b="0" i="0">
                <a:solidFill>
                  <a:srgbClr val="E6EDF3"/>
                </a:solidFill>
                <a:latin typeface="Consolas"/>
              </a:rPr>
              <a:t>  &lt;ROLE&gt; &lt;MISSING_FILE&gt; "&lt;resume msg&gt;"</a:t>
            </a:r>
          </a:p>
        </p:txBody>
      </p:sp>
      <p:sp>
        <p:nvSpPr>
          <p:cNvPr id="12" name="TextBox 11"/>
          <p:cNvSpPr txBox="1"/>
          <p:nvPr/>
        </p:nvSpPr>
        <p:spPr>
          <a:xfrm>
            <a:off x="365760" y="6217920"/>
            <a:ext cx="11430000" cy="274320"/>
          </a:xfrm>
          <a:prstGeom prst="rect">
            <a:avLst/>
          </a:prstGeom>
          <a:noFill/>
        </p:spPr>
        <p:txBody>
          <a:bodyPr wrap="square" lIns="0" tIns="0" rIns="0" bIns="0" anchor="t">
            <a:spAutoFit/>
          </a:bodyPr>
          <a:lstStyle/>
          <a:p>
            <a:pPr algn="ctr"/>
            <a:r>
              <a:rPr sz="1200" b="0" i="1">
                <a:solidFill>
                  <a:srgbClr val="F1E05A"/>
                </a:solidFill>
                <a:latin typeface="Calibri"/>
              </a:rPr>
              <a:t>User effort giảm 20-30% → ~5% (chỉ kick off + answer clarifications + confirm transitions)</a:t>
            </a:r>
          </a:p>
        </p:txBody>
      </p:sp>
      <p:sp>
        <p:nvSpPr>
          <p:cNvPr id="13" name="TextBox 12"/>
          <p:cNvSpPr txBox="1"/>
          <p:nvPr/>
        </p:nvSpPr>
        <p:spPr>
          <a:xfrm>
            <a:off x="365760" y="6492240"/>
            <a:ext cx="1097280" cy="228600"/>
          </a:xfrm>
          <a:prstGeom prst="rect">
            <a:avLst/>
          </a:prstGeom>
          <a:noFill/>
        </p:spPr>
        <p:txBody>
          <a:bodyPr wrap="square" lIns="0" tIns="0" rIns="0" bIns="0" anchor="t">
            <a:spAutoFit/>
          </a:bodyPr>
          <a:lstStyle/>
          <a:p>
            <a:pPr algn="l"/>
            <a:r>
              <a:rPr sz="900" b="0" i="0">
                <a:solidFill>
                  <a:srgbClr val="8B949E"/>
                </a:solidFill>
                <a:latin typeface="Consolas"/>
              </a:rPr>
              <a:t>v10.23</a:t>
            </a:r>
          </a:p>
        </p:txBody>
      </p:sp>
      <p:sp>
        <p:nvSpPr>
          <p:cNvPr id="14" name="TextBox 13"/>
          <p:cNvSpPr txBox="1"/>
          <p:nvPr/>
        </p:nvSpPr>
        <p:spPr>
          <a:xfrm>
            <a:off x="4572000" y="6492240"/>
            <a:ext cx="6400800" cy="228600"/>
          </a:xfrm>
          <a:prstGeom prst="rect">
            <a:avLst/>
          </a:prstGeom>
          <a:noFill/>
        </p:spPr>
        <p:txBody>
          <a:bodyPr wrap="square" lIns="0" tIns="0" rIns="0" bIns="0" anchor="t">
            <a:spAutoFit/>
          </a:bodyPr>
          <a:lstStyle/>
          <a:p>
            <a:pPr algn="ctr"/>
            <a:r>
              <a:rPr sz="900" b="0" i="0">
                <a:solidFill>
                  <a:srgbClr val="8B949E"/>
                </a:solidFill>
                <a:latin typeface="Consolas"/>
              </a:rPr>
              <a:t>Product Engineering Agent Framework</a:t>
            </a:r>
          </a:p>
        </p:txBody>
      </p:sp>
      <p:sp>
        <p:nvSpPr>
          <p:cNvPr id="15" name="TextBox 14"/>
          <p:cNvSpPr txBox="1"/>
          <p:nvPr/>
        </p:nvSpPr>
        <p:spPr>
          <a:xfrm>
            <a:off x="11338560" y="6492240"/>
            <a:ext cx="731520" cy="228600"/>
          </a:xfrm>
          <a:prstGeom prst="rect">
            <a:avLst/>
          </a:prstGeom>
          <a:noFill/>
        </p:spPr>
        <p:txBody>
          <a:bodyPr wrap="square" lIns="0" tIns="0" rIns="0" bIns="0" anchor="t">
            <a:spAutoFit/>
          </a:bodyPr>
          <a:lstStyle/>
          <a:p>
            <a:pPr algn="r"/>
            <a:r>
              <a:rPr sz="900" b="0" i="0">
                <a:solidFill>
                  <a:srgbClr val="8B949E"/>
                </a:solidFill>
                <a:latin typeface="Consolas"/>
              </a:rPr>
              <a:t>31 / 40</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28600"/>
            <a:ext cx="8229600" cy="274320"/>
          </a:xfrm>
          <a:prstGeom prst="rect">
            <a:avLst/>
          </a:prstGeom>
          <a:noFill/>
        </p:spPr>
        <p:txBody>
          <a:bodyPr wrap="none" lIns="0" tIns="0">
            <a:spAutoFit/>
          </a:bodyPr>
          <a:lstStyle/>
          <a:p>
            <a:r>
              <a:rPr sz="1100">
                <a:solidFill>
                  <a:srgbClr val="2EA043"/>
                </a:solidFill>
                <a:latin typeface="Consolas"/>
              </a:rPr>
              <a:t>$ </a:t>
            </a:r>
            <a:r>
              <a:rPr sz="1100">
                <a:solidFill>
                  <a:srgbClr val="8B949E"/>
                </a:solidFill>
                <a:latin typeface="Consolas"/>
              </a:rPr>
              <a:t>28_auto_wake.md</a:t>
            </a:r>
          </a:p>
        </p:txBody>
      </p:sp>
      <p:sp>
        <p:nvSpPr>
          <p:cNvPr id="4" name="TextBox 3"/>
          <p:cNvSpPr txBox="1"/>
          <p:nvPr/>
        </p:nvSpPr>
        <p:spPr>
          <a:xfrm>
            <a:off x="365760" y="548640"/>
            <a:ext cx="11430000" cy="640080"/>
          </a:xfrm>
          <a:prstGeom prst="rect">
            <a:avLst/>
          </a:prstGeom>
          <a:noFill/>
        </p:spPr>
        <p:txBody>
          <a:bodyPr wrap="square" lIns="0" tIns="0" rIns="0" bIns="0" anchor="t">
            <a:spAutoFit/>
          </a:bodyPr>
          <a:lstStyle/>
          <a:p>
            <a:pPr algn="l"/>
            <a:r>
              <a:rPr sz="3000" b="0" i="0">
                <a:solidFill>
                  <a:srgbClr val="E6EDF3"/>
                </a:solidFill>
                <a:latin typeface="Consolas"/>
              </a:rPr>
              <a:t>Auto-wake — Claude Code reliability (v10.15-18.1)</a:t>
            </a:r>
          </a:p>
        </p:txBody>
      </p:sp>
      <p:sp>
        <p:nvSpPr>
          <p:cNvPr id="5" name="TextBox 4"/>
          <p:cNvSpPr txBox="1"/>
          <p:nvPr/>
        </p:nvSpPr>
        <p:spPr>
          <a:xfrm>
            <a:off x="365760" y="1143000"/>
            <a:ext cx="11430000" cy="365760"/>
          </a:xfrm>
          <a:prstGeom prst="rect">
            <a:avLst/>
          </a:prstGeom>
          <a:noFill/>
        </p:spPr>
        <p:txBody>
          <a:bodyPr wrap="square" lIns="0" tIns="0" rIns="0" bIns="0" anchor="t">
            <a:spAutoFit/>
          </a:bodyPr>
          <a:lstStyle/>
          <a:p>
            <a:pPr algn="l"/>
            <a:r>
              <a:rPr sz="1400" b="0" i="0">
                <a:solidFill>
                  <a:srgbClr val="8B949E"/>
                </a:solidFill>
                <a:latin typeface="Calibri"/>
              </a:rPr>
              <a:t>3 delivery methods + verify + visible fallback — Ink TUI compatible</a:t>
            </a:r>
          </a:p>
        </p:txBody>
      </p:sp>
      <p:sp>
        <p:nvSpPr>
          <p:cNvPr id="6" name="TextBox 5"/>
          <p:cNvSpPr txBox="1"/>
          <p:nvPr/>
        </p:nvSpPr>
        <p:spPr>
          <a:xfrm>
            <a:off x="365760" y="1783080"/>
            <a:ext cx="11430000" cy="365760"/>
          </a:xfrm>
          <a:prstGeom prst="rect">
            <a:avLst/>
          </a:prstGeom>
          <a:noFill/>
        </p:spPr>
        <p:txBody>
          <a:bodyPr wrap="square" lIns="0" tIns="0" rIns="0" bIns="0" anchor="t">
            <a:spAutoFit/>
          </a:bodyPr>
          <a:lstStyle/>
          <a:p>
            <a:pPr algn="l"/>
            <a:r>
              <a:rPr sz="1400" b="1" i="0">
                <a:solidFill>
                  <a:srgbClr val="2EA043"/>
                </a:solidFill>
                <a:latin typeface="Consolas"/>
              </a:rPr>
              <a:t>scripts/_ping_orchestrator_pane.sh:</a:t>
            </a:r>
          </a:p>
        </p:txBody>
      </p:sp>
      <p:sp>
        <p:nvSpPr>
          <p:cNvPr id="7" name="Rounded Rectangle 6"/>
          <p:cNvSpPr/>
          <p:nvPr/>
        </p:nvSpPr>
        <p:spPr>
          <a:xfrm>
            <a:off x="365760" y="2240280"/>
            <a:ext cx="11430000" cy="777240"/>
          </a:xfrm>
          <a:prstGeom prst="roundRect">
            <a:avLst>
              <a:gd name="adj" fmla="val 5000"/>
            </a:avLst>
          </a:prstGeom>
          <a:solidFill>
            <a:srgbClr val="161B22"/>
          </a:solidFill>
          <a:ln w="12700">
            <a:solidFill>
              <a:srgbClr val="2EA0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2331720"/>
            <a:ext cx="11155680" cy="594360"/>
          </a:xfrm>
          <a:prstGeom prst="rect">
            <a:avLst/>
          </a:prstGeom>
          <a:noFill/>
        </p:spPr>
        <p:txBody>
          <a:bodyPr wrap="square" lIns="0" tIns="0" rIns="0" bIns="0" anchor="t">
            <a:spAutoFit/>
          </a:bodyPr>
          <a:lstStyle/>
          <a:p>
            <a:pPr algn="l"/>
            <a:r>
              <a:rPr sz="1300" b="1" i="0">
                <a:solidFill>
                  <a:srgbClr val="7CE38B"/>
                </a:solidFill>
                <a:latin typeface="Consolas"/>
              </a:rPr>
              <a:t>Method 1 — tmux load-buffer + paste-buffer -p   (bracketed paste, fast)</a:t>
            </a:r>
          </a:p>
        </p:txBody>
      </p:sp>
      <p:sp>
        <p:nvSpPr>
          <p:cNvPr id="9" name="TextBox 8"/>
          <p:cNvSpPr txBox="1"/>
          <p:nvPr/>
        </p:nvSpPr>
        <p:spPr>
          <a:xfrm>
            <a:off x="548640" y="2606040"/>
            <a:ext cx="11155680" cy="365760"/>
          </a:xfrm>
          <a:prstGeom prst="rect">
            <a:avLst/>
          </a:prstGeom>
          <a:noFill/>
        </p:spPr>
        <p:txBody>
          <a:bodyPr wrap="square" lIns="0" tIns="0" rIns="0" bIns="0" anchor="t">
            <a:spAutoFit/>
          </a:bodyPr>
          <a:lstStyle/>
          <a:p>
            <a:pPr algn="l"/>
            <a:r>
              <a:rPr sz="1100" b="0" i="0">
                <a:solidFill>
                  <a:srgbClr val="8B949E"/>
                </a:solidFill>
                <a:latin typeface="Consolas"/>
              </a:rPr>
              <a:t>tmux-native bracketed paste signalling. Works for OpenCode BubbleTea + most TUIs.</a:t>
            </a:r>
          </a:p>
        </p:txBody>
      </p:sp>
      <p:sp>
        <p:nvSpPr>
          <p:cNvPr id="10" name="Rounded Rectangle 9"/>
          <p:cNvSpPr/>
          <p:nvPr/>
        </p:nvSpPr>
        <p:spPr>
          <a:xfrm>
            <a:off x="365760" y="3108960"/>
            <a:ext cx="11430000" cy="777240"/>
          </a:xfrm>
          <a:prstGeom prst="roundRect">
            <a:avLst>
              <a:gd name="adj" fmla="val 5000"/>
            </a:avLst>
          </a:prstGeom>
          <a:solidFill>
            <a:srgbClr val="161B22"/>
          </a:solidFill>
          <a:ln w="12700">
            <a:solidFill>
              <a:srgbClr val="2EA0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40" y="3200400"/>
            <a:ext cx="11155680" cy="594360"/>
          </a:xfrm>
          <a:prstGeom prst="rect">
            <a:avLst/>
          </a:prstGeom>
          <a:noFill/>
        </p:spPr>
        <p:txBody>
          <a:bodyPr wrap="square" lIns="0" tIns="0" rIns="0" bIns="0" anchor="t">
            <a:spAutoFit/>
          </a:bodyPr>
          <a:lstStyle/>
          <a:p>
            <a:pPr algn="l"/>
            <a:r>
              <a:rPr sz="1300" b="1" i="0">
                <a:solidFill>
                  <a:srgbClr val="7CE38B"/>
                </a:solidFill>
                <a:latin typeface="Consolas"/>
              </a:rPr>
              <a:t>Method 2 — tmux send-keys -l "$msg"            (literal characters, fast)</a:t>
            </a:r>
          </a:p>
        </p:txBody>
      </p:sp>
      <p:sp>
        <p:nvSpPr>
          <p:cNvPr id="12" name="TextBox 11"/>
          <p:cNvSpPr txBox="1"/>
          <p:nvPr/>
        </p:nvSpPr>
        <p:spPr>
          <a:xfrm>
            <a:off x="548640" y="3474720"/>
            <a:ext cx="11155680" cy="365760"/>
          </a:xfrm>
          <a:prstGeom prst="rect">
            <a:avLst/>
          </a:prstGeom>
          <a:noFill/>
        </p:spPr>
        <p:txBody>
          <a:bodyPr wrap="square" lIns="0" tIns="0" rIns="0" bIns="0" anchor="t">
            <a:spAutoFit/>
          </a:bodyPr>
          <a:lstStyle/>
          <a:p>
            <a:pPr algn="l"/>
            <a:r>
              <a:rPr sz="1100" b="0" i="0">
                <a:solidFill>
                  <a:srgbClr val="8B949E"/>
                </a:solidFill>
                <a:latin typeface="Consolas"/>
              </a:rPr>
              <a:t>Fallback if method 1 doesn't deliver. Sends raw chars without paste-mode wrapping.</a:t>
            </a:r>
          </a:p>
        </p:txBody>
      </p:sp>
      <p:sp>
        <p:nvSpPr>
          <p:cNvPr id="13" name="Rounded Rectangle 12"/>
          <p:cNvSpPr/>
          <p:nvPr/>
        </p:nvSpPr>
        <p:spPr>
          <a:xfrm>
            <a:off x="365760" y="3977639"/>
            <a:ext cx="11430000" cy="777240"/>
          </a:xfrm>
          <a:prstGeom prst="roundRect">
            <a:avLst>
              <a:gd name="adj" fmla="val 5000"/>
            </a:avLst>
          </a:prstGeom>
          <a:solidFill>
            <a:srgbClr val="161B22"/>
          </a:solidFill>
          <a:ln w="12700">
            <a:solidFill>
              <a:srgbClr val="2EA0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48640" y="4069080"/>
            <a:ext cx="11155680" cy="594360"/>
          </a:xfrm>
          <a:prstGeom prst="rect">
            <a:avLst/>
          </a:prstGeom>
          <a:noFill/>
        </p:spPr>
        <p:txBody>
          <a:bodyPr wrap="square" lIns="0" tIns="0" rIns="0" bIns="0" anchor="t">
            <a:spAutoFit/>
          </a:bodyPr>
          <a:lstStyle/>
          <a:p>
            <a:pPr algn="l"/>
            <a:r>
              <a:rPr sz="1300" b="1" i="0">
                <a:solidFill>
                  <a:srgbClr val="7CE38B"/>
                </a:solidFill>
                <a:latin typeface="Consolas"/>
              </a:rPr>
              <a:t>Method 3 — typewriter (char-by-char, 40ms)      (slow but reliable)</a:t>
            </a:r>
          </a:p>
        </p:txBody>
      </p:sp>
      <p:sp>
        <p:nvSpPr>
          <p:cNvPr id="15" name="TextBox 14"/>
          <p:cNvSpPr txBox="1"/>
          <p:nvPr/>
        </p:nvSpPr>
        <p:spPr>
          <a:xfrm>
            <a:off x="548640" y="4343400"/>
            <a:ext cx="11155680" cy="365760"/>
          </a:xfrm>
          <a:prstGeom prst="rect">
            <a:avLst/>
          </a:prstGeom>
          <a:noFill/>
        </p:spPr>
        <p:txBody>
          <a:bodyPr wrap="square" lIns="0" tIns="0" rIns="0" bIns="0" anchor="t">
            <a:spAutoFit/>
          </a:bodyPr>
          <a:lstStyle/>
          <a:p>
            <a:pPr algn="l"/>
            <a:r>
              <a:rPr sz="1100" b="0" i="0">
                <a:solidFill>
                  <a:srgbClr val="8B949E"/>
                </a:solidFill>
                <a:latin typeface="Consolas"/>
              </a:rPr>
              <a:t>Mimics real human typing — bypasses any rapid-input filtering in Claude's Ink TUI.</a:t>
            </a:r>
          </a:p>
        </p:txBody>
      </p:sp>
      <p:sp>
        <p:nvSpPr>
          <p:cNvPr id="16" name="Rounded Rectangle 15"/>
          <p:cNvSpPr/>
          <p:nvPr/>
        </p:nvSpPr>
        <p:spPr>
          <a:xfrm>
            <a:off x="365760" y="4892040"/>
            <a:ext cx="5486400" cy="1188720"/>
          </a:xfrm>
          <a:prstGeom prst="roundRect">
            <a:avLst>
              <a:gd name="adj" fmla="val 5000"/>
            </a:avLst>
          </a:prstGeom>
          <a:solidFill>
            <a:srgbClr val="161B22"/>
          </a:solidFill>
          <a:ln w="12700">
            <a:solidFill>
              <a:srgbClr val="F1E0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48640" y="4983480"/>
            <a:ext cx="5120640" cy="320040"/>
          </a:xfrm>
          <a:prstGeom prst="rect">
            <a:avLst/>
          </a:prstGeom>
          <a:noFill/>
        </p:spPr>
        <p:txBody>
          <a:bodyPr wrap="square" lIns="0" tIns="0" rIns="0" bIns="0" anchor="t">
            <a:spAutoFit/>
          </a:bodyPr>
          <a:lstStyle/>
          <a:p>
            <a:pPr algn="l"/>
            <a:r>
              <a:rPr sz="1200" b="1" i="0">
                <a:solidFill>
                  <a:srgbClr val="F1E05A"/>
                </a:solidFill>
                <a:latin typeface="Consolas"/>
              </a:rPr>
              <a:t>Verify each method</a:t>
            </a:r>
          </a:p>
        </p:txBody>
      </p:sp>
      <p:sp>
        <p:nvSpPr>
          <p:cNvPr id="18" name="TextBox 17"/>
          <p:cNvSpPr txBox="1"/>
          <p:nvPr/>
        </p:nvSpPr>
        <p:spPr>
          <a:xfrm>
            <a:off x="548640" y="5257800"/>
            <a:ext cx="5120640" cy="822960"/>
          </a:xfrm>
          <a:prstGeom prst="rect">
            <a:avLst/>
          </a:prstGeom>
          <a:noFill/>
        </p:spPr>
        <p:txBody>
          <a:bodyPr wrap="square" lIns="0" tIns="0" rIns="0" bIns="0" anchor="t">
            <a:spAutoFit/>
          </a:bodyPr>
          <a:lstStyle/>
          <a:p>
            <a:pPr algn="l"/>
            <a:r>
              <a:rPr sz="1000" b="0" i="0">
                <a:solidFill>
                  <a:srgbClr val="E6EDF3"/>
                </a:solidFill>
                <a:latin typeface="Consolas"/>
              </a:rPr>
              <a:t>tmux capture-pane → grep 30-char sentinel.</a:t>
            </a:r>
          </a:p>
          <a:p>
            <a:pPr algn="l"/>
            <a:r>
              <a:rPr sz="1000" b="0" i="0">
                <a:solidFill>
                  <a:srgbClr val="E6EDF3"/>
                </a:solidFill>
                <a:latin typeface="Consolas"/>
              </a:rPr>
              <a:t>Pass → send Enter (x2 — Claude eats first sometimes).</a:t>
            </a:r>
          </a:p>
          <a:p>
            <a:pPr algn="l"/>
            <a:r>
              <a:rPr sz="1000" b="0" i="0">
                <a:solidFill>
                  <a:srgbClr val="E6EDF3"/>
                </a:solidFill>
                <a:latin typeface="Consolas"/>
              </a:rPr>
              <a:t>Fail → try next method.</a:t>
            </a:r>
          </a:p>
        </p:txBody>
      </p:sp>
      <p:sp>
        <p:nvSpPr>
          <p:cNvPr id="19" name="Rounded Rectangle 18"/>
          <p:cNvSpPr/>
          <p:nvPr/>
        </p:nvSpPr>
        <p:spPr>
          <a:xfrm>
            <a:off x="6217920" y="4892040"/>
            <a:ext cx="5577840" cy="1188720"/>
          </a:xfrm>
          <a:prstGeom prst="roundRect">
            <a:avLst>
              <a:gd name="adj" fmla="val 5000"/>
            </a:avLst>
          </a:prstGeom>
          <a:solidFill>
            <a:srgbClr val="161B22"/>
          </a:solidFill>
          <a:ln w="12700">
            <a:solidFill>
              <a:srgbClr val="F851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00800" y="4983480"/>
            <a:ext cx="5212080" cy="320040"/>
          </a:xfrm>
          <a:prstGeom prst="rect">
            <a:avLst/>
          </a:prstGeom>
          <a:noFill/>
        </p:spPr>
        <p:txBody>
          <a:bodyPr wrap="square" lIns="0" tIns="0" rIns="0" bIns="0" anchor="t">
            <a:spAutoFit/>
          </a:bodyPr>
          <a:lstStyle/>
          <a:p>
            <a:pPr algn="l"/>
            <a:r>
              <a:rPr sz="1200" b="1" i="0">
                <a:solidFill>
                  <a:srgbClr val="F85149"/>
                </a:solidFill>
                <a:latin typeface="Consolas"/>
              </a:rPr>
              <a:t>If all 3 fail — visible fallback</a:t>
            </a:r>
          </a:p>
        </p:txBody>
      </p:sp>
      <p:sp>
        <p:nvSpPr>
          <p:cNvPr id="21" name="TextBox 20"/>
          <p:cNvSpPr txBox="1"/>
          <p:nvPr/>
        </p:nvSpPr>
        <p:spPr>
          <a:xfrm>
            <a:off x="6400800" y="5257800"/>
            <a:ext cx="5212080" cy="822960"/>
          </a:xfrm>
          <a:prstGeom prst="rect">
            <a:avLst/>
          </a:prstGeom>
          <a:noFill/>
        </p:spPr>
        <p:txBody>
          <a:bodyPr wrap="square" lIns="0" tIns="0" rIns="0" bIns="0" anchor="t">
            <a:spAutoFit/>
          </a:bodyPr>
          <a:lstStyle/>
          <a:p>
            <a:pPr algn="l"/>
            <a:r>
              <a:rPr sz="1000" b="0" i="0">
                <a:solidFill>
                  <a:srgbClr val="E6EDF3"/>
                </a:solidFill>
                <a:latin typeface="Consolas"/>
              </a:rPr>
              <a:t>tmux display-message toast + macOS osascript</a:t>
            </a:r>
          </a:p>
          <a:p>
            <a:pPr algn="l"/>
            <a:r>
              <a:rPr sz="1000" b="0" i="0">
                <a:solidFill>
                  <a:srgbClr val="E6EDF3"/>
                </a:solidFill>
                <a:latin typeface="Consolas"/>
              </a:rPr>
              <a:t>notification (Glass sound). Plus Prefix+W binding</a:t>
            </a:r>
          </a:p>
          <a:p>
            <a:pPr algn="l"/>
            <a:r>
              <a:rPr sz="1000" b="0" i="0">
                <a:solidFill>
                  <a:srgbClr val="E6EDF3"/>
                </a:solidFill>
                <a:latin typeface="Consolas"/>
              </a:rPr>
              <a:t>calls wake_orchestrator.sh manually.</a:t>
            </a:r>
          </a:p>
        </p:txBody>
      </p:sp>
      <p:sp>
        <p:nvSpPr>
          <p:cNvPr id="22" name="TextBox 21"/>
          <p:cNvSpPr txBox="1"/>
          <p:nvPr/>
        </p:nvSpPr>
        <p:spPr>
          <a:xfrm>
            <a:off x="365760" y="6217920"/>
            <a:ext cx="11430000" cy="274320"/>
          </a:xfrm>
          <a:prstGeom prst="rect">
            <a:avLst/>
          </a:prstGeom>
          <a:noFill/>
        </p:spPr>
        <p:txBody>
          <a:bodyPr wrap="square" lIns="0" tIns="0" rIns="0" bIns="0" anchor="t">
            <a:spAutoFit/>
          </a:bodyPr>
          <a:lstStyle/>
          <a:p>
            <a:pPr algn="ctr"/>
            <a:r>
              <a:rPr sz="1100" b="0" i="1">
                <a:solidFill>
                  <a:srgbClr val="8B949E"/>
                </a:solidFill>
                <a:latin typeface="Calibri"/>
              </a:rPr>
              <a:t>v10.18.1 — pane_current_command='2.1.143' (Claude on macOS) → permissive case statement</a:t>
            </a:r>
          </a:p>
        </p:txBody>
      </p:sp>
      <p:sp>
        <p:nvSpPr>
          <p:cNvPr id="23" name="TextBox 22"/>
          <p:cNvSpPr txBox="1"/>
          <p:nvPr/>
        </p:nvSpPr>
        <p:spPr>
          <a:xfrm>
            <a:off x="365760" y="6492240"/>
            <a:ext cx="1097280" cy="228600"/>
          </a:xfrm>
          <a:prstGeom prst="rect">
            <a:avLst/>
          </a:prstGeom>
          <a:noFill/>
        </p:spPr>
        <p:txBody>
          <a:bodyPr wrap="square" lIns="0" tIns="0" rIns="0" bIns="0" anchor="t">
            <a:spAutoFit/>
          </a:bodyPr>
          <a:lstStyle/>
          <a:p>
            <a:pPr algn="l"/>
            <a:r>
              <a:rPr sz="900" b="0" i="0">
                <a:solidFill>
                  <a:srgbClr val="8B949E"/>
                </a:solidFill>
                <a:latin typeface="Consolas"/>
              </a:rPr>
              <a:t>v10.23</a:t>
            </a:r>
          </a:p>
        </p:txBody>
      </p:sp>
      <p:sp>
        <p:nvSpPr>
          <p:cNvPr id="24" name="TextBox 23"/>
          <p:cNvSpPr txBox="1"/>
          <p:nvPr/>
        </p:nvSpPr>
        <p:spPr>
          <a:xfrm>
            <a:off x="4572000" y="6492240"/>
            <a:ext cx="6400800" cy="228600"/>
          </a:xfrm>
          <a:prstGeom prst="rect">
            <a:avLst/>
          </a:prstGeom>
          <a:noFill/>
        </p:spPr>
        <p:txBody>
          <a:bodyPr wrap="square" lIns="0" tIns="0" rIns="0" bIns="0" anchor="t">
            <a:spAutoFit/>
          </a:bodyPr>
          <a:lstStyle/>
          <a:p>
            <a:pPr algn="ctr"/>
            <a:r>
              <a:rPr sz="900" b="0" i="0">
                <a:solidFill>
                  <a:srgbClr val="8B949E"/>
                </a:solidFill>
                <a:latin typeface="Consolas"/>
              </a:rPr>
              <a:t>Product Engineering Agent Framework</a:t>
            </a:r>
          </a:p>
        </p:txBody>
      </p:sp>
      <p:sp>
        <p:nvSpPr>
          <p:cNvPr id="25" name="TextBox 24"/>
          <p:cNvSpPr txBox="1"/>
          <p:nvPr/>
        </p:nvSpPr>
        <p:spPr>
          <a:xfrm>
            <a:off x="11338560" y="6492240"/>
            <a:ext cx="731520" cy="228600"/>
          </a:xfrm>
          <a:prstGeom prst="rect">
            <a:avLst/>
          </a:prstGeom>
          <a:noFill/>
        </p:spPr>
        <p:txBody>
          <a:bodyPr wrap="square" lIns="0" tIns="0" rIns="0" bIns="0" anchor="t">
            <a:spAutoFit/>
          </a:bodyPr>
          <a:lstStyle/>
          <a:p>
            <a:pPr algn="r"/>
            <a:r>
              <a:rPr sz="900" b="0" i="0">
                <a:solidFill>
                  <a:srgbClr val="8B949E"/>
                </a:solidFill>
                <a:latin typeface="Consolas"/>
              </a:rPr>
              <a:t>32 / 40</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28600"/>
            <a:ext cx="8229600" cy="274320"/>
          </a:xfrm>
          <a:prstGeom prst="rect">
            <a:avLst/>
          </a:prstGeom>
          <a:noFill/>
        </p:spPr>
        <p:txBody>
          <a:bodyPr wrap="none" lIns="0" tIns="0">
            <a:spAutoFit/>
          </a:bodyPr>
          <a:lstStyle/>
          <a:p>
            <a:r>
              <a:rPr sz="1100">
                <a:solidFill>
                  <a:srgbClr val="2EA043"/>
                </a:solidFill>
                <a:latin typeface="Consolas"/>
              </a:rPr>
              <a:t>$ </a:t>
            </a:r>
            <a:r>
              <a:rPr sz="1100">
                <a:solidFill>
                  <a:srgbClr val="8B949E"/>
                </a:solidFill>
                <a:latin typeface="Consolas"/>
              </a:rPr>
              <a:t>29_free_overlay.md</a:t>
            </a:r>
          </a:p>
        </p:txBody>
      </p:sp>
      <p:sp>
        <p:nvSpPr>
          <p:cNvPr id="4" name="TextBox 3"/>
          <p:cNvSpPr txBox="1"/>
          <p:nvPr/>
        </p:nvSpPr>
        <p:spPr>
          <a:xfrm>
            <a:off x="365760" y="548640"/>
            <a:ext cx="11430000" cy="640080"/>
          </a:xfrm>
          <a:prstGeom prst="rect">
            <a:avLst/>
          </a:prstGeom>
          <a:noFill/>
        </p:spPr>
        <p:txBody>
          <a:bodyPr wrap="square" lIns="0" tIns="0" rIns="0" bIns="0" anchor="t">
            <a:spAutoFit/>
          </a:bodyPr>
          <a:lstStyle/>
          <a:p>
            <a:pPr algn="l"/>
            <a:r>
              <a:rPr sz="3000">
                <a:solidFill>
                  <a:srgbClr val="E6EDF3"/>
                </a:solidFill>
                <a:latin typeface="Consolas"/>
              </a:rPr>
              <a:t>--free overlay (v10.16)</a:t>
            </a:r>
          </a:p>
        </p:txBody>
      </p:sp>
      <p:sp>
        <p:nvSpPr>
          <p:cNvPr id="5" name="TextBox 4"/>
          <p:cNvSpPr txBox="1"/>
          <p:nvPr/>
        </p:nvSpPr>
        <p:spPr>
          <a:xfrm>
            <a:off x="365760" y="1143000"/>
            <a:ext cx="11430000" cy="365760"/>
          </a:xfrm>
          <a:prstGeom prst="rect">
            <a:avLst/>
          </a:prstGeom>
          <a:noFill/>
        </p:spPr>
        <p:txBody>
          <a:bodyPr wrap="square" lIns="0" tIns="0" rIns="0" bIns="0" anchor="t">
            <a:spAutoFit/>
          </a:bodyPr>
          <a:lstStyle/>
          <a:p>
            <a:pPr algn="l"/>
            <a:r>
              <a:rPr sz="1400">
                <a:solidFill>
                  <a:srgbClr val="8B949E"/>
                </a:solidFill>
                <a:latin typeface="Calibri"/>
              </a:rPr>
              <a:t>Iterate workflow without burning credits — overlay file ghi đè *_MODEL</a:t>
            </a:r>
          </a:p>
        </p:txBody>
      </p:sp>
      <p:sp>
        <p:nvSpPr>
          <p:cNvPr id="6" name="Rounded Rectangle 5"/>
          <p:cNvSpPr/>
          <p:nvPr/>
        </p:nvSpPr>
        <p:spPr>
          <a:xfrm>
            <a:off x="365760" y="1783080"/>
            <a:ext cx="11430000" cy="1280160"/>
          </a:xfrm>
          <a:prstGeom prst="roundRect">
            <a:avLst>
              <a:gd name="adj" fmla="val 5000"/>
            </a:avLst>
          </a:prstGeom>
          <a:solidFill>
            <a:srgbClr val="161B22"/>
          </a:solidFill>
          <a:ln w="12700">
            <a:solidFill>
              <a:srgbClr val="2EA0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874519"/>
            <a:ext cx="11155680" cy="365760"/>
          </a:xfrm>
          <a:prstGeom prst="rect">
            <a:avLst/>
          </a:prstGeom>
          <a:noFill/>
        </p:spPr>
        <p:txBody>
          <a:bodyPr wrap="square" lIns="0" tIns="0" rIns="0" bIns="0" anchor="t">
            <a:spAutoFit/>
          </a:bodyPr>
          <a:lstStyle/>
          <a:p>
            <a:pPr algn="l"/>
            <a:r>
              <a:rPr sz="1400" b="1" i="0">
                <a:solidFill>
                  <a:srgbClr val="2EA043"/>
                </a:solidFill>
                <a:latin typeface="Consolas"/>
              </a:rPr>
              <a:t>Usage:</a:t>
            </a:r>
          </a:p>
        </p:txBody>
      </p:sp>
      <p:sp>
        <p:nvSpPr>
          <p:cNvPr id="8" name="TextBox 7"/>
          <p:cNvSpPr txBox="1"/>
          <p:nvPr/>
        </p:nvSpPr>
        <p:spPr>
          <a:xfrm>
            <a:off x="548640" y="2240280"/>
            <a:ext cx="11155680" cy="365760"/>
          </a:xfrm>
          <a:prstGeom prst="rect">
            <a:avLst/>
          </a:prstGeom>
          <a:noFill/>
        </p:spPr>
        <p:txBody>
          <a:bodyPr wrap="square" lIns="0" tIns="0" rIns="0" bIns="0" anchor="t">
            <a:spAutoFit/>
          </a:bodyPr>
          <a:lstStyle/>
          <a:p>
            <a:pPr algn="l"/>
            <a:r>
              <a:rPr sz="1300" b="0" i="0">
                <a:solidFill>
                  <a:srgbClr val="7CE38B"/>
                </a:solidFill>
                <a:latin typeface="Consolas"/>
              </a:rPr>
              <a:t>bash scripts/start_agents_tmux.sh &lt;project&gt; --engine opencode --free</a:t>
            </a:r>
          </a:p>
        </p:txBody>
      </p:sp>
      <p:sp>
        <p:nvSpPr>
          <p:cNvPr id="9" name="TextBox 8"/>
          <p:cNvSpPr txBox="1"/>
          <p:nvPr/>
        </p:nvSpPr>
        <p:spPr>
          <a:xfrm>
            <a:off x="548640" y="2606040"/>
            <a:ext cx="11155680" cy="365760"/>
          </a:xfrm>
          <a:prstGeom prst="rect">
            <a:avLst/>
          </a:prstGeom>
          <a:noFill/>
        </p:spPr>
        <p:txBody>
          <a:bodyPr wrap="square" lIns="0" tIns="0" rIns="0" bIns="0" anchor="t">
            <a:spAutoFit/>
          </a:bodyPr>
          <a:lstStyle/>
          <a:p>
            <a:pPr algn="l"/>
            <a:r>
              <a:rPr sz="1300" b="0" i="0">
                <a:solidFill>
                  <a:srgbClr val="7CE38B"/>
                </a:solidFill>
                <a:latin typeface="Consolas"/>
              </a:rPr>
              <a:t>bash scripts/start_agents_tmux.sh &lt;project&gt; --engine claude   --free</a:t>
            </a:r>
          </a:p>
        </p:txBody>
      </p:sp>
      <p:sp>
        <p:nvSpPr>
          <p:cNvPr id="10" name="Rounded Rectangle 9"/>
          <p:cNvSpPr/>
          <p:nvPr/>
        </p:nvSpPr>
        <p:spPr>
          <a:xfrm>
            <a:off x="365760" y="3200400"/>
            <a:ext cx="5486400" cy="2926080"/>
          </a:xfrm>
          <a:prstGeom prst="roundRect">
            <a:avLst>
              <a:gd name="adj" fmla="val 5000"/>
            </a:avLst>
          </a:prstGeom>
          <a:solidFill>
            <a:srgbClr val="161B22"/>
          </a:solidFill>
          <a:ln w="12700">
            <a:solidFill>
              <a:srgbClr val="2EA0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40" y="3291840"/>
            <a:ext cx="5120640" cy="365760"/>
          </a:xfrm>
          <a:prstGeom prst="rect">
            <a:avLst/>
          </a:prstGeom>
          <a:noFill/>
        </p:spPr>
        <p:txBody>
          <a:bodyPr wrap="square" lIns="0" tIns="0" rIns="0" bIns="0" anchor="t">
            <a:spAutoFit/>
          </a:bodyPr>
          <a:lstStyle/>
          <a:p>
            <a:pPr algn="l"/>
            <a:r>
              <a:rPr sz="1300" b="1" i="0">
                <a:solidFill>
                  <a:srgbClr val="2EA043"/>
                </a:solidFill>
                <a:latin typeface="Consolas"/>
              </a:rPr>
              <a:t>config/engines/opencode-free.env</a:t>
            </a:r>
          </a:p>
        </p:txBody>
      </p:sp>
      <p:sp>
        <p:nvSpPr>
          <p:cNvPr id="12" name="TextBox 11"/>
          <p:cNvSpPr txBox="1"/>
          <p:nvPr/>
        </p:nvSpPr>
        <p:spPr>
          <a:xfrm>
            <a:off x="548640" y="3657600"/>
            <a:ext cx="5120640" cy="2468880"/>
          </a:xfrm>
          <a:prstGeom prst="rect">
            <a:avLst/>
          </a:prstGeom>
          <a:noFill/>
        </p:spPr>
        <p:txBody>
          <a:bodyPr wrap="square" lIns="0" tIns="0" rIns="0" bIns="0" anchor="t">
            <a:spAutoFit/>
          </a:bodyPr>
          <a:lstStyle/>
          <a:p>
            <a:pPr algn="l"/>
            <a:r>
              <a:rPr sz="1100" b="0" i="0">
                <a:solidFill>
                  <a:srgbClr val="E6EDF3"/>
                </a:solidFill>
                <a:latin typeface="Consolas"/>
              </a:rPr>
              <a:t>Default: opencode/big-pickle</a:t>
            </a:r>
          </a:p>
          <a:p>
            <a:pPr algn="l"/>
            <a:r>
              <a:rPr sz="1100" b="0" i="0">
                <a:solidFill>
                  <a:srgbClr val="E6EDF3"/>
                </a:solidFill>
                <a:latin typeface="Consolas"/>
              </a:rPr>
              <a:t>(confirmed working in opencode-go fork)</a:t>
            </a:r>
          </a:p>
          <a:p>
            <a:pPr algn="l"/>
            <a:endParaRPr sz="1100" b="0" i="0">
              <a:solidFill>
                <a:srgbClr val="E6EDF3"/>
              </a:solidFill>
              <a:latin typeface="Consolas"/>
            </a:endParaRPr>
          </a:p>
          <a:p>
            <a:pPr algn="l"/>
            <a:r>
              <a:rPr sz="1100" b="0" i="0">
                <a:solidFill>
                  <a:srgbClr val="E6EDF3"/>
                </a:solidFill>
                <a:latin typeface="Consolas"/>
              </a:rPr>
              <a:t>9 roles → cùng 1 model.</a:t>
            </a:r>
          </a:p>
          <a:p>
            <a:pPr algn="l"/>
            <a:r>
              <a:rPr sz="1100" b="0" i="0">
                <a:solidFill>
                  <a:srgbClr val="E6EDF3"/>
                </a:solidFill>
                <a:latin typeface="Consolas"/>
              </a:rPr>
              <a:t>Workflow correctness không cần đa</a:t>
            </a:r>
          </a:p>
          <a:p>
            <a:pPr algn="l"/>
            <a:r>
              <a:rPr sz="1100" b="0" i="0">
                <a:solidFill>
                  <a:srgbClr val="E6EDF3"/>
                </a:solidFill>
                <a:latin typeface="Consolas"/>
              </a:rPr>
              <a:t>dạng model, chỉ cần model chạy được.</a:t>
            </a:r>
          </a:p>
          <a:p>
            <a:pPr algn="l"/>
            <a:endParaRPr sz="1100" b="0" i="0">
              <a:solidFill>
                <a:srgbClr val="E6EDF3"/>
              </a:solidFill>
              <a:latin typeface="Consolas"/>
            </a:endParaRPr>
          </a:p>
          <a:p>
            <a:pPr algn="l"/>
            <a:r>
              <a:rPr sz="1100" b="0" i="0">
                <a:solidFill>
                  <a:srgbClr val="E6EDF3"/>
                </a:solidFill>
                <a:latin typeface="Consolas"/>
              </a:rPr>
              <a:t>Override: OPENCODE_FREE_MODEL=...</a:t>
            </a:r>
          </a:p>
          <a:p>
            <a:pPr algn="l"/>
            <a:r>
              <a:rPr sz="1100" b="0" i="0">
                <a:solidFill>
                  <a:srgbClr val="E6EDF3"/>
                </a:solidFill>
                <a:latin typeface="Consolas"/>
              </a:rPr>
              <a:t>Discovery: bash scripts/list_free_models.sh</a:t>
            </a:r>
          </a:p>
        </p:txBody>
      </p:sp>
      <p:sp>
        <p:nvSpPr>
          <p:cNvPr id="13" name="Rounded Rectangle 12"/>
          <p:cNvSpPr/>
          <p:nvPr/>
        </p:nvSpPr>
        <p:spPr>
          <a:xfrm>
            <a:off x="6217920" y="3200400"/>
            <a:ext cx="5577840" cy="2926080"/>
          </a:xfrm>
          <a:prstGeom prst="roundRect">
            <a:avLst>
              <a:gd name="adj" fmla="val 5000"/>
            </a:avLst>
          </a:prstGeom>
          <a:solidFill>
            <a:srgbClr val="161B22"/>
          </a:solidFill>
          <a:ln w="12700">
            <a:solidFill>
              <a:srgbClr val="F1E0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0" y="3291840"/>
            <a:ext cx="5212080" cy="365760"/>
          </a:xfrm>
          <a:prstGeom prst="rect">
            <a:avLst/>
          </a:prstGeom>
          <a:noFill/>
        </p:spPr>
        <p:txBody>
          <a:bodyPr wrap="square" lIns="0" tIns="0" rIns="0" bIns="0" anchor="t">
            <a:spAutoFit/>
          </a:bodyPr>
          <a:lstStyle/>
          <a:p>
            <a:pPr algn="l"/>
            <a:r>
              <a:rPr sz="1300" b="1" i="0">
                <a:solidFill>
                  <a:srgbClr val="F1E05A"/>
                </a:solidFill>
                <a:latin typeface="Consolas"/>
              </a:rPr>
              <a:t>config/engines/claude-free.env</a:t>
            </a:r>
          </a:p>
        </p:txBody>
      </p:sp>
      <p:sp>
        <p:nvSpPr>
          <p:cNvPr id="15" name="TextBox 14"/>
          <p:cNvSpPr txBox="1"/>
          <p:nvPr/>
        </p:nvSpPr>
        <p:spPr>
          <a:xfrm>
            <a:off x="6400800" y="3657600"/>
            <a:ext cx="5212080" cy="2468880"/>
          </a:xfrm>
          <a:prstGeom prst="rect">
            <a:avLst/>
          </a:prstGeom>
          <a:noFill/>
        </p:spPr>
        <p:txBody>
          <a:bodyPr wrap="square" lIns="0" tIns="0" rIns="0" bIns="0" anchor="t">
            <a:spAutoFit/>
          </a:bodyPr>
          <a:lstStyle/>
          <a:p>
            <a:pPr algn="l"/>
            <a:r>
              <a:rPr sz="1100" b="0" i="0">
                <a:solidFill>
                  <a:srgbClr val="E6EDF3"/>
                </a:solidFill>
                <a:latin typeface="Consolas"/>
              </a:rPr>
              <a:t>9 roles → claude-haiku-4-5</a:t>
            </a:r>
          </a:p>
          <a:p>
            <a:pPr algn="l"/>
            <a:r>
              <a:rPr sz="1100" b="0" i="0">
                <a:solidFill>
                  <a:srgbClr val="E6EDF3"/>
                </a:solidFill>
                <a:latin typeface="Consolas"/>
              </a:rPr>
              <a:t>(cheapest tier — Claude không có $0 tier)</a:t>
            </a:r>
          </a:p>
          <a:p>
            <a:pPr algn="l"/>
            <a:endParaRPr sz="1100" b="0" i="0">
              <a:solidFill>
                <a:srgbClr val="E6EDF3"/>
              </a:solidFill>
              <a:latin typeface="Consolas"/>
            </a:endParaRPr>
          </a:p>
          <a:p>
            <a:pPr algn="l"/>
            <a:r>
              <a:rPr sz="1100" b="0" i="0">
                <a:solidFill>
                  <a:srgbClr val="E6EDF3"/>
                </a:solidFill>
                <a:latin typeface="Consolas"/>
              </a:rPr>
              <a:t>Nếu Pro/Max subscription:</a:t>
            </a:r>
          </a:p>
          <a:p>
            <a:pPr algn="l"/>
            <a:r>
              <a:rPr sz="1100" b="0" i="0">
                <a:solidFill>
                  <a:srgbClr val="E6EDF3"/>
                </a:solidFill>
                <a:latin typeface="Consolas"/>
              </a:rPr>
              <a:t>haiku usage tính quota, không metered.</a:t>
            </a:r>
          </a:p>
          <a:p>
            <a:pPr algn="l"/>
            <a:endParaRPr sz="1100" b="0" i="0">
              <a:solidFill>
                <a:srgbClr val="E6EDF3"/>
              </a:solidFill>
              <a:latin typeface="Consolas"/>
            </a:endParaRPr>
          </a:p>
          <a:p>
            <a:pPr algn="l"/>
            <a:r>
              <a:rPr sz="1100" b="0" i="0">
                <a:solidFill>
                  <a:srgbClr val="E6EDF3"/>
                </a:solidFill>
                <a:latin typeface="Consolas"/>
              </a:rPr>
              <a:t>Cảnh báo: ANTHROPIC_API_KEY set →</a:t>
            </a:r>
          </a:p>
          <a:p>
            <a:pPr algn="l"/>
            <a:r>
              <a:rPr sz="1100" b="0" i="0">
                <a:solidFill>
                  <a:srgbClr val="E6EDF3"/>
                </a:solidFill>
                <a:latin typeface="Consolas"/>
              </a:rPr>
              <a:t>start_agents_tmux.sh refuses launch</a:t>
            </a:r>
          </a:p>
          <a:p>
            <a:pPr algn="l"/>
            <a:r>
              <a:rPr sz="1100" b="0" i="0">
                <a:solidFill>
                  <a:srgbClr val="E6EDF3"/>
                </a:solidFill>
                <a:latin typeface="Consolas"/>
              </a:rPr>
              <a:t>(override với CLAUDE_API_MODE_ACK=1).</a:t>
            </a:r>
          </a:p>
        </p:txBody>
      </p:sp>
      <p:sp>
        <p:nvSpPr>
          <p:cNvPr id="16" name="TextBox 15"/>
          <p:cNvSpPr txBox="1"/>
          <p:nvPr/>
        </p:nvSpPr>
        <p:spPr>
          <a:xfrm>
            <a:off x="365760" y="6217920"/>
            <a:ext cx="11430000" cy="274320"/>
          </a:xfrm>
          <a:prstGeom prst="rect">
            <a:avLst/>
          </a:prstGeom>
          <a:noFill/>
        </p:spPr>
        <p:txBody>
          <a:bodyPr wrap="square" lIns="0" tIns="0" rIns="0" bIns="0" anchor="t">
            <a:spAutoFit/>
          </a:bodyPr>
          <a:lstStyle/>
          <a:p>
            <a:pPr algn="ctr"/>
            <a:r>
              <a:rPr sz="1100" b="0" i="1">
                <a:solidFill>
                  <a:srgbClr val="8B949E"/>
                </a:solidFill>
                <a:latin typeface="Calibri"/>
              </a:rPr>
              <a:t>FREE_MODE persisted vào .agent_session — route_to_pane.sh / check_models.sh tự honor</a:t>
            </a:r>
          </a:p>
        </p:txBody>
      </p:sp>
      <p:sp>
        <p:nvSpPr>
          <p:cNvPr id="17" name="TextBox 16"/>
          <p:cNvSpPr txBox="1"/>
          <p:nvPr/>
        </p:nvSpPr>
        <p:spPr>
          <a:xfrm>
            <a:off x="365760" y="6492240"/>
            <a:ext cx="1097280" cy="228600"/>
          </a:xfrm>
          <a:prstGeom prst="rect">
            <a:avLst/>
          </a:prstGeom>
          <a:noFill/>
        </p:spPr>
        <p:txBody>
          <a:bodyPr wrap="square" lIns="0" tIns="0" rIns="0" bIns="0" anchor="t">
            <a:spAutoFit/>
          </a:bodyPr>
          <a:lstStyle/>
          <a:p>
            <a:pPr algn="l"/>
            <a:r>
              <a:rPr sz="900" b="0" i="0">
                <a:solidFill>
                  <a:srgbClr val="8B949E"/>
                </a:solidFill>
                <a:latin typeface="Consolas"/>
              </a:rPr>
              <a:t>v10.23</a:t>
            </a:r>
          </a:p>
        </p:txBody>
      </p:sp>
      <p:sp>
        <p:nvSpPr>
          <p:cNvPr id="18" name="TextBox 17"/>
          <p:cNvSpPr txBox="1"/>
          <p:nvPr/>
        </p:nvSpPr>
        <p:spPr>
          <a:xfrm>
            <a:off x="4572000" y="6492240"/>
            <a:ext cx="6400800" cy="228600"/>
          </a:xfrm>
          <a:prstGeom prst="rect">
            <a:avLst/>
          </a:prstGeom>
          <a:noFill/>
        </p:spPr>
        <p:txBody>
          <a:bodyPr wrap="square" lIns="0" tIns="0" rIns="0" bIns="0" anchor="t">
            <a:spAutoFit/>
          </a:bodyPr>
          <a:lstStyle/>
          <a:p>
            <a:pPr algn="ctr"/>
            <a:r>
              <a:rPr sz="900" b="0" i="0">
                <a:solidFill>
                  <a:srgbClr val="8B949E"/>
                </a:solidFill>
                <a:latin typeface="Consolas"/>
              </a:rPr>
              <a:t>Product Engineering Agent Framework</a:t>
            </a:r>
          </a:p>
        </p:txBody>
      </p:sp>
      <p:sp>
        <p:nvSpPr>
          <p:cNvPr id="19" name="TextBox 18"/>
          <p:cNvSpPr txBox="1"/>
          <p:nvPr/>
        </p:nvSpPr>
        <p:spPr>
          <a:xfrm>
            <a:off x="11338560" y="6492240"/>
            <a:ext cx="731520" cy="228600"/>
          </a:xfrm>
          <a:prstGeom prst="rect">
            <a:avLst/>
          </a:prstGeom>
          <a:noFill/>
        </p:spPr>
        <p:txBody>
          <a:bodyPr wrap="square" lIns="0" tIns="0" rIns="0" bIns="0" anchor="t">
            <a:spAutoFit/>
          </a:bodyPr>
          <a:lstStyle/>
          <a:p>
            <a:pPr algn="r"/>
            <a:r>
              <a:rPr sz="900" b="0" i="0">
                <a:solidFill>
                  <a:srgbClr val="8B949E"/>
                </a:solidFill>
                <a:latin typeface="Consolas"/>
              </a:rPr>
              <a:t>33 / 40</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28600"/>
            <a:ext cx="8229600" cy="274320"/>
          </a:xfrm>
          <a:prstGeom prst="rect">
            <a:avLst/>
          </a:prstGeom>
          <a:noFill/>
        </p:spPr>
        <p:txBody>
          <a:bodyPr wrap="none" lIns="0" tIns="0">
            <a:spAutoFit/>
          </a:bodyPr>
          <a:lstStyle/>
          <a:p>
            <a:r>
              <a:rPr sz="1100">
                <a:solidFill>
                  <a:srgbClr val="2EA043"/>
                </a:solidFill>
                <a:latin typeface="Consolas"/>
              </a:rPr>
              <a:t>$ </a:t>
            </a:r>
            <a:r>
              <a:rPr sz="1100">
                <a:solidFill>
                  <a:srgbClr val="8B949E"/>
                </a:solidFill>
                <a:latin typeface="Consolas"/>
              </a:rPr>
              <a:t>30_hard_lane.md</a:t>
            </a:r>
          </a:p>
        </p:txBody>
      </p:sp>
      <p:sp>
        <p:nvSpPr>
          <p:cNvPr id="4" name="TextBox 3"/>
          <p:cNvSpPr txBox="1"/>
          <p:nvPr/>
        </p:nvSpPr>
        <p:spPr>
          <a:xfrm>
            <a:off x="365760" y="548640"/>
            <a:ext cx="11430000" cy="640080"/>
          </a:xfrm>
          <a:prstGeom prst="rect">
            <a:avLst/>
          </a:prstGeom>
          <a:noFill/>
        </p:spPr>
        <p:txBody>
          <a:bodyPr wrap="square" lIns="0" tIns="0" rIns="0" bIns="0" anchor="t">
            <a:spAutoFit/>
          </a:bodyPr>
          <a:lstStyle/>
          <a:p>
            <a:pPr algn="l"/>
            <a:r>
              <a:rPr sz="3000">
                <a:solidFill>
                  <a:srgbClr val="E6EDF3"/>
                </a:solidFill>
                <a:latin typeface="Consolas"/>
              </a:rPr>
              <a:t>Hard lane discipline (v10.18/19)</a:t>
            </a:r>
          </a:p>
        </p:txBody>
      </p:sp>
      <p:sp>
        <p:nvSpPr>
          <p:cNvPr id="5" name="TextBox 4"/>
          <p:cNvSpPr txBox="1"/>
          <p:nvPr/>
        </p:nvSpPr>
        <p:spPr>
          <a:xfrm>
            <a:off x="365760" y="1143000"/>
            <a:ext cx="11430000" cy="365760"/>
          </a:xfrm>
          <a:prstGeom prst="rect">
            <a:avLst/>
          </a:prstGeom>
          <a:noFill/>
        </p:spPr>
        <p:txBody>
          <a:bodyPr wrap="square" lIns="0" tIns="0" rIns="0" bIns="0" anchor="t">
            <a:spAutoFit/>
          </a:bodyPr>
          <a:lstStyle/>
          <a:p>
            <a:pPr algn="l"/>
            <a:r>
              <a:rPr sz="1400">
                <a:solidFill>
                  <a:srgbClr val="8B949E"/>
                </a:solidFill>
                <a:latin typeface="Calibri"/>
              </a:rPr>
              <a:t>3-layer defense — Orchestrator điều phối, không executive — blocked tại shell level</a:t>
            </a:r>
          </a:p>
        </p:txBody>
      </p:sp>
      <p:sp>
        <p:nvSpPr>
          <p:cNvPr id="6" name="Rounded Rectangle 5"/>
          <p:cNvSpPr/>
          <p:nvPr/>
        </p:nvSpPr>
        <p:spPr>
          <a:xfrm>
            <a:off x="365760" y="1783080"/>
            <a:ext cx="11430000" cy="1280160"/>
          </a:xfrm>
          <a:prstGeom prst="roundRect">
            <a:avLst>
              <a:gd name="adj" fmla="val 5000"/>
            </a:avLst>
          </a:prstGeom>
          <a:solidFill>
            <a:srgbClr val="161B22"/>
          </a:solidFill>
          <a:ln w="12700">
            <a:solidFill>
              <a:srgbClr val="2EA0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874519"/>
            <a:ext cx="11155680" cy="320040"/>
          </a:xfrm>
          <a:prstGeom prst="rect">
            <a:avLst/>
          </a:prstGeom>
          <a:noFill/>
        </p:spPr>
        <p:txBody>
          <a:bodyPr wrap="square" lIns="0" tIns="0" rIns="0" bIns="0" anchor="t">
            <a:spAutoFit/>
          </a:bodyPr>
          <a:lstStyle/>
          <a:p>
            <a:pPr algn="l"/>
            <a:r>
              <a:rPr sz="1300" b="1" i="0">
                <a:solidFill>
                  <a:srgbClr val="2EA043"/>
                </a:solidFill>
                <a:latin typeface="Consolas"/>
              </a:rPr>
              <a:t>Layer 1 — Prompt (soft)</a:t>
            </a:r>
          </a:p>
        </p:txBody>
      </p:sp>
      <p:sp>
        <p:nvSpPr>
          <p:cNvPr id="8" name="TextBox 7"/>
          <p:cNvSpPr txBox="1"/>
          <p:nvPr/>
        </p:nvSpPr>
        <p:spPr>
          <a:xfrm>
            <a:off x="548640" y="2194560"/>
            <a:ext cx="11155680" cy="868680"/>
          </a:xfrm>
          <a:prstGeom prst="rect">
            <a:avLst/>
          </a:prstGeom>
          <a:noFill/>
        </p:spPr>
        <p:txBody>
          <a:bodyPr wrap="square" lIns="0" tIns="0" rIns="0" bIns="0" anchor="t">
            <a:spAutoFit/>
          </a:bodyPr>
          <a:lstStyle/>
          <a:p>
            <a:pPr algn="l"/>
            <a:r>
              <a:rPr sz="1100" b="0" i="0">
                <a:solidFill>
                  <a:srgbClr val="E6EDF3"/>
                </a:solidFill>
                <a:latin typeface="Consolas"/>
              </a:rPr>
              <a:t>ORCHESTRATOR.md: 'YOU ORCHESTRATE — YOU DO NOT EXECUTE' (action ownership table).</a:t>
            </a:r>
          </a:p>
          <a:p>
            <a:pPr algn="l"/>
            <a:r>
              <a:rPr sz="1100" b="0" i="0">
                <a:solidFill>
                  <a:srgbClr val="E6EDF3"/>
                </a:solidFill>
                <a:latin typeface="Consolas"/>
              </a:rPr>
              <a:t>'Bug Report Triage Protocol' — user báo bug → MUST route QA → QA writes regression test</a:t>
            </a:r>
          </a:p>
          <a:p>
            <a:pPr algn="l"/>
            <a:r>
              <a:rPr sz="1100" b="0" i="0">
                <a:solidFill>
                  <a:srgbClr val="E6EDF3"/>
                </a:solidFill>
                <a:latin typeface="Consolas"/>
              </a:rPr>
              <a:t>→ identify owner (BE/FE/DELIVERY) → route fix → QA retest → DELIVERY redeploy.</a:t>
            </a:r>
          </a:p>
        </p:txBody>
      </p:sp>
      <p:sp>
        <p:nvSpPr>
          <p:cNvPr id="9" name="Rounded Rectangle 8"/>
          <p:cNvSpPr/>
          <p:nvPr/>
        </p:nvSpPr>
        <p:spPr>
          <a:xfrm>
            <a:off x="365760" y="3154680"/>
            <a:ext cx="11430000" cy="1737360"/>
          </a:xfrm>
          <a:prstGeom prst="roundRect">
            <a:avLst>
              <a:gd name="adj" fmla="val 5000"/>
            </a:avLst>
          </a:prstGeom>
          <a:solidFill>
            <a:srgbClr val="161B22"/>
          </a:solidFill>
          <a:ln w="12700">
            <a:solidFill>
              <a:srgbClr val="F1E0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3246120"/>
            <a:ext cx="11155680" cy="320040"/>
          </a:xfrm>
          <a:prstGeom prst="rect">
            <a:avLst/>
          </a:prstGeom>
          <a:noFill/>
        </p:spPr>
        <p:txBody>
          <a:bodyPr wrap="square" lIns="0" tIns="0" rIns="0" bIns="0" anchor="t">
            <a:spAutoFit/>
          </a:bodyPr>
          <a:lstStyle/>
          <a:p>
            <a:pPr algn="l"/>
            <a:r>
              <a:rPr sz="1300" b="1" i="0">
                <a:solidFill>
                  <a:srgbClr val="F1E05A"/>
                </a:solidFill>
                <a:latin typeface="Consolas"/>
              </a:rPr>
              <a:t>Layer 2 — PATH guard (HARD)</a:t>
            </a:r>
          </a:p>
        </p:txBody>
      </p:sp>
      <p:sp>
        <p:nvSpPr>
          <p:cNvPr id="11" name="TextBox 10"/>
          <p:cNvSpPr txBox="1"/>
          <p:nvPr/>
        </p:nvSpPr>
        <p:spPr>
          <a:xfrm>
            <a:off x="548640" y="3566160"/>
            <a:ext cx="11155680" cy="1325880"/>
          </a:xfrm>
          <a:prstGeom prst="rect">
            <a:avLst/>
          </a:prstGeom>
          <a:noFill/>
        </p:spPr>
        <p:txBody>
          <a:bodyPr wrap="square" lIns="0" tIns="0" rIns="0" bIns="0" anchor="t">
            <a:spAutoFit/>
          </a:bodyPr>
          <a:lstStyle/>
          <a:p>
            <a:pPr algn="l"/>
            <a:r>
              <a:rPr sz="1100" b="0" i="0">
                <a:solidFill>
                  <a:srgbClr val="E6EDF3"/>
                </a:solidFill>
                <a:latin typeface="Consolas"/>
              </a:rPr>
              <a:t>scripts/guards/_block_orchestrator.sh + auto-generated wrappers cho ~25 commands:</a:t>
            </a:r>
          </a:p>
          <a:p>
            <a:pPr algn="l"/>
            <a:r>
              <a:rPr sz="1100" b="0" i="0">
                <a:solidFill>
                  <a:srgbClr val="E6EDF3"/>
                </a:solidFill>
                <a:latin typeface="Consolas"/>
              </a:rPr>
              <a:t>  docker, docker-compose, kubectl, helm    → DELIVERY</a:t>
            </a:r>
          </a:p>
          <a:p>
            <a:pPr algn="l"/>
            <a:r>
              <a:rPr sz="1100" b="0" i="0">
                <a:solidFill>
                  <a:srgbClr val="E6EDF3"/>
                </a:solidFill>
                <a:latin typeface="Consolas"/>
              </a:rPr>
              <a:t>  psql, mongo, mysql, redis-cli, alembic   → BE</a:t>
            </a:r>
          </a:p>
          <a:p>
            <a:pPr algn="l"/>
            <a:r>
              <a:rPr sz="1100" b="0" i="0">
                <a:solidFill>
                  <a:srgbClr val="E6EDF3"/>
                </a:solidFill>
                <a:latin typeface="Consolas"/>
              </a:rPr>
              <a:t>  python, node, pip, npm, yarn, poetry     → BE/FE</a:t>
            </a:r>
          </a:p>
          <a:p>
            <a:pPr algn="l"/>
            <a:endParaRPr sz="1100" b="0" i="0">
              <a:solidFill>
                <a:srgbClr val="E6EDF3"/>
              </a:solidFill>
              <a:latin typeface="Consolas"/>
            </a:endParaRPr>
          </a:p>
          <a:p>
            <a:pPr algn="l"/>
            <a:r>
              <a:rPr sz="1100" b="0" i="0">
                <a:solidFill>
                  <a:srgbClr val="E6EDF3"/>
                </a:solidFill>
                <a:latin typeface="Consolas"/>
              </a:rPr>
              <a:t>Chỉ Orchestrator pane có scripts/guards/ trong PATH. Worker panes giữ PATH normal.</a:t>
            </a:r>
          </a:p>
        </p:txBody>
      </p:sp>
      <p:sp>
        <p:nvSpPr>
          <p:cNvPr id="12" name="Rounded Rectangle 11"/>
          <p:cNvSpPr/>
          <p:nvPr/>
        </p:nvSpPr>
        <p:spPr>
          <a:xfrm>
            <a:off x="365760" y="4983480"/>
            <a:ext cx="11430000" cy="1097280"/>
          </a:xfrm>
          <a:prstGeom prst="roundRect">
            <a:avLst>
              <a:gd name="adj" fmla="val 5000"/>
            </a:avLst>
          </a:prstGeom>
          <a:solidFill>
            <a:srgbClr val="161B22"/>
          </a:solidFill>
          <a:ln w="12700">
            <a:solidFill>
              <a:srgbClr val="F851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48640" y="5074920"/>
            <a:ext cx="11155680" cy="320040"/>
          </a:xfrm>
          <a:prstGeom prst="rect">
            <a:avLst/>
          </a:prstGeom>
          <a:noFill/>
        </p:spPr>
        <p:txBody>
          <a:bodyPr wrap="square" lIns="0" tIns="0" rIns="0" bIns="0" anchor="t">
            <a:spAutoFit/>
          </a:bodyPr>
          <a:lstStyle/>
          <a:p>
            <a:pPr algn="l"/>
            <a:r>
              <a:rPr sz="1300" b="1" i="0">
                <a:solidFill>
                  <a:srgbClr val="F85149"/>
                </a:solidFill>
                <a:latin typeface="Consolas"/>
              </a:rPr>
              <a:t>Layer 3 — Audit</a:t>
            </a:r>
          </a:p>
        </p:txBody>
      </p:sp>
      <p:sp>
        <p:nvSpPr>
          <p:cNvPr id="14" name="TextBox 13"/>
          <p:cNvSpPr txBox="1"/>
          <p:nvPr/>
        </p:nvSpPr>
        <p:spPr>
          <a:xfrm>
            <a:off x="548640" y="5394960"/>
            <a:ext cx="11155680" cy="685800"/>
          </a:xfrm>
          <a:prstGeom prst="rect">
            <a:avLst/>
          </a:prstGeom>
          <a:noFill/>
        </p:spPr>
        <p:txBody>
          <a:bodyPr wrap="square" lIns="0" tIns="0" rIns="0" bIns="0" anchor="t">
            <a:spAutoFit/>
          </a:bodyPr>
          <a:lstStyle/>
          <a:p>
            <a:pPr algn="l"/>
            <a:r>
              <a:rPr sz="1100" b="0" i="0">
                <a:solidFill>
                  <a:srgbClr val="E6EDF3"/>
                </a:solidFill>
                <a:latin typeface="Consolas"/>
              </a:rPr>
              <a:t>scripts/check_lane_violations.sh: tail PATH-guard log + inspect Orchestrator descendant</a:t>
            </a:r>
          </a:p>
          <a:p>
            <a:pPr algn="l"/>
            <a:r>
              <a:rPr sz="1100" b="0" i="0">
                <a:solidFill>
                  <a:srgbClr val="E6EDF3"/>
                </a:solidFill>
                <a:latin typeface="Consolas"/>
              </a:rPr>
              <a:t>processes (flag engineering binaries running mid-turn).</a:t>
            </a:r>
          </a:p>
        </p:txBody>
      </p:sp>
      <p:sp>
        <p:nvSpPr>
          <p:cNvPr id="15" name="TextBox 14"/>
          <p:cNvSpPr txBox="1"/>
          <p:nvPr/>
        </p:nvSpPr>
        <p:spPr>
          <a:xfrm>
            <a:off x="365760" y="6217920"/>
            <a:ext cx="11430000" cy="274320"/>
          </a:xfrm>
          <a:prstGeom prst="rect">
            <a:avLst/>
          </a:prstGeom>
          <a:noFill/>
        </p:spPr>
        <p:txBody>
          <a:bodyPr wrap="square" lIns="0" tIns="0" rIns="0" bIns="0" anchor="t">
            <a:spAutoFit/>
          </a:bodyPr>
          <a:lstStyle/>
          <a:p>
            <a:pPr algn="ctr"/>
            <a:r>
              <a:rPr sz="1100" b="1" i="0">
                <a:solidFill>
                  <a:srgbClr val="F85149"/>
                </a:solidFill>
                <a:latin typeface="Consolas"/>
              </a:rPr>
              <a:t>BLOCKED — Orchestrator cannot execute engineering commands. Route to DELIVERY instead.</a:t>
            </a:r>
          </a:p>
        </p:txBody>
      </p:sp>
      <p:sp>
        <p:nvSpPr>
          <p:cNvPr id="16" name="TextBox 15"/>
          <p:cNvSpPr txBox="1"/>
          <p:nvPr/>
        </p:nvSpPr>
        <p:spPr>
          <a:xfrm>
            <a:off x="365760" y="6492240"/>
            <a:ext cx="1097280" cy="228600"/>
          </a:xfrm>
          <a:prstGeom prst="rect">
            <a:avLst/>
          </a:prstGeom>
          <a:noFill/>
        </p:spPr>
        <p:txBody>
          <a:bodyPr wrap="square" lIns="0" tIns="0" rIns="0" bIns="0" anchor="t">
            <a:spAutoFit/>
          </a:bodyPr>
          <a:lstStyle/>
          <a:p>
            <a:pPr algn="l"/>
            <a:r>
              <a:rPr sz="900" b="0" i="0">
                <a:solidFill>
                  <a:srgbClr val="8B949E"/>
                </a:solidFill>
                <a:latin typeface="Consolas"/>
              </a:rPr>
              <a:t>v10.23</a:t>
            </a:r>
          </a:p>
        </p:txBody>
      </p:sp>
      <p:sp>
        <p:nvSpPr>
          <p:cNvPr id="17" name="TextBox 16"/>
          <p:cNvSpPr txBox="1"/>
          <p:nvPr/>
        </p:nvSpPr>
        <p:spPr>
          <a:xfrm>
            <a:off x="4572000" y="6492240"/>
            <a:ext cx="6400800" cy="228600"/>
          </a:xfrm>
          <a:prstGeom prst="rect">
            <a:avLst/>
          </a:prstGeom>
          <a:noFill/>
        </p:spPr>
        <p:txBody>
          <a:bodyPr wrap="square" lIns="0" tIns="0" rIns="0" bIns="0" anchor="t">
            <a:spAutoFit/>
          </a:bodyPr>
          <a:lstStyle/>
          <a:p>
            <a:pPr algn="ctr"/>
            <a:r>
              <a:rPr sz="900" b="0" i="0">
                <a:solidFill>
                  <a:srgbClr val="8B949E"/>
                </a:solidFill>
                <a:latin typeface="Consolas"/>
              </a:rPr>
              <a:t>Product Engineering Agent Framework</a:t>
            </a:r>
          </a:p>
        </p:txBody>
      </p:sp>
      <p:sp>
        <p:nvSpPr>
          <p:cNvPr id="18" name="TextBox 17"/>
          <p:cNvSpPr txBox="1"/>
          <p:nvPr/>
        </p:nvSpPr>
        <p:spPr>
          <a:xfrm>
            <a:off x="11338560" y="6492240"/>
            <a:ext cx="731520" cy="228600"/>
          </a:xfrm>
          <a:prstGeom prst="rect">
            <a:avLst/>
          </a:prstGeom>
          <a:noFill/>
        </p:spPr>
        <p:txBody>
          <a:bodyPr wrap="square" lIns="0" tIns="0" rIns="0" bIns="0" anchor="t">
            <a:spAutoFit/>
          </a:bodyPr>
          <a:lstStyle/>
          <a:p>
            <a:pPr algn="r"/>
            <a:r>
              <a:rPr sz="900" b="0" i="0">
                <a:solidFill>
                  <a:srgbClr val="8B949E"/>
                </a:solidFill>
                <a:latin typeface="Consolas"/>
              </a:rPr>
              <a:t>34 / 40</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28600"/>
            <a:ext cx="8229600" cy="274320"/>
          </a:xfrm>
          <a:prstGeom prst="rect">
            <a:avLst/>
          </a:prstGeom>
          <a:noFill/>
        </p:spPr>
        <p:txBody>
          <a:bodyPr wrap="none" lIns="0" tIns="0">
            <a:spAutoFit/>
          </a:bodyPr>
          <a:lstStyle/>
          <a:p>
            <a:r>
              <a:rPr sz="1100">
                <a:solidFill>
                  <a:srgbClr val="2EA043"/>
                </a:solidFill>
                <a:latin typeface="Consolas"/>
              </a:rPr>
              <a:t>$ </a:t>
            </a:r>
            <a:r>
              <a:rPr sz="1100">
                <a:solidFill>
                  <a:srgbClr val="8B949E"/>
                </a:solidFill>
                <a:latin typeface="Consolas"/>
              </a:rPr>
              <a:t>31_port_protocol.md</a:t>
            </a:r>
          </a:p>
        </p:txBody>
      </p:sp>
      <p:sp>
        <p:nvSpPr>
          <p:cNvPr id="4" name="TextBox 3"/>
          <p:cNvSpPr txBox="1"/>
          <p:nvPr/>
        </p:nvSpPr>
        <p:spPr>
          <a:xfrm>
            <a:off x="365760" y="548640"/>
            <a:ext cx="11430000" cy="640080"/>
          </a:xfrm>
          <a:prstGeom prst="rect">
            <a:avLst/>
          </a:prstGeom>
          <a:noFill/>
        </p:spPr>
        <p:txBody>
          <a:bodyPr wrap="square" lIns="0" tIns="0" rIns="0" bIns="0" anchor="t">
            <a:spAutoFit/>
          </a:bodyPr>
          <a:lstStyle/>
          <a:p>
            <a:pPr algn="l"/>
            <a:r>
              <a:rPr sz="3000" b="0" i="0">
                <a:solidFill>
                  <a:srgbClr val="E6EDF3"/>
                </a:solidFill>
                <a:latin typeface="Consolas"/>
              </a:rPr>
              <a:t>DELIVERY Port Configuration Protocol (v10.20)</a:t>
            </a:r>
          </a:p>
        </p:txBody>
      </p:sp>
      <p:sp>
        <p:nvSpPr>
          <p:cNvPr id="5" name="TextBox 4"/>
          <p:cNvSpPr txBox="1"/>
          <p:nvPr/>
        </p:nvSpPr>
        <p:spPr>
          <a:xfrm>
            <a:off x="365760" y="1143000"/>
            <a:ext cx="11430000" cy="365760"/>
          </a:xfrm>
          <a:prstGeom prst="rect">
            <a:avLst/>
          </a:prstGeom>
          <a:noFill/>
        </p:spPr>
        <p:txBody>
          <a:bodyPr wrap="square" lIns="0" tIns="0" rIns="0" bIns="0" anchor="t">
            <a:spAutoFit/>
          </a:bodyPr>
          <a:lstStyle/>
          <a:p>
            <a:pPr algn="l"/>
            <a:r>
              <a:rPr sz="1400" b="0" i="0">
                <a:solidFill>
                  <a:srgbClr val="8B949E"/>
                </a:solidFill>
                <a:latin typeface="Calibri"/>
              </a:rPr>
              <a:t>Scan trước, ask user 3 options sau — không silent pick</a:t>
            </a:r>
          </a:p>
        </p:txBody>
      </p:sp>
      <p:sp>
        <p:nvSpPr>
          <p:cNvPr id="6" name="Rounded Rectangle 5"/>
          <p:cNvSpPr/>
          <p:nvPr/>
        </p:nvSpPr>
        <p:spPr>
          <a:xfrm>
            <a:off x="365760" y="1783080"/>
            <a:ext cx="11430000" cy="1005840"/>
          </a:xfrm>
          <a:prstGeom prst="roundRect">
            <a:avLst>
              <a:gd name="adj" fmla="val 5000"/>
            </a:avLst>
          </a:prstGeom>
          <a:solidFill>
            <a:srgbClr val="161B22"/>
          </a:solidFill>
          <a:ln w="12700">
            <a:solidFill>
              <a:srgbClr val="2EA0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874519"/>
            <a:ext cx="11155680" cy="320040"/>
          </a:xfrm>
          <a:prstGeom prst="rect">
            <a:avLst/>
          </a:prstGeom>
          <a:noFill/>
        </p:spPr>
        <p:txBody>
          <a:bodyPr wrap="square" lIns="0" tIns="0" rIns="0" bIns="0" anchor="t">
            <a:spAutoFit/>
          </a:bodyPr>
          <a:lstStyle/>
          <a:p>
            <a:pPr algn="l"/>
            <a:r>
              <a:rPr sz="1300" b="1" i="0">
                <a:solidFill>
                  <a:srgbClr val="2EA043"/>
                </a:solidFill>
                <a:latin typeface="Consolas"/>
              </a:rPr>
              <a:t>1. Scan defaults</a:t>
            </a:r>
          </a:p>
        </p:txBody>
      </p:sp>
      <p:sp>
        <p:nvSpPr>
          <p:cNvPr id="8" name="TextBox 7"/>
          <p:cNvSpPr txBox="1"/>
          <p:nvPr/>
        </p:nvSpPr>
        <p:spPr>
          <a:xfrm>
            <a:off x="548640" y="2194560"/>
            <a:ext cx="11155680" cy="594360"/>
          </a:xfrm>
          <a:prstGeom prst="rect">
            <a:avLst/>
          </a:prstGeom>
          <a:noFill/>
        </p:spPr>
        <p:txBody>
          <a:bodyPr wrap="square" lIns="0" tIns="0" rIns="0" bIns="0" anchor="t">
            <a:spAutoFit/>
          </a:bodyPr>
          <a:lstStyle/>
          <a:p>
            <a:pPr algn="l"/>
            <a:r>
              <a:rPr sz="1100" b="0" i="0">
                <a:solidFill>
                  <a:srgbClr val="E6EDF3"/>
                </a:solidFill>
                <a:latin typeface="Consolas"/>
              </a:rPr>
              <a:t>bash scripts/check_port_conflicts.sh 3000 8000 5432</a:t>
            </a:r>
          </a:p>
          <a:p>
            <a:pPr algn="l"/>
            <a:r>
              <a:rPr sz="1100" b="0" i="0">
                <a:solidFill>
                  <a:srgbClr val="E6EDF3"/>
                </a:solidFill>
                <a:latin typeface="Consolas"/>
              </a:rPr>
              <a:t>  → PORT=3000 STATUS=FREE   |   PORT=5432 STATUS=TAKEN BY="docker:postgres-other"</a:t>
            </a:r>
          </a:p>
        </p:txBody>
      </p:sp>
      <p:sp>
        <p:nvSpPr>
          <p:cNvPr id="9" name="Rounded Rectangle 8"/>
          <p:cNvSpPr/>
          <p:nvPr/>
        </p:nvSpPr>
        <p:spPr>
          <a:xfrm>
            <a:off x="365760" y="2880360"/>
            <a:ext cx="11430000" cy="2011680"/>
          </a:xfrm>
          <a:prstGeom prst="roundRect">
            <a:avLst>
              <a:gd name="adj" fmla="val 5000"/>
            </a:avLst>
          </a:prstGeom>
          <a:solidFill>
            <a:srgbClr val="161B22"/>
          </a:solidFill>
          <a:ln w="12700">
            <a:solidFill>
              <a:srgbClr val="7CE3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2971800"/>
            <a:ext cx="11155680" cy="320040"/>
          </a:xfrm>
          <a:prstGeom prst="rect">
            <a:avLst/>
          </a:prstGeom>
          <a:noFill/>
        </p:spPr>
        <p:txBody>
          <a:bodyPr wrap="square" lIns="0" tIns="0" rIns="0" bIns="0" anchor="t">
            <a:spAutoFit/>
          </a:bodyPr>
          <a:lstStyle/>
          <a:p>
            <a:pPr algn="l"/>
            <a:r>
              <a:rPr sz="1300" b="1" i="0">
                <a:solidFill>
                  <a:srgbClr val="7CE38B"/>
                </a:solidFill>
                <a:latin typeface="Consolas"/>
              </a:rPr>
              <a:t>2. Ask user — 3 options</a:t>
            </a:r>
          </a:p>
        </p:txBody>
      </p:sp>
      <p:sp>
        <p:nvSpPr>
          <p:cNvPr id="11" name="TextBox 10"/>
          <p:cNvSpPr txBox="1"/>
          <p:nvPr/>
        </p:nvSpPr>
        <p:spPr>
          <a:xfrm>
            <a:off x="548640" y="3291840"/>
            <a:ext cx="11155680" cy="1600200"/>
          </a:xfrm>
          <a:prstGeom prst="rect">
            <a:avLst/>
          </a:prstGeom>
          <a:noFill/>
        </p:spPr>
        <p:txBody>
          <a:bodyPr wrap="square" lIns="0" tIns="0" rIns="0" bIns="0" anchor="t">
            <a:spAutoFit/>
          </a:bodyPr>
          <a:lstStyle/>
          <a:p>
            <a:pPr algn="l"/>
            <a:r>
              <a:rPr sz="1100" b="0" i="0">
                <a:solidFill>
                  <a:srgbClr val="E6EDF3"/>
                </a:solidFill>
                <a:latin typeface="Consolas"/>
              </a:rPr>
              <a:t>(A) Preferred:  user trả lời 'FE=X BE=Y DB=Z' → DELIVERY re-scan để xác nhận</a:t>
            </a:r>
          </a:p>
          <a:p>
            <a:pPr algn="l"/>
            <a:r>
              <a:rPr sz="1100" b="0" i="0">
                <a:solidFill>
                  <a:srgbClr val="E6EDF3"/>
                </a:solidFill>
                <a:latin typeface="Consolas"/>
              </a:rPr>
              <a:t>(B) Auto:       user trả lời 'auto' → DELIVERY chạy --suggest 3 → pick first FREE</a:t>
            </a:r>
          </a:p>
          <a:p>
            <a:pPr algn="l"/>
            <a:r>
              <a:rPr sz="1100" b="0" i="0">
                <a:solidFill>
                  <a:srgbClr val="E6EDF3"/>
                </a:solidFill>
                <a:latin typeface="Consolas"/>
              </a:rPr>
              <a:t>(C) Defaults:   user trả lời 'defaults' → chỉ valid nếu scan ban đầu all FREE</a:t>
            </a:r>
          </a:p>
          <a:p>
            <a:pPr algn="l"/>
            <a:endParaRPr sz="1100" b="0" i="0">
              <a:solidFill>
                <a:srgbClr val="E6EDF3"/>
              </a:solidFill>
              <a:latin typeface="Consolas"/>
            </a:endParaRPr>
          </a:p>
          <a:p>
            <a:pPr algn="l"/>
            <a:r>
              <a:rPr sz="1100" b="0" i="0">
                <a:solidFill>
                  <a:srgbClr val="E6EDF3"/>
                </a:solidFill>
                <a:latin typeface="Consolas"/>
              </a:rPr>
              <a:t>Plus: 'DB public hay internal?' → security exposure choice</a:t>
            </a:r>
          </a:p>
        </p:txBody>
      </p:sp>
      <p:sp>
        <p:nvSpPr>
          <p:cNvPr id="12" name="Rounded Rectangle 11"/>
          <p:cNvSpPr/>
          <p:nvPr/>
        </p:nvSpPr>
        <p:spPr>
          <a:xfrm>
            <a:off x="365760" y="4983480"/>
            <a:ext cx="11430000" cy="1097280"/>
          </a:xfrm>
          <a:prstGeom prst="roundRect">
            <a:avLst>
              <a:gd name="adj" fmla="val 5000"/>
            </a:avLst>
          </a:prstGeom>
          <a:solidFill>
            <a:srgbClr val="161B22"/>
          </a:solidFill>
          <a:ln w="12700">
            <a:solidFill>
              <a:srgbClr val="2EA0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48640" y="5074920"/>
            <a:ext cx="11155680" cy="320040"/>
          </a:xfrm>
          <a:prstGeom prst="rect">
            <a:avLst/>
          </a:prstGeom>
          <a:noFill/>
        </p:spPr>
        <p:txBody>
          <a:bodyPr wrap="square" lIns="0" tIns="0" rIns="0" bIns="0" anchor="t">
            <a:spAutoFit/>
          </a:bodyPr>
          <a:lstStyle/>
          <a:p>
            <a:pPr algn="l"/>
            <a:r>
              <a:rPr sz="1300" b="1" i="0">
                <a:solidFill>
                  <a:srgbClr val="2EA043"/>
                </a:solidFill>
                <a:latin typeface="Consolas"/>
              </a:rPr>
              <a:t>3. Persist + document</a:t>
            </a:r>
          </a:p>
        </p:txBody>
      </p:sp>
      <p:sp>
        <p:nvSpPr>
          <p:cNvPr id="14" name="TextBox 13"/>
          <p:cNvSpPr txBox="1"/>
          <p:nvPr/>
        </p:nvSpPr>
        <p:spPr>
          <a:xfrm>
            <a:off x="548640" y="5394960"/>
            <a:ext cx="11155680" cy="685800"/>
          </a:xfrm>
          <a:prstGeom prst="rect">
            <a:avLst/>
          </a:prstGeom>
          <a:noFill/>
        </p:spPr>
        <p:txBody>
          <a:bodyPr wrap="square" lIns="0" tIns="0" rIns="0" bIns="0" anchor="t">
            <a:spAutoFit/>
          </a:bodyPr>
          <a:lstStyle/>
          <a:p>
            <a:pPr algn="l"/>
            <a:r>
              <a:rPr sz="1100" b="0" i="0">
                <a:solidFill>
                  <a:srgbClr val="E6EDF3"/>
                </a:solidFill>
                <a:latin typeface="Consolas"/>
              </a:rPr>
              <a:t>.env.example (FE_PORT=, BE_PORT=, DB_PORT=) + docker-compose.yml ports:</a:t>
            </a:r>
          </a:p>
          <a:p>
            <a:pPr algn="l"/>
            <a:r>
              <a:rPr sz="1100" b="0" i="0">
                <a:solidFill>
                  <a:srgbClr val="E6EDF3"/>
                </a:solidFill>
                <a:latin typeface="Consolas"/>
              </a:rPr>
              <a:t>+ docs/delivery/DELIVERY_PLAN.md 'Port assignments' section (audit trail).</a:t>
            </a:r>
          </a:p>
        </p:txBody>
      </p:sp>
      <p:sp>
        <p:nvSpPr>
          <p:cNvPr id="15" name="TextBox 14"/>
          <p:cNvSpPr txBox="1"/>
          <p:nvPr/>
        </p:nvSpPr>
        <p:spPr>
          <a:xfrm>
            <a:off x="365760" y="6217920"/>
            <a:ext cx="11430000" cy="274320"/>
          </a:xfrm>
          <a:prstGeom prst="rect">
            <a:avLst/>
          </a:prstGeom>
          <a:noFill/>
        </p:spPr>
        <p:txBody>
          <a:bodyPr wrap="square" lIns="0" tIns="0" rIns="0" bIns="0" anchor="t">
            <a:spAutoFit/>
          </a:bodyPr>
          <a:lstStyle/>
          <a:p>
            <a:pPr algn="ctr"/>
            <a:r>
              <a:rPr sz="1100" b="0" i="1">
                <a:solidFill>
                  <a:srgbClr val="F1E05A"/>
                </a:solidFill>
                <a:latin typeface="Calibri"/>
              </a:rPr>
              <a:t>Eliminates 'docker compose up red because 5432 was taken' class of failure</a:t>
            </a:r>
          </a:p>
        </p:txBody>
      </p:sp>
      <p:sp>
        <p:nvSpPr>
          <p:cNvPr id="16" name="TextBox 15"/>
          <p:cNvSpPr txBox="1"/>
          <p:nvPr/>
        </p:nvSpPr>
        <p:spPr>
          <a:xfrm>
            <a:off x="365760" y="6492240"/>
            <a:ext cx="1097280" cy="228600"/>
          </a:xfrm>
          <a:prstGeom prst="rect">
            <a:avLst/>
          </a:prstGeom>
          <a:noFill/>
        </p:spPr>
        <p:txBody>
          <a:bodyPr wrap="square" lIns="0" tIns="0" rIns="0" bIns="0" anchor="t">
            <a:spAutoFit/>
          </a:bodyPr>
          <a:lstStyle/>
          <a:p>
            <a:pPr algn="l"/>
            <a:r>
              <a:rPr sz="900" b="0" i="0">
                <a:solidFill>
                  <a:srgbClr val="8B949E"/>
                </a:solidFill>
                <a:latin typeface="Consolas"/>
              </a:rPr>
              <a:t>v10.23</a:t>
            </a:r>
          </a:p>
        </p:txBody>
      </p:sp>
      <p:sp>
        <p:nvSpPr>
          <p:cNvPr id="17" name="TextBox 16"/>
          <p:cNvSpPr txBox="1"/>
          <p:nvPr/>
        </p:nvSpPr>
        <p:spPr>
          <a:xfrm>
            <a:off x="4572000" y="6492240"/>
            <a:ext cx="6400800" cy="228600"/>
          </a:xfrm>
          <a:prstGeom prst="rect">
            <a:avLst/>
          </a:prstGeom>
          <a:noFill/>
        </p:spPr>
        <p:txBody>
          <a:bodyPr wrap="square" lIns="0" tIns="0" rIns="0" bIns="0" anchor="t">
            <a:spAutoFit/>
          </a:bodyPr>
          <a:lstStyle/>
          <a:p>
            <a:pPr algn="ctr"/>
            <a:r>
              <a:rPr sz="900" b="0" i="0">
                <a:solidFill>
                  <a:srgbClr val="8B949E"/>
                </a:solidFill>
                <a:latin typeface="Consolas"/>
              </a:rPr>
              <a:t>Product Engineering Agent Framework</a:t>
            </a:r>
          </a:p>
        </p:txBody>
      </p:sp>
      <p:sp>
        <p:nvSpPr>
          <p:cNvPr id="18" name="TextBox 17"/>
          <p:cNvSpPr txBox="1"/>
          <p:nvPr/>
        </p:nvSpPr>
        <p:spPr>
          <a:xfrm>
            <a:off x="11338560" y="6492240"/>
            <a:ext cx="731520" cy="228600"/>
          </a:xfrm>
          <a:prstGeom prst="rect">
            <a:avLst/>
          </a:prstGeom>
          <a:noFill/>
        </p:spPr>
        <p:txBody>
          <a:bodyPr wrap="square" lIns="0" tIns="0" rIns="0" bIns="0" anchor="t">
            <a:spAutoFit/>
          </a:bodyPr>
          <a:lstStyle/>
          <a:p>
            <a:pPr algn="r"/>
            <a:r>
              <a:rPr sz="900" b="0" i="0">
                <a:solidFill>
                  <a:srgbClr val="8B949E"/>
                </a:solidFill>
                <a:latin typeface="Consolas"/>
              </a:rPr>
              <a:t>35 / 40</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29">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365760" y="228600"/>
            <a:ext cx="8229600" cy="274320"/>
          </a:xfrm>
          <a:prstGeom prst="rect">
            <a:avLst/>
          </a:prstGeom>
          <a:noFill/>
          <a:ln/>
        </p:spPr>
        <p:txBody>
          <a:bodyPr wrap="square" lIns="0" tIns="0" rIns="0" bIns="0" rtlCol="0" anchor="ctr"/>
          <a:lstStyle/>
          <a:p>
            <a:pPr marL="0" indent="0">
              <a:buNone/>
            </a:pPr>
            <a:r>
              <a:rPr lang="en-US" sz="1100" dirty="0">
                <a:solidFill>
                  <a:srgbClr val="2EA043"/>
                </a:solidFill>
                <a:latin typeface="Consolas" pitchFamily="34" charset="0"/>
                <a:ea typeface="Consolas" pitchFamily="34" charset="-122"/>
                <a:cs typeface="Consolas" pitchFamily="34" charset="-120"/>
              </a:rPr>
              <a:t>$ </a:t>
            </a:r>
            <a:r>
              <a:rPr lang="en-US" sz="1100" dirty="0">
                <a:solidFill>
                  <a:srgbClr val="8B949E"/>
                </a:solidFill>
                <a:latin typeface="Consolas" pitchFamily="34" charset="0"/>
                <a:ea typeface="Consolas" pitchFamily="34" charset="-122"/>
                <a:cs typeface="Consolas" pitchFamily="34" charset="-120"/>
              </a:rPr>
              <a:t>25_troubleshooting.md</a:t>
            </a:r>
            <a:endParaRPr lang="en-US" sz="1100" dirty="0"/>
          </a:p>
        </p:txBody>
      </p:sp>
      <p:sp>
        <p:nvSpPr>
          <p:cNvPr id="3" name="Text 1"/>
          <p:cNvSpPr/>
          <p:nvPr/>
        </p:nvSpPr>
        <p:spPr>
          <a:xfrm>
            <a:off x="365760" y="548640"/>
            <a:ext cx="11430000" cy="640080"/>
          </a:xfrm>
          <a:prstGeom prst="rect">
            <a:avLst/>
          </a:prstGeom>
          <a:noFill/>
          <a:ln/>
        </p:spPr>
        <p:txBody>
          <a:bodyPr wrap="square" lIns="0" tIns="0" rIns="0" bIns="0" rtlCol="0" anchor="ctr"/>
          <a:lstStyle/>
          <a:p>
            <a:pPr marL="0" indent="0">
              <a:buNone/>
            </a:pPr>
            <a:r>
              <a:rPr lang="en-US" sz="3000" b="1" dirty="0">
                <a:solidFill>
                  <a:srgbClr val="E6EDF3"/>
                </a:solidFill>
                <a:latin typeface="Consolas" pitchFamily="34" charset="0"/>
                <a:ea typeface="Consolas" pitchFamily="34" charset="-122"/>
                <a:cs typeface="Consolas" pitchFamily="34" charset="-120"/>
              </a:rPr>
              <a:t>Troubleshooting cheat sheet</a:t>
            </a:r>
            <a:endParaRPr lang="en-US" sz="3000" dirty="0"/>
          </a:p>
        </p:txBody>
      </p:sp>
      <p:sp>
        <p:nvSpPr>
          <p:cNvPr id="4" name="Text 2"/>
          <p:cNvSpPr/>
          <p:nvPr/>
        </p:nvSpPr>
        <p:spPr>
          <a:xfrm>
            <a:off x="365760" y="1143000"/>
            <a:ext cx="11430000" cy="365760"/>
          </a:xfrm>
          <a:prstGeom prst="rect">
            <a:avLst/>
          </a:prstGeom>
          <a:noFill/>
          <a:ln/>
        </p:spPr>
        <p:txBody>
          <a:bodyPr wrap="square" lIns="0" tIns="0" rIns="0" bIns="0" rtlCol="0" anchor="ctr"/>
          <a:lstStyle/>
          <a:p>
            <a:pPr marL="0" indent="0">
              <a:buNone/>
            </a:pPr>
            <a:r>
              <a:rPr lang="en-US" sz="1400" i="1" dirty="0">
                <a:solidFill>
                  <a:srgbClr val="8B949E"/>
                </a:solidFill>
                <a:latin typeface="Calibri" pitchFamily="34" charset="0"/>
                <a:ea typeface="Calibri" pitchFamily="34" charset="-122"/>
                <a:cs typeface="Calibri" pitchFamily="34" charset="-120"/>
              </a:rPr>
              <a:t>Những lỗi phổ biến và cách thoát nhanh</a:t>
            </a:r>
            <a:endParaRPr lang="en-US" sz="1400" dirty="0"/>
          </a:p>
        </p:txBody>
      </p:sp>
      <p:sp>
        <p:nvSpPr>
          <p:cNvPr id="5" name="Shape 3"/>
          <p:cNvSpPr/>
          <p:nvPr/>
        </p:nvSpPr>
        <p:spPr>
          <a:xfrm>
            <a:off x="365760" y="1783080"/>
            <a:ext cx="11430000" cy="566928"/>
          </a:xfrm>
          <a:prstGeom prst="rect">
            <a:avLst/>
          </a:prstGeom>
          <a:solidFill>
            <a:srgbClr val="161B22"/>
          </a:solidFill>
          <a:ln w="12700">
            <a:solidFill>
              <a:srgbClr val="30363D"/>
            </a:solidFill>
            <a:prstDash val="solid"/>
          </a:ln>
        </p:spPr>
        <p:txBody>
          <a:bodyPr/>
          <a:lstStyle/>
          <a:p>
            <a:endParaRPr/>
          </a:p>
        </p:txBody>
      </p:sp>
      <p:sp>
        <p:nvSpPr>
          <p:cNvPr id="6" name="Shape 4"/>
          <p:cNvSpPr/>
          <p:nvPr/>
        </p:nvSpPr>
        <p:spPr>
          <a:xfrm>
            <a:off x="365760" y="1783080"/>
            <a:ext cx="73152" cy="566928"/>
          </a:xfrm>
          <a:prstGeom prst="rect">
            <a:avLst/>
          </a:prstGeom>
          <a:solidFill>
            <a:srgbClr val="D29922"/>
          </a:solidFill>
          <a:ln w="12700">
            <a:solidFill>
              <a:srgbClr val="D29922"/>
            </a:solidFill>
            <a:prstDash val="solid"/>
          </a:ln>
        </p:spPr>
        <p:txBody>
          <a:bodyPr/>
          <a:lstStyle/>
          <a:p>
            <a:endParaRPr/>
          </a:p>
        </p:txBody>
      </p:sp>
      <p:sp>
        <p:nvSpPr>
          <p:cNvPr id="7" name="Text 5"/>
          <p:cNvSpPr/>
          <p:nvPr/>
        </p:nvSpPr>
        <p:spPr>
          <a:xfrm>
            <a:off x="548640" y="1783080"/>
            <a:ext cx="3931920" cy="566928"/>
          </a:xfrm>
          <a:prstGeom prst="rect">
            <a:avLst/>
          </a:prstGeom>
          <a:noFill/>
          <a:ln/>
        </p:spPr>
        <p:txBody>
          <a:bodyPr wrap="square" lIns="0" tIns="0" rIns="0" bIns="0" rtlCol="0" anchor="ctr"/>
          <a:lstStyle/>
          <a:p>
            <a:pPr marL="0" indent="0">
              <a:buNone/>
            </a:pPr>
            <a:r>
              <a:rPr lang="en-US" sz="1200" b="1" dirty="0">
                <a:solidFill>
                  <a:srgbClr val="D29922"/>
                </a:solidFill>
                <a:latin typeface="Consolas" pitchFamily="34" charset="0"/>
                <a:ea typeface="Consolas" pitchFamily="34" charset="-122"/>
                <a:cs typeface="Consolas" pitchFamily="34" charset="-120"/>
              </a:rPr>
              <a:t>Pane 1 stuck ở dquote&gt;</a:t>
            </a:r>
            <a:endParaRPr lang="en-US" sz="1200" dirty="0"/>
          </a:p>
        </p:txBody>
      </p:sp>
      <p:sp>
        <p:nvSpPr>
          <p:cNvPr id="8" name="Text 6"/>
          <p:cNvSpPr/>
          <p:nvPr/>
        </p:nvSpPr>
        <p:spPr>
          <a:xfrm>
            <a:off x="4572000" y="1783080"/>
            <a:ext cx="7223760" cy="566928"/>
          </a:xfrm>
          <a:prstGeom prst="rect">
            <a:avLst/>
          </a:prstGeom>
          <a:noFill/>
          <a:ln/>
        </p:spPr>
        <p:txBody>
          <a:bodyPr wrap="square" lIns="0" tIns="0" rIns="0" bIns="0" rtlCol="0" anchor="ctr"/>
          <a:lstStyle/>
          <a:p>
            <a:pPr marL="0" indent="0">
              <a:buNone/>
            </a:pPr>
            <a:r>
              <a:rPr lang="en-US" sz="1100" dirty="0">
                <a:solidFill>
                  <a:srgbClr val="E6EDF3"/>
                </a:solidFill>
                <a:latin typeface="Consolas" pitchFamily="34" charset="0"/>
                <a:ea typeface="Consolas" pitchFamily="34" charset="-122"/>
                <a:cs typeface="Consolas" pitchFamily="34" charset="-120"/>
              </a:rPr>
              <a:t>Ctrl+C → auto-relaunch loop sẽ prompt Enter để vào lại TUI</a:t>
            </a:r>
            <a:endParaRPr lang="en-US" sz="1100" dirty="0"/>
          </a:p>
        </p:txBody>
      </p:sp>
      <p:sp>
        <p:nvSpPr>
          <p:cNvPr id="9" name="Shape 7"/>
          <p:cNvSpPr/>
          <p:nvPr/>
        </p:nvSpPr>
        <p:spPr>
          <a:xfrm>
            <a:off x="365760" y="2414016"/>
            <a:ext cx="11430000" cy="566928"/>
          </a:xfrm>
          <a:prstGeom prst="rect">
            <a:avLst/>
          </a:prstGeom>
          <a:solidFill>
            <a:srgbClr val="1C2128"/>
          </a:solidFill>
          <a:ln w="12700">
            <a:solidFill>
              <a:srgbClr val="30363D"/>
            </a:solidFill>
            <a:prstDash val="solid"/>
          </a:ln>
        </p:spPr>
        <p:txBody>
          <a:bodyPr/>
          <a:lstStyle/>
          <a:p>
            <a:endParaRPr/>
          </a:p>
        </p:txBody>
      </p:sp>
      <p:sp>
        <p:nvSpPr>
          <p:cNvPr id="10" name="Shape 8"/>
          <p:cNvSpPr/>
          <p:nvPr/>
        </p:nvSpPr>
        <p:spPr>
          <a:xfrm>
            <a:off x="365760" y="2414016"/>
            <a:ext cx="73152" cy="566928"/>
          </a:xfrm>
          <a:prstGeom prst="rect">
            <a:avLst/>
          </a:prstGeom>
          <a:solidFill>
            <a:srgbClr val="D29922"/>
          </a:solidFill>
          <a:ln w="12700">
            <a:solidFill>
              <a:srgbClr val="D29922"/>
            </a:solidFill>
            <a:prstDash val="solid"/>
          </a:ln>
        </p:spPr>
        <p:txBody>
          <a:bodyPr/>
          <a:lstStyle/>
          <a:p>
            <a:endParaRPr/>
          </a:p>
        </p:txBody>
      </p:sp>
      <p:sp>
        <p:nvSpPr>
          <p:cNvPr id="11" name="Text 9"/>
          <p:cNvSpPr/>
          <p:nvPr/>
        </p:nvSpPr>
        <p:spPr>
          <a:xfrm>
            <a:off x="548640" y="2414016"/>
            <a:ext cx="3931920" cy="566928"/>
          </a:xfrm>
          <a:prstGeom prst="rect">
            <a:avLst/>
          </a:prstGeom>
          <a:noFill/>
          <a:ln/>
        </p:spPr>
        <p:txBody>
          <a:bodyPr wrap="square" lIns="0" tIns="0" rIns="0" bIns="0" rtlCol="0" anchor="ctr"/>
          <a:lstStyle/>
          <a:p>
            <a:pPr marL="0" indent="0">
              <a:buNone/>
            </a:pPr>
            <a:r>
              <a:rPr lang="en-US" sz="1200" b="1" dirty="0">
                <a:solidFill>
                  <a:srgbClr val="D29922"/>
                </a:solidFill>
                <a:latin typeface="Consolas" pitchFamily="34" charset="0"/>
                <a:ea typeface="Consolas" pitchFamily="34" charset="-122"/>
                <a:cs typeface="Consolas" pitchFamily="34" charset="-120"/>
              </a:rPr>
              <a:t>Orch nói routed nhưng không thấy</a:t>
            </a:r>
            <a:endParaRPr lang="en-US" sz="1200" dirty="0"/>
          </a:p>
        </p:txBody>
      </p:sp>
      <p:sp>
        <p:nvSpPr>
          <p:cNvPr id="12" name="Text 10"/>
          <p:cNvSpPr/>
          <p:nvPr/>
        </p:nvSpPr>
        <p:spPr>
          <a:xfrm>
            <a:off x="4572000" y="2414016"/>
            <a:ext cx="7223760" cy="566928"/>
          </a:xfrm>
          <a:prstGeom prst="rect">
            <a:avLst/>
          </a:prstGeom>
          <a:noFill/>
          <a:ln/>
        </p:spPr>
        <p:txBody>
          <a:bodyPr wrap="square" lIns="0" tIns="0" rIns="0" bIns="0" rtlCol="0" anchor="ctr"/>
          <a:lstStyle/>
          <a:p>
            <a:pPr marL="0" indent="0">
              <a:buNone/>
            </a:pPr>
            <a:r>
              <a:rPr lang="en-US" sz="1100" dirty="0">
                <a:solidFill>
                  <a:srgbClr val="E6EDF3"/>
                </a:solidFill>
                <a:latin typeface="Consolas" pitchFamily="34" charset="0"/>
                <a:ea typeface="Consolas" pitchFamily="34" charset="-122"/>
                <a:cs typeface="Consolas" pitchFamily="34" charset="-120"/>
              </a:rPr>
              <a:t>$ bash scripts/verify_routing.sh  — nếu trống, Orch chỉ chat, chưa thực sự bash</a:t>
            </a:r>
            <a:endParaRPr lang="en-US" sz="1100" dirty="0"/>
          </a:p>
        </p:txBody>
      </p:sp>
      <p:sp>
        <p:nvSpPr>
          <p:cNvPr id="13" name="Shape 11"/>
          <p:cNvSpPr/>
          <p:nvPr/>
        </p:nvSpPr>
        <p:spPr>
          <a:xfrm>
            <a:off x="365760" y="3044952"/>
            <a:ext cx="11430000" cy="566928"/>
          </a:xfrm>
          <a:prstGeom prst="rect">
            <a:avLst/>
          </a:prstGeom>
          <a:solidFill>
            <a:srgbClr val="161B22"/>
          </a:solidFill>
          <a:ln w="12700">
            <a:solidFill>
              <a:srgbClr val="30363D"/>
            </a:solidFill>
            <a:prstDash val="solid"/>
          </a:ln>
        </p:spPr>
        <p:txBody>
          <a:bodyPr/>
          <a:lstStyle/>
          <a:p>
            <a:endParaRPr/>
          </a:p>
        </p:txBody>
      </p:sp>
      <p:sp>
        <p:nvSpPr>
          <p:cNvPr id="14" name="Shape 12"/>
          <p:cNvSpPr/>
          <p:nvPr/>
        </p:nvSpPr>
        <p:spPr>
          <a:xfrm>
            <a:off x="365760" y="3044952"/>
            <a:ext cx="73152" cy="566928"/>
          </a:xfrm>
          <a:prstGeom prst="rect">
            <a:avLst/>
          </a:prstGeom>
          <a:solidFill>
            <a:srgbClr val="D29922"/>
          </a:solidFill>
          <a:ln w="12700">
            <a:solidFill>
              <a:srgbClr val="D29922"/>
            </a:solidFill>
            <a:prstDash val="solid"/>
          </a:ln>
        </p:spPr>
        <p:txBody>
          <a:bodyPr/>
          <a:lstStyle/>
          <a:p>
            <a:endParaRPr/>
          </a:p>
        </p:txBody>
      </p:sp>
      <p:sp>
        <p:nvSpPr>
          <p:cNvPr id="15" name="Text 13"/>
          <p:cNvSpPr/>
          <p:nvPr/>
        </p:nvSpPr>
        <p:spPr>
          <a:xfrm>
            <a:off x="548640" y="3044952"/>
            <a:ext cx="3931920" cy="566928"/>
          </a:xfrm>
          <a:prstGeom prst="rect">
            <a:avLst/>
          </a:prstGeom>
          <a:noFill/>
          <a:ln/>
        </p:spPr>
        <p:txBody>
          <a:bodyPr wrap="square" lIns="0" tIns="0" rIns="0" bIns="0" rtlCol="0" anchor="ctr"/>
          <a:lstStyle/>
          <a:p>
            <a:pPr marL="0" indent="0">
              <a:buNone/>
            </a:pPr>
            <a:r>
              <a:rPr lang="en-US" sz="1200" b="1" dirty="0">
                <a:solidFill>
                  <a:srgbClr val="D29922"/>
                </a:solidFill>
                <a:latin typeface="Consolas" pitchFamily="34" charset="0"/>
                <a:ea typeface="Consolas" pitchFamily="34" charset="-122"/>
                <a:cs typeface="Consolas" pitchFamily="34" charset="-120"/>
              </a:rPr>
              <a:t>Có Q pending mà Orch im lặng</a:t>
            </a:r>
            <a:endParaRPr lang="en-US" sz="1200" dirty="0"/>
          </a:p>
        </p:txBody>
      </p:sp>
      <p:sp>
        <p:nvSpPr>
          <p:cNvPr id="16" name="Text 14"/>
          <p:cNvSpPr/>
          <p:nvPr/>
        </p:nvSpPr>
        <p:spPr>
          <a:xfrm>
            <a:off x="4572000" y="3044952"/>
            <a:ext cx="7223760" cy="566928"/>
          </a:xfrm>
          <a:prstGeom prst="rect">
            <a:avLst/>
          </a:prstGeom>
          <a:noFill/>
          <a:ln/>
        </p:spPr>
        <p:txBody>
          <a:bodyPr wrap="square" lIns="0" tIns="0" rIns="0" bIns="0" rtlCol="0" anchor="ctr"/>
          <a:lstStyle/>
          <a:p>
            <a:pPr marL="0" indent="0">
              <a:buNone/>
            </a:pPr>
            <a:r>
              <a:rPr lang="en-US" sz="1100" dirty="0">
                <a:solidFill>
                  <a:srgbClr val="E6EDF3"/>
                </a:solidFill>
                <a:latin typeface="Consolas" pitchFamily="34" charset="0"/>
                <a:ea typeface="Consolas" pitchFamily="34" charset="-122"/>
                <a:cs typeface="Consolas" pitchFamily="34" charset="-120"/>
              </a:rPr>
              <a:t>Gõ 'có câu hỏi gì pending không?' — Orch chạy list_pending_questions.sh</a:t>
            </a:r>
            <a:endParaRPr lang="en-US" sz="1100" dirty="0"/>
          </a:p>
        </p:txBody>
      </p:sp>
      <p:sp>
        <p:nvSpPr>
          <p:cNvPr id="17" name="Shape 15"/>
          <p:cNvSpPr/>
          <p:nvPr/>
        </p:nvSpPr>
        <p:spPr>
          <a:xfrm>
            <a:off x="365760" y="3675888"/>
            <a:ext cx="11430000" cy="566928"/>
          </a:xfrm>
          <a:prstGeom prst="rect">
            <a:avLst/>
          </a:prstGeom>
          <a:solidFill>
            <a:srgbClr val="1C2128"/>
          </a:solidFill>
          <a:ln w="12700">
            <a:solidFill>
              <a:srgbClr val="30363D"/>
            </a:solidFill>
            <a:prstDash val="solid"/>
          </a:ln>
        </p:spPr>
        <p:txBody>
          <a:bodyPr/>
          <a:lstStyle/>
          <a:p>
            <a:endParaRPr/>
          </a:p>
        </p:txBody>
      </p:sp>
      <p:sp>
        <p:nvSpPr>
          <p:cNvPr id="18" name="Shape 16"/>
          <p:cNvSpPr/>
          <p:nvPr/>
        </p:nvSpPr>
        <p:spPr>
          <a:xfrm>
            <a:off x="365760" y="3675888"/>
            <a:ext cx="73152" cy="566928"/>
          </a:xfrm>
          <a:prstGeom prst="rect">
            <a:avLst/>
          </a:prstGeom>
          <a:solidFill>
            <a:srgbClr val="D29922"/>
          </a:solidFill>
          <a:ln w="12700">
            <a:solidFill>
              <a:srgbClr val="D29922"/>
            </a:solidFill>
            <a:prstDash val="solid"/>
          </a:ln>
        </p:spPr>
        <p:txBody>
          <a:bodyPr/>
          <a:lstStyle/>
          <a:p>
            <a:endParaRPr/>
          </a:p>
        </p:txBody>
      </p:sp>
      <p:sp>
        <p:nvSpPr>
          <p:cNvPr id="19" name="Text 17"/>
          <p:cNvSpPr/>
          <p:nvPr/>
        </p:nvSpPr>
        <p:spPr>
          <a:xfrm>
            <a:off x="548640" y="3675888"/>
            <a:ext cx="3931920" cy="566928"/>
          </a:xfrm>
          <a:prstGeom prst="rect">
            <a:avLst/>
          </a:prstGeom>
          <a:noFill/>
          <a:ln/>
        </p:spPr>
        <p:txBody>
          <a:bodyPr wrap="square" lIns="0" tIns="0" rIns="0" bIns="0" rtlCol="0" anchor="ctr"/>
          <a:lstStyle/>
          <a:p>
            <a:pPr marL="0" indent="0">
              <a:buNone/>
            </a:pPr>
            <a:r>
              <a:rPr lang="en-US" sz="1200" b="1" dirty="0">
                <a:solidFill>
                  <a:srgbClr val="D29922"/>
                </a:solidFill>
                <a:latin typeface="Consolas" pitchFamily="34" charset="0"/>
                <a:ea typeface="Consolas" pitchFamily="34" charset="-122"/>
                <a:cs typeface="Consolas" pitchFamily="34" charset="-120"/>
              </a:rPr>
              <a:t>DELIVERY refuse deploy</a:t>
            </a:r>
            <a:endParaRPr lang="en-US" sz="1200" dirty="0"/>
          </a:p>
        </p:txBody>
      </p:sp>
      <p:sp>
        <p:nvSpPr>
          <p:cNvPr id="20" name="Text 18"/>
          <p:cNvSpPr/>
          <p:nvPr/>
        </p:nvSpPr>
        <p:spPr>
          <a:xfrm>
            <a:off x="4572000" y="3675888"/>
            <a:ext cx="7223760" cy="566928"/>
          </a:xfrm>
          <a:prstGeom prst="rect">
            <a:avLst/>
          </a:prstGeom>
          <a:noFill/>
          <a:ln/>
        </p:spPr>
        <p:txBody>
          <a:bodyPr wrap="square" lIns="0" tIns="0" rIns="0" bIns="0" rtlCol="0" anchor="ctr"/>
          <a:lstStyle/>
          <a:p>
            <a:pPr marL="0" indent="0">
              <a:buNone/>
            </a:pPr>
            <a:r>
              <a:rPr lang="en-US" sz="1100" dirty="0">
                <a:solidFill>
                  <a:srgbClr val="E6EDF3"/>
                </a:solidFill>
                <a:latin typeface="Consolas" pitchFamily="34" charset="0"/>
                <a:ea typeface="Consolas" pitchFamily="34" charset="-122"/>
                <a:cs typeface="Consolas" pitchFamily="34" charset="-120"/>
              </a:rPr>
              <a:t>Đọc reports/TEST_REPORT.md + BUG_REPORT.md — fix blocker rồi re-route</a:t>
            </a:r>
            <a:endParaRPr lang="en-US" sz="1100" dirty="0"/>
          </a:p>
        </p:txBody>
      </p:sp>
      <p:sp>
        <p:nvSpPr>
          <p:cNvPr id="21" name="Shape 19"/>
          <p:cNvSpPr/>
          <p:nvPr/>
        </p:nvSpPr>
        <p:spPr>
          <a:xfrm>
            <a:off x="365760" y="4306824"/>
            <a:ext cx="11430000" cy="566928"/>
          </a:xfrm>
          <a:prstGeom prst="rect">
            <a:avLst/>
          </a:prstGeom>
          <a:solidFill>
            <a:srgbClr val="161B22"/>
          </a:solidFill>
          <a:ln w="12700">
            <a:solidFill>
              <a:srgbClr val="30363D"/>
            </a:solidFill>
            <a:prstDash val="solid"/>
          </a:ln>
        </p:spPr>
        <p:txBody>
          <a:bodyPr/>
          <a:lstStyle/>
          <a:p>
            <a:endParaRPr/>
          </a:p>
        </p:txBody>
      </p:sp>
      <p:sp>
        <p:nvSpPr>
          <p:cNvPr id="22" name="Shape 20"/>
          <p:cNvSpPr/>
          <p:nvPr/>
        </p:nvSpPr>
        <p:spPr>
          <a:xfrm>
            <a:off x="365760" y="4306824"/>
            <a:ext cx="73152" cy="566928"/>
          </a:xfrm>
          <a:prstGeom prst="rect">
            <a:avLst/>
          </a:prstGeom>
          <a:solidFill>
            <a:srgbClr val="D29922"/>
          </a:solidFill>
          <a:ln w="12700">
            <a:solidFill>
              <a:srgbClr val="D29922"/>
            </a:solidFill>
            <a:prstDash val="solid"/>
          </a:ln>
        </p:spPr>
        <p:txBody>
          <a:bodyPr/>
          <a:lstStyle/>
          <a:p>
            <a:endParaRPr/>
          </a:p>
        </p:txBody>
      </p:sp>
      <p:sp>
        <p:nvSpPr>
          <p:cNvPr id="23" name="Text 21"/>
          <p:cNvSpPr/>
          <p:nvPr/>
        </p:nvSpPr>
        <p:spPr>
          <a:xfrm>
            <a:off x="548640" y="4306824"/>
            <a:ext cx="3931920" cy="566928"/>
          </a:xfrm>
          <a:prstGeom prst="rect">
            <a:avLst/>
          </a:prstGeom>
          <a:noFill/>
          <a:ln/>
        </p:spPr>
        <p:txBody>
          <a:bodyPr wrap="square" lIns="0" tIns="0" rIns="0" bIns="0" rtlCol="0" anchor="ctr"/>
          <a:lstStyle/>
          <a:p>
            <a:pPr marL="0" indent="0">
              <a:buNone/>
            </a:pPr>
            <a:r>
              <a:rPr lang="en-US" sz="1200" b="1" dirty="0">
                <a:solidFill>
                  <a:srgbClr val="D29922"/>
                </a:solidFill>
                <a:latin typeface="Consolas" pitchFamily="34" charset="0"/>
                <a:ea typeface="Consolas" pitchFamily="34" charset="-122"/>
                <a:cs typeface="Consolas" pitchFamily="34" charset="-120"/>
              </a:rPr>
              <a:t>Build fails — DELIVERY tự sửa FE</a:t>
            </a:r>
            <a:endParaRPr lang="en-US" sz="1200" dirty="0"/>
          </a:p>
        </p:txBody>
      </p:sp>
      <p:sp>
        <p:nvSpPr>
          <p:cNvPr id="24" name="Text 22"/>
          <p:cNvSpPr/>
          <p:nvPr/>
        </p:nvSpPr>
        <p:spPr>
          <a:xfrm>
            <a:off x="4572000" y="4306824"/>
            <a:ext cx="7223760" cy="566928"/>
          </a:xfrm>
          <a:prstGeom prst="rect">
            <a:avLst/>
          </a:prstGeom>
          <a:noFill/>
          <a:ln/>
        </p:spPr>
        <p:txBody>
          <a:bodyPr wrap="square" lIns="0" tIns="0" rIns="0" bIns="0" rtlCol="0" anchor="ctr"/>
          <a:lstStyle/>
          <a:p>
            <a:pPr marL="0" indent="0">
              <a:buNone/>
            </a:pPr>
            <a:r>
              <a:rPr lang="en-US" sz="1100" dirty="0">
                <a:solidFill>
                  <a:srgbClr val="E6EDF3"/>
                </a:solidFill>
                <a:latin typeface="Consolas" pitchFamily="34" charset="0"/>
                <a:ea typeface="Consolas" pitchFamily="34" charset="-122"/>
                <a:cs typeface="Consolas" pitchFamily="34" charset="-120"/>
              </a:rPr>
              <a:t>Stop. Re-route DELIVERY với hint follow Build Failure Routing Protocol</a:t>
            </a:r>
            <a:endParaRPr lang="en-US" sz="1100" dirty="0"/>
          </a:p>
        </p:txBody>
      </p:sp>
      <p:sp>
        <p:nvSpPr>
          <p:cNvPr id="25" name="Shape 23"/>
          <p:cNvSpPr/>
          <p:nvPr/>
        </p:nvSpPr>
        <p:spPr>
          <a:xfrm>
            <a:off x="365760" y="4937760"/>
            <a:ext cx="11430000" cy="566928"/>
          </a:xfrm>
          <a:prstGeom prst="rect">
            <a:avLst/>
          </a:prstGeom>
          <a:solidFill>
            <a:srgbClr val="1C2128"/>
          </a:solidFill>
          <a:ln w="12700">
            <a:solidFill>
              <a:srgbClr val="30363D"/>
            </a:solidFill>
            <a:prstDash val="solid"/>
          </a:ln>
        </p:spPr>
        <p:txBody>
          <a:bodyPr/>
          <a:lstStyle/>
          <a:p>
            <a:endParaRPr/>
          </a:p>
        </p:txBody>
      </p:sp>
      <p:sp>
        <p:nvSpPr>
          <p:cNvPr id="26" name="Shape 24"/>
          <p:cNvSpPr/>
          <p:nvPr/>
        </p:nvSpPr>
        <p:spPr>
          <a:xfrm>
            <a:off x="365760" y="4937760"/>
            <a:ext cx="73152" cy="566928"/>
          </a:xfrm>
          <a:prstGeom prst="rect">
            <a:avLst/>
          </a:prstGeom>
          <a:solidFill>
            <a:srgbClr val="D29922"/>
          </a:solidFill>
          <a:ln w="12700">
            <a:solidFill>
              <a:srgbClr val="D29922"/>
            </a:solidFill>
            <a:prstDash val="solid"/>
          </a:ln>
        </p:spPr>
        <p:txBody>
          <a:bodyPr/>
          <a:lstStyle/>
          <a:p>
            <a:endParaRPr/>
          </a:p>
        </p:txBody>
      </p:sp>
      <p:sp>
        <p:nvSpPr>
          <p:cNvPr id="27" name="Text 25"/>
          <p:cNvSpPr/>
          <p:nvPr/>
        </p:nvSpPr>
        <p:spPr>
          <a:xfrm>
            <a:off x="548640" y="4937760"/>
            <a:ext cx="3931920" cy="566928"/>
          </a:xfrm>
          <a:prstGeom prst="rect">
            <a:avLst/>
          </a:prstGeom>
          <a:noFill/>
          <a:ln/>
        </p:spPr>
        <p:txBody>
          <a:bodyPr wrap="square" lIns="0" tIns="0" rIns="0" bIns="0" rtlCol="0" anchor="ctr"/>
          <a:lstStyle/>
          <a:p>
            <a:pPr marL="0" indent="0">
              <a:buNone/>
            </a:pPr>
            <a:r>
              <a:rPr lang="en-US" sz="1200" b="1" dirty="0">
                <a:solidFill>
                  <a:srgbClr val="D29922"/>
                </a:solidFill>
                <a:latin typeface="Consolas" pitchFamily="34" charset="0"/>
                <a:ea typeface="Consolas" pitchFamily="34" charset="-122"/>
                <a:cs typeface="Consolas" pitchFamily="34" charset="-120"/>
              </a:rPr>
              <a:t>Model not found</a:t>
            </a:r>
            <a:endParaRPr lang="en-US" sz="1200" dirty="0"/>
          </a:p>
        </p:txBody>
      </p:sp>
      <p:sp>
        <p:nvSpPr>
          <p:cNvPr id="28" name="Text 26"/>
          <p:cNvSpPr/>
          <p:nvPr/>
        </p:nvSpPr>
        <p:spPr>
          <a:xfrm>
            <a:off x="4572000" y="4937760"/>
            <a:ext cx="7223760" cy="566928"/>
          </a:xfrm>
          <a:prstGeom prst="rect">
            <a:avLst/>
          </a:prstGeom>
          <a:noFill/>
          <a:ln/>
        </p:spPr>
        <p:txBody>
          <a:bodyPr wrap="square" lIns="0" tIns="0" rIns="0" bIns="0" rtlCol="0" anchor="ctr"/>
          <a:lstStyle/>
          <a:p>
            <a:pPr marL="0" indent="0">
              <a:buNone/>
            </a:pPr>
            <a:r>
              <a:rPr lang="en-US" sz="1100" dirty="0">
                <a:solidFill>
                  <a:srgbClr val="E6EDF3"/>
                </a:solidFill>
                <a:latin typeface="Consolas" pitchFamily="34" charset="0"/>
                <a:ea typeface="Consolas" pitchFamily="34" charset="-122"/>
                <a:cs typeface="Consolas" pitchFamily="34" charset="-120"/>
              </a:rPr>
              <a:t>$ bash scripts/check_models.sh &lt;engine&gt; — fix config/engines/&lt;engine&gt;.env</a:t>
            </a:r>
            <a:endParaRPr lang="en-US" sz="1100" dirty="0"/>
          </a:p>
        </p:txBody>
      </p:sp>
      <p:sp>
        <p:nvSpPr>
          <p:cNvPr id="29" name="Shape 27"/>
          <p:cNvSpPr/>
          <p:nvPr/>
        </p:nvSpPr>
        <p:spPr>
          <a:xfrm>
            <a:off x="365760" y="5568696"/>
            <a:ext cx="11430000" cy="566928"/>
          </a:xfrm>
          <a:prstGeom prst="rect">
            <a:avLst/>
          </a:prstGeom>
          <a:solidFill>
            <a:srgbClr val="161B22"/>
          </a:solidFill>
          <a:ln w="12700">
            <a:solidFill>
              <a:srgbClr val="30363D"/>
            </a:solidFill>
            <a:prstDash val="solid"/>
          </a:ln>
        </p:spPr>
        <p:txBody>
          <a:bodyPr/>
          <a:lstStyle/>
          <a:p>
            <a:endParaRPr/>
          </a:p>
        </p:txBody>
      </p:sp>
      <p:sp>
        <p:nvSpPr>
          <p:cNvPr id="30" name="Shape 28"/>
          <p:cNvSpPr/>
          <p:nvPr/>
        </p:nvSpPr>
        <p:spPr>
          <a:xfrm>
            <a:off x="365760" y="5568696"/>
            <a:ext cx="73152" cy="566928"/>
          </a:xfrm>
          <a:prstGeom prst="rect">
            <a:avLst/>
          </a:prstGeom>
          <a:solidFill>
            <a:srgbClr val="D29922"/>
          </a:solidFill>
          <a:ln w="12700">
            <a:solidFill>
              <a:srgbClr val="D29922"/>
            </a:solidFill>
            <a:prstDash val="solid"/>
          </a:ln>
        </p:spPr>
        <p:txBody>
          <a:bodyPr/>
          <a:lstStyle/>
          <a:p>
            <a:endParaRPr/>
          </a:p>
        </p:txBody>
      </p:sp>
      <p:sp>
        <p:nvSpPr>
          <p:cNvPr id="31" name="Text 29"/>
          <p:cNvSpPr/>
          <p:nvPr/>
        </p:nvSpPr>
        <p:spPr>
          <a:xfrm>
            <a:off x="548640" y="5568696"/>
            <a:ext cx="3931920" cy="566928"/>
          </a:xfrm>
          <a:prstGeom prst="rect">
            <a:avLst/>
          </a:prstGeom>
          <a:noFill/>
          <a:ln/>
        </p:spPr>
        <p:txBody>
          <a:bodyPr wrap="square" lIns="0" tIns="0" rIns="0" bIns="0" rtlCol="0" anchor="ctr"/>
          <a:lstStyle/>
          <a:p>
            <a:pPr marL="0" indent="0">
              <a:buNone/>
            </a:pPr>
            <a:r>
              <a:rPr lang="en-US" sz="1200" b="1" dirty="0">
                <a:solidFill>
                  <a:srgbClr val="D29922"/>
                </a:solidFill>
                <a:latin typeface="Consolas" pitchFamily="34" charset="0"/>
                <a:ea typeface="Consolas" pitchFamily="34" charset="-122"/>
                <a:cs typeface="Consolas" pitchFamily="34" charset="-120"/>
              </a:rPr>
              <a:t>memory/ drift khỏi reality</a:t>
            </a:r>
            <a:endParaRPr lang="en-US" sz="1200" dirty="0"/>
          </a:p>
        </p:txBody>
      </p:sp>
      <p:sp>
        <p:nvSpPr>
          <p:cNvPr id="32" name="Text 30"/>
          <p:cNvSpPr/>
          <p:nvPr/>
        </p:nvSpPr>
        <p:spPr>
          <a:xfrm>
            <a:off x="4572000" y="5568696"/>
            <a:ext cx="7223760" cy="566928"/>
          </a:xfrm>
          <a:prstGeom prst="rect">
            <a:avLst/>
          </a:prstGeom>
          <a:noFill/>
          <a:ln/>
        </p:spPr>
        <p:txBody>
          <a:bodyPr wrap="square" lIns="0" tIns="0" rIns="0" bIns="0" rtlCol="0" anchor="ctr"/>
          <a:lstStyle/>
          <a:p>
            <a:pPr marL="0" indent="0">
              <a:buNone/>
            </a:pPr>
            <a:r>
              <a:rPr lang="en-US" sz="1100" dirty="0">
                <a:solidFill>
                  <a:srgbClr val="E6EDF3"/>
                </a:solidFill>
                <a:latin typeface="Consolas" pitchFamily="34" charset="0"/>
                <a:ea typeface="Consolas" pitchFamily="34" charset="-122"/>
                <a:cs typeface="Consolas" pitchFamily="34" charset="-120"/>
              </a:rPr>
              <a:t>$ bash scripts/rescan_project.sh — Orch update memory/_PROJECT_STATE.md</a:t>
            </a:r>
            <a:endParaRPr lang="en-US" sz="1100" dirty="0"/>
          </a:p>
        </p:txBody>
      </p:sp>
      <p:sp>
        <p:nvSpPr>
          <p:cNvPr id="33" name="Text 31"/>
          <p:cNvSpPr/>
          <p:nvPr/>
        </p:nvSpPr>
        <p:spPr>
          <a:xfrm>
            <a:off x="11338560" y="6492240"/>
            <a:ext cx="731520" cy="228600"/>
          </a:xfrm>
          <a:prstGeom prst="rect">
            <a:avLst/>
          </a:prstGeom>
          <a:noFill/>
          <a:ln/>
        </p:spPr>
        <p:txBody>
          <a:bodyPr wrap="square" lIns="0" tIns="0" rIns="0" bIns="0" rtlCol="0" anchor="ctr"/>
          <a:lstStyle/>
          <a:p>
            <a:pPr marL="0" indent="0" algn="r">
              <a:buNone/>
            </a:pPr>
            <a:r>
              <a:rPr lang="en-US" sz="900" dirty="0">
                <a:solidFill>
                  <a:srgbClr val="8B949E"/>
                </a:solidFill>
                <a:latin typeface="Consolas" pitchFamily="34" charset="0"/>
                <a:ea typeface="Consolas" pitchFamily="34" charset="-122"/>
                <a:cs typeface="Consolas" pitchFamily="34" charset="-120"/>
              </a:rPr>
              <a:t>36 / 40</a:t>
            </a:r>
            <a:endParaRPr lang="en-US" sz="900" dirty="0"/>
          </a:p>
        </p:txBody>
      </p:sp>
      <p:sp>
        <p:nvSpPr>
          <p:cNvPr id="34" name="Text 32"/>
          <p:cNvSpPr/>
          <p:nvPr/>
        </p:nvSpPr>
        <p:spPr>
          <a:xfrm>
            <a:off x="365760" y="6492240"/>
            <a:ext cx="1097280" cy="228600"/>
          </a:xfrm>
          <a:prstGeom prst="rect">
            <a:avLst/>
          </a:prstGeom>
          <a:noFill/>
          <a:ln/>
        </p:spPr>
        <p:txBody>
          <a:bodyPr wrap="square" lIns="0" tIns="0" rIns="0" bIns="0" rtlCol="0" anchor="ctr"/>
          <a:lstStyle/>
          <a:p>
            <a:pPr marL="0" indent="0" algn="l">
              <a:buNone/>
            </a:pPr>
            <a:r>
              <a:rPr lang="en-US" sz="900" dirty="0">
                <a:solidFill>
                  <a:srgbClr val="8B949E"/>
                </a:solidFill>
                <a:latin typeface="Consolas" pitchFamily="34" charset="0"/>
                <a:ea typeface="Consolas" pitchFamily="34" charset="-122"/>
                <a:cs typeface="Consolas" pitchFamily="34" charset="-120"/>
              </a:rPr>
              <a:t>v10.23</a:t>
            </a:r>
            <a:endParaRPr lang="en-US" sz="900" dirty="0"/>
          </a:p>
        </p:txBody>
      </p:sp>
      <p:sp>
        <p:nvSpPr>
          <p:cNvPr id="35" name="Text 33"/>
          <p:cNvSpPr/>
          <p:nvPr/>
        </p:nvSpPr>
        <p:spPr>
          <a:xfrm>
            <a:off x="4572000" y="6492240"/>
            <a:ext cx="6400800" cy="228600"/>
          </a:xfrm>
          <a:prstGeom prst="rect">
            <a:avLst/>
          </a:prstGeom>
          <a:noFill/>
          <a:ln/>
        </p:spPr>
        <p:txBody>
          <a:bodyPr wrap="square" lIns="0" tIns="0" rIns="0" bIns="0" rtlCol="0" anchor="ctr"/>
          <a:lstStyle/>
          <a:p>
            <a:pPr marL="0" indent="0" algn="ctr">
              <a:buNone/>
            </a:pPr>
            <a:r>
              <a:rPr lang="en-US" sz="900" dirty="0">
                <a:solidFill>
                  <a:srgbClr val="8B949E"/>
                </a:solidFill>
                <a:latin typeface="Consolas" pitchFamily="34" charset="0"/>
                <a:ea typeface="Consolas" pitchFamily="34" charset="-122"/>
                <a:cs typeface="Consolas" pitchFamily="34" charset="-120"/>
              </a:rPr>
              <a:t>Product Engineering Agent Framework</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0">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365760" y="228600"/>
            <a:ext cx="8229600" cy="274320"/>
          </a:xfrm>
          <a:prstGeom prst="rect">
            <a:avLst/>
          </a:prstGeom>
          <a:noFill/>
          <a:ln/>
        </p:spPr>
        <p:txBody>
          <a:bodyPr wrap="square" lIns="0" tIns="0" rIns="0" bIns="0" rtlCol="0" anchor="ctr"/>
          <a:lstStyle/>
          <a:p>
            <a:pPr marL="0" indent="0">
              <a:buNone/>
            </a:pPr>
            <a:r>
              <a:rPr lang="en-US" sz="1100" dirty="0">
                <a:solidFill>
                  <a:srgbClr val="2EA043"/>
                </a:solidFill>
                <a:latin typeface="Consolas" pitchFamily="34" charset="0"/>
                <a:ea typeface="Consolas" pitchFamily="34" charset="-122"/>
                <a:cs typeface="Consolas" pitchFamily="34" charset="-120"/>
              </a:rPr>
              <a:t>$ </a:t>
            </a:r>
            <a:r>
              <a:rPr lang="en-US" sz="1100" dirty="0">
                <a:solidFill>
                  <a:srgbClr val="8B949E"/>
                </a:solidFill>
                <a:latin typeface="Consolas" pitchFamily="34" charset="0"/>
                <a:ea typeface="Consolas" pitchFamily="34" charset="-122"/>
                <a:cs typeface="Consolas" pitchFamily="34" charset="-120"/>
              </a:rPr>
              <a:t>26_version_history.md</a:t>
            </a:r>
            <a:endParaRPr lang="en-US" sz="1100" dirty="0"/>
          </a:p>
        </p:txBody>
      </p:sp>
      <p:sp>
        <p:nvSpPr>
          <p:cNvPr id="3" name="Text 1"/>
          <p:cNvSpPr/>
          <p:nvPr/>
        </p:nvSpPr>
        <p:spPr>
          <a:xfrm>
            <a:off x="365760" y="548640"/>
            <a:ext cx="11430000" cy="640080"/>
          </a:xfrm>
          <a:prstGeom prst="rect">
            <a:avLst/>
          </a:prstGeom>
          <a:noFill/>
          <a:ln/>
        </p:spPr>
        <p:txBody>
          <a:bodyPr wrap="square" lIns="0" tIns="0" rIns="0" bIns="0" rtlCol="0" anchor="ctr"/>
          <a:lstStyle/>
          <a:p>
            <a:pPr marL="0" indent="0">
              <a:buNone/>
            </a:pPr>
            <a:r>
              <a:rPr lang="en-US" sz="3000" b="1" dirty="0">
                <a:solidFill>
                  <a:srgbClr val="E6EDF3"/>
                </a:solidFill>
                <a:latin typeface="Consolas" pitchFamily="34" charset="0"/>
                <a:ea typeface="Consolas" pitchFamily="34" charset="-122"/>
                <a:cs typeface="Consolas" pitchFamily="34" charset="-120"/>
              </a:rPr>
              <a:t>Version history</a:t>
            </a:r>
            <a:endParaRPr lang="en-US" sz="3000" dirty="0"/>
          </a:p>
        </p:txBody>
      </p:sp>
      <p:sp>
        <p:nvSpPr>
          <p:cNvPr id="4" name="Text 2"/>
          <p:cNvSpPr/>
          <p:nvPr/>
        </p:nvSpPr>
        <p:spPr>
          <a:xfrm>
            <a:off x="365760" y="1143000"/>
            <a:ext cx="11430000" cy="365760"/>
          </a:xfrm>
          <a:prstGeom prst="rect">
            <a:avLst/>
          </a:prstGeom>
          <a:noFill/>
          <a:ln/>
        </p:spPr>
        <p:txBody>
          <a:bodyPr wrap="square" lIns="0" tIns="0" rIns="0" bIns="0" rtlCol="0" anchor="ctr"/>
          <a:lstStyle/>
          <a:p>
            <a:pPr marL="0" indent="0">
              <a:buNone/>
            </a:pPr>
            <a:r>
              <a:rPr lang="en-US" sz="1400" i="1" dirty="0">
                <a:solidFill>
                  <a:srgbClr val="8B949E"/>
                </a:solidFill>
                <a:latin typeface="Calibri" pitchFamily="34" charset="0"/>
                <a:ea typeface="Calibri" pitchFamily="34" charset="-122"/>
                <a:cs typeface="Calibri" pitchFamily="34" charset="-120"/>
              </a:rPr>
              <a:t>Từ ý tưởng cho tới v10.23 — mỗi bước thuần additive, không phá rule cũ</a:t>
            </a:r>
            <a:endParaRPr lang="en-US" sz="1400" dirty="0"/>
          </a:p>
        </p:txBody>
      </p:sp>
      <p:sp>
        <p:nvSpPr>
          <p:cNvPr id="45" name="Text 43"/>
          <p:cNvSpPr/>
          <p:nvPr/>
        </p:nvSpPr>
        <p:spPr>
          <a:xfrm>
            <a:off x="11338560" y="6492240"/>
            <a:ext cx="731520" cy="228600"/>
          </a:xfrm>
          <a:prstGeom prst="rect">
            <a:avLst/>
          </a:prstGeom>
          <a:noFill/>
          <a:ln/>
        </p:spPr>
        <p:txBody>
          <a:bodyPr wrap="square" lIns="0" tIns="0" rIns="0" bIns="0" rtlCol="0" anchor="ctr"/>
          <a:lstStyle/>
          <a:p>
            <a:pPr marL="0" indent="0" algn="r">
              <a:buNone/>
            </a:pPr>
            <a:r>
              <a:rPr lang="en-US" sz="900" dirty="0">
                <a:solidFill>
                  <a:srgbClr val="8B949E"/>
                </a:solidFill>
                <a:latin typeface="Consolas" pitchFamily="34" charset="0"/>
                <a:ea typeface="Consolas" pitchFamily="34" charset="-122"/>
                <a:cs typeface="Consolas" pitchFamily="34" charset="-120"/>
              </a:rPr>
              <a:t>37 / 40</a:t>
            </a:r>
            <a:endParaRPr lang="en-US" sz="900" dirty="0"/>
          </a:p>
        </p:txBody>
      </p:sp>
      <p:sp>
        <p:nvSpPr>
          <p:cNvPr id="46" name="Text 44"/>
          <p:cNvSpPr/>
          <p:nvPr/>
        </p:nvSpPr>
        <p:spPr>
          <a:xfrm>
            <a:off x="365760" y="6492240"/>
            <a:ext cx="1097280" cy="228600"/>
          </a:xfrm>
          <a:prstGeom prst="rect">
            <a:avLst/>
          </a:prstGeom>
          <a:noFill/>
          <a:ln/>
        </p:spPr>
        <p:txBody>
          <a:bodyPr wrap="square" lIns="0" tIns="0" rIns="0" bIns="0" rtlCol="0" anchor="ctr"/>
          <a:lstStyle/>
          <a:p>
            <a:pPr marL="0" indent="0" algn="l">
              <a:buNone/>
            </a:pPr>
            <a:r>
              <a:rPr lang="en-US" sz="900" dirty="0">
                <a:solidFill>
                  <a:srgbClr val="8B949E"/>
                </a:solidFill>
                <a:latin typeface="Consolas" pitchFamily="34" charset="0"/>
                <a:ea typeface="Consolas" pitchFamily="34" charset="-122"/>
                <a:cs typeface="Consolas" pitchFamily="34" charset="-120"/>
              </a:rPr>
              <a:t>v10.23</a:t>
            </a:r>
            <a:endParaRPr lang="en-US" sz="900" dirty="0"/>
          </a:p>
        </p:txBody>
      </p:sp>
      <p:sp>
        <p:nvSpPr>
          <p:cNvPr id="47" name="Text 45"/>
          <p:cNvSpPr/>
          <p:nvPr/>
        </p:nvSpPr>
        <p:spPr>
          <a:xfrm>
            <a:off x="4572000" y="6492240"/>
            <a:ext cx="6400800" cy="228600"/>
          </a:xfrm>
          <a:prstGeom prst="rect">
            <a:avLst/>
          </a:prstGeom>
          <a:noFill/>
          <a:ln/>
        </p:spPr>
        <p:txBody>
          <a:bodyPr wrap="square" lIns="0" tIns="0" rIns="0" bIns="0" rtlCol="0" anchor="ctr"/>
          <a:lstStyle/>
          <a:p>
            <a:pPr marL="0" indent="0" algn="ctr">
              <a:buNone/>
            </a:pPr>
            <a:r>
              <a:rPr lang="en-US" sz="900" dirty="0">
                <a:solidFill>
                  <a:srgbClr val="8B949E"/>
                </a:solidFill>
                <a:latin typeface="Consolas" pitchFamily="34" charset="0"/>
                <a:ea typeface="Consolas" pitchFamily="34" charset="-122"/>
                <a:cs typeface="Consolas" pitchFamily="34" charset="-120"/>
              </a:rPr>
              <a:t>Product Engineering Agent Framework</a:t>
            </a:r>
            <a:endParaRPr lang="en-US" sz="900" dirty="0"/>
          </a:p>
        </p:txBody>
      </p:sp>
      <p:sp>
        <p:nvSpPr>
          <p:cNvPr id="48" name="TextBox 47"/>
          <p:cNvSpPr txBox="1"/>
          <p:nvPr/>
        </p:nvSpPr>
        <p:spPr>
          <a:xfrm>
            <a:off x="365760" y="1783080"/>
            <a:ext cx="822960" cy="329184"/>
          </a:xfrm>
          <a:prstGeom prst="rect">
            <a:avLst/>
          </a:prstGeom>
          <a:noFill/>
        </p:spPr>
        <p:txBody>
          <a:bodyPr wrap="square" lIns="0" tIns="0" rIns="0" bIns="0" anchor="ctr">
            <a:spAutoFit/>
          </a:bodyPr>
          <a:lstStyle/>
          <a:p>
            <a:pPr algn="l"/>
            <a:r>
              <a:rPr sz="1100" b="1" i="0">
                <a:solidFill>
                  <a:srgbClr val="2EA043"/>
                </a:solidFill>
                <a:latin typeface="Consolas"/>
              </a:rPr>
              <a:t>v10.0</a:t>
            </a:r>
          </a:p>
        </p:txBody>
      </p:sp>
      <p:sp>
        <p:nvSpPr>
          <p:cNvPr id="49" name="TextBox 48"/>
          <p:cNvSpPr txBox="1"/>
          <p:nvPr/>
        </p:nvSpPr>
        <p:spPr>
          <a:xfrm>
            <a:off x="1188720" y="1783080"/>
            <a:ext cx="4754880" cy="329184"/>
          </a:xfrm>
          <a:prstGeom prst="rect">
            <a:avLst/>
          </a:prstGeom>
          <a:noFill/>
        </p:spPr>
        <p:txBody>
          <a:bodyPr wrap="square" lIns="0" tIns="0" rIns="0" bIns="0" anchor="ctr">
            <a:spAutoFit/>
          </a:bodyPr>
          <a:lstStyle/>
          <a:p>
            <a:pPr algn="l"/>
            <a:r>
              <a:rPr sz="1000" b="0" i="0">
                <a:solidFill>
                  <a:srgbClr val="E6EDF3"/>
                </a:solidFill>
                <a:latin typeface="Consolas"/>
              </a:rPr>
              <a:t>Real config + Task subagent disabled + verify_routing</a:t>
            </a:r>
          </a:p>
        </p:txBody>
      </p:sp>
      <p:sp>
        <p:nvSpPr>
          <p:cNvPr id="50" name="TextBox 49"/>
          <p:cNvSpPr txBox="1"/>
          <p:nvPr/>
        </p:nvSpPr>
        <p:spPr>
          <a:xfrm>
            <a:off x="365760" y="2112264"/>
            <a:ext cx="822960" cy="329184"/>
          </a:xfrm>
          <a:prstGeom prst="rect">
            <a:avLst/>
          </a:prstGeom>
          <a:noFill/>
        </p:spPr>
        <p:txBody>
          <a:bodyPr wrap="square" lIns="0" tIns="0" rIns="0" bIns="0" anchor="ctr">
            <a:spAutoFit/>
          </a:bodyPr>
          <a:lstStyle/>
          <a:p>
            <a:pPr algn="l"/>
            <a:r>
              <a:rPr sz="1100" b="1" i="0">
                <a:solidFill>
                  <a:srgbClr val="2EA043"/>
                </a:solidFill>
                <a:latin typeface="Consolas"/>
              </a:rPr>
              <a:t>v10.1</a:t>
            </a:r>
          </a:p>
        </p:txBody>
      </p:sp>
      <p:sp>
        <p:nvSpPr>
          <p:cNvPr id="51" name="TextBox 50"/>
          <p:cNvSpPr txBox="1"/>
          <p:nvPr/>
        </p:nvSpPr>
        <p:spPr>
          <a:xfrm>
            <a:off x="1188720" y="2112264"/>
            <a:ext cx="4754880" cy="329184"/>
          </a:xfrm>
          <a:prstGeom prst="rect">
            <a:avLst/>
          </a:prstGeom>
          <a:noFill/>
        </p:spPr>
        <p:txBody>
          <a:bodyPr wrap="square" lIns="0" tIns="0" rIns="0" bIns="0" anchor="ctr">
            <a:spAutoFit/>
          </a:bodyPr>
          <a:lstStyle/>
          <a:p>
            <a:pPr algn="l"/>
            <a:r>
              <a:rPr sz="1000" b="0" i="0">
                <a:solidFill>
                  <a:srgbClr val="E6EDF3"/>
                </a:solidFill>
                <a:latin typeface="Consolas"/>
              </a:rPr>
              <a:t>Drop --config flag; AGENTS.md autoload; kill racy auto-paste</a:t>
            </a:r>
          </a:p>
        </p:txBody>
      </p:sp>
      <p:sp>
        <p:nvSpPr>
          <p:cNvPr id="52" name="TextBox 51"/>
          <p:cNvSpPr txBox="1"/>
          <p:nvPr/>
        </p:nvSpPr>
        <p:spPr>
          <a:xfrm>
            <a:off x="365760" y="2441448"/>
            <a:ext cx="822960" cy="329184"/>
          </a:xfrm>
          <a:prstGeom prst="rect">
            <a:avLst/>
          </a:prstGeom>
          <a:noFill/>
        </p:spPr>
        <p:txBody>
          <a:bodyPr wrap="square" lIns="0" tIns="0" rIns="0" bIns="0" anchor="ctr">
            <a:spAutoFit/>
          </a:bodyPr>
          <a:lstStyle/>
          <a:p>
            <a:pPr algn="l"/>
            <a:r>
              <a:rPr sz="1100" b="1" i="0">
                <a:solidFill>
                  <a:srgbClr val="2EA043"/>
                </a:solidFill>
                <a:latin typeface="Consolas"/>
              </a:rPr>
              <a:t>v10.2</a:t>
            </a:r>
          </a:p>
        </p:txBody>
      </p:sp>
      <p:sp>
        <p:nvSpPr>
          <p:cNvPr id="53" name="TextBox 52"/>
          <p:cNvSpPr txBox="1"/>
          <p:nvPr/>
        </p:nvSpPr>
        <p:spPr>
          <a:xfrm>
            <a:off x="1188720" y="2441448"/>
            <a:ext cx="4754880" cy="329184"/>
          </a:xfrm>
          <a:prstGeom prst="rect">
            <a:avLst/>
          </a:prstGeom>
          <a:noFill/>
        </p:spPr>
        <p:txBody>
          <a:bodyPr wrap="square" lIns="0" tIns="0" rIns="0" bIns="0" anchor="ctr">
            <a:spAutoFit/>
          </a:bodyPr>
          <a:lstStyle/>
          <a:p>
            <a:pPr algn="l"/>
            <a:r>
              <a:rPr sz="1000" b="0" i="0">
                <a:solidFill>
                  <a:srgbClr val="E6EDF3"/>
                </a:solidFill>
                <a:latin typeface="Consolas"/>
              </a:rPr>
              <a:t>Clarification loop (ask/answer/list) + Orch auto-relaunch</a:t>
            </a:r>
          </a:p>
        </p:txBody>
      </p:sp>
      <p:sp>
        <p:nvSpPr>
          <p:cNvPr id="54" name="TextBox 53"/>
          <p:cNvSpPr txBox="1"/>
          <p:nvPr/>
        </p:nvSpPr>
        <p:spPr>
          <a:xfrm>
            <a:off x="365760" y="2770632"/>
            <a:ext cx="822960" cy="329184"/>
          </a:xfrm>
          <a:prstGeom prst="rect">
            <a:avLst/>
          </a:prstGeom>
          <a:noFill/>
        </p:spPr>
        <p:txBody>
          <a:bodyPr wrap="square" lIns="0" tIns="0" rIns="0" bIns="0" anchor="ctr">
            <a:spAutoFit/>
          </a:bodyPr>
          <a:lstStyle/>
          <a:p>
            <a:pPr algn="l"/>
            <a:r>
              <a:rPr sz="1100" b="1" i="0">
                <a:solidFill>
                  <a:srgbClr val="2EA043"/>
                </a:solidFill>
                <a:latin typeface="Consolas"/>
              </a:rPr>
              <a:t>v10.3</a:t>
            </a:r>
          </a:p>
        </p:txBody>
      </p:sp>
      <p:sp>
        <p:nvSpPr>
          <p:cNvPr id="55" name="TextBox 54"/>
          <p:cNvSpPr txBox="1"/>
          <p:nvPr/>
        </p:nvSpPr>
        <p:spPr>
          <a:xfrm>
            <a:off x="1188720" y="2770632"/>
            <a:ext cx="4754880" cy="329184"/>
          </a:xfrm>
          <a:prstGeom prst="rect">
            <a:avLst/>
          </a:prstGeom>
          <a:noFill/>
        </p:spPr>
        <p:txBody>
          <a:bodyPr wrap="square" lIns="0" tIns="0" rIns="0" bIns="0" anchor="ctr">
            <a:spAutoFit/>
          </a:bodyPr>
          <a:lstStyle/>
          <a:p>
            <a:pPr algn="l"/>
            <a:r>
              <a:rPr sz="1000" b="0" i="0">
                <a:solidFill>
                  <a:srgbClr val="E6EDF3"/>
                </a:solidFill>
                <a:latin typeface="Consolas"/>
              </a:rPr>
              <a:t>QA verdict gate; DELIVERY ships end-to-end; notify_orchestrator</a:t>
            </a:r>
          </a:p>
        </p:txBody>
      </p:sp>
      <p:sp>
        <p:nvSpPr>
          <p:cNvPr id="56" name="TextBox 55"/>
          <p:cNvSpPr txBox="1"/>
          <p:nvPr/>
        </p:nvSpPr>
        <p:spPr>
          <a:xfrm>
            <a:off x="365760" y="3099815"/>
            <a:ext cx="822960" cy="329184"/>
          </a:xfrm>
          <a:prstGeom prst="rect">
            <a:avLst/>
          </a:prstGeom>
          <a:noFill/>
        </p:spPr>
        <p:txBody>
          <a:bodyPr wrap="square" lIns="0" tIns="0" rIns="0" bIns="0" anchor="ctr">
            <a:spAutoFit/>
          </a:bodyPr>
          <a:lstStyle/>
          <a:p>
            <a:pPr algn="l"/>
            <a:r>
              <a:rPr sz="1100" b="1" i="0">
                <a:solidFill>
                  <a:srgbClr val="2EA043"/>
                </a:solidFill>
                <a:latin typeface="Consolas"/>
              </a:rPr>
              <a:t>v10.4</a:t>
            </a:r>
          </a:p>
        </p:txBody>
      </p:sp>
      <p:sp>
        <p:nvSpPr>
          <p:cNvPr id="57" name="TextBox 56"/>
          <p:cNvSpPr txBox="1"/>
          <p:nvPr/>
        </p:nvSpPr>
        <p:spPr>
          <a:xfrm>
            <a:off x="1188720" y="3099815"/>
            <a:ext cx="4754880" cy="329184"/>
          </a:xfrm>
          <a:prstGeom prst="rect">
            <a:avLst/>
          </a:prstGeom>
          <a:noFill/>
        </p:spPr>
        <p:txBody>
          <a:bodyPr wrap="square" lIns="0" tIns="0" rIns="0" bIns="0" anchor="ctr">
            <a:spAutoFit/>
          </a:bodyPr>
          <a:lstStyle/>
          <a:p>
            <a:pPr algn="l"/>
            <a:r>
              <a:rPr sz="1000" b="0" i="0">
                <a:solidFill>
                  <a:srgbClr val="E6EDF3"/>
                </a:solidFill>
                <a:latin typeface="Consolas"/>
              </a:rPr>
              <a:t>Auto-wake Orchestrator via [INBOX] keystroke ping</a:t>
            </a:r>
          </a:p>
        </p:txBody>
      </p:sp>
      <p:sp>
        <p:nvSpPr>
          <p:cNvPr id="58" name="TextBox 57"/>
          <p:cNvSpPr txBox="1"/>
          <p:nvPr/>
        </p:nvSpPr>
        <p:spPr>
          <a:xfrm>
            <a:off x="365760" y="3429000"/>
            <a:ext cx="822960" cy="329184"/>
          </a:xfrm>
          <a:prstGeom prst="rect">
            <a:avLst/>
          </a:prstGeom>
          <a:noFill/>
        </p:spPr>
        <p:txBody>
          <a:bodyPr wrap="square" lIns="0" tIns="0" rIns="0" bIns="0" anchor="ctr">
            <a:spAutoFit/>
          </a:bodyPr>
          <a:lstStyle/>
          <a:p>
            <a:pPr algn="l"/>
            <a:r>
              <a:rPr sz="1100" b="1" i="0">
                <a:solidFill>
                  <a:srgbClr val="2EA043"/>
                </a:solidFill>
                <a:latin typeface="Consolas"/>
              </a:rPr>
              <a:t>v10.5</a:t>
            </a:r>
          </a:p>
        </p:txBody>
      </p:sp>
      <p:sp>
        <p:nvSpPr>
          <p:cNvPr id="59" name="TextBox 58"/>
          <p:cNvSpPr txBox="1"/>
          <p:nvPr/>
        </p:nvSpPr>
        <p:spPr>
          <a:xfrm>
            <a:off x="1188720" y="3429000"/>
            <a:ext cx="4754880" cy="329184"/>
          </a:xfrm>
          <a:prstGeom prst="rect">
            <a:avLst/>
          </a:prstGeom>
          <a:noFill/>
        </p:spPr>
        <p:txBody>
          <a:bodyPr wrap="square" lIns="0" tIns="0" rIns="0" bIns="0" anchor="ctr">
            <a:spAutoFit/>
          </a:bodyPr>
          <a:lstStyle/>
          <a:p>
            <a:pPr algn="l"/>
            <a:r>
              <a:rPr sz="1000" b="0" i="0">
                <a:solidFill>
                  <a:srgbClr val="E6EDF3"/>
                </a:solidFill>
                <a:latin typeface="Consolas"/>
              </a:rPr>
              <a:t>Durable memory/ layer + session resume + rescan_project</a:t>
            </a:r>
          </a:p>
        </p:txBody>
      </p:sp>
      <p:sp>
        <p:nvSpPr>
          <p:cNvPr id="60" name="TextBox 59"/>
          <p:cNvSpPr txBox="1"/>
          <p:nvPr/>
        </p:nvSpPr>
        <p:spPr>
          <a:xfrm>
            <a:off x="365760" y="3758184"/>
            <a:ext cx="822960" cy="329184"/>
          </a:xfrm>
          <a:prstGeom prst="rect">
            <a:avLst/>
          </a:prstGeom>
          <a:noFill/>
        </p:spPr>
        <p:txBody>
          <a:bodyPr wrap="square" lIns="0" tIns="0" rIns="0" bIns="0" anchor="ctr">
            <a:spAutoFit/>
          </a:bodyPr>
          <a:lstStyle/>
          <a:p>
            <a:pPr algn="l"/>
            <a:r>
              <a:rPr sz="1100" b="1" i="0">
                <a:solidFill>
                  <a:srgbClr val="2EA043"/>
                </a:solidFill>
                <a:latin typeface="Consolas"/>
              </a:rPr>
              <a:t>v10.6</a:t>
            </a:r>
          </a:p>
        </p:txBody>
      </p:sp>
      <p:sp>
        <p:nvSpPr>
          <p:cNvPr id="61" name="TextBox 60"/>
          <p:cNvSpPr txBox="1"/>
          <p:nvPr/>
        </p:nvSpPr>
        <p:spPr>
          <a:xfrm>
            <a:off x="1188720" y="3758184"/>
            <a:ext cx="4754880" cy="329184"/>
          </a:xfrm>
          <a:prstGeom prst="rect">
            <a:avLst/>
          </a:prstGeom>
          <a:noFill/>
        </p:spPr>
        <p:txBody>
          <a:bodyPr wrap="square" lIns="0" tIns="0" rIns="0" bIns="0" anchor="ctr">
            <a:spAutoFit/>
          </a:bodyPr>
          <a:lstStyle/>
          <a:p>
            <a:pPr algn="l"/>
            <a:r>
              <a:rPr sz="1000" b="0" i="0">
                <a:solidFill>
                  <a:srgbClr val="E6EDF3"/>
                </a:solidFill>
                <a:latin typeface="Consolas"/>
              </a:rPr>
              <a:t>Lean role-specific read list (cut token waste ~50%)</a:t>
            </a:r>
          </a:p>
        </p:txBody>
      </p:sp>
      <p:sp>
        <p:nvSpPr>
          <p:cNvPr id="62" name="TextBox 61"/>
          <p:cNvSpPr txBox="1"/>
          <p:nvPr/>
        </p:nvSpPr>
        <p:spPr>
          <a:xfrm>
            <a:off x="365760" y="4087368"/>
            <a:ext cx="822960" cy="329184"/>
          </a:xfrm>
          <a:prstGeom prst="rect">
            <a:avLst/>
          </a:prstGeom>
          <a:noFill/>
        </p:spPr>
        <p:txBody>
          <a:bodyPr wrap="square" lIns="0" tIns="0" rIns="0" bIns="0" anchor="ctr">
            <a:spAutoFit/>
          </a:bodyPr>
          <a:lstStyle/>
          <a:p>
            <a:pPr algn="l"/>
            <a:r>
              <a:rPr sz="1100" b="1" i="0">
                <a:solidFill>
                  <a:srgbClr val="2EA043"/>
                </a:solidFill>
                <a:latin typeface="Consolas"/>
              </a:rPr>
              <a:t>v10.7</a:t>
            </a:r>
          </a:p>
        </p:txBody>
      </p:sp>
      <p:sp>
        <p:nvSpPr>
          <p:cNvPr id="63" name="TextBox 62"/>
          <p:cNvSpPr txBox="1"/>
          <p:nvPr/>
        </p:nvSpPr>
        <p:spPr>
          <a:xfrm>
            <a:off x="1188720" y="4087368"/>
            <a:ext cx="4754880" cy="329184"/>
          </a:xfrm>
          <a:prstGeom prst="rect">
            <a:avLst/>
          </a:prstGeom>
          <a:noFill/>
        </p:spPr>
        <p:txBody>
          <a:bodyPr wrap="square" lIns="0" tIns="0" rIns="0" bIns="0" anchor="ctr">
            <a:spAutoFit/>
          </a:bodyPr>
          <a:lstStyle/>
          <a:p>
            <a:pPr algn="l"/>
            <a:r>
              <a:rPr sz="1000" b="0" i="0">
                <a:solidFill>
                  <a:srgbClr val="E6EDF3"/>
                </a:solidFill>
                <a:latin typeface="Consolas"/>
              </a:rPr>
              <a:t>Tech Stack Confirmation Protocol (SA + BE/FE addenda)</a:t>
            </a:r>
          </a:p>
        </p:txBody>
      </p:sp>
      <p:sp>
        <p:nvSpPr>
          <p:cNvPr id="64" name="TextBox 63"/>
          <p:cNvSpPr txBox="1"/>
          <p:nvPr/>
        </p:nvSpPr>
        <p:spPr>
          <a:xfrm>
            <a:off x="365760" y="4416552"/>
            <a:ext cx="822960" cy="329184"/>
          </a:xfrm>
          <a:prstGeom prst="rect">
            <a:avLst/>
          </a:prstGeom>
          <a:noFill/>
        </p:spPr>
        <p:txBody>
          <a:bodyPr wrap="square" lIns="0" tIns="0" rIns="0" bIns="0" anchor="ctr">
            <a:spAutoFit/>
          </a:bodyPr>
          <a:lstStyle/>
          <a:p>
            <a:pPr algn="l"/>
            <a:r>
              <a:rPr sz="1100" b="1" i="0">
                <a:solidFill>
                  <a:srgbClr val="2EA043"/>
                </a:solidFill>
                <a:latin typeface="Consolas"/>
              </a:rPr>
              <a:t>v10.8</a:t>
            </a:r>
          </a:p>
        </p:txBody>
      </p:sp>
      <p:sp>
        <p:nvSpPr>
          <p:cNvPr id="65" name="TextBox 64"/>
          <p:cNvSpPr txBox="1"/>
          <p:nvPr/>
        </p:nvSpPr>
        <p:spPr>
          <a:xfrm>
            <a:off x="1188720" y="4416552"/>
            <a:ext cx="4754880" cy="329184"/>
          </a:xfrm>
          <a:prstGeom prst="rect">
            <a:avLst/>
          </a:prstGeom>
          <a:noFill/>
        </p:spPr>
        <p:txBody>
          <a:bodyPr wrap="square" lIns="0" tIns="0" rIns="0" bIns="0" anchor="ctr">
            <a:spAutoFit/>
          </a:bodyPr>
          <a:lstStyle/>
          <a:p>
            <a:pPr algn="l"/>
            <a:r>
              <a:rPr sz="1000" b="0" i="0">
                <a:solidFill>
                  <a:srgbClr val="E6EDF3"/>
                </a:solidFill>
                <a:latin typeface="Consolas"/>
              </a:rPr>
              <a:t>Prerequisite check — fail fast on missing inputs</a:t>
            </a:r>
          </a:p>
        </p:txBody>
      </p:sp>
      <p:sp>
        <p:nvSpPr>
          <p:cNvPr id="66" name="TextBox 65"/>
          <p:cNvSpPr txBox="1"/>
          <p:nvPr/>
        </p:nvSpPr>
        <p:spPr>
          <a:xfrm>
            <a:off x="365760" y="4745736"/>
            <a:ext cx="822960" cy="329184"/>
          </a:xfrm>
          <a:prstGeom prst="rect">
            <a:avLst/>
          </a:prstGeom>
          <a:noFill/>
        </p:spPr>
        <p:txBody>
          <a:bodyPr wrap="square" lIns="0" tIns="0" rIns="0" bIns="0" anchor="ctr">
            <a:spAutoFit/>
          </a:bodyPr>
          <a:lstStyle/>
          <a:p>
            <a:pPr algn="l"/>
            <a:r>
              <a:rPr sz="1100" b="1" i="0">
                <a:solidFill>
                  <a:srgbClr val="2EA043"/>
                </a:solidFill>
                <a:latin typeface="Consolas"/>
              </a:rPr>
              <a:t>v10.9</a:t>
            </a:r>
          </a:p>
        </p:txBody>
      </p:sp>
      <p:sp>
        <p:nvSpPr>
          <p:cNvPr id="67" name="TextBox 66"/>
          <p:cNvSpPr txBox="1"/>
          <p:nvPr/>
        </p:nvSpPr>
        <p:spPr>
          <a:xfrm>
            <a:off x="1188720" y="4745736"/>
            <a:ext cx="4754880" cy="329184"/>
          </a:xfrm>
          <a:prstGeom prst="rect">
            <a:avLst/>
          </a:prstGeom>
          <a:noFill/>
        </p:spPr>
        <p:txBody>
          <a:bodyPr wrap="square" lIns="0" tIns="0" rIns="0" bIns="0" anchor="ctr">
            <a:spAutoFit/>
          </a:bodyPr>
          <a:lstStyle/>
          <a:p>
            <a:pPr algn="l"/>
            <a:r>
              <a:rPr sz="1000" b="0" i="0">
                <a:solidFill>
                  <a:srgbClr val="E6EDF3"/>
                </a:solidFill>
                <a:latin typeface="Consolas"/>
              </a:rPr>
              <a:t>Phase gates + quality gates (VERDICT, no critical bugs)</a:t>
            </a:r>
          </a:p>
        </p:txBody>
      </p:sp>
      <p:sp>
        <p:nvSpPr>
          <p:cNvPr id="68" name="TextBox 67"/>
          <p:cNvSpPr txBox="1"/>
          <p:nvPr/>
        </p:nvSpPr>
        <p:spPr>
          <a:xfrm>
            <a:off x="365760" y="5074920"/>
            <a:ext cx="822960" cy="329184"/>
          </a:xfrm>
          <a:prstGeom prst="rect">
            <a:avLst/>
          </a:prstGeom>
          <a:noFill/>
        </p:spPr>
        <p:txBody>
          <a:bodyPr wrap="square" lIns="0" tIns="0" rIns="0" bIns="0" anchor="ctr">
            <a:spAutoFit/>
          </a:bodyPr>
          <a:lstStyle/>
          <a:p>
            <a:pPr algn="l"/>
            <a:r>
              <a:rPr sz="1100" b="1" i="0">
                <a:solidFill>
                  <a:srgbClr val="2EA043"/>
                </a:solidFill>
                <a:latin typeface="Consolas"/>
              </a:rPr>
              <a:t>v10.10</a:t>
            </a:r>
          </a:p>
        </p:txBody>
      </p:sp>
      <p:sp>
        <p:nvSpPr>
          <p:cNvPr id="69" name="TextBox 68"/>
          <p:cNvSpPr txBox="1"/>
          <p:nvPr/>
        </p:nvSpPr>
        <p:spPr>
          <a:xfrm>
            <a:off x="1188720" y="5074920"/>
            <a:ext cx="4754880" cy="329184"/>
          </a:xfrm>
          <a:prstGeom prst="rect">
            <a:avLst/>
          </a:prstGeom>
          <a:noFill/>
        </p:spPr>
        <p:txBody>
          <a:bodyPr wrap="square" lIns="0" tIns="0" rIns="0" bIns="0" anchor="ctr">
            <a:spAutoFit/>
          </a:bodyPr>
          <a:lstStyle/>
          <a:p>
            <a:pPr algn="l"/>
            <a:r>
              <a:rPr sz="1000" b="0" i="0">
                <a:solidFill>
                  <a:srgbClr val="E6EDF3"/>
                </a:solidFill>
                <a:latin typeface="Consolas"/>
              </a:rPr>
              <a:t>Stay-in-lane + Build Failure Routing Protocol</a:t>
            </a:r>
          </a:p>
        </p:txBody>
      </p:sp>
      <p:sp>
        <p:nvSpPr>
          <p:cNvPr id="70" name="TextBox 69"/>
          <p:cNvSpPr txBox="1"/>
          <p:nvPr/>
        </p:nvSpPr>
        <p:spPr>
          <a:xfrm>
            <a:off x="6126480" y="1783080"/>
            <a:ext cx="822960" cy="329184"/>
          </a:xfrm>
          <a:prstGeom prst="rect">
            <a:avLst/>
          </a:prstGeom>
          <a:noFill/>
        </p:spPr>
        <p:txBody>
          <a:bodyPr wrap="square" lIns="0" tIns="0" rIns="0" bIns="0" anchor="ctr">
            <a:spAutoFit/>
          </a:bodyPr>
          <a:lstStyle/>
          <a:p>
            <a:pPr algn="l"/>
            <a:r>
              <a:rPr sz="1100" b="1" i="0">
                <a:solidFill>
                  <a:srgbClr val="7CE38B"/>
                </a:solidFill>
                <a:latin typeface="Consolas"/>
              </a:rPr>
              <a:t>v10.11</a:t>
            </a:r>
          </a:p>
        </p:txBody>
      </p:sp>
      <p:sp>
        <p:nvSpPr>
          <p:cNvPr id="71" name="TextBox 70"/>
          <p:cNvSpPr txBox="1"/>
          <p:nvPr/>
        </p:nvSpPr>
        <p:spPr>
          <a:xfrm>
            <a:off x="6949440" y="1783080"/>
            <a:ext cx="4846320" cy="329184"/>
          </a:xfrm>
          <a:prstGeom prst="rect">
            <a:avLst/>
          </a:prstGeom>
          <a:noFill/>
        </p:spPr>
        <p:txBody>
          <a:bodyPr wrap="square" lIns="0" tIns="0" rIns="0" bIns="0" anchor="ctr">
            <a:spAutoFit/>
          </a:bodyPr>
          <a:lstStyle/>
          <a:p>
            <a:pPr algn="l"/>
            <a:r>
              <a:rPr sz="1000" b="0" i="0">
                <a:solidFill>
                  <a:srgbClr val="E6EDF3"/>
                </a:solidFill>
                <a:latin typeface="Consolas"/>
              </a:rPr>
              <a:t>Framework files immutable + safe sync script</a:t>
            </a:r>
          </a:p>
        </p:txBody>
      </p:sp>
      <p:sp>
        <p:nvSpPr>
          <p:cNvPr id="72" name="TextBox 71"/>
          <p:cNvSpPr txBox="1"/>
          <p:nvPr/>
        </p:nvSpPr>
        <p:spPr>
          <a:xfrm>
            <a:off x="6126480" y="2112264"/>
            <a:ext cx="822960" cy="329184"/>
          </a:xfrm>
          <a:prstGeom prst="rect">
            <a:avLst/>
          </a:prstGeom>
          <a:noFill/>
        </p:spPr>
        <p:txBody>
          <a:bodyPr wrap="square" lIns="0" tIns="0" rIns="0" bIns="0" anchor="ctr">
            <a:spAutoFit/>
          </a:bodyPr>
          <a:lstStyle/>
          <a:p>
            <a:pPr algn="l"/>
            <a:r>
              <a:rPr sz="1100" b="1" i="0">
                <a:solidFill>
                  <a:srgbClr val="7CE38B"/>
                </a:solidFill>
                <a:latin typeface="Consolas"/>
              </a:rPr>
              <a:t>v10.12</a:t>
            </a:r>
          </a:p>
        </p:txBody>
      </p:sp>
      <p:sp>
        <p:nvSpPr>
          <p:cNvPr id="73" name="TextBox 72"/>
          <p:cNvSpPr txBox="1"/>
          <p:nvPr/>
        </p:nvSpPr>
        <p:spPr>
          <a:xfrm>
            <a:off x="6949440" y="2112264"/>
            <a:ext cx="4846320" cy="329184"/>
          </a:xfrm>
          <a:prstGeom prst="rect">
            <a:avLst/>
          </a:prstGeom>
          <a:noFill/>
        </p:spPr>
        <p:txBody>
          <a:bodyPr wrap="square" lIns="0" tIns="0" rIns="0" bIns="0" anchor="ctr">
            <a:spAutoFit/>
          </a:bodyPr>
          <a:lstStyle/>
          <a:p>
            <a:pPr algn="l"/>
            <a:r>
              <a:rPr sz="1000" b="0" i="0">
                <a:solidFill>
                  <a:srgbClr val="E6EDF3"/>
                </a:solidFill>
                <a:latin typeface="Consolas"/>
              </a:rPr>
              <a:t>Engine choice (OpenCode | Claude) + 3-window tmux layout</a:t>
            </a:r>
          </a:p>
        </p:txBody>
      </p:sp>
      <p:sp>
        <p:nvSpPr>
          <p:cNvPr id="74" name="TextBox 73"/>
          <p:cNvSpPr txBox="1"/>
          <p:nvPr/>
        </p:nvSpPr>
        <p:spPr>
          <a:xfrm>
            <a:off x="6126480" y="2441448"/>
            <a:ext cx="822960" cy="329184"/>
          </a:xfrm>
          <a:prstGeom prst="rect">
            <a:avLst/>
          </a:prstGeom>
          <a:noFill/>
        </p:spPr>
        <p:txBody>
          <a:bodyPr wrap="square" lIns="0" tIns="0" rIns="0" bIns="0" anchor="ctr">
            <a:spAutoFit/>
          </a:bodyPr>
          <a:lstStyle/>
          <a:p>
            <a:pPr algn="l"/>
            <a:r>
              <a:rPr sz="1100" b="1" i="0">
                <a:solidFill>
                  <a:srgbClr val="7CE38B"/>
                </a:solidFill>
                <a:latin typeface="Consolas"/>
              </a:rPr>
              <a:t>v10.13</a:t>
            </a:r>
          </a:p>
        </p:txBody>
      </p:sp>
      <p:sp>
        <p:nvSpPr>
          <p:cNvPr id="75" name="TextBox 74"/>
          <p:cNvSpPr txBox="1"/>
          <p:nvPr/>
        </p:nvSpPr>
        <p:spPr>
          <a:xfrm>
            <a:off x="6949440" y="2441448"/>
            <a:ext cx="4846320" cy="329184"/>
          </a:xfrm>
          <a:prstGeom prst="rect">
            <a:avLst/>
          </a:prstGeom>
          <a:noFill/>
        </p:spPr>
        <p:txBody>
          <a:bodyPr wrap="square" lIns="0" tIns="0" rIns="0" bIns="0" anchor="ctr">
            <a:spAutoFit/>
          </a:bodyPr>
          <a:lstStyle/>
          <a:p>
            <a:pPr algn="l"/>
            <a:r>
              <a:rPr sz="1000" b="0" i="0">
                <a:solidFill>
                  <a:srgbClr val="E6EDF3"/>
                </a:solidFill>
                <a:latin typeface="Consolas"/>
              </a:rPr>
              <a:t>Complete-and-notify mandate + Active reporting</a:t>
            </a:r>
          </a:p>
        </p:txBody>
      </p:sp>
      <p:sp>
        <p:nvSpPr>
          <p:cNvPr id="76" name="TextBox 75"/>
          <p:cNvSpPr txBox="1"/>
          <p:nvPr/>
        </p:nvSpPr>
        <p:spPr>
          <a:xfrm>
            <a:off x="6126480" y="2770632"/>
            <a:ext cx="822960" cy="329184"/>
          </a:xfrm>
          <a:prstGeom prst="rect">
            <a:avLst/>
          </a:prstGeom>
          <a:noFill/>
        </p:spPr>
        <p:txBody>
          <a:bodyPr wrap="square" lIns="0" tIns="0" rIns="0" bIns="0" anchor="ctr">
            <a:spAutoFit/>
          </a:bodyPr>
          <a:lstStyle/>
          <a:p>
            <a:pPr algn="l"/>
            <a:r>
              <a:rPr sz="1100" b="1" i="0">
                <a:solidFill>
                  <a:srgbClr val="7CE38B"/>
                </a:solidFill>
                <a:latin typeface="Consolas"/>
              </a:rPr>
              <a:t>v10.14</a:t>
            </a:r>
          </a:p>
        </p:txBody>
      </p:sp>
      <p:sp>
        <p:nvSpPr>
          <p:cNvPr id="77" name="TextBox 76"/>
          <p:cNvSpPr txBox="1"/>
          <p:nvPr/>
        </p:nvSpPr>
        <p:spPr>
          <a:xfrm>
            <a:off x="6949440" y="2770632"/>
            <a:ext cx="4846320" cy="329184"/>
          </a:xfrm>
          <a:prstGeom prst="rect">
            <a:avLst/>
          </a:prstGeom>
          <a:noFill/>
        </p:spPr>
        <p:txBody>
          <a:bodyPr wrap="square" lIns="0" tIns="0" rIns="0" bIns="0" anchor="ctr">
            <a:spAutoFit/>
          </a:bodyPr>
          <a:lstStyle/>
          <a:p>
            <a:pPr algn="l"/>
            <a:r>
              <a:rPr sz="1000" b="0" i="0">
                <a:solidFill>
                  <a:srgbClr val="E6EDF3"/>
                </a:solidFill>
                <a:latin typeface="Consolas"/>
              </a:rPr>
              <a:t>Continuous orchestration: watcher_daemon auto-resume</a:t>
            </a:r>
          </a:p>
        </p:txBody>
      </p:sp>
      <p:sp>
        <p:nvSpPr>
          <p:cNvPr id="78" name="TextBox 77"/>
          <p:cNvSpPr txBox="1"/>
          <p:nvPr/>
        </p:nvSpPr>
        <p:spPr>
          <a:xfrm>
            <a:off x="6126480" y="3099815"/>
            <a:ext cx="822960" cy="329184"/>
          </a:xfrm>
          <a:prstGeom prst="rect">
            <a:avLst/>
          </a:prstGeom>
          <a:noFill/>
        </p:spPr>
        <p:txBody>
          <a:bodyPr wrap="square" lIns="0" tIns="0" rIns="0" bIns="0" anchor="ctr">
            <a:spAutoFit/>
          </a:bodyPr>
          <a:lstStyle/>
          <a:p>
            <a:pPr algn="l"/>
            <a:r>
              <a:rPr sz="1100" b="1" i="0">
                <a:solidFill>
                  <a:srgbClr val="7CE38B"/>
                </a:solidFill>
                <a:latin typeface="Consolas"/>
              </a:rPr>
              <a:t>v10.15</a:t>
            </a:r>
          </a:p>
        </p:txBody>
      </p:sp>
      <p:sp>
        <p:nvSpPr>
          <p:cNvPr id="79" name="TextBox 78"/>
          <p:cNvSpPr txBox="1"/>
          <p:nvPr/>
        </p:nvSpPr>
        <p:spPr>
          <a:xfrm>
            <a:off x="6949440" y="3099815"/>
            <a:ext cx="4846320" cy="329184"/>
          </a:xfrm>
          <a:prstGeom prst="rect">
            <a:avLst/>
          </a:prstGeom>
          <a:noFill/>
        </p:spPr>
        <p:txBody>
          <a:bodyPr wrap="square" lIns="0" tIns="0" rIns="0" bIns="0" anchor="ctr">
            <a:spAutoFit/>
          </a:bodyPr>
          <a:lstStyle/>
          <a:p>
            <a:pPr algn="l"/>
            <a:r>
              <a:rPr sz="1000" b="0" i="0">
                <a:solidFill>
                  <a:srgbClr val="E6EDF3"/>
                </a:solidFill>
                <a:latin typeface="Consolas"/>
              </a:rPr>
              <a:t>Bracketed-paste auto-wake for Claude's Ink TUI</a:t>
            </a:r>
          </a:p>
        </p:txBody>
      </p:sp>
      <p:sp>
        <p:nvSpPr>
          <p:cNvPr id="80" name="TextBox 79"/>
          <p:cNvSpPr txBox="1"/>
          <p:nvPr/>
        </p:nvSpPr>
        <p:spPr>
          <a:xfrm>
            <a:off x="6126480" y="3429000"/>
            <a:ext cx="822960" cy="329184"/>
          </a:xfrm>
          <a:prstGeom prst="rect">
            <a:avLst/>
          </a:prstGeom>
          <a:noFill/>
        </p:spPr>
        <p:txBody>
          <a:bodyPr wrap="square" lIns="0" tIns="0" rIns="0" bIns="0" anchor="ctr">
            <a:spAutoFit/>
          </a:bodyPr>
          <a:lstStyle/>
          <a:p>
            <a:pPr algn="l"/>
            <a:r>
              <a:rPr sz="1100" b="1" i="0">
                <a:solidFill>
                  <a:srgbClr val="7CE38B"/>
                </a:solidFill>
                <a:latin typeface="Consolas"/>
              </a:rPr>
              <a:t>v10.16</a:t>
            </a:r>
          </a:p>
        </p:txBody>
      </p:sp>
      <p:sp>
        <p:nvSpPr>
          <p:cNvPr id="81" name="TextBox 80"/>
          <p:cNvSpPr txBox="1"/>
          <p:nvPr/>
        </p:nvSpPr>
        <p:spPr>
          <a:xfrm>
            <a:off x="6949440" y="3429000"/>
            <a:ext cx="4846320" cy="329184"/>
          </a:xfrm>
          <a:prstGeom prst="rect">
            <a:avLst/>
          </a:prstGeom>
          <a:noFill/>
        </p:spPr>
        <p:txBody>
          <a:bodyPr wrap="square" lIns="0" tIns="0" rIns="0" bIns="0" anchor="ctr">
            <a:spAutoFit/>
          </a:bodyPr>
          <a:lstStyle/>
          <a:p>
            <a:pPr algn="l"/>
            <a:r>
              <a:rPr sz="1000" b="0" i="0">
                <a:solidFill>
                  <a:srgbClr val="E6EDF3"/>
                </a:solidFill>
                <a:latin typeface="Consolas"/>
              </a:rPr>
              <a:t>--free model overlay (engine-aware, FREE_MODE persisted)</a:t>
            </a:r>
          </a:p>
        </p:txBody>
      </p:sp>
      <p:sp>
        <p:nvSpPr>
          <p:cNvPr id="82" name="TextBox 81"/>
          <p:cNvSpPr txBox="1"/>
          <p:nvPr/>
        </p:nvSpPr>
        <p:spPr>
          <a:xfrm>
            <a:off x="6126480" y="3758184"/>
            <a:ext cx="822960" cy="329184"/>
          </a:xfrm>
          <a:prstGeom prst="rect">
            <a:avLst/>
          </a:prstGeom>
          <a:noFill/>
        </p:spPr>
        <p:txBody>
          <a:bodyPr wrap="square" lIns="0" tIns="0" rIns="0" bIns="0" anchor="ctr">
            <a:spAutoFit/>
          </a:bodyPr>
          <a:lstStyle/>
          <a:p>
            <a:pPr algn="l"/>
            <a:r>
              <a:rPr sz="1100" b="1" i="0">
                <a:solidFill>
                  <a:srgbClr val="7CE38B"/>
                </a:solidFill>
                <a:latin typeface="Consolas"/>
              </a:rPr>
              <a:t>v10.17</a:t>
            </a:r>
          </a:p>
        </p:txBody>
      </p:sp>
      <p:sp>
        <p:nvSpPr>
          <p:cNvPr id="83" name="TextBox 82"/>
          <p:cNvSpPr txBox="1"/>
          <p:nvPr/>
        </p:nvSpPr>
        <p:spPr>
          <a:xfrm>
            <a:off x="6949440" y="3758184"/>
            <a:ext cx="4846320" cy="329184"/>
          </a:xfrm>
          <a:prstGeom prst="rect">
            <a:avLst/>
          </a:prstGeom>
          <a:noFill/>
        </p:spPr>
        <p:txBody>
          <a:bodyPr wrap="square" lIns="0" tIns="0" rIns="0" bIns="0" anchor="ctr">
            <a:spAutoFit/>
          </a:bodyPr>
          <a:lstStyle/>
          <a:p>
            <a:pPr algn="l"/>
            <a:r>
              <a:rPr sz="1000" b="0" i="0">
                <a:solidFill>
                  <a:srgbClr val="E6EDF3"/>
                </a:solidFill>
                <a:latin typeface="Consolas"/>
              </a:rPr>
              <a:t>ACT-DO-NOT-ANNOUNCE rule for verbose models</a:t>
            </a:r>
          </a:p>
        </p:txBody>
      </p:sp>
      <p:sp>
        <p:nvSpPr>
          <p:cNvPr id="84" name="TextBox 83"/>
          <p:cNvSpPr txBox="1"/>
          <p:nvPr/>
        </p:nvSpPr>
        <p:spPr>
          <a:xfrm>
            <a:off x="6126480" y="4087368"/>
            <a:ext cx="822960" cy="329184"/>
          </a:xfrm>
          <a:prstGeom prst="rect">
            <a:avLst/>
          </a:prstGeom>
          <a:noFill/>
        </p:spPr>
        <p:txBody>
          <a:bodyPr wrap="square" lIns="0" tIns="0" rIns="0" bIns="0" anchor="ctr">
            <a:spAutoFit/>
          </a:bodyPr>
          <a:lstStyle/>
          <a:p>
            <a:pPr algn="l"/>
            <a:r>
              <a:rPr sz="1100" b="1" i="0">
                <a:solidFill>
                  <a:srgbClr val="7CE38B"/>
                </a:solidFill>
                <a:latin typeface="Consolas"/>
              </a:rPr>
              <a:t>v10.18</a:t>
            </a:r>
          </a:p>
        </p:txBody>
      </p:sp>
      <p:sp>
        <p:nvSpPr>
          <p:cNvPr id="85" name="TextBox 84"/>
          <p:cNvSpPr txBox="1"/>
          <p:nvPr/>
        </p:nvSpPr>
        <p:spPr>
          <a:xfrm>
            <a:off x="6949440" y="4087368"/>
            <a:ext cx="4846320" cy="329184"/>
          </a:xfrm>
          <a:prstGeom prst="rect">
            <a:avLst/>
          </a:prstGeom>
          <a:noFill/>
        </p:spPr>
        <p:txBody>
          <a:bodyPr wrap="square" lIns="0" tIns="0" rIns="0" bIns="0" anchor="ctr">
            <a:spAutoFit/>
          </a:bodyPr>
          <a:lstStyle/>
          <a:p>
            <a:pPr algn="l"/>
            <a:r>
              <a:rPr sz="1000" b="0" i="0">
                <a:solidFill>
                  <a:srgbClr val="E6EDF3"/>
                </a:solidFill>
                <a:latin typeface="Consolas"/>
              </a:rPr>
              <a:t>Safety nets: silent-exit notify + heartbeat + lane lint</a:t>
            </a:r>
          </a:p>
        </p:txBody>
      </p:sp>
      <p:sp>
        <p:nvSpPr>
          <p:cNvPr id="86" name="TextBox 85"/>
          <p:cNvSpPr txBox="1"/>
          <p:nvPr/>
        </p:nvSpPr>
        <p:spPr>
          <a:xfrm>
            <a:off x="6126480" y="4416552"/>
            <a:ext cx="822960" cy="329184"/>
          </a:xfrm>
          <a:prstGeom prst="rect">
            <a:avLst/>
          </a:prstGeom>
          <a:noFill/>
        </p:spPr>
        <p:txBody>
          <a:bodyPr wrap="square" lIns="0" tIns="0" rIns="0" bIns="0" anchor="ctr">
            <a:spAutoFit/>
          </a:bodyPr>
          <a:lstStyle/>
          <a:p>
            <a:pPr algn="l"/>
            <a:r>
              <a:rPr sz="1100" b="1" i="0">
                <a:solidFill>
                  <a:srgbClr val="7CE38B"/>
                </a:solidFill>
                <a:latin typeface="Consolas"/>
              </a:rPr>
              <a:t>v10.19</a:t>
            </a:r>
          </a:p>
        </p:txBody>
      </p:sp>
      <p:sp>
        <p:nvSpPr>
          <p:cNvPr id="87" name="TextBox 86"/>
          <p:cNvSpPr txBox="1"/>
          <p:nvPr/>
        </p:nvSpPr>
        <p:spPr>
          <a:xfrm>
            <a:off x="6949440" y="4416552"/>
            <a:ext cx="4846320" cy="329184"/>
          </a:xfrm>
          <a:prstGeom prst="rect">
            <a:avLst/>
          </a:prstGeom>
          <a:noFill/>
        </p:spPr>
        <p:txBody>
          <a:bodyPr wrap="square" lIns="0" tIns="0" rIns="0" bIns="0" anchor="ctr">
            <a:spAutoFit/>
          </a:bodyPr>
          <a:lstStyle/>
          <a:p>
            <a:pPr algn="l"/>
            <a:r>
              <a:rPr sz="1000" b="0" i="0">
                <a:solidFill>
                  <a:srgbClr val="E6EDF3"/>
                </a:solidFill>
                <a:latin typeface="Consolas"/>
              </a:rPr>
              <a:t>Hard PATH guards + Bug Report Triage Protocol</a:t>
            </a:r>
          </a:p>
        </p:txBody>
      </p:sp>
      <p:sp>
        <p:nvSpPr>
          <p:cNvPr id="88" name="TextBox 87"/>
          <p:cNvSpPr txBox="1"/>
          <p:nvPr/>
        </p:nvSpPr>
        <p:spPr>
          <a:xfrm>
            <a:off x="6126480" y="4745736"/>
            <a:ext cx="822960" cy="329184"/>
          </a:xfrm>
          <a:prstGeom prst="rect">
            <a:avLst/>
          </a:prstGeom>
          <a:noFill/>
        </p:spPr>
        <p:txBody>
          <a:bodyPr wrap="square" lIns="0" tIns="0" rIns="0" bIns="0" anchor="ctr">
            <a:spAutoFit/>
          </a:bodyPr>
          <a:lstStyle/>
          <a:p>
            <a:pPr algn="l"/>
            <a:r>
              <a:rPr sz="1100" b="1" i="0">
                <a:solidFill>
                  <a:srgbClr val="7CE38B"/>
                </a:solidFill>
                <a:latin typeface="Consolas"/>
              </a:rPr>
              <a:t>v10.20</a:t>
            </a:r>
          </a:p>
        </p:txBody>
      </p:sp>
      <p:sp>
        <p:nvSpPr>
          <p:cNvPr id="89" name="TextBox 88"/>
          <p:cNvSpPr txBox="1"/>
          <p:nvPr/>
        </p:nvSpPr>
        <p:spPr>
          <a:xfrm>
            <a:off x="6949440" y="4745736"/>
            <a:ext cx="4846320" cy="329184"/>
          </a:xfrm>
          <a:prstGeom prst="rect">
            <a:avLst/>
          </a:prstGeom>
          <a:noFill/>
        </p:spPr>
        <p:txBody>
          <a:bodyPr wrap="square" lIns="0" tIns="0" rIns="0" bIns="0" anchor="ctr">
            <a:spAutoFit/>
          </a:bodyPr>
          <a:lstStyle/>
          <a:p>
            <a:pPr algn="l"/>
            <a:r>
              <a:rPr sz="1000" b="0" i="0">
                <a:solidFill>
                  <a:srgbClr val="E6EDF3"/>
                </a:solidFill>
                <a:latin typeface="Consolas"/>
              </a:rPr>
              <a:t>DELIVERY Port Configuration Protocol</a:t>
            </a:r>
          </a:p>
        </p:txBody>
      </p:sp>
      <p:sp>
        <p:nvSpPr>
          <p:cNvPr id="90" name="TextBox 89"/>
          <p:cNvSpPr txBox="1"/>
          <p:nvPr/>
        </p:nvSpPr>
        <p:spPr>
          <a:xfrm>
            <a:off x="365760" y="5943600"/>
            <a:ext cx="11430000" cy="274320"/>
          </a:xfrm>
          <a:prstGeom prst="rect">
            <a:avLst/>
          </a:prstGeom>
          <a:noFill/>
        </p:spPr>
        <p:txBody>
          <a:bodyPr wrap="square" lIns="0" tIns="0" rIns="0" bIns="0" anchor="t">
            <a:spAutoFit/>
          </a:bodyPr>
          <a:lstStyle/>
          <a:p>
            <a:pPr algn="ctr"/>
            <a:r>
              <a:rPr sz="1100" b="0" i="1">
                <a:solidFill>
                  <a:srgbClr val="8B949E"/>
                </a:solidFill>
                <a:latin typeface="Calibri"/>
              </a:rPr>
              <a:t>Nguyên tắc: mỗi version thêm chứ không bớt. Grep verify trước và sau mỗi thay đổi.</a:t>
            </a:r>
          </a:p>
        </p:txBody>
      </p:sp>
      <p:sp>
        <p:nvSpPr>
          <p:cNvPr id="91" name="TextBox 90"/>
          <p:cNvSpPr txBox="1"/>
          <p:nvPr/>
        </p:nvSpPr>
        <p:spPr>
          <a:xfrm>
            <a:off x="6126480" y="5074920"/>
            <a:ext cx="822960" cy="329184"/>
          </a:xfrm>
          <a:prstGeom prst="rect">
            <a:avLst/>
          </a:prstGeom>
          <a:noFill/>
        </p:spPr>
        <p:txBody>
          <a:bodyPr wrap="none" lIns="0" tIns="0" anchor="ctr">
            <a:spAutoFit/>
          </a:bodyPr>
          <a:lstStyle/>
          <a:p>
            <a:r>
              <a:rPr sz="1100" b="1">
                <a:solidFill>
                  <a:srgbClr val="7CE38B"/>
                </a:solidFill>
                <a:latin typeface="Consolas"/>
              </a:rPr>
              <a:t>v10.21</a:t>
            </a:r>
          </a:p>
        </p:txBody>
      </p:sp>
      <p:sp>
        <p:nvSpPr>
          <p:cNvPr id="92" name="TextBox 91"/>
          <p:cNvSpPr txBox="1"/>
          <p:nvPr/>
        </p:nvSpPr>
        <p:spPr>
          <a:xfrm>
            <a:off x="6949440" y="5074920"/>
            <a:ext cx="4846320" cy="329184"/>
          </a:xfrm>
          <a:prstGeom prst="rect">
            <a:avLst/>
          </a:prstGeom>
          <a:noFill/>
        </p:spPr>
        <p:txBody>
          <a:bodyPr wrap="none" lIns="0" tIns="0" anchor="ctr">
            <a:spAutoFit/>
          </a:bodyPr>
          <a:lstStyle/>
          <a:p>
            <a:r>
              <a:rPr sz="1000">
                <a:solidFill>
                  <a:srgbClr val="E6EDF3"/>
                </a:solidFill>
                <a:latin typeface="Consolas"/>
              </a:rPr>
              <a:t>PaneC team identity + Orches/Deli display names</a:t>
            </a:r>
          </a:p>
        </p:txBody>
      </p:sp>
      <p:sp>
        <p:nvSpPr>
          <p:cNvPr id="93" name="TextBox 92"/>
          <p:cNvSpPr txBox="1"/>
          <p:nvPr/>
        </p:nvSpPr>
        <p:spPr>
          <a:xfrm>
            <a:off x="6126480" y="5404104"/>
            <a:ext cx="822960" cy="329184"/>
          </a:xfrm>
          <a:prstGeom prst="rect">
            <a:avLst/>
          </a:prstGeom>
          <a:noFill/>
        </p:spPr>
        <p:txBody>
          <a:bodyPr wrap="none" lIns="0" tIns="0" anchor="ctr">
            <a:spAutoFit/>
          </a:bodyPr>
          <a:lstStyle/>
          <a:p>
            <a:r>
              <a:rPr sz="1100" b="1">
                <a:solidFill>
                  <a:srgbClr val="7CE38B"/>
                </a:solidFill>
                <a:latin typeface="Consolas"/>
              </a:rPr>
              <a:t>v10.22</a:t>
            </a:r>
          </a:p>
        </p:txBody>
      </p:sp>
      <p:sp>
        <p:nvSpPr>
          <p:cNvPr id="94" name="TextBox 93"/>
          <p:cNvSpPr txBox="1"/>
          <p:nvPr/>
        </p:nvSpPr>
        <p:spPr>
          <a:xfrm>
            <a:off x="6949440" y="5404104"/>
            <a:ext cx="4846320" cy="329184"/>
          </a:xfrm>
          <a:prstGeom prst="rect">
            <a:avLst/>
          </a:prstGeom>
          <a:noFill/>
        </p:spPr>
        <p:txBody>
          <a:bodyPr wrap="none" lIns="0" tIns="0" anchor="ctr">
            <a:spAutoFit/>
          </a:bodyPr>
          <a:lstStyle/>
          <a:p>
            <a:r>
              <a:rPr sz="1000">
                <a:solidFill>
                  <a:srgbClr val="E6EDF3"/>
                </a:solidFill>
                <a:latin typeface="Consolas"/>
              </a:rPr>
              <a:t>Deli exhaustive port scan + post-deploy verify</a:t>
            </a:r>
          </a:p>
        </p:txBody>
      </p:sp>
      <p:sp>
        <p:nvSpPr>
          <p:cNvPr id="95" name="TextBox 94"/>
          <p:cNvSpPr txBox="1"/>
          <p:nvPr/>
        </p:nvSpPr>
        <p:spPr>
          <a:xfrm>
            <a:off x="6126480" y="5733288"/>
            <a:ext cx="822960" cy="329184"/>
          </a:xfrm>
          <a:prstGeom prst="rect">
            <a:avLst/>
          </a:prstGeom>
          <a:noFill/>
        </p:spPr>
        <p:txBody>
          <a:bodyPr wrap="none" lIns="0" tIns="0" anchor="ctr">
            <a:spAutoFit/>
          </a:bodyPr>
          <a:lstStyle/>
          <a:p>
            <a:r>
              <a:rPr sz="1100" b="1">
                <a:solidFill>
                  <a:srgbClr val="7CE38B"/>
                </a:solidFill>
                <a:latin typeface="Consolas"/>
              </a:rPr>
              <a:t>v10.23</a:t>
            </a:r>
          </a:p>
        </p:txBody>
      </p:sp>
      <p:sp>
        <p:nvSpPr>
          <p:cNvPr id="96" name="TextBox 95"/>
          <p:cNvSpPr txBox="1"/>
          <p:nvPr/>
        </p:nvSpPr>
        <p:spPr>
          <a:xfrm>
            <a:off x="6949440" y="5733288"/>
            <a:ext cx="4846320" cy="329184"/>
          </a:xfrm>
          <a:prstGeom prst="rect">
            <a:avLst/>
          </a:prstGeom>
          <a:noFill/>
        </p:spPr>
        <p:txBody>
          <a:bodyPr wrap="none" lIns="0" tIns="0" anchor="ctr">
            <a:spAutoFit/>
          </a:bodyPr>
          <a:lstStyle/>
          <a:p>
            <a:r>
              <a:rPr sz="1000">
                <a:solidFill>
                  <a:srgbClr val="E6EDF3"/>
                </a:solidFill>
                <a:latin typeface="Consolas"/>
              </a:rPr>
              <a:t>Layer-4 hook blocks Orchestrator Write/Edit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1">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365760" y="228600"/>
            <a:ext cx="8229600" cy="274320"/>
          </a:xfrm>
          <a:prstGeom prst="rect">
            <a:avLst/>
          </a:prstGeom>
          <a:noFill/>
          <a:ln/>
        </p:spPr>
        <p:txBody>
          <a:bodyPr wrap="square" lIns="0" tIns="0" rIns="0" bIns="0" rtlCol="0" anchor="ctr"/>
          <a:lstStyle/>
          <a:p>
            <a:pPr marL="0" indent="0">
              <a:buNone/>
            </a:pPr>
            <a:r>
              <a:rPr lang="en-US" sz="1100" dirty="0">
                <a:solidFill>
                  <a:srgbClr val="2EA043"/>
                </a:solidFill>
                <a:latin typeface="Consolas" pitchFamily="34" charset="0"/>
                <a:ea typeface="Consolas" pitchFamily="34" charset="-122"/>
                <a:cs typeface="Consolas" pitchFamily="34" charset="-120"/>
              </a:rPr>
              <a:t>$ </a:t>
            </a:r>
            <a:r>
              <a:rPr lang="en-US" sz="1100" dirty="0">
                <a:solidFill>
                  <a:srgbClr val="8B949E"/>
                </a:solidFill>
                <a:latin typeface="Consolas" pitchFamily="34" charset="0"/>
                <a:ea typeface="Consolas" pitchFamily="34" charset="-122"/>
                <a:cs typeface="Consolas" pitchFamily="34" charset="-120"/>
              </a:rPr>
              <a:t>27_next_update.md</a:t>
            </a:r>
            <a:endParaRPr lang="en-US" sz="1100" dirty="0"/>
          </a:p>
        </p:txBody>
      </p:sp>
      <p:sp>
        <p:nvSpPr>
          <p:cNvPr id="3" name="Text 1"/>
          <p:cNvSpPr/>
          <p:nvPr/>
        </p:nvSpPr>
        <p:spPr>
          <a:xfrm>
            <a:off x="365760" y="548640"/>
            <a:ext cx="11430000" cy="640080"/>
          </a:xfrm>
          <a:prstGeom prst="rect">
            <a:avLst/>
          </a:prstGeom>
          <a:noFill/>
          <a:ln/>
        </p:spPr>
        <p:txBody>
          <a:bodyPr wrap="square" lIns="0" tIns="0" rIns="0" bIns="0" rtlCol="0" anchor="ctr"/>
          <a:lstStyle/>
          <a:p>
            <a:pPr marL="0" indent="0">
              <a:buNone/>
            </a:pPr>
            <a:r>
              <a:rPr lang="en-US" sz="3000" b="1" dirty="0">
                <a:solidFill>
                  <a:srgbClr val="E6EDF3"/>
                </a:solidFill>
                <a:latin typeface="Consolas" pitchFamily="34" charset="0"/>
                <a:ea typeface="Consolas" pitchFamily="34" charset="-122"/>
                <a:cs typeface="Consolas" pitchFamily="34" charset="-120"/>
              </a:rPr>
              <a:t>Next update for this framework</a:t>
            </a:r>
            <a:endParaRPr lang="en-US" sz="3000" dirty="0"/>
          </a:p>
        </p:txBody>
      </p:sp>
      <p:sp>
        <p:nvSpPr>
          <p:cNvPr id="4" name="Text 2"/>
          <p:cNvSpPr/>
          <p:nvPr/>
        </p:nvSpPr>
        <p:spPr>
          <a:xfrm>
            <a:off x="365760" y="1143000"/>
            <a:ext cx="11430000" cy="365760"/>
          </a:xfrm>
          <a:prstGeom prst="rect">
            <a:avLst/>
          </a:prstGeom>
          <a:noFill/>
          <a:ln/>
        </p:spPr>
        <p:txBody>
          <a:bodyPr wrap="square" lIns="0" tIns="0" rIns="0" bIns="0" rtlCol="0" anchor="ctr"/>
          <a:lstStyle/>
          <a:p>
            <a:pPr marL="0" indent="0">
              <a:buNone/>
            </a:pPr>
            <a:r>
              <a:rPr lang="en-US" sz="1400" i="1" dirty="0">
                <a:solidFill>
                  <a:srgbClr val="8B949E"/>
                </a:solidFill>
                <a:latin typeface="Calibri" pitchFamily="34" charset="0"/>
                <a:ea typeface="Calibri" pitchFamily="34" charset="-122"/>
                <a:cs typeface="Calibri" pitchFamily="34" charset="-120"/>
              </a:rPr>
              <a:t>Coming soon — đang trong giai đoạn thiết kế</a:t>
            </a:r>
            <a:endParaRPr lang="en-US" sz="1400" dirty="0"/>
          </a:p>
        </p:txBody>
      </p:sp>
      <p:sp>
        <p:nvSpPr>
          <p:cNvPr id="5" name="Shape 3"/>
          <p:cNvSpPr/>
          <p:nvPr/>
        </p:nvSpPr>
        <p:spPr>
          <a:xfrm>
            <a:off x="1280160" y="2194560"/>
            <a:ext cx="9601200" cy="1554480"/>
          </a:xfrm>
          <a:prstGeom prst="rect">
            <a:avLst/>
          </a:prstGeom>
          <a:solidFill>
            <a:srgbClr val="161B22"/>
          </a:solidFill>
          <a:ln w="12700">
            <a:solidFill>
              <a:srgbClr val="30363D"/>
            </a:solidFill>
            <a:prstDash val="solid"/>
          </a:ln>
        </p:spPr>
        <p:txBody>
          <a:bodyPr/>
          <a:lstStyle/>
          <a:p>
            <a:endParaRPr/>
          </a:p>
        </p:txBody>
      </p:sp>
      <p:sp>
        <p:nvSpPr>
          <p:cNvPr id="6" name="Shape 4"/>
          <p:cNvSpPr/>
          <p:nvPr/>
        </p:nvSpPr>
        <p:spPr>
          <a:xfrm>
            <a:off x="1280160" y="2194560"/>
            <a:ext cx="91440" cy="1554480"/>
          </a:xfrm>
          <a:prstGeom prst="rect">
            <a:avLst/>
          </a:prstGeom>
          <a:solidFill>
            <a:srgbClr val="D2A8FF"/>
          </a:solidFill>
          <a:ln w="12700">
            <a:solidFill>
              <a:srgbClr val="D2A8FF"/>
            </a:solidFill>
            <a:prstDash val="solid"/>
          </a:ln>
        </p:spPr>
        <p:txBody>
          <a:bodyPr/>
          <a:lstStyle/>
          <a:p>
            <a:endParaRPr/>
          </a:p>
        </p:txBody>
      </p:sp>
      <p:sp>
        <p:nvSpPr>
          <p:cNvPr id="7" name="Text 5"/>
          <p:cNvSpPr/>
          <p:nvPr/>
        </p:nvSpPr>
        <p:spPr>
          <a:xfrm>
            <a:off x="1554480" y="2331720"/>
            <a:ext cx="9144000" cy="640080"/>
          </a:xfrm>
          <a:prstGeom prst="rect">
            <a:avLst/>
          </a:prstGeom>
          <a:noFill/>
          <a:ln/>
        </p:spPr>
        <p:txBody>
          <a:bodyPr wrap="square" lIns="0" tIns="0" rIns="0" bIns="0" rtlCol="0" anchor="ctr"/>
          <a:lstStyle/>
          <a:p>
            <a:pPr marL="0" indent="0">
              <a:buNone/>
            </a:pPr>
            <a:r>
              <a:rPr lang="en-US" sz="3000" b="1" dirty="0">
                <a:solidFill>
                  <a:srgbClr val="D2A8FF"/>
                </a:solidFill>
                <a:latin typeface="Consolas" pitchFamily="34" charset="0"/>
                <a:ea typeface="Consolas" pitchFamily="34" charset="-122"/>
                <a:cs typeface="Consolas" pitchFamily="34" charset="-120"/>
              </a:rPr>
              <a:t>Scrum Master  +  agile cadence</a:t>
            </a:r>
            <a:endParaRPr lang="en-US" sz="3000" dirty="0"/>
          </a:p>
        </p:txBody>
      </p:sp>
      <p:sp>
        <p:nvSpPr>
          <p:cNvPr id="8" name="Text 6"/>
          <p:cNvSpPr/>
          <p:nvPr/>
        </p:nvSpPr>
        <p:spPr>
          <a:xfrm>
            <a:off x="1554480" y="2971800"/>
            <a:ext cx="9144000" cy="685800"/>
          </a:xfrm>
          <a:prstGeom prst="rect">
            <a:avLst/>
          </a:prstGeom>
          <a:noFill/>
          <a:ln/>
        </p:spPr>
        <p:txBody>
          <a:bodyPr wrap="square" lIns="0" tIns="0" rIns="0" bIns="0" rtlCol="0" anchor="t"/>
          <a:lstStyle/>
          <a:p>
            <a:pPr marL="0" indent="0">
              <a:buNone/>
            </a:pPr>
            <a:r>
              <a:rPr lang="en-US" sz="1300" i="1" dirty="0">
                <a:solidFill>
                  <a:srgbClr val="E6EDF3"/>
                </a:solidFill>
                <a:latin typeface="Calibri" pitchFamily="34" charset="0"/>
                <a:ea typeface="Calibri" pitchFamily="34" charset="-122"/>
                <a:cs typeface="Calibri" pitchFamily="34" charset="-120"/>
              </a:rPr>
              <a:t>v10.12 (planned) — vai trò facilitator để team có retrospective, theo dõi impediment, và đo health của project</a:t>
            </a:r>
            <a:endParaRPr lang="en-US" sz="1300" dirty="0"/>
          </a:p>
        </p:txBody>
      </p:sp>
      <p:sp>
        <p:nvSpPr>
          <p:cNvPr id="9" name="Shape 7"/>
          <p:cNvSpPr/>
          <p:nvPr/>
        </p:nvSpPr>
        <p:spPr>
          <a:xfrm>
            <a:off x="365760" y="3977640"/>
            <a:ext cx="3749040" cy="2103120"/>
          </a:xfrm>
          <a:prstGeom prst="rect">
            <a:avLst/>
          </a:prstGeom>
          <a:solidFill>
            <a:srgbClr val="1C2128"/>
          </a:solidFill>
          <a:ln w="12700">
            <a:solidFill>
              <a:srgbClr val="30363D"/>
            </a:solidFill>
            <a:prstDash val="solid"/>
          </a:ln>
        </p:spPr>
        <p:txBody>
          <a:bodyPr/>
          <a:lstStyle/>
          <a:p>
            <a:endParaRPr/>
          </a:p>
        </p:txBody>
      </p:sp>
      <p:sp>
        <p:nvSpPr>
          <p:cNvPr id="10" name="Text 8"/>
          <p:cNvSpPr/>
          <p:nvPr/>
        </p:nvSpPr>
        <p:spPr>
          <a:xfrm>
            <a:off x="548640" y="4114800"/>
            <a:ext cx="3566160" cy="457200"/>
          </a:xfrm>
          <a:prstGeom prst="rect">
            <a:avLst/>
          </a:prstGeom>
          <a:noFill/>
          <a:ln/>
        </p:spPr>
        <p:txBody>
          <a:bodyPr wrap="square" lIns="0" tIns="0" rIns="0" bIns="0" rtlCol="0" anchor="ctr"/>
          <a:lstStyle/>
          <a:p>
            <a:pPr marL="0" indent="0">
              <a:buNone/>
            </a:pPr>
            <a:r>
              <a:rPr lang="en-US" sz="1600" b="1" dirty="0">
                <a:solidFill>
                  <a:srgbClr val="7CE38B"/>
                </a:solidFill>
                <a:latin typeface="Consolas" pitchFamily="34" charset="0"/>
                <a:ea typeface="Consolas" pitchFamily="34" charset="-122"/>
                <a:cs typeface="Consolas" pitchFamily="34" charset="-120"/>
              </a:rPr>
              <a:t>📓  Retrospective</a:t>
            </a:r>
            <a:endParaRPr lang="en-US" sz="1600" dirty="0"/>
          </a:p>
        </p:txBody>
      </p:sp>
      <p:sp>
        <p:nvSpPr>
          <p:cNvPr id="11" name="Text 9"/>
          <p:cNvSpPr/>
          <p:nvPr/>
        </p:nvSpPr>
        <p:spPr>
          <a:xfrm>
            <a:off x="548640" y="4617720"/>
            <a:ext cx="3566160" cy="1371600"/>
          </a:xfrm>
          <a:prstGeom prst="rect">
            <a:avLst/>
          </a:prstGeom>
          <a:noFill/>
          <a:ln/>
        </p:spPr>
        <p:txBody>
          <a:bodyPr wrap="square" lIns="0" tIns="0" rIns="0" bIns="0" rtlCol="0" anchor="t"/>
          <a:lstStyle/>
          <a:p>
            <a:pPr marL="0" indent="0">
              <a:buNone/>
            </a:pPr>
            <a:r>
              <a:rPr lang="en-US" sz="1200" dirty="0">
                <a:solidFill>
                  <a:srgbClr val="E6EDF3"/>
                </a:solidFill>
                <a:latin typeface="Calibri" pitchFamily="34" charset="0"/>
                <a:ea typeface="Calibri" pitchFamily="34" charset="-122"/>
                <a:cs typeface="Calibri" pitchFamily="34" charset="-120"/>
              </a:rPr>
              <a:t>Sau mỗi phase, tổng hợp 'what went well / didn't / improve' vào docs/process/RETRO.md</a:t>
            </a:r>
            <a:endParaRPr lang="en-US" sz="1200" dirty="0"/>
          </a:p>
        </p:txBody>
      </p:sp>
      <p:sp>
        <p:nvSpPr>
          <p:cNvPr id="12" name="Shape 10"/>
          <p:cNvSpPr/>
          <p:nvPr/>
        </p:nvSpPr>
        <p:spPr>
          <a:xfrm>
            <a:off x="4297680" y="3977640"/>
            <a:ext cx="3749040" cy="2103120"/>
          </a:xfrm>
          <a:prstGeom prst="rect">
            <a:avLst/>
          </a:prstGeom>
          <a:solidFill>
            <a:srgbClr val="1C2128"/>
          </a:solidFill>
          <a:ln w="12700">
            <a:solidFill>
              <a:srgbClr val="30363D"/>
            </a:solidFill>
            <a:prstDash val="solid"/>
          </a:ln>
        </p:spPr>
        <p:txBody>
          <a:bodyPr/>
          <a:lstStyle/>
          <a:p>
            <a:endParaRPr/>
          </a:p>
        </p:txBody>
      </p:sp>
      <p:sp>
        <p:nvSpPr>
          <p:cNvPr id="13" name="Text 11"/>
          <p:cNvSpPr/>
          <p:nvPr/>
        </p:nvSpPr>
        <p:spPr>
          <a:xfrm>
            <a:off x="4480560" y="4114800"/>
            <a:ext cx="3566160" cy="457200"/>
          </a:xfrm>
          <a:prstGeom prst="rect">
            <a:avLst/>
          </a:prstGeom>
          <a:noFill/>
          <a:ln/>
        </p:spPr>
        <p:txBody>
          <a:bodyPr wrap="square" lIns="0" tIns="0" rIns="0" bIns="0" rtlCol="0" anchor="ctr"/>
          <a:lstStyle/>
          <a:p>
            <a:pPr marL="0" indent="0">
              <a:buNone/>
            </a:pPr>
            <a:r>
              <a:rPr lang="en-US" sz="1600" b="1" dirty="0">
                <a:solidFill>
                  <a:srgbClr val="7CE38B"/>
                </a:solidFill>
                <a:latin typeface="Consolas" pitchFamily="34" charset="0"/>
                <a:ea typeface="Consolas" pitchFamily="34" charset="-122"/>
                <a:cs typeface="Consolas" pitchFamily="34" charset="-120"/>
              </a:rPr>
              <a:t>🚧  Impediment log</a:t>
            </a:r>
            <a:endParaRPr lang="en-US" sz="1600" dirty="0"/>
          </a:p>
        </p:txBody>
      </p:sp>
      <p:sp>
        <p:nvSpPr>
          <p:cNvPr id="14" name="Text 12"/>
          <p:cNvSpPr/>
          <p:nvPr/>
        </p:nvSpPr>
        <p:spPr>
          <a:xfrm>
            <a:off x="4480560" y="4617720"/>
            <a:ext cx="3566160" cy="1371600"/>
          </a:xfrm>
          <a:prstGeom prst="rect">
            <a:avLst/>
          </a:prstGeom>
          <a:noFill/>
          <a:ln/>
        </p:spPr>
        <p:txBody>
          <a:bodyPr wrap="square" lIns="0" tIns="0" rIns="0" bIns="0" rtlCol="0" anchor="t"/>
          <a:lstStyle/>
          <a:p>
            <a:pPr marL="0" indent="0">
              <a:buNone/>
            </a:pPr>
            <a:r>
              <a:rPr lang="en-US" sz="1200" dirty="0">
                <a:solidFill>
                  <a:srgbClr val="E6EDF3"/>
                </a:solidFill>
                <a:latin typeface="Calibri" pitchFamily="34" charset="0"/>
                <a:ea typeface="Calibri" pitchFamily="34" charset="-122"/>
                <a:cs typeface="Calibri" pitchFamily="34" charset="-120"/>
              </a:rPr>
              <a:t>Track Q pending lâu, bug lặp, role hay block → escalate cho Orchestrator</a:t>
            </a:r>
            <a:endParaRPr lang="en-US" sz="1200" dirty="0"/>
          </a:p>
        </p:txBody>
      </p:sp>
      <p:sp>
        <p:nvSpPr>
          <p:cNvPr id="15" name="Shape 13"/>
          <p:cNvSpPr/>
          <p:nvPr/>
        </p:nvSpPr>
        <p:spPr>
          <a:xfrm>
            <a:off x="8229600" y="3977640"/>
            <a:ext cx="3749040" cy="2103120"/>
          </a:xfrm>
          <a:prstGeom prst="rect">
            <a:avLst/>
          </a:prstGeom>
          <a:solidFill>
            <a:srgbClr val="1C2128"/>
          </a:solidFill>
          <a:ln w="12700">
            <a:solidFill>
              <a:srgbClr val="30363D"/>
            </a:solidFill>
            <a:prstDash val="solid"/>
          </a:ln>
        </p:spPr>
        <p:txBody>
          <a:bodyPr/>
          <a:lstStyle/>
          <a:p>
            <a:endParaRPr/>
          </a:p>
        </p:txBody>
      </p:sp>
      <p:sp>
        <p:nvSpPr>
          <p:cNvPr id="16" name="Text 14"/>
          <p:cNvSpPr/>
          <p:nvPr/>
        </p:nvSpPr>
        <p:spPr>
          <a:xfrm>
            <a:off x="8412480" y="4114800"/>
            <a:ext cx="3566160" cy="457200"/>
          </a:xfrm>
          <a:prstGeom prst="rect">
            <a:avLst/>
          </a:prstGeom>
          <a:noFill/>
          <a:ln/>
        </p:spPr>
        <p:txBody>
          <a:bodyPr wrap="square" lIns="0" tIns="0" rIns="0" bIns="0" rtlCol="0" anchor="ctr"/>
          <a:lstStyle/>
          <a:p>
            <a:pPr marL="0" indent="0">
              <a:buNone/>
            </a:pPr>
            <a:r>
              <a:rPr lang="en-US" sz="1600" b="1" dirty="0">
                <a:solidFill>
                  <a:srgbClr val="7CE38B"/>
                </a:solidFill>
                <a:latin typeface="Consolas" pitchFamily="34" charset="0"/>
                <a:ea typeface="Consolas" pitchFamily="34" charset="-122"/>
                <a:cs typeface="Consolas" pitchFamily="34" charset="-120"/>
              </a:rPr>
              <a:t>📊  Health metrics</a:t>
            </a:r>
            <a:endParaRPr lang="en-US" sz="1600" dirty="0"/>
          </a:p>
        </p:txBody>
      </p:sp>
      <p:sp>
        <p:nvSpPr>
          <p:cNvPr id="17" name="Text 15"/>
          <p:cNvSpPr/>
          <p:nvPr/>
        </p:nvSpPr>
        <p:spPr>
          <a:xfrm>
            <a:off x="8412480" y="4617720"/>
            <a:ext cx="3566160" cy="1371600"/>
          </a:xfrm>
          <a:prstGeom prst="rect">
            <a:avLst/>
          </a:prstGeom>
          <a:noFill/>
          <a:ln/>
        </p:spPr>
        <p:txBody>
          <a:bodyPr wrap="square" lIns="0" tIns="0" rIns="0" bIns="0" rtlCol="0" anchor="t"/>
          <a:lstStyle/>
          <a:p>
            <a:pPr marL="0" indent="0">
              <a:buNone/>
            </a:pPr>
            <a:r>
              <a:rPr lang="en-US" sz="1200" dirty="0">
                <a:solidFill>
                  <a:srgbClr val="E6EDF3"/>
                </a:solidFill>
                <a:latin typeface="Calibri" pitchFamily="34" charset="0"/>
                <a:ea typeface="Calibri" pitchFamily="34" charset="-122"/>
                <a:cs typeface="Calibri" pitchFamily="34" charset="-120"/>
              </a:rPr>
              <a:t>Turn / phase, Q / role, rework ratio, time-to-PASS — visibility cho user</a:t>
            </a:r>
            <a:endParaRPr lang="en-US" sz="1200" dirty="0"/>
          </a:p>
        </p:txBody>
      </p:sp>
      <p:sp>
        <p:nvSpPr>
          <p:cNvPr id="18" name="Text 16"/>
          <p:cNvSpPr/>
          <p:nvPr/>
        </p:nvSpPr>
        <p:spPr>
          <a:xfrm>
            <a:off x="365760" y="6263640"/>
            <a:ext cx="11430000" cy="274320"/>
          </a:xfrm>
          <a:prstGeom prst="rect">
            <a:avLst/>
          </a:prstGeom>
          <a:noFill/>
          <a:ln/>
        </p:spPr>
        <p:txBody>
          <a:bodyPr wrap="square" lIns="0" tIns="0" rIns="0" bIns="0" rtlCol="0" anchor="ctr"/>
          <a:lstStyle/>
          <a:p>
            <a:pPr marL="0" indent="0" algn="ctr">
              <a:buNone/>
            </a:pPr>
            <a:r>
              <a:rPr lang="en-US" sz="1100" i="1" dirty="0">
                <a:solidFill>
                  <a:srgbClr val="8B949E"/>
                </a:solidFill>
                <a:latin typeface="Calibri" pitchFamily="34" charset="0"/>
                <a:ea typeface="Calibri" pitchFamily="34" charset="-122"/>
                <a:cs typeface="Calibri" pitchFamily="34" charset="-120"/>
              </a:rPr>
              <a:t>Đang cân nhắc: SM là 1 pane riêng (pane 10) hay merge vào Orchestrator. Quyết định sau khi thử nghiệm.</a:t>
            </a:r>
            <a:endParaRPr lang="en-US" sz="1100" dirty="0"/>
          </a:p>
        </p:txBody>
      </p:sp>
      <p:sp>
        <p:nvSpPr>
          <p:cNvPr id="19" name="Text 17"/>
          <p:cNvSpPr/>
          <p:nvPr/>
        </p:nvSpPr>
        <p:spPr>
          <a:xfrm>
            <a:off x="11338560" y="6492240"/>
            <a:ext cx="731520" cy="228600"/>
          </a:xfrm>
          <a:prstGeom prst="rect">
            <a:avLst/>
          </a:prstGeom>
          <a:noFill/>
          <a:ln/>
        </p:spPr>
        <p:txBody>
          <a:bodyPr wrap="square" lIns="0" tIns="0" rIns="0" bIns="0" rtlCol="0" anchor="ctr"/>
          <a:lstStyle/>
          <a:p>
            <a:pPr marL="0" indent="0" algn="r">
              <a:buNone/>
            </a:pPr>
            <a:r>
              <a:rPr lang="en-US" sz="900" dirty="0">
                <a:solidFill>
                  <a:srgbClr val="8B949E"/>
                </a:solidFill>
                <a:latin typeface="Consolas" pitchFamily="34" charset="0"/>
                <a:ea typeface="Consolas" pitchFamily="34" charset="-122"/>
                <a:cs typeface="Consolas" pitchFamily="34" charset="-120"/>
              </a:rPr>
              <a:t>38 / 40</a:t>
            </a:r>
            <a:endParaRPr lang="en-US" sz="900" dirty="0"/>
          </a:p>
        </p:txBody>
      </p:sp>
      <p:sp>
        <p:nvSpPr>
          <p:cNvPr id="20" name="Text 18"/>
          <p:cNvSpPr/>
          <p:nvPr/>
        </p:nvSpPr>
        <p:spPr>
          <a:xfrm>
            <a:off x="365760" y="6492240"/>
            <a:ext cx="1097280" cy="228600"/>
          </a:xfrm>
          <a:prstGeom prst="rect">
            <a:avLst/>
          </a:prstGeom>
          <a:noFill/>
          <a:ln/>
        </p:spPr>
        <p:txBody>
          <a:bodyPr wrap="square" lIns="0" tIns="0" rIns="0" bIns="0" rtlCol="0" anchor="ctr"/>
          <a:lstStyle/>
          <a:p>
            <a:pPr marL="0" indent="0" algn="l">
              <a:buNone/>
            </a:pPr>
            <a:r>
              <a:rPr lang="en-US" sz="900" dirty="0">
                <a:solidFill>
                  <a:srgbClr val="8B949E"/>
                </a:solidFill>
                <a:latin typeface="Consolas" pitchFamily="34" charset="0"/>
                <a:ea typeface="Consolas" pitchFamily="34" charset="-122"/>
                <a:cs typeface="Consolas" pitchFamily="34" charset="-120"/>
              </a:rPr>
              <a:t>v10.23</a:t>
            </a:r>
            <a:endParaRPr lang="en-US" sz="900" dirty="0"/>
          </a:p>
        </p:txBody>
      </p:sp>
      <p:sp>
        <p:nvSpPr>
          <p:cNvPr id="21" name="Text 19"/>
          <p:cNvSpPr/>
          <p:nvPr/>
        </p:nvSpPr>
        <p:spPr>
          <a:xfrm>
            <a:off x="4572000" y="6492240"/>
            <a:ext cx="6400800" cy="228600"/>
          </a:xfrm>
          <a:prstGeom prst="rect">
            <a:avLst/>
          </a:prstGeom>
          <a:noFill/>
          <a:ln/>
        </p:spPr>
        <p:txBody>
          <a:bodyPr wrap="square" lIns="0" tIns="0" rIns="0" bIns="0" rtlCol="0" anchor="ctr"/>
          <a:lstStyle/>
          <a:p>
            <a:pPr marL="0" indent="0" algn="ctr">
              <a:buNone/>
            </a:pPr>
            <a:r>
              <a:rPr lang="en-US" sz="900" dirty="0">
                <a:solidFill>
                  <a:srgbClr val="8B949E"/>
                </a:solidFill>
                <a:latin typeface="Consolas" pitchFamily="34" charset="0"/>
                <a:ea typeface="Consolas" pitchFamily="34" charset="-122"/>
                <a:cs typeface="Consolas" pitchFamily="34" charset="-120"/>
              </a:rPr>
              <a:t>Product Engineering Agent Framework</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28600"/>
            <a:ext cx="8229600" cy="274320"/>
          </a:xfrm>
          <a:prstGeom prst="rect">
            <a:avLst/>
          </a:prstGeom>
          <a:noFill/>
        </p:spPr>
        <p:txBody>
          <a:bodyPr wrap="none" lIns="0" tIns="0">
            <a:spAutoFit/>
          </a:bodyPr>
          <a:lstStyle/>
          <a:p>
            <a:r>
              <a:rPr sz="1100">
                <a:solidFill>
                  <a:srgbClr val="2EA043"/>
                </a:solidFill>
                <a:latin typeface="Consolas"/>
              </a:rPr>
              <a:t>$ </a:t>
            </a:r>
            <a:r>
              <a:rPr sz="1100">
                <a:solidFill>
                  <a:srgbClr val="8B949E"/>
                </a:solidFill>
                <a:latin typeface="Consolas"/>
              </a:rPr>
              <a:t>28_why_custom_framework.md</a:t>
            </a:r>
          </a:p>
        </p:txBody>
      </p:sp>
      <p:sp>
        <p:nvSpPr>
          <p:cNvPr id="4" name="TextBox 3"/>
          <p:cNvSpPr txBox="1"/>
          <p:nvPr/>
        </p:nvSpPr>
        <p:spPr>
          <a:xfrm>
            <a:off x="365760" y="548640"/>
            <a:ext cx="11430000" cy="640080"/>
          </a:xfrm>
          <a:prstGeom prst="rect">
            <a:avLst/>
          </a:prstGeom>
          <a:noFill/>
        </p:spPr>
        <p:txBody>
          <a:bodyPr wrap="square" lIns="0" tIns="0" rIns="0" bIns="0" anchor="t">
            <a:spAutoFit/>
          </a:bodyPr>
          <a:lstStyle/>
          <a:p>
            <a:pPr algn="l"/>
            <a:r>
              <a:rPr sz="3000" b="0" i="0">
                <a:solidFill>
                  <a:srgbClr val="E6EDF3"/>
                </a:solidFill>
                <a:latin typeface="Consolas"/>
              </a:rPr>
              <a:t>Vì sao tự build framework này?</a:t>
            </a:r>
          </a:p>
        </p:txBody>
      </p:sp>
      <p:sp>
        <p:nvSpPr>
          <p:cNvPr id="5" name="TextBox 4"/>
          <p:cNvSpPr txBox="1"/>
          <p:nvPr/>
        </p:nvSpPr>
        <p:spPr>
          <a:xfrm>
            <a:off x="365760" y="1143000"/>
            <a:ext cx="11430000" cy="365760"/>
          </a:xfrm>
          <a:prstGeom prst="rect">
            <a:avLst/>
          </a:prstGeom>
          <a:noFill/>
        </p:spPr>
        <p:txBody>
          <a:bodyPr wrap="square" lIns="0" tIns="0" rIns="0" bIns="0" anchor="t">
            <a:spAutoFit/>
          </a:bodyPr>
          <a:lstStyle/>
          <a:p>
            <a:pPr algn="l"/>
            <a:r>
              <a:rPr sz="1400" b="0" i="0">
                <a:solidFill>
                  <a:srgbClr val="8B949E"/>
                </a:solidFill>
                <a:latin typeface="Calibri"/>
              </a:rPr>
              <a:t>8 lý do — vì sao không dùng Claude/Cursor/CrewAI mà phải tự build</a:t>
            </a:r>
          </a:p>
        </p:txBody>
      </p:sp>
      <p:sp>
        <p:nvSpPr>
          <p:cNvPr id="6" name="Rounded Rectangle 5"/>
          <p:cNvSpPr/>
          <p:nvPr/>
        </p:nvSpPr>
        <p:spPr>
          <a:xfrm>
            <a:off x="365760" y="1691640"/>
            <a:ext cx="5577840" cy="1024127"/>
          </a:xfrm>
          <a:prstGeom prst="roundRect">
            <a:avLst>
              <a:gd name="adj" fmla="val 5000"/>
            </a:avLst>
          </a:prstGeom>
          <a:solidFill>
            <a:srgbClr val="161B22"/>
          </a:solidFill>
          <a:ln w="12700">
            <a:solidFill>
              <a:srgbClr val="2EA0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764792"/>
            <a:ext cx="365760" cy="365760"/>
          </a:xfrm>
          <a:prstGeom prst="rect">
            <a:avLst/>
          </a:prstGeom>
          <a:noFill/>
        </p:spPr>
        <p:txBody>
          <a:bodyPr wrap="square" lIns="0" tIns="0" rIns="0" bIns="0" anchor="ctr">
            <a:spAutoFit/>
          </a:bodyPr>
          <a:lstStyle/>
          <a:p>
            <a:pPr algn="l"/>
            <a:r>
              <a:rPr sz="1800" b="1" i="0">
                <a:solidFill>
                  <a:srgbClr val="2EA043"/>
                </a:solidFill>
                <a:latin typeface="Consolas"/>
              </a:rPr>
              <a:t>A</a:t>
            </a:r>
          </a:p>
        </p:txBody>
      </p:sp>
      <p:sp>
        <p:nvSpPr>
          <p:cNvPr id="8" name="TextBox 7"/>
          <p:cNvSpPr txBox="1"/>
          <p:nvPr/>
        </p:nvSpPr>
        <p:spPr>
          <a:xfrm>
            <a:off x="868680" y="1737360"/>
            <a:ext cx="4937759" cy="365760"/>
          </a:xfrm>
          <a:prstGeom prst="rect">
            <a:avLst/>
          </a:prstGeom>
          <a:noFill/>
        </p:spPr>
        <p:txBody>
          <a:bodyPr wrap="square" lIns="0" tIns="0" rIns="0" bIns="0" anchor="ctr">
            <a:spAutoFit/>
          </a:bodyPr>
          <a:lstStyle/>
          <a:p>
            <a:pPr algn="l"/>
            <a:r>
              <a:rPr sz="1400" b="1" i="0">
                <a:solidFill>
                  <a:srgbClr val="E6EDF3"/>
                </a:solidFill>
                <a:latin typeface="Calibri"/>
              </a:rPr>
              <a:t>Mỗi việc dùng đúng model</a:t>
            </a:r>
          </a:p>
        </p:txBody>
      </p:sp>
      <p:sp>
        <p:nvSpPr>
          <p:cNvPr id="9" name="TextBox 8"/>
          <p:cNvSpPr txBox="1"/>
          <p:nvPr/>
        </p:nvSpPr>
        <p:spPr>
          <a:xfrm>
            <a:off x="868680" y="2112264"/>
            <a:ext cx="4937759" cy="603504"/>
          </a:xfrm>
          <a:prstGeom prst="rect">
            <a:avLst/>
          </a:prstGeom>
          <a:noFill/>
        </p:spPr>
        <p:txBody>
          <a:bodyPr wrap="square" lIns="0" tIns="0" rIns="0" bIns="0" anchor="t">
            <a:spAutoFit/>
          </a:bodyPr>
          <a:lstStyle/>
          <a:p>
            <a:pPr algn="l"/>
            <a:r>
              <a:rPr sz="1000" b="0" i="0">
                <a:solidFill>
                  <a:srgbClr val="8B949E"/>
                </a:solidFill>
                <a:latin typeface="Calibri"/>
              </a:rPr>
              <a:t>Việc khó (kiến trúc, code backend) → model mạnh.</a:t>
            </a:r>
          </a:p>
          <a:p>
            <a:pPr algn="l"/>
            <a:r>
              <a:rPr sz="1000" b="0" i="0">
                <a:solidFill>
                  <a:srgbClr val="8B949E"/>
                </a:solidFill>
                <a:latin typeface="Calibri"/>
              </a:rPr>
              <a:t>Việc đơn giản (viết PRD, test) → model rẻ.</a:t>
            </a:r>
          </a:p>
          <a:p>
            <a:pPr algn="l"/>
            <a:r>
              <a:rPr sz="1000" b="0" i="0">
                <a:solidFill>
                  <a:srgbClr val="8B949E"/>
                </a:solidFill>
                <a:latin typeface="Calibri"/>
              </a:rPr>
              <a:t>→ Trả đúng tiền cho đúng việc, không lãng phí.</a:t>
            </a:r>
          </a:p>
        </p:txBody>
      </p:sp>
      <p:sp>
        <p:nvSpPr>
          <p:cNvPr id="10" name="Rounded Rectangle 9"/>
          <p:cNvSpPr/>
          <p:nvPr/>
        </p:nvSpPr>
        <p:spPr>
          <a:xfrm>
            <a:off x="6217920" y="1691640"/>
            <a:ext cx="5577840" cy="1024127"/>
          </a:xfrm>
          <a:prstGeom prst="roundRect">
            <a:avLst>
              <a:gd name="adj" fmla="val 5000"/>
            </a:avLst>
          </a:prstGeom>
          <a:solidFill>
            <a:srgbClr val="161B22"/>
          </a:solidFill>
          <a:ln w="12700">
            <a:solidFill>
              <a:srgbClr val="7CE3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55080" y="1764792"/>
            <a:ext cx="365760" cy="365760"/>
          </a:xfrm>
          <a:prstGeom prst="rect">
            <a:avLst/>
          </a:prstGeom>
          <a:noFill/>
        </p:spPr>
        <p:txBody>
          <a:bodyPr wrap="square" lIns="0" tIns="0" rIns="0" bIns="0" anchor="ctr">
            <a:spAutoFit/>
          </a:bodyPr>
          <a:lstStyle/>
          <a:p>
            <a:pPr algn="l"/>
            <a:r>
              <a:rPr sz="1800" b="1" i="0">
                <a:solidFill>
                  <a:srgbClr val="7CE38B"/>
                </a:solidFill>
                <a:latin typeface="Consolas"/>
              </a:rPr>
              <a:t>B</a:t>
            </a:r>
          </a:p>
        </p:txBody>
      </p:sp>
      <p:sp>
        <p:nvSpPr>
          <p:cNvPr id="12" name="TextBox 11"/>
          <p:cNvSpPr txBox="1"/>
          <p:nvPr/>
        </p:nvSpPr>
        <p:spPr>
          <a:xfrm>
            <a:off x="6720840" y="1737360"/>
            <a:ext cx="4937759" cy="365760"/>
          </a:xfrm>
          <a:prstGeom prst="rect">
            <a:avLst/>
          </a:prstGeom>
          <a:noFill/>
        </p:spPr>
        <p:txBody>
          <a:bodyPr wrap="square" lIns="0" tIns="0" rIns="0" bIns="0" anchor="ctr">
            <a:spAutoFit/>
          </a:bodyPr>
          <a:lstStyle/>
          <a:p>
            <a:pPr algn="l"/>
            <a:r>
              <a:rPr sz="1400" b="1" i="0">
                <a:solidFill>
                  <a:srgbClr val="E6EDF3"/>
                </a:solidFill>
                <a:latin typeface="Calibri"/>
              </a:rPr>
              <a:t>Mỗi agent một pane riêng</a:t>
            </a:r>
          </a:p>
        </p:txBody>
      </p:sp>
      <p:sp>
        <p:nvSpPr>
          <p:cNvPr id="13" name="TextBox 12"/>
          <p:cNvSpPr txBox="1"/>
          <p:nvPr/>
        </p:nvSpPr>
        <p:spPr>
          <a:xfrm>
            <a:off x="6720840" y="2112264"/>
            <a:ext cx="4937759" cy="603504"/>
          </a:xfrm>
          <a:prstGeom prst="rect">
            <a:avLst/>
          </a:prstGeom>
          <a:noFill/>
        </p:spPr>
        <p:txBody>
          <a:bodyPr wrap="square" lIns="0" tIns="0" rIns="0" bIns="0" anchor="t">
            <a:spAutoFit/>
          </a:bodyPr>
          <a:lstStyle/>
          <a:p>
            <a:pPr algn="l"/>
            <a:r>
              <a:rPr sz="1000" b="0" i="0">
                <a:solidFill>
                  <a:srgbClr val="8B949E"/>
                </a:solidFill>
                <a:latin typeface="Calibri"/>
              </a:rPr>
              <a:t>9 agents = 9 process độc lập trong tmux.</a:t>
            </a:r>
          </a:p>
          <a:p>
            <a:pPr algn="l"/>
            <a:r>
              <a:rPr sz="1000" b="0" i="0">
                <a:solidFill>
                  <a:srgbClr val="8B949E"/>
                </a:solidFill>
                <a:latin typeface="Calibri"/>
              </a:rPr>
              <a:t>Mỗi pane có log riêng, theo dõi được ai đang làm gì.</a:t>
            </a:r>
          </a:p>
          <a:p>
            <a:pPr algn="l"/>
            <a:r>
              <a:rPr sz="1000" b="0" i="0">
                <a:solidFill>
                  <a:srgbClr val="8B949E"/>
                </a:solidFill>
                <a:latin typeface="Calibri"/>
              </a:rPr>
              <a:t>→ Debug khi lỗi, audit khi cần — không 'AI hộp đen'.</a:t>
            </a:r>
          </a:p>
        </p:txBody>
      </p:sp>
      <p:sp>
        <p:nvSpPr>
          <p:cNvPr id="14" name="Rounded Rectangle 13"/>
          <p:cNvSpPr/>
          <p:nvPr/>
        </p:nvSpPr>
        <p:spPr>
          <a:xfrm>
            <a:off x="365760" y="2788920"/>
            <a:ext cx="5577840" cy="1024127"/>
          </a:xfrm>
          <a:prstGeom prst="roundRect">
            <a:avLst>
              <a:gd name="adj" fmla="val 5000"/>
            </a:avLst>
          </a:prstGeom>
          <a:solidFill>
            <a:srgbClr val="161B22"/>
          </a:solidFill>
          <a:ln w="12700">
            <a:solidFill>
              <a:srgbClr val="2EA0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2862072"/>
            <a:ext cx="365760" cy="365760"/>
          </a:xfrm>
          <a:prstGeom prst="rect">
            <a:avLst/>
          </a:prstGeom>
          <a:noFill/>
        </p:spPr>
        <p:txBody>
          <a:bodyPr wrap="square" lIns="0" tIns="0" rIns="0" bIns="0" anchor="ctr">
            <a:spAutoFit/>
          </a:bodyPr>
          <a:lstStyle/>
          <a:p>
            <a:pPr algn="l"/>
            <a:r>
              <a:rPr sz="1800" b="1" i="0">
                <a:solidFill>
                  <a:srgbClr val="2EA043"/>
                </a:solidFill>
                <a:latin typeface="Consolas"/>
              </a:rPr>
              <a:t>C</a:t>
            </a:r>
          </a:p>
        </p:txBody>
      </p:sp>
      <p:sp>
        <p:nvSpPr>
          <p:cNvPr id="16" name="TextBox 15"/>
          <p:cNvSpPr txBox="1"/>
          <p:nvPr/>
        </p:nvSpPr>
        <p:spPr>
          <a:xfrm>
            <a:off x="868680" y="2834639"/>
            <a:ext cx="4937759" cy="365760"/>
          </a:xfrm>
          <a:prstGeom prst="rect">
            <a:avLst/>
          </a:prstGeom>
          <a:noFill/>
        </p:spPr>
        <p:txBody>
          <a:bodyPr wrap="square" lIns="0" tIns="0" rIns="0" bIns="0" anchor="ctr">
            <a:spAutoFit/>
          </a:bodyPr>
          <a:lstStyle/>
          <a:p>
            <a:pPr algn="l"/>
            <a:r>
              <a:rPr sz="1400" b="1" i="0">
                <a:solidFill>
                  <a:srgbClr val="E6EDF3"/>
                </a:solidFill>
                <a:latin typeface="Calibri"/>
              </a:rPr>
              <a:t>Giao việc bằng lệnh bash thật</a:t>
            </a:r>
          </a:p>
        </p:txBody>
      </p:sp>
      <p:sp>
        <p:nvSpPr>
          <p:cNvPr id="17" name="TextBox 16"/>
          <p:cNvSpPr txBox="1"/>
          <p:nvPr/>
        </p:nvSpPr>
        <p:spPr>
          <a:xfrm>
            <a:off x="868680" y="3209544"/>
            <a:ext cx="4937759" cy="603504"/>
          </a:xfrm>
          <a:prstGeom prst="rect">
            <a:avLst/>
          </a:prstGeom>
          <a:noFill/>
        </p:spPr>
        <p:txBody>
          <a:bodyPr wrap="square" lIns="0" tIns="0" rIns="0" bIns="0" anchor="t">
            <a:spAutoFit/>
          </a:bodyPr>
          <a:lstStyle/>
          <a:p>
            <a:pPr algn="l"/>
            <a:r>
              <a:rPr sz="1000" b="0" i="0">
                <a:solidFill>
                  <a:srgbClr val="8B949E"/>
                </a:solidFill>
                <a:latin typeface="Calibri"/>
              </a:rPr>
              <a:t>route_to_pane.sh BE "..." — không phải magic call.</a:t>
            </a:r>
          </a:p>
          <a:p>
            <a:pPr algn="l"/>
            <a:r>
              <a:rPr sz="1000" b="0" i="0">
                <a:solidFill>
                  <a:srgbClr val="8B949E"/>
                </a:solidFill>
                <a:latin typeface="Calibri"/>
              </a:rPr>
              <a:t>Lệnh nào chạy, kết quả nào, đều có log lại.</a:t>
            </a:r>
          </a:p>
          <a:p>
            <a:pPr algn="l"/>
            <a:r>
              <a:rPr sz="1000" b="0" i="0">
                <a:solidFill>
                  <a:srgbClr val="8B949E"/>
                </a:solidFill>
                <a:latin typeface="Calibri"/>
              </a:rPr>
              <a:t>→ Xem lại được, sửa được, chạy lại được.</a:t>
            </a:r>
          </a:p>
        </p:txBody>
      </p:sp>
      <p:sp>
        <p:nvSpPr>
          <p:cNvPr id="18" name="Rounded Rectangle 17"/>
          <p:cNvSpPr/>
          <p:nvPr/>
        </p:nvSpPr>
        <p:spPr>
          <a:xfrm>
            <a:off x="6217920" y="2788920"/>
            <a:ext cx="5577840" cy="1024127"/>
          </a:xfrm>
          <a:prstGeom prst="roundRect">
            <a:avLst>
              <a:gd name="adj" fmla="val 5000"/>
            </a:avLst>
          </a:prstGeom>
          <a:solidFill>
            <a:srgbClr val="161B22"/>
          </a:solidFill>
          <a:ln w="12700">
            <a:solidFill>
              <a:srgbClr val="7CE3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55080" y="2862072"/>
            <a:ext cx="365760" cy="365760"/>
          </a:xfrm>
          <a:prstGeom prst="rect">
            <a:avLst/>
          </a:prstGeom>
          <a:noFill/>
        </p:spPr>
        <p:txBody>
          <a:bodyPr wrap="square" lIns="0" tIns="0" rIns="0" bIns="0" anchor="ctr">
            <a:spAutoFit/>
          </a:bodyPr>
          <a:lstStyle/>
          <a:p>
            <a:pPr algn="l"/>
            <a:r>
              <a:rPr sz="1800" b="1" i="0">
                <a:solidFill>
                  <a:srgbClr val="7CE38B"/>
                </a:solidFill>
                <a:latin typeface="Consolas"/>
              </a:rPr>
              <a:t>D</a:t>
            </a:r>
          </a:p>
        </p:txBody>
      </p:sp>
      <p:sp>
        <p:nvSpPr>
          <p:cNvPr id="20" name="TextBox 19"/>
          <p:cNvSpPr txBox="1"/>
          <p:nvPr/>
        </p:nvSpPr>
        <p:spPr>
          <a:xfrm>
            <a:off x="6720840" y="2834639"/>
            <a:ext cx="4937759" cy="365760"/>
          </a:xfrm>
          <a:prstGeom prst="rect">
            <a:avLst/>
          </a:prstGeom>
          <a:noFill/>
        </p:spPr>
        <p:txBody>
          <a:bodyPr wrap="square" lIns="0" tIns="0" rIns="0" bIns="0" anchor="ctr">
            <a:spAutoFit/>
          </a:bodyPr>
          <a:lstStyle/>
          <a:p>
            <a:pPr algn="l"/>
            <a:r>
              <a:rPr sz="1400" b="1" i="0">
                <a:solidFill>
                  <a:srgbClr val="E6EDF3"/>
                </a:solidFill>
                <a:latin typeface="Calibri"/>
              </a:rPr>
              <a:t>Đổi engine AI dễ như đổi config</a:t>
            </a:r>
          </a:p>
        </p:txBody>
      </p:sp>
      <p:sp>
        <p:nvSpPr>
          <p:cNvPr id="21" name="TextBox 20"/>
          <p:cNvSpPr txBox="1"/>
          <p:nvPr/>
        </p:nvSpPr>
        <p:spPr>
          <a:xfrm>
            <a:off x="6720840" y="3209544"/>
            <a:ext cx="4937759" cy="603504"/>
          </a:xfrm>
          <a:prstGeom prst="rect">
            <a:avLst/>
          </a:prstGeom>
          <a:noFill/>
        </p:spPr>
        <p:txBody>
          <a:bodyPr wrap="square" lIns="0" tIns="0" rIns="0" bIns="0" anchor="t">
            <a:spAutoFit/>
          </a:bodyPr>
          <a:lstStyle/>
          <a:p>
            <a:pPr algn="l"/>
            <a:r>
              <a:rPr sz="1000" b="0" i="0">
                <a:solidFill>
                  <a:srgbClr val="8B949E"/>
                </a:solidFill>
                <a:latin typeface="Calibri"/>
              </a:rPr>
              <a:t>OpenCode / Claude Code / AI tương lai — plug-in được.</a:t>
            </a:r>
          </a:p>
          <a:p>
            <a:pPr algn="l"/>
            <a:r>
              <a:rPr sz="1000" b="0" i="0">
                <a:solidFill>
                  <a:srgbClr val="8B949E"/>
                </a:solidFill>
                <a:latin typeface="Calibri"/>
              </a:rPr>
              <a:t>Provider lên giá? Chuyển model rẻ hơn ngay.</a:t>
            </a:r>
          </a:p>
          <a:p>
            <a:pPr algn="l"/>
            <a:r>
              <a:rPr sz="1000" b="0" i="0">
                <a:solidFill>
                  <a:srgbClr val="8B949E"/>
                </a:solidFill>
                <a:latin typeface="Calibri"/>
              </a:rPr>
              <a:t>→ Không bị khóa với 1 nhà cung cấp.</a:t>
            </a:r>
          </a:p>
        </p:txBody>
      </p:sp>
      <p:sp>
        <p:nvSpPr>
          <p:cNvPr id="22" name="Rounded Rectangle 21"/>
          <p:cNvSpPr/>
          <p:nvPr/>
        </p:nvSpPr>
        <p:spPr>
          <a:xfrm>
            <a:off x="365760" y="3886200"/>
            <a:ext cx="5577840" cy="1024127"/>
          </a:xfrm>
          <a:prstGeom prst="roundRect">
            <a:avLst>
              <a:gd name="adj" fmla="val 5000"/>
            </a:avLst>
          </a:prstGeom>
          <a:solidFill>
            <a:srgbClr val="161B22"/>
          </a:solidFill>
          <a:ln w="12700">
            <a:solidFill>
              <a:srgbClr val="7CE3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02920" y="3959352"/>
            <a:ext cx="365760" cy="365760"/>
          </a:xfrm>
          <a:prstGeom prst="rect">
            <a:avLst/>
          </a:prstGeom>
          <a:noFill/>
        </p:spPr>
        <p:txBody>
          <a:bodyPr wrap="square" lIns="0" tIns="0" rIns="0" bIns="0" anchor="ctr">
            <a:spAutoFit/>
          </a:bodyPr>
          <a:lstStyle/>
          <a:p>
            <a:pPr algn="l"/>
            <a:r>
              <a:rPr sz="1800" b="1" i="0">
                <a:solidFill>
                  <a:srgbClr val="2EA043"/>
                </a:solidFill>
                <a:latin typeface="Consolas"/>
              </a:rPr>
              <a:t>E</a:t>
            </a:r>
          </a:p>
        </p:txBody>
      </p:sp>
      <p:sp>
        <p:nvSpPr>
          <p:cNvPr id="24" name="TextBox 23"/>
          <p:cNvSpPr txBox="1"/>
          <p:nvPr/>
        </p:nvSpPr>
        <p:spPr>
          <a:xfrm>
            <a:off x="868680" y="3931920"/>
            <a:ext cx="4937759" cy="365760"/>
          </a:xfrm>
          <a:prstGeom prst="rect">
            <a:avLst/>
          </a:prstGeom>
          <a:noFill/>
        </p:spPr>
        <p:txBody>
          <a:bodyPr wrap="square" lIns="0" tIns="0" rIns="0" bIns="0" anchor="ctr">
            <a:spAutoFit/>
          </a:bodyPr>
          <a:lstStyle/>
          <a:p>
            <a:pPr algn="l"/>
            <a:r>
              <a:rPr sz="1400" b="1" i="0">
                <a:solidFill>
                  <a:srgbClr val="E6EDF3"/>
                </a:solidFill>
                <a:latin typeface="Calibri"/>
              </a:rPr>
              <a:t>Bắt đi đúng quy trình phần mềm</a:t>
            </a:r>
          </a:p>
        </p:txBody>
      </p:sp>
      <p:sp>
        <p:nvSpPr>
          <p:cNvPr id="25" name="TextBox 24"/>
          <p:cNvSpPr txBox="1"/>
          <p:nvPr/>
        </p:nvSpPr>
        <p:spPr>
          <a:xfrm>
            <a:off x="868680" y="4306824"/>
            <a:ext cx="4937759" cy="603504"/>
          </a:xfrm>
          <a:prstGeom prst="rect">
            <a:avLst/>
          </a:prstGeom>
          <a:noFill/>
        </p:spPr>
        <p:txBody>
          <a:bodyPr wrap="square" lIns="0" tIns="0" rIns="0" bIns="0" anchor="t">
            <a:spAutoFit/>
          </a:bodyPr>
          <a:lstStyle/>
          <a:p>
            <a:pPr algn="l"/>
            <a:r>
              <a:rPr sz="1000" b="0" i="0">
                <a:solidFill>
                  <a:srgbClr val="8B949E"/>
                </a:solidFill>
                <a:latin typeface="Calibri"/>
              </a:rPr>
              <a:t>Discovery → Design → Build → Test → Deploy.</a:t>
            </a:r>
          </a:p>
          <a:p>
            <a:pPr algn="l"/>
            <a:r>
              <a:rPr sz="1000" b="0" i="0">
                <a:solidFill>
                  <a:srgbClr val="8B949E"/>
                </a:solidFill>
                <a:latin typeface="Calibri"/>
              </a:rPr>
              <a:t>QA phải PASS mới được deploy, bug có report.</a:t>
            </a:r>
          </a:p>
          <a:p>
            <a:pPr algn="l"/>
            <a:r>
              <a:rPr sz="1000" b="0" i="0">
                <a:solidFill>
                  <a:srgbClr val="8B949E"/>
                </a:solidFill>
                <a:latin typeface="Calibri"/>
              </a:rPr>
              <a:t>→ Sản phẩm chất lượng, không 'AI làm bừa'.</a:t>
            </a:r>
          </a:p>
        </p:txBody>
      </p:sp>
      <p:sp>
        <p:nvSpPr>
          <p:cNvPr id="26" name="Rounded Rectangle 25"/>
          <p:cNvSpPr/>
          <p:nvPr/>
        </p:nvSpPr>
        <p:spPr>
          <a:xfrm>
            <a:off x="6217920" y="3886200"/>
            <a:ext cx="5577840" cy="1024127"/>
          </a:xfrm>
          <a:prstGeom prst="roundRect">
            <a:avLst>
              <a:gd name="adj" fmla="val 5000"/>
            </a:avLst>
          </a:prstGeom>
          <a:solidFill>
            <a:srgbClr val="161B22"/>
          </a:solidFill>
          <a:ln w="12700">
            <a:solidFill>
              <a:srgbClr val="2EA0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355080" y="3959352"/>
            <a:ext cx="365760" cy="365760"/>
          </a:xfrm>
          <a:prstGeom prst="rect">
            <a:avLst/>
          </a:prstGeom>
          <a:noFill/>
        </p:spPr>
        <p:txBody>
          <a:bodyPr wrap="square" lIns="0" tIns="0" rIns="0" bIns="0" anchor="ctr">
            <a:spAutoFit/>
          </a:bodyPr>
          <a:lstStyle/>
          <a:p>
            <a:pPr algn="l"/>
            <a:r>
              <a:rPr sz="1800" b="1" i="0">
                <a:solidFill>
                  <a:srgbClr val="7CE38B"/>
                </a:solidFill>
                <a:latin typeface="Consolas"/>
              </a:rPr>
              <a:t>F</a:t>
            </a:r>
          </a:p>
        </p:txBody>
      </p:sp>
      <p:sp>
        <p:nvSpPr>
          <p:cNvPr id="28" name="TextBox 27"/>
          <p:cNvSpPr txBox="1"/>
          <p:nvPr/>
        </p:nvSpPr>
        <p:spPr>
          <a:xfrm>
            <a:off x="6720840" y="3931920"/>
            <a:ext cx="4937759" cy="365760"/>
          </a:xfrm>
          <a:prstGeom prst="rect">
            <a:avLst/>
          </a:prstGeom>
          <a:noFill/>
        </p:spPr>
        <p:txBody>
          <a:bodyPr wrap="square" lIns="0" tIns="0" rIns="0" bIns="0" anchor="ctr">
            <a:spAutoFit/>
          </a:bodyPr>
          <a:lstStyle/>
          <a:p>
            <a:pPr algn="l"/>
            <a:r>
              <a:rPr sz="1400" b="1" i="0">
                <a:solidFill>
                  <a:srgbClr val="E6EDF3"/>
                </a:solidFill>
                <a:latin typeface="Calibri"/>
              </a:rPr>
              <a:t>Bạn vẫn là người quyết định</a:t>
            </a:r>
          </a:p>
        </p:txBody>
      </p:sp>
      <p:sp>
        <p:nvSpPr>
          <p:cNvPr id="29" name="TextBox 28"/>
          <p:cNvSpPr txBox="1"/>
          <p:nvPr/>
        </p:nvSpPr>
        <p:spPr>
          <a:xfrm>
            <a:off x="6720840" y="4306824"/>
            <a:ext cx="4937759" cy="603504"/>
          </a:xfrm>
          <a:prstGeom prst="rect">
            <a:avLst/>
          </a:prstGeom>
          <a:noFill/>
        </p:spPr>
        <p:txBody>
          <a:bodyPr wrap="square" lIns="0" tIns="0" rIns="0" bIns="0" anchor="t">
            <a:spAutoFit/>
          </a:bodyPr>
          <a:lstStyle/>
          <a:p>
            <a:pPr algn="l"/>
            <a:r>
              <a:rPr sz="1000" b="0" i="0">
                <a:solidFill>
                  <a:srgbClr val="8B949E"/>
                </a:solidFill>
                <a:latin typeface="Calibri"/>
              </a:rPr>
              <a:t>AI hỏi trước decision lớn: tech stack, port, fix bug.</a:t>
            </a:r>
          </a:p>
          <a:p>
            <a:pPr algn="l"/>
            <a:r>
              <a:rPr sz="1000" b="0" i="0">
                <a:solidFill>
                  <a:srgbClr val="8B949E"/>
                </a:solidFill>
                <a:latin typeface="Calibri"/>
              </a:rPr>
              <a:t>Không guess, không tự quyết — bạn confirm rồi mới làm.</a:t>
            </a:r>
          </a:p>
          <a:p>
            <a:pPr algn="l"/>
            <a:r>
              <a:rPr sz="1000" b="0" i="0">
                <a:solidFill>
                  <a:srgbClr val="8B949E"/>
                </a:solidFill>
                <a:latin typeface="Calibri"/>
              </a:rPr>
              <a:t>→ AI làm cho bạn, không thay bạn.</a:t>
            </a:r>
          </a:p>
        </p:txBody>
      </p:sp>
      <p:sp>
        <p:nvSpPr>
          <p:cNvPr id="30" name="Rounded Rectangle 29"/>
          <p:cNvSpPr/>
          <p:nvPr/>
        </p:nvSpPr>
        <p:spPr>
          <a:xfrm>
            <a:off x="365760" y="4983479"/>
            <a:ext cx="5577840" cy="1024127"/>
          </a:xfrm>
          <a:prstGeom prst="roundRect">
            <a:avLst>
              <a:gd name="adj" fmla="val 5000"/>
            </a:avLst>
          </a:prstGeom>
          <a:solidFill>
            <a:srgbClr val="161B22"/>
          </a:solidFill>
          <a:ln w="12700">
            <a:solidFill>
              <a:srgbClr val="7CE3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02920" y="5056631"/>
            <a:ext cx="365760" cy="365760"/>
          </a:xfrm>
          <a:prstGeom prst="rect">
            <a:avLst/>
          </a:prstGeom>
          <a:noFill/>
        </p:spPr>
        <p:txBody>
          <a:bodyPr wrap="square" lIns="0" tIns="0" rIns="0" bIns="0" anchor="ctr">
            <a:spAutoFit/>
          </a:bodyPr>
          <a:lstStyle/>
          <a:p>
            <a:pPr algn="l"/>
            <a:r>
              <a:rPr sz="1800" b="1" i="0">
                <a:solidFill>
                  <a:srgbClr val="2EA043"/>
                </a:solidFill>
                <a:latin typeface="Consolas"/>
              </a:rPr>
              <a:t>G</a:t>
            </a:r>
          </a:p>
        </p:txBody>
      </p:sp>
      <p:sp>
        <p:nvSpPr>
          <p:cNvPr id="32" name="TextBox 31"/>
          <p:cNvSpPr txBox="1"/>
          <p:nvPr/>
        </p:nvSpPr>
        <p:spPr>
          <a:xfrm>
            <a:off x="868680" y="5029199"/>
            <a:ext cx="4937759" cy="365760"/>
          </a:xfrm>
          <a:prstGeom prst="rect">
            <a:avLst/>
          </a:prstGeom>
          <a:noFill/>
        </p:spPr>
        <p:txBody>
          <a:bodyPr wrap="square" lIns="0" tIns="0" rIns="0" bIns="0" anchor="ctr">
            <a:spAutoFit/>
          </a:bodyPr>
          <a:lstStyle/>
          <a:p>
            <a:pPr algn="l"/>
            <a:r>
              <a:rPr sz="1400" b="1" i="0">
                <a:solidFill>
                  <a:srgbClr val="E6EDF3"/>
                </a:solidFill>
                <a:latin typeface="Calibri"/>
              </a:rPr>
              <a:t>Nhớ việc qua các session</a:t>
            </a:r>
          </a:p>
        </p:txBody>
      </p:sp>
      <p:sp>
        <p:nvSpPr>
          <p:cNvPr id="33" name="TextBox 32"/>
          <p:cNvSpPr txBox="1"/>
          <p:nvPr/>
        </p:nvSpPr>
        <p:spPr>
          <a:xfrm>
            <a:off x="868680" y="5404103"/>
            <a:ext cx="4937759" cy="603504"/>
          </a:xfrm>
          <a:prstGeom prst="rect">
            <a:avLst/>
          </a:prstGeom>
          <a:noFill/>
        </p:spPr>
        <p:txBody>
          <a:bodyPr wrap="square" lIns="0" tIns="0" rIns="0" bIns="0" anchor="t">
            <a:spAutoFit/>
          </a:bodyPr>
          <a:lstStyle/>
          <a:p>
            <a:pPr algn="l"/>
            <a:r>
              <a:rPr sz="1000" b="0" i="0">
                <a:solidFill>
                  <a:srgbClr val="8B949E"/>
                </a:solidFill>
                <a:latin typeface="Calibri"/>
              </a:rPr>
              <a:t>Mỗi agent có file memory/&lt;ROLE&gt;.md commit git.</a:t>
            </a:r>
          </a:p>
          <a:p>
            <a:pPr algn="l"/>
            <a:r>
              <a:rPr sz="1000" b="0" i="0">
                <a:solidFill>
                  <a:srgbClr val="8B949E"/>
                </a:solidFill>
                <a:latin typeface="Calibri"/>
              </a:rPr>
              <a:t>Đóng máy hôm nay, mai mở — đọc được context hôm qua.</a:t>
            </a:r>
          </a:p>
          <a:p>
            <a:pPr algn="l"/>
            <a:r>
              <a:rPr sz="1000" b="0" i="0">
                <a:solidFill>
                  <a:srgbClr val="8B949E"/>
                </a:solidFill>
                <a:latin typeface="Calibri"/>
              </a:rPr>
              <a:t>→ Project survive crash, power loss, đổi máy.</a:t>
            </a:r>
          </a:p>
        </p:txBody>
      </p:sp>
      <p:sp>
        <p:nvSpPr>
          <p:cNvPr id="34" name="Rounded Rectangle 33"/>
          <p:cNvSpPr/>
          <p:nvPr/>
        </p:nvSpPr>
        <p:spPr>
          <a:xfrm>
            <a:off x="6217920" y="4983479"/>
            <a:ext cx="5577840" cy="1024127"/>
          </a:xfrm>
          <a:prstGeom prst="roundRect">
            <a:avLst>
              <a:gd name="adj" fmla="val 5000"/>
            </a:avLst>
          </a:prstGeom>
          <a:solidFill>
            <a:srgbClr val="161B22"/>
          </a:solidFill>
          <a:ln w="12700">
            <a:solidFill>
              <a:srgbClr val="2EA0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355080" y="5056631"/>
            <a:ext cx="365760" cy="365760"/>
          </a:xfrm>
          <a:prstGeom prst="rect">
            <a:avLst/>
          </a:prstGeom>
          <a:noFill/>
        </p:spPr>
        <p:txBody>
          <a:bodyPr wrap="square" lIns="0" tIns="0" rIns="0" bIns="0" anchor="ctr">
            <a:spAutoFit/>
          </a:bodyPr>
          <a:lstStyle/>
          <a:p>
            <a:pPr algn="l"/>
            <a:r>
              <a:rPr sz="1800" b="1" i="0">
                <a:solidFill>
                  <a:srgbClr val="7CE38B"/>
                </a:solidFill>
                <a:latin typeface="Consolas"/>
              </a:rPr>
              <a:t>H</a:t>
            </a:r>
          </a:p>
        </p:txBody>
      </p:sp>
      <p:sp>
        <p:nvSpPr>
          <p:cNvPr id="36" name="TextBox 35"/>
          <p:cNvSpPr txBox="1"/>
          <p:nvPr/>
        </p:nvSpPr>
        <p:spPr>
          <a:xfrm>
            <a:off x="6720840" y="5029199"/>
            <a:ext cx="4937759" cy="365760"/>
          </a:xfrm>
          <a:prstGeom prst="rect">
            <a:avLst/>
          </a:prstGeom>
          <a:noFill/>
        </p:spPr>
        <p:txBody>
          <a:bodyPr wrap="square" lIns="0" tIns="0" rIns="0" bIns="0" anchor="ctr">
            <a:spAutoFit/>
          </a:bodyPr>
          <a:lstStyle/>
          <a:p>
            <a:pPr algn="l"/>
            <a:r>
              <a:rPr sz="1400" b="1" i="0">
                <a:solidFill>
                  <a:srgbClr val="E6EDF3"/>
                </a:solidFill>
                <a:latin typeface="Calibri"/>
              </a:rPr>
              <a:t>Nhẹ, chạy 100% local</a:t>
            </a:r>
          </a:p>
        </p:txBody>
      </p:sp>
      <p:sp>
        <p:nvSpPr>
          <p:cNvPr id="37" name="TextBox 36"/>
          <p:cNvSpPr txBox="1"/>
          <p:nvPr/>
        </p:nvSpPr>
        <p:spPr>
          <a:xfrm>
            <a:off x="6720840" y="5404103"/>
            <a:ext cx="4937759" cy="603504"/>
          </a:xfrm>
          <a:prstGeom prst="rect">
            <a:avLst/>
          </a:prstGeom>
          <a:noFill/>
        </p:spPr>
        <p:txBody>
          <a:bodyPr wrap="square" lIns="0" tIns="0" rIns="0" bIns="0" anchor="t">
            <a:spAutoFit/>
          </a:bodyPr>
          <a:lstStyle/>
          <a:p>
            <a:pPr algn="l"/>
            <a:r>
              <a:rPr sz="1000" b="0" i="0">
                <a:solidFill>
                  <a:srgbClr val="8B949E"/>
                </a:solidFill>
                <a:latin typeface="Calibri"/>
              </a:rPr>
              <a:t>Chỉ cần tmux + bash + 1 AI CLI là đủ.</a:t>
            </a:r>
          </a:p>
          <a:p>
            <a:pPr algn="l"/>
            <a:r>
              <a:rPr sz="1000" b="0" i="0">
                <a:solidFill>
                  <a:srgbClr val="8B949E"/>
                </a:solidFill>
                <a:latin typeface="Calibri"/>
              </a:rPr>
              <a:t>Không Python deps, không Docker, không cloud account.</a:t>
            </a:r>
          </a:p>
          <a:p>
            <a:pPr algn="l"/>
            <a:r>
              <a:rPr sz="1000" b="0" i="0">
                <a:solidFill>
                  <a:srgbClr val="8B949E"/>
                </a:solidFill>
                <a:latin typeface="Calibri"/>
              </a:rPr>
              <a:t>→ MacBook là chạy được — vs Devin/Lovable phụ thuộc cloud.</a:t>
            </a:r>
          </a:p>
        </p:txBody>
      </p:sp>
      <p:sp>
        <p:nvSpPr>
          <p:cNvPr id="38" name="TextBox 37"/>
          <p:cNvSpPr txBox="1"/>
          <p:nvPr/>
        </p:nvSpPr>
        <p:spPr>
          <a:xfrm>
            <a:off x="365760" y="6199632"/>
            <a:ext cx="11430000" cy="274320"/>
          </a:xfrm>
          <a:prstGeom prst="rect">
            <a:avLst/>
          </a:prstGeom>
          <a:noFill/>
        </p:spPr>
        <p:txBody>
          <a:bodyPr wrap="square" lIns="0" tIns="0" rIns="0" bIns="0" anchor="t">
            <a:spAutoFit/>
          </a:bodyPr>
          <a:lstStyle/>
          <a:p>
            <a:pPr algn="ctr"/>
            <a:r>
              <a:rPr sz="1200" b="0" i="1">
                <a:solidFill>
                  <a:srgbClr val="F1E05A"/>
                </a:solidFill>
                <a:latin typeface="Calibri"/>
              </a:rPr>
              <a:t>Tiết kiệm chi phí · Quản lý dễ · Bạn vẫn quyết định · Chạy local · Không khóa nhà cung cấp</a:t>
            </a:r>
          </a:p>
        </p:txBody>
      </p:sp>
      <p:sp>
        <p:nvSpPr>
          <p:cNvPr id="39" name="TextBox 38"/>
          <p:cNvSpPr txBox="1"/>
          <p:nvPr/>
        </p:nvSpPr>
        <p:spPr>
          <a:xfrm>
            <a:off x="365760" y="6492240"/>
            <a:ext cx="1097280" cy="228600"/>
          </a:xfrm>
          <a:prstGeom prst="rect">
            <a:avLst/>
          </a:prstGeom>
          <a:noFill/>
        </p:spPr>
        <p:txBody>
          <a:bodyPr wrap="square" lIns="0" tIns="0" rIns="0" bIns="0" anchor="t">
            <a:spAutoFit/>
          </a:bodyPr>
          <a:lstStyle/>
          <a:p>
            <a:pPr algn="l"/>
            <a:r>
              <a:rPr sz="900" b="0" i="0">
                <a:solidFill>
                  <a:srgbClr val="8B949E"/>
                </a:solidFill>
                <a:latin typeface="Consolas"/>
              </a:rPr>
              <a:t>v10.23</a:t>
            </a:r>
          </a:p>
        </p:txBody>
      </p:sp>
      <p:sp>
        <p:nvSpPr>
          <p:cNvPr id="40" name="TextBox 39"/>
          <p:cNvSpPr txBox="1"/>
          <p:nvPr/>
        </p:nvSpPr>
        <p:spPr>
          <a:xfrm>
            <a:off x="4572000" y="6492240"/>
            <a:ext cx="6400800" cy="228600"/>
          </a:xfrm>
          <a:prstGeom prst="rect">
            <a:avLst/>
          </a:prstGeom>
          <a:noFill/>
        </p:spPr>
        <p:txBody>
          <a:bodyPr wrap="square" lIns="0" tIns="0" rIns="0" bIns="0" anchor="t">
            <a:spAutoFit/>
          </a:bodyPr>
          <a:lstStyle/>
          <a:p>
            <a:pPr algn="ctr"/>
            <a:r>
              <a:rPr sz="900" b="0" i="0">
                <a:solidFill>
                  <a:srgbClr val="8B949E"/>
                </a:solidFill>
                <a:latin typeface="Consolas"/>
              </a:rPr>
              <a:t>Product Engineering Agent Framework</a:t>
            </a:r>
          </a:p>
        </p:txBody>
      </p:sp>
      <p:sp>
        <p:nvSpPr>
          <p:cNvPr id="41" name="TextBox 40"/>
          <p:cNvSpPr txBox="1"/>
          <p:nvPr/>
        </p:nvSpPr>
        <p:spPr>
          <a:xfrm>
            <a:off x="11338560" y="6492240"/>
            <a:ext cx="731520" cy="228600"/>
          </a:xfrm>
          <a:prstGeom prst="rect">
            <a:avLst/>
          </a:prstGeom>
          <a:noFill/>
        </p:spPr>
        <p:txBody>
          <a:bodyPr wrap="square" lIns="0" tIns="0" rIns="0" bIns="0" anchor="t">
            <a:spAutoFit/>
          </a:bodyPr>
          <a:lstStyle/>
          <a:p>
            <a:pPr algn="r"/>
            <a:r>
              <a:rPr sz="900" b="0" i="0">
                <a:solidFill>
                  <a:srgbClr val="8B949E"/>
                </a:solidFill>
                <a:latin typeface="Consolas"/>
              </a:rPr>
              <a:t>39 / 40</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2">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548640" y="640080"/>
            <a:ext cx="10972800" cy="457200"/>
          </a:xfrm>
          <a:prstGeom prst="rect">
            <a:avLst/>
          </a:prstGeom>
          <a:noFill/>
          <a:ln/>
        </p:spPr>
        <p:txBody>
          <a:bodyPr wrap="square" lIns="0" tIns="0" rIns="0" bIns="0" rtlCol="0" anchor="ctr"/>
          <a:lstStyle/>
          <a:p>
            <a:pPr marL="0" indent="0">
              <a:buNone/>
            </a:pPr>
            <a:r>
              <a:rPr lang="en-US" sz="1700" b="1" dirty="0">
                <a:solidFill>
                  <a:srgbClr val="7CE38B"/>
                </a:solidFill>
                <a:latin typeface="Consolas" pitchFamily="34" charset="0"/>
                <a:ea typeface="Consolas" pitchFamily="34" charset="-122"/>
                <a:cs typeface="Consolas" pitchFamily="34" charset="-120"/>
              </a:rPr>
              <a:t>$ </a:t>
            </a:r>
            <a:r>
              <a:rPr lang="en-US" sz="1700" dirty="0">
                <a:solidFill>
                  <a:srgbClr val="E6EDF3"/>
                </a:solidFill>
                <a:latin typeface="Consolas" pitchFamily="34" charset="0"/>
                <a:ea typeface="Consolas" pitchFamily="34" charset="-122"/>
                <a:cs typeface="Consolas" pitchFamily="34" charset="-120"/>
              </a:rPr>
              <a:t>git clone </a:t>
            </a:r>
            <a:r>
              <a:rPr lang="en-US" sz="1700" dirty="0">
                <a:solidFill>
                  <a:srgbClr val="79C0FF"/>
                </a:solidFill>
                <a:latin typeface="Consolas" pitchFamily="34" charset="0"/>
                <a:ea typeface="Consolas" pitchFamily="34" charset="-122"/>
                <a:cs typeface="Consolas" pitchFamily="34" charset="-120"/>
              </a:rPr>
              <a:t>github.com/minhtuan-labs/learning-vault</a:t>
            </a:r>
            <a:endParaRPr lang="en-US" sz="1700" dirty="0"/>
          </a:p>
        </p:txBody>
      </p:sp>
      <p:sp>
        <p:nvSpPr>
          <p:cNvPr id="3" name="Text 1"/>
          <p:cNvSpPr/>
          <p:nvPr/>
        </p:nvSpPr>
        <p:spPr>
          <a:xfrm>
            <a:off x="548640" y="1143000"/>
            <a:ext cx="10972800" cy="457200"/>
          </a:xfrm>
          <a:prstGeom prst="rect">
            <a:avLst/>
          </a:prstGeom>
          <a:noFill/>
          <a:ln/>
        </p:spPr>
        <p:txBody>
          <a:bodyPr wrap="square" lIns="0" tIns="0" rIns="0" bIns="0" rtlCol="0" anchor="ctr"/>
          <a:lstStyle/>
          <a:p>
            <a:pPr marL="0" indent="0">
              <a:buNone/>
            </a:pPr>
            <a:r>
              <a:rPr lang="en-US" sz="1700" b="1" dirty="0">
                <a:solidFill>
                  <a:srgbClr val="7CE38B"/>
                </a:solidFill>
                <a:latin typeface="Consolas" pitchFamily="34" charset="0"/>
                <a:ea typeface="Consolas" pitchFamily="34" charset="-122"/>
                <a:cs typeface="Consolas" pitchFamily="34" charset="-120"/>
              </a:rPr>
              <a:t>$ </a:t>
            </a:r>
            <a:r>
              <a:rPr lang="en-US" sz="1700" dirty="0">
                <a:solidFill>
                  <a:srgbClr val="E6EDF3"/>
                </a:solidFill>
                <a:latin typeface="Consolas" pitchFamily="34" charset="0"/>
                <a:ea typeface="Consolas" pitchFamily="34" charset="-122"/>
                <a:cs typeface="Consolas" pitchFamily="34" charset="-120"/>
              </a:rPr>
              <a:t>cd learning-vault/frameworks/product-engineering-template</a:t>
            </a:r>
            <a:endParaRPr lang="en-US" sz="1700" dirty="0"/>
          </a:p>
        </p:txBody>
      </p:sp>
      <p:sp>
        <p:nvSpPr>
          <p:cNvPr id="4" name="Text 2"/>
          <p:cNvSpPr/>
          <p:nvPr/>
        </p:nvSpPr>
        <p:spPr>
          <a:xfrm>
            <a:off x="548640" y="1645920"/>
            <a:ext cx="10972800" cy="457200"/>
          </a:xfrm>
          <a:prstGeom prst="rect">
            <a:avLst/>
          </a:prstGeom>
          <a:noFill/>
          <a:ln/>
        </p:spPr>
        <p:txBody>
          <a:bodyPr wrap="square" lIns="0" tIns="0" rIns="0" bIns="0" rtlCol="0" anchor="ctr"/>
          <a:lstStyle/>
          <a:p>
            <a:pPr marL="0" indent="0">
              <a:buNone/>
            </a:pPr>
            <a:r>
              <a:rPr lang="en-US" sz="1700" b="1" dirty="0">
                <a:solidFill>
                  <a:srgbClr val="7CE38B"/>
                </a:solidFill>
                <a:latin typeface="Consolas" pitchFamily="34" charset="0"/>
                <a:ea typeface="Consolas" pitchFamily="34" charset="-122"/>
                <a:cs typeface="Consolas" pitchFamily="34" charset="-120"/>
              </a:rPr>
              <a:t>$ </a:t>
            </a:r>
            <a:r>
              <a:rPr lang="en-US" sz="1700" dirty="0">
                <a:solidFill>
                  <a:srgbClr val="E6EDF3"/>
                </a:solidFill>
                <a:latin typeface="Consolas" pitchFamily="34" charset="0"/>
                <a:ea typeface="Consolas" pitchFamily="34" charset="-122"/>
                <a:cs typeface="Consolas" pitchFamily="34" charset="-120"/>
              </a:rPr>
              <a:t>bash scripts/start_agents_tmux.sh </a:t>
            </a:r>
            <a:r>
              <a:rPr lang="en-US" sz="1700" dirty="0">
                <a:solidFill>
                  <a:srgbClr val="79C0FF"/>
                </a:solidFill>
                <a:latin typeface="Consolas" pitchFamily="34" charset="0"/>
                <a:ea typeface="Consolas" pitchFamily="34" charset="-122"/>
                <a:cs typeface="Consolas" pitchFamily="34" charset="-120"/>
              </a:rPr>
              <a:t>my-project</a:t>
            </a:r>
            <a:endParaRPr lang="en-US" sz="1700" dirty="0"/>
          </a:p>
        </p:txBody>
      </p:sp>
      <p:sp>
        <p:nvSpPr>
          <p:cNvPr id="5" name="Text 3"/>
          <p:cNvSpPr/>
          <p:nvPr/>
        </p:nvSpPr>
        <p:spPr>
          <a:xfrm>
            <a:off x="548640" y="2148840"/>
            <a:ext cx="10972800" cy="457200"/>
          </a:xfrm>
          <a:prstGeom prst="rect">
            <a:avLst/>
          </a:prstGeom>
          <a:noFill/>
          <a:ln/>
        </p:spPr>
        <p:txBody>
          <a:bodyPr wrap="square" lIns="0" tIns="0" rIns="0" bIns="0" rtlCol="0" anchor="ctr"/>
          <a:lstStyle/>
          <a:p>
            <a:pPr marL="0" indent="0">
              <a:buNone/>
            </a:pPr>
            <a:r>
              <a:rPr lang="en-US" sz="1700" b="1" dirty="0">
                <a:solidFill>
                  <a:srgbClr val="7CE38B"/>
                </a:solidFill>
                <a:latin typeface="Consolas" pitchFamily="34" charset="0"/>
                <a:ea typeface="Consolas" pitchFamily="34" charset="-122"/>
                <a:cs typeface="Consolas" pitchFamily="34" charset="-120"/>
              </a:rPr>
              <a:t>$ </a:t>
            </a:r>
            <a:r>
              <a:rPr lang="en-US" sz="1700" dirty="0">
                <a:solidFill>
                  <a:srgbClr val="8B949E"/>
                </a:solidFill>
                <a:latin typeface="Consolas" pitchFamily="34" charset="0"/>
                <a:ea typeface="Consolas" pitchFamily="34" charset="-122"/>
                <a:cs typeface="Consolas" pitchFamily="34" charset="-120"/>
              </a:rPr>
              <a:t># nói với pane 1: "bắt đầu dự án X"</a:t>
            </a:r>
            <a:endParaRPr lang="en-US" sz="1700" dirty="0"/>
          </a:p>
        </p:txBody>
      </p:sp>
      <p:sp>
        <p:nvSpPr>
          <p:cNvPr id="6" name="Shape 4"/>
          <p:cNvSpPr/>
          <p:nvPr/>
        </p:nvSpPr>
        <p:spPr>
          <a:xfrm>
            <a:off x="0" y="3108960"/>
            <a:ext cx="12161520" cy="36576"/>
          </a:xfrm>
          <a:prstGeom prst="rect">
            <a:avLst/>
          </a:prstGeom>
          <a:solidFill>
            <a:srgbClr val="7CE38B"/>
          </a:solidFill>
          <a:ln w="12700">
            <a:solidFill>
              <a:srgbClr val="7CE38B"/>
            </a:solidFill>
            <a:prstDash val="solid"/>
          </a:ln>
        </p:spPr>
        <p:txBody>
          <a:bodyPr/>
          <a:lstStyle/>
          <a:p>
            <a:endParaRPr lang="en-VN"/>
          </a:p>
        </p:txBody>
      </p:sp>
      <p:sp>
        <p:nvSpPr>
          <p:cNvPr id="7" name="Text 5"/>
          <p:cNvSpPr/>
          <p:nvPr/>
        </p:nvSpPr>
        <p:spPr>
          <a:xfrm>
            <a:off x="548640" y="3474720"/>
            <a:ext cx="10972800" cy="640080"/>
          </a:xfrm>
          <a:prstGeom prst="rect">
            <a:avLst/>
          </a:prstGeom>
          <a:noFill/>
          <a:ln/>
        </p:spPr>
        <p:txBody>
          <a:bodyPr wrap="square" lIns="0" tIns="0" rIns="0" bIns="0" rtlCol="0" anchor="ctr"/>
          <a:lstStyle/>
          <a:p>
            <a:pPr marL="0" indent="0">
              <a:buNone/>
            </a:pPr>
            <a:r>
              <a:rPr lang="en-US" sz="4200" b="1" dirty="0">
                <a:solidFill>
                  <a:srgbClr val="E6EDF3"/>
                </a:solidFill>
                <a:latin typeface="Consolas" pitchFamily="34" charset="0"/>
                <a:ea typeface="Consolas" pitchFamily="34" charset="-122"/>
                <a:cs typeface="Consolas" pitchFamily="34" charset="-120"/>
              </a:rPr>
              <a:t>Cảm ơn đã đọc tới đây.</a:t>
            </a:r>
            <a:endParaRPr lang="en-US" sz="4200" dirty="0"/>
          </a:p>
        </p:txBody>
      </p:sp>
      <p:sp>
        <p:nvSpPr>
          <p:cNvPr id="8" name="Text 6"/>
          <p:cNvSpPr/>
          <p:nvPr/>
        </p:nvSpPr>
        <p:spPr>
          <a:xfrm>
            <a:off x="548640" y="4297680"/>
            <a:ext cx="10972800" cy="1097280"/>
          </a:xfrm>
          <a:prstGeom prst="rect">
            <a:avLst/>
          </a:prstGeom>
          <a:noFill/>
          <a:ln/>
        </p:spPr>
        <p:txBody>
          <a:bodyPr wrap="square" lIns="0" tIns="0" rIns="0" bIns="0" rtlCol="0" anchor="ctr"/>
          <a:lstStyle/>
          <a:p>
            <a:pPr marL="0" indent="0">
              <a:buNone/>
            </a:pPr>
            <a:r>
              <a:rPr lang="en-US" sz="1600" i="1" dirty="0">
                <a:solidFill>
                  <a:srgbClr val="8B949E"/>
                </a:solidFill>
                <a:latin typeface="Calibri" pitchFamily="34" charset="0"/>
                <a:ea typeface="Calibri" pitchFamily="34" charset="-122"/>
                <a:cs typeface="Calibri" pitchFamily="34" charset="-120"/>
              </a:rPr>
              <a:t>Framework này là một dự án nhỏ — phản hồi, issue, PR đều rất welcome.</a:t>
            </a:r>
            <a:endParaRPr lang="en-US" sz="1600" dirty="0"/>
          </a:p>
          <a:p>
            <a:pPr marL="0" indent="0">
              <a:buNone/>
            </a:pPr>
            <a:r>
              <a:rPr lang="en-US" sz="1600" i="1" dirty="0">
                <a:solidFill>
                  <a:srgbClr val="8B949E"/>
                </a:solidFill>
                <a:latin typeface="Calibri" pitchFamily="34" charset="0"/>
                <a:ea typeface="Calibri" pitchFamily="34" charset="-122"/>
                <a:cs typeface="Calibri" pitchFamily="34" charset="-120"/>
              </a:rPr>
              <a:t>Đặc biệt nếu bạn thử với engine khác (aider, goose, codex, gemini-cli…) hoặc model provider khác và gặp gì lạ.</a:t>
            </a:r>
            <a:endParaRPr lang="en-US" sz="1600" dirty="0"/>
          </a:p>
        </p:txBody>
      </p:sp>
      <p:sp>
        <p:nvSpPr>
          <p:cNvPr id="9" name="Shape 7"/>
          <p:cNvSpPr/>
          <p:nvPr/>
        </p:nvSpPr>
        <p:spPr>
          <a:xfrm>
            <a:off x="548640" y="5943600"/>
            <a:ext cx="2286000" cy="292608"/>
          </a:xfrm>
          <a:prstGeom prst="roundRect">
            <a:avLst>
              <a:gd name="adj" fmla="val 18750"/>
            </a:avLst>
          </a:prstGeom>
          <a:solidFill>
            <a:srgbClr val="2EA043"/>
          </a:solidFill>
          <a:ln w="12700">
            <a:solidFill>
              <a:srgbClr val="2EA043"/>
            </a:solidFill>
            <a:prstDash val="solid"/>
          </a:ln>
        </p:spPr>
        <p:txBody>
          <a:bodyPr/>
          <a:lstStyle/>
          <a:p>
            <a:endParaRPr lang="en-VN"/>
          </a:p>
        </p:txBody>
      </p:sp>
      <p:sp>
        <p:nvSpPr>
          <p:cNvPr id="10" name="Text 8"/>
          <p:cNvSpPr/>
          <p:nvPr/>
        </p:nvSpPr>
        <p:spPr>
          <a:xfrm>
            <a:off x="548640" y="5943600"/>
            <a:ext cx="2286000" cy="292608"/>
          </a:xfrm>
          <a:prstGeom prst="rect">
            <a:avLst/>
          </a:prstGeom>
          <a:noFill/>
          <a:ln/>
        </p:spPr>
        <p:txBody>
          <a:bodyPr wrap="square" lIns="0" tIns="0" rIns="0" bIns="0" rtlCol="0" anchor="ctr"/>
          <a:lstStyle/>
          <a:p>
            <a:pPr marL="0" indent="0" algn="ctr">
              <a:buNone/>
            </a:pPr>
            <a:r>
              <a:rPr lang="en-US" sz="1100" b="1" dirty="0">
                <a:solidFill>
                  <a:srgbClr val="0D1117"/>
                </a:solidFill>
                <a:latin typeface="Consolas" pitchFamily="34" charset="0"/>
                <a:ea typeface="Consolas" pitchFamily="34" charset="-122"/>
                <a:cs typeface="Consolas" pitchFamily="34" charset="-120"/>
              </a:rPr>
              <a:t>MIT License</a:t>
            </a:r>
            <a:endParaRPr lang="en-US" sz="1100" dirty="0"/>
          </a:p>
        </p:txBody>
      </p:sp>
      <p:sp>
        <p:nvSpPr>
          <p:cNvPr id="11" name="Shape 9"/>
          <p:cNvSpPr/>
          <p:nvPr/>
        </p:nvSpPr>
        <p:spPr>
          <a:xfrm>
            <a:off x="2971800" y="5943600"/>
            <a:ext cx="2286000" cy="292608"/>
          </a:xfrm>
          <a:prstGeom prst="roundRect">
            <a:avLst>
              <a:gd name="adj" fmla="val 18750"/>
            </a:avLst>
          </a:prstGeom>
          <a:solidFill>
            <a:srgbClr val="7CE38B"/>
          </a:solidFill>
          <a:ln w="12700">
            <a:solidFill>
              <a:srgbClr val="7CE38B"/>
            </a:solidFill>
            <a:prstDash val="solid"/>
          </a:ln>
        </p:spPr>
        <p:txBody>
          <a:bodyPr/>
          <a:lstStyle/>
          <a:p>
            <a:endParaRPr lang="en-VN"/>
          </a:p>
        </p:txBody>
      </p:sp>
      <p:sp>
        <p:nvSpPr>
          <p:cNvPr id="12" name="Text 10"/>
          <p:cNvSpPr/>
          <p:nvPr/>
        </p:nvSpPr>
        <p:spPr>
          <a:xfrm>
            <a:off x="2971800" y="5943600"/>
            <a:ext cx="2286000" cy="292608"/>
          </a:xfrm>
          <a:prstGeom prst="rect">
            <a:avLst/>
          </a:prstGeom>
          <a:noFill/>
          <a:ln/>
        </p:spPr>
        <p:txBody>
          <a:bodyPr wrap="square" lIns="0" tIns="0" rIns="0" bIns="0" rtlCol="0" anchor="ctr"/>
          <a:lstStyle/>
          <a:p>
            <a:pPr marL="0" indent="0" algn="ctr">
              <a:buNone/>
            </a:pPr>
            <a:r>
              <a:rPr lang="en-US" sz="1100" b="1" dirty="0">
                <a:solidFill>
                  <a:srgbClr val="0D1117"/>
                </a:solidFill>
                <a:latin typeface="Consolas" pitchFamily="34" charset="0"/>
                <a:ea typeface="Consolas" pitchFamily="34" charset="-122"/>
                <a:cs typeface="Consolas" pitchFamily="34" charset="-120"/>
              </a:rPr>
              <a:t>v10.23</a:t>
            </a:r>
            <a:endParaRPr lang="en-US" sz="1100" dirty="0"/>
          </a:p>
        </p:txBody>
      </p:sp>
      <p:sp>
        <p:nvSpPr>
          <p:cNvPr id="13" name="Shape 11"/>
          <p:cNvSpPr/>
          <p:nvPr/>
        </p:nvSpPr>
        <p:spPr>
          <a:xfrm>
            <a:off x="5394960" y="5943600"/>
            <a:ext cx="2286000" cy="292608"/>
          </a:xfrm>
          <a:prstGeom prst="roundRect">
            <a:avLst>
              <a:gd name="adj" fmla="val 18750"/>
            </a:avLst>
          </a:prstGeom>
          <a:solidFill>
            <a:srgbClr val="79C0FF"/>
          </a:solidFill>
          <a:ln w="12700">
            <a:solidFill>
              <a:srgbClr val="79C0FF"/>
            </a:solidFill>
            <a:prstDash val="solid"/>
          </a:ln>
        </p:spPr>
        <p:txBody>
          <a:bodyPr/>
          <a:lstStyle/>
          <a:p>
            <a:endParaRPr lang="en-VN"/>
          </a:p>
        </p:txBody>
      </p:sp>
      <p:sp>
        <p:nvSpPr>
          <p:cNvPr id="14" name="Text 12"/>
          <p:cNvSpPr/>
          <p:nvPr/>
        </p:nvSpPr>
        <p:spPr>
          <a:xfrm>
            <a:off x="5394960" y="5943600"/>
            <a:ext cx="2286000" cy="292608"/>
          </a:xfrm>
          <a:prstGeom prst="rect">
            <a:avLst/>
          </a:prstGeom>
          <a:noFill/>
          <a:ln/>
        </p:spPr>
        <p:txBody>
          <a:bodyPr wrap="square" lIns="0" tIns="0" rIns="0" bIns="0" rtlCol="0" anchor="ctr"/>
          <a:lstStyle/>
          <a:p>
            <a:pPr marL="0" indent="0" algn="ctr">
              <a:buNone/>
            </a:pPr>
            <a:r>
              <a:rPr lang="en-US" sz="1100" b="1" dirty="0">
                <a:solidFill>
                  <a:srgbClr val="0D1117"/>
                </a:solidFill>
                <a:latin typeface="Consolas" pitchFamily="34" charset="0"/>
                <a:ea typeface="Consolas" pitchFamily="34" charset="-122"/>
                <a:cs typeface="Consolas" pitchFamily="34" charset="-120"/>
              </a:rPr>
              <a:t>tmux + opencode/claude</a:t>
            </a:r>
            <a:endParaRPr lang="en-US" sz="1100" dirty="0"/>
          </a:p>
        </p:txBody>
      </p:sp>
      <p:sp>
        <p:nvSpPr>
          <p:cNvPr id="15" name="Shape 13"/>
          <p:cNvSpPr/>
          <p:nvPr/>
        </p:nvSpPr>
        <p:spPr>
          <a:xfrm>
            <a:off x="7818120" y="5943600"/>
            <a:ext cx="2286000" cy="292608"/>
          </a:xfrm>
          <a:prstGeom prst="roundRect">
            <a:avLst>
              <a:gd name="adj" fmla="val 18750"/>
            </a:avLst>
          </a:prstGeom>
          <a:solidFill>
            <a:srgbClr val="D2A8FF"/>
          </a:solidFill>
          <a:ln w="12700">
            <a:solidFill>
              <a:srgbClr val="D2A8FF"/>
            </a:solidFill>
            <a:prstDash val="solid"/>
          </a:ln>
        </p:spPr>
        <p:txBody>
          <a:bodyPr/>
          <a:lstStyle/>
          <a:p>
            <a:endParaRPr lang="en-VN"/>
          </a:p>
        </p:txBody>
      </p:sp>
      <p:sp>
        <p:nvSpPr>
          <p:cNvPr id="16" name="Text 14"/>
          <p:cNvSpPr/>
          <p:nvPr/>
        </p:nvSpPr>
        <p:spPr>
          <a:xfrm>
            <a:off x="7818120" y="5943600"/>
            <a:ext cx="2286000" cy="292608"/>
          </a:xfrm>
          <a:prstGeom prst="rect">
            <a:avLst/>
          </a:prstGeom>
          <a:noFill/>
          <a:ln/>
        </p:spPr>
        <p:txBody>
          <a:bodyPr wrap="square" lIns="0" tIns="0" rIns="0" bIns="0" rtlCol="0" anchor="ctr"/>
          <a:lstStyle/>
          <a:p>
            <a:pPr marL="0" indent="0" algn="ctr">
              <a:buNone/>
            </a:pPr>
            <a:r>
              <a:rPr lang="en-US" sz="1100" b="1" dirty="0">
                <a:solidFill>
                  <a:srgbClr val="0D1117"/>
                </a:solidFill>
                <a:latin typeface="Consolas" pitchFamily="34" charset="0"/>
                <a:ea typeface="Consolas" pitchFamily="34" charset="-122"/>
                <a:cs typeface="Consolas" pitchFamily="34" charset="-120"/>
              </a:rPr>
              <a:t>Tuan M. Pham</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7937</Words>
  <Application>Microsoft Macintosh PowerPoint</Application>
  <PresentationFormat>Widescreen</PresentationFormat>
  <Paragraphs>1061</Paragraphs>
  <Slides>40</Slides>
  <Notes>32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40</vt:i4>
      </vt:variant>
    </vt:vector>
  </HeadingPairs>
  <TitlesOfParts>
    <vt:vector size="44"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Product Engineering Agent Framework — Onboarding</dc:title>
  <dc:subject>Multi-agent product engineering on tmux — OpenCode or Claude Code</dc:subject>
  <dc:creator>Tuan M. Pham</dc:creator>
  <cp:lastModifiedBy>Office</cp:lastModifiedBy>
  <cp:revision>2</cp:revision>
  <dcterms:created xsi:type="dcterms:W3CDTF">2026-05-15T12:30:21Z</dcterms:created>
  <dcterms:modified xsi:type="dcterms:W3CDTF">2026-05-20T15:03:25Z</dcterms:modified>
</cp:coreProperties>
</file>