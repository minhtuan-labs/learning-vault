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2194560"/>
            <a:ext cx="12161520" cy="45720"/>
          </a:xfrm>
          <a:prstGeom prst="rect">
            <a:avLst/>
          </a:prstGeom>
          <a:solidFill>
            <a:srgbClr val="7CE38B"/>
          </a:solidFill>
          <a:ln w="12700">
            <a:solidFill>
              <a:srgbClr val="7CE38B"/>
            </a:solidFill>
            <a:prstDash val="solid"/>
          </a:ln>
        </p:spPr>
      </p:sp>
      <p:sp>
        <p:nvSpPr>
          <p:cNvPr id="3" name="Text 1"/>
          <p:cNvSpPr/>
          <p:nvPr/>
        </p:nvSpPr>
        <p:spPr>
          <a:xfrm>
            <a:off x="548640" y="914400"/>
            <a:ext cx="10972800" cy="548640"/>
          </a:xfrm>
          <a:prstGeom prst="rect">
            <a:avLst/>
          </a:prstGeom>
          <a:noFill/>
          <a:ln/>
        </p:spPr>
        <p:txBody>
          <a:bodyPr wrap="square" lIns="0" tIns="0" rIns="0" bIns="0" rtlCol="0" anchor="ctr"/>
          <a:lstStyle/>
          <a:p>
            <a:pPr indent="0" marL="0">
              <a:buNone/>
            </a:pPr>
            <a:r>
              <a:rPr lang="en-US" sz="2200" b="1" dirty="0">
                <a:solidFill>
                  <a:srgbClr val="7CE38B"/>
                </a:solidFill>
                <a:latin typeface="Consolas" pitchFamily="34" charset="0"/>
                <a:ea typeface="Consolas" pitchFamily="34" charset="-122"/>
                <a:cs typeface="Consolas" pitchFamily="34" charset="-120"/>
              </a:rPr>
              <a:t>$ </a:t>
            </a:r>
            <a:pPr indent="0" marL="0">
              <a:buNone/>
            </a:pPr>
            <a:r>
              <a:rPr lang="en-US" sz="2200" b="1" dirty="0">
                <a:solidFill>
                  <a:srgbClr val="E6EDF3"/>
                </a:solidFill>
                <a:latin typeface="Consolas" pitchFamily="34" charset="0"/>
                <a:ea typeface="Consolas" pitchFamily="34" charset="-122"/>
                <a:cs typeface="Consolas" pitchFamily="34" charset="-120"/>
              </a:rPr>
              <a:t>product-engineering-template</a:t>
            </a:r>
            <a:pPr indent="0" marL="0">
              <a:buNone/>
            </a:pPr>
            <a:r>
              <a:rPr lang="en-US" sz="2200" dirty="0">
                <a:solidFill>
                  <a:srgbClr val="79C0FF"/>
                </a:solidFill>
                <a:latin typeface="Consolas" pitchFamily="34" charset="0"/>
                <a:ea typeface="Consolas" pitchFamily="34" charset="-122"/>
                <a:cs typeface="Consolas" pitchFamily="34" charset="-120"/>
              </a:rPr>
              <a:t> --start</a:t>
            </a:r>
            <a:endParaRPr lang="en-US" sz="2200" dirty="0"/>
          </a:p>
        </p:txBody>
      </p:sp>
      <p:sp>
        <p:nvSpPr>
          <p:cNvPr id="4" name="Text 2"/>
          <p:cNvSpPr/>
          <p:nvPr/>
        </p:nvSpPr>
        <p:spPr>
          <a:xfrm>
            <a:off x="548640" y="2560320"/>
            <a:ext cx="10972800" cy="1828800"/>
          </a:xfrm>
          <a:prstGeom prst="rect">
            <a:avLst/>
          </a:prstGeom>
          <a:noFill/>
          <a:ln/>
        </p:spPr>
        <p:txBody>
          <a:bodyPr wrap="square" lIns="0" tIns="0" rIns="0" bIns="0" rtlCol="0" anchor="ctr"/>
          <a:lstStyle/>
          <a:p>
            <a:pPr indent="0" marL="0">
              <a:lnSpc>
                <a:spcPct val="95000"/>
              </a:lnSpc>
              <a:buNone/>
            </a:pPr>
            <a:r>
              <a:rPr lang="en-US" sz="6000" b="1" spc="200" kern="0" dirty="0">
                <a:solidFill>
                  <a:srgbClr val="E6EDF3"/>
                </a:solidFill>
                <a:latin typeface="Consolas" pitchFamily="34" charset="0"/>
                <a:ea typeface="Consolas" pitchFamily="34" charset="-122"/>
                <a:cs typeface="Consolas" pitchFamily="34" charset="-120"/>
              </a:rPr>
              <a:t>PRODUCT ENGINEERING</a:t>
            </a:r>
            <a:endParaRPr lang="en-US" sz="6000" dirty="0"/>
          </a:p>
          <a:p>
            <a:pPr indent="0" marL="0">
              <a:lnSpc>
                <a:spcPct val="95000"/>
              </a:lnSpc>
              <a:buNone/>
            </a:pPr>
            <a:r>
              <a:rPr lang="en-US" sz="6000" b="1" spc="200" kern="0" dirty="0">
                <a:solidFill>
                  <a:srgbClr val="E6EDF3"/>
                </a:solidFill>
                <a:latin typeface="Consolas" pitchFamily="34" charset="0"/>
                <a:ea typeface="Consolas" pitchFamily="34" charset="-122"/>
                <a:cs typeface="Consolas" pitchFamily="34" charset="-120"/>
              </a:rPr>
              <a:t>AGENT FRAMEWORK</a:t>
            </a:r>
            <a:endParaRPr lang="en-US" sz="6000" dirty="0"/>
          </a:p>
        </p:txBody>
      </p:sp>
      <p:sp>
        <p:nvSpPr>
          <p:cNvPr id="5" name="Text 3"/>
          <p:cNvSpPr/>
          <p:nvPr/>
        </p:nvSpPr>
        <p:spPr>
          <a:xfrm>
            <a:off x="548640" y="4572000"/>
            <a:ext cx="10972800" cy="1005840"/>
          </a:xfrm>
          <a:prstGeom prst="rect">
            <a:avLst/>
          </a:prstGeom>
          <a:noFill/>
          <a:ln/>
        </p:spPr>
        <p:txBody>
          <a:bodyPr wrap="square" lIns="0" tIns="0" rIns="0" bIns="0" rtlCol="0" anchor="ctr"/>
          <a:lstStyle/>
          <a:p>
            <a:pPr indent="0" marL="0">
              <a:buNone/>
            </a:pPr>
            <a:r>
              <a:rPr lang="en-US" sz="1600" i="1" dirty="0">
                <a:solidFill>
                  <a:srgbClr val="8B949E"/>
                </a:solidFill>
                <a:latin typeface="Calibri" pitchFamily="34" charset="0"/>
                <a:ea typeface="Calibri" pitchFamily="34" charset="-122"/>
                <a:cs typeface="Calibri" pitchFamily="34" charset="-120"/>
              </a:rPr>
              <a:t>Một đội kỹ sư sản phẩm AI trên tmux — 9 vai trò, 9 pane, 9 model.</a:t>
            </a:r>
            <a:endParaRPr lang="en-US" sz="1600" dirty="0"/>
          </a:p>
          <a:p>
            <a:pPr indent="0" marL="0">
              <a:buNone/>
            </a:pPr>
            <a:r>
              <a:rPr lang="en-US" sz="1600" i="1" dirty="0">
                <a:solidFill>
                  <a:srgbClr val="8B949E"/>
                </a:solidFill>
                <a:latin typeface="Calibri" pitchFamily="34" charset="0"/>
                <a:ea typeface="Calibri" pitchFamily="34" charset="-122"/>
                <a:cs typeface="Calibri" pitchFamily="34" charset="-120"/>
              </a:rPr>
              <a:t>Học theo nguyên lý BMAD. Talk với Orchestrator, để cả đội cùng làm việc.</a:t>
            </a:r>
            <a:endParaRPr lang="en-US" sz="1600" dirty="0"/>
          </a:p>
        </p:txBody>
      </p:sp>
      <p:sp>
        <p:nvSpPr>
          <p:cNvPr id="6" name="Text 4"/>
          <p:cNvSpPr/>
          <p:nvPr/>
        </p:nvSpPr>
        <p:spPr>
          <a:xfrm>
            <a:off x="548640" y="6035040"/>
            <a:ext cx="10972800" cy="320040"/>
          </a:xfrm>
          <a:prstGeom prst="rect">
            <a:avLst/>
          </a:prstGeom>
          <a:noFill/>
          <a:ln/>
        </p:spPr>
        <p:txBody>
          <a:bodyPr wrap="square" lIns="0" tIns="0" rIns="0" bIns="0" rtlCol="0" anchor="ctr"/>
          <a:lstStyle/>
          <a:p>
            <a:pPr indent="0" marL="0">
              <a:buNone/>
            </a:pPr>
            <a:r>
              <a:rPr lang="en-US" sz="1200" dirty="0">
                <a:solidFill>
                  <a:srgbClr val="7CE38B"/>
                </a:solidFill>
                <a:latin typeface="Consolas" pitchFamily="34" charset="0"/>
                <a:ea typeface="Consolas" pitchFamily="34" charset="-122"/>
                <a:cs typeface="Consolas" pitchFamily="34" charset="-120"/>
              </a:rPr>
              <a:t>v10.11</a:t>
            </a:r>
            <a:pPr indent="0" marL="0">
              <a:buNone/>
            </a:pPr>
            <a:r>
              <a:rPr lang="en-US" sz="1200" dirty="0">
                <a:solidFill>
                  <a:srgbClr val="8B949E"/>
                </a:solidFill>
                <a:latin typeface="Consolas" pitchFamily="34" charset="0"/>
                <a:ea typeface="Consolas" pitchFamily="34" charset="-122"/>
                <a:cs typeface="Consolas" pitchFamily="34" charset="-120"/>
              </a:rPr>
              <a:t>  •  </a:t>
            </a:r>
            <a:pPr indent="0" marL="0">
              <a:buNone/>
            </a:pPr>
            <a:r>
              <a:rPr lang="en-US" sz="1200" dirty="0">
                <a:solidFill>
                  <a:srgbClr val="E6EDF3"/>
                </a:solidFill>
                <a:latin typeface="Consolas" pitchFamily="34" charset="0"/>
                <a:ea typeface="Consolas" pitchFamily="34" charset="-122"/>
                <a:cs typeface="Consolas" pitchFamily="34" charset="-120"/>
              </a:rPr>
              <a:t>Onboarding deck</a:t>
            </a:r>
            <a:pPr indent="0" marL="0">
              <a:buNone/>
            </a:pPr>
            <a:r>
              <a:rPr lang="en-US" sz="1200" dirty="0">
                <a:solidFill>
                  <a:srgbClr val="8B949E"/>
                </a:solidFill>
                <a:latin typeface="Consolas" pitchFamily="34" charset="0"/>
                <a:ea typeface="Consolas" pitchFamily="34" charset="-122"/>
                <a:cs typeface="Consolas" pitchFamily="34" charset="-120"/>
              </a:rPr>
              <a:t>  •  </a:t>
            </a:r>
            <a:pPr indent="0" marL="0">
              <a:buNone/>
            </a:pPr>
            <a:r>
              <a:rPr lang="en-US" sz="1200" dirty="0">
                <a:solidFill>
                  <a:srgbClr val="79C0FF"/>
                </a:solidFill>
                <a:latin typeface="Consolas" pitchFamily="34" charset="0"/>
                <a:ea typeface="Consolas" pitchFamily="34" charset="-122"/>
                <a:cs typeface="Consolas" pitchFamily="34" charset="-120"/>
              </a:rPr>
              <a:t>Tuan M. Pham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01_motivation.md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Tại sao multi-agent?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Ba vấn đề mà single-model agent thường gặp phải</a:t>
            </a:r>
            <a:endParaRPr lang="en-US" sz="1400" dirty="0"/>
          </a:p>
        </p:txBody>
      </p:sp>
      <p:sp>
        <p:nvSpPr>
          <p:cNvPr id="5" name="Shape 3"/>
          <p:cNvSpPr/>
          <p:nvPr/>
        </p:nvSpPr>
        <p:spPr>
          <a:xfrm>
            <a:off x="365760" y="1828800"/>
            <a:ext cx="3657600" cy="4206240"/>
          </a:xfrm>
          <a:prstGeom prst="rect">
            <a:avLst/>
          </a:prstGeom>
          <a:solidFill>
            <a:srgbClr val="161B22"/>
          </a:solidFill>
          <a:ln w="12700">
            <a:solidFill>
              <a:srgbClr val="30363D"/>
            </a:solidFill>
            <a:prstDash val="solid"/>
          </a:ln>
        </p:spPr>
      </p:sp>
      <p:sp>
        <p:nvSpPr>
          <p:cNvPr id="6" name="Shape 4"/>
          <p:cNvSpPr/>
          <p:nvPr/>
        </p:nvSpPr>
        <p:spPr>
          <a:xfrm>
            <a:off x="365760" y="1828800"/>
            <a:ext cx="73152" cy="4206240"/>
          </a:xfrm>
          <a:prstGeom prst="rect">
            <a:avLst/>
          </a:prstGeom>
          <a:solidFill>
            <a:srgbClr val="F85149"/>
          </a:solidFill>
          <a:ln w="12700">
            <a:solidFill>
              <a:srgbClr val="F85149"/>
            </a:solidFill>
            <a:prstDash val="solid"/>
          </a:ln>
        </p:spPr>
      </p:sp>
      <p:sp>
        <p:nvSpPr>
          <p:cNvPr id="7" name="Text 5"/>
          <p:cNvSpPr/>
          <p:nvPr/>
        </p:nvSpPr>
        <p:spPr>
          <a:xfrm>
            <a:off x="640080" y="2011680"/>
            <a:ext cx="3291840" cy="548640"/>
          </a:xfrm>
          <a:prstGeom prst="rect">
            <a:avLst/>
          </a:prstGeom>
          <a:noFill/>
          <a:ln/>
        </p:spPr>
        <p:txBody>
          <a:bodyPr wrap="square" lIns="0" tIns="0" rIns="0" bIns="0" rtlCol="0" anchor="ctr"/>
          <a:lstStyle/>
          <a:p>
            <a:pPr indent="0" marL="0">
              <a:buNone/>
            </a:pPr>
            <a:r>
              <a:rPr lang="en-US" sz="2200" b="1" dirty="0">
                <a:solidFill>
                  <a:srgbClr val="F85149"/>
                </a:solidFill>
                <a:latin typeface="Consolas" pitchFamily="34" charset="0"/>
                <a:ea typeface="Consolas" pitchFamily="34" charset="-122"/>
                <a:cs typeface="Consolas" pitchFamily="34" charset="-120"/>
              </a:rPr>
              <a:t>ĐẮT 💸</a:t>
            </a:r>
            <a:endParaRPr lang="en-US" sz="2200" dirty="0"/>
          </a:p>
        </p:txBody>
      </p:sp>
      <p:sp>
        <p:nvSpPr>
          <p:cNvPr id="8" name="Text 6"/>
          <p:cNvSpPr/>
          <p:nvPr/>
        </p:nvSpPr>
        <p:spPr>
          <a:xfrm>
            <a:off x="64008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Một model mạnh phải làm cả 9 việc. PM, BA, QA thực ra cần model rẻ; chỉ SA/BE/FE/Orchestrator mới cần model mạnh. Single-agent = trả giá strong-model cho mọi task.</a:t>
            </a:r>
            <a:endParaRPr lang="en-US" sz="1300" dirty="0"/>
          </a:p>
        </p:txBody>
      </p:sp>
      <p:sp>
        <p:nvSpPr>
          <p:cNvPr id="9" name="Shape 7"/>
          <p:cNvSpPr/>
          <p:nvPr/>
        </p:nvSpPr>
        <p:spPr>
          <a:xfrm>
            <a:off x="4297680" y="1828800"/>
            <a:ext cx="3657600" cy="4206240"/>
          </a:xfrm>
          <a:prstGeom prst="rect">
            <a:avLst/>
          </a:prstGeom>
          <a:solidFill>
            <a:srgbClr val="161B22"/>
          </a:solidFill>
          <a:ln w="12700">
            <a:solidFill>
              <a:srgbClr val="30363D"/>
            </a:solidFill>
            <a:prstDash val="solid"/>
          </a:ln>
        </p:spPr>
      </p:sp>
      <p:sp>
        <p:nvSpPr>
          <p:cNvPr id="10" name="Shape 8"/>
          <p:cNvSpPr/>
          <p:nvPr/>
        </p:nvSpPr>
        <p:spPr>
          <a:xfrm>
            <a:off x="4297680" y="1828800"/>
            <a:ext cx="73152" cy="4206240"/>
          </a:xfrm>
          <a:prstGeom prst="rect">
            <a:avLst/>
          </a:prstGeom>
          <a:solidFill>
            <a:srgbClr val="D29922"/>
          </a:solidFill>
          <a:ln w="12700">
            <a:solidFill>
              <a:srgbClr val="D29922"/>
            </a:solidFill>
            <a:prstDash val="solid"/>
          </a:ln>
        </p:spPr>
      </p:sp>
      <p:sp>
        <p:nvSpPr>
          <p:cNvPr id="11" name="Text 9"/>
          <p:cNvSpPr/>
          <p:nvPr/>
        </p:nvSpPr>
        <p:spPr>
          <a:xfrm>
            <a:off x="4572000" y="2011680"/>
            <a:ext cx="3291840" cy="548640"/>
          </a:xfrm>
          <a:prstGeom prst="rect">
            <a:avLst/>
          </a:prstGeom>
          <a:noFill/>
          <a:ln/>
        </p:spPr>
        <p:txBody>
          <a:bodyPr wrap="square" lIns="0" tIns="0" rIns="0" bIns="0" rtlCol="0" anchor="ctr"/>
          <a:lstStyle/>
          <a:p>
            <a:pPr indent="0" marL="0">
              <a:buNone/>
            </a:pPr>
            <a:r>
              <a:rPr lang="en-US" sz="2200" b="1" dirty="0">
                <a:solidFill>
                  <a:srgbClr val="D29922"/>
                </a:solidFill>
                <a:latin typeface="Consolas" pitchFamily="34" charset="0"/>
                <a:ea typeface="Consolas" pitchFamily="34" charset="-122"/>
                <a:cs typeface="Consolas" pitchFamily="34" charset="-120"/>
              </a:rPr>
              <a:t>MƠ HỒ 🌀</a:t>
            </a:r>
            <a:endParaRPr lang="en-US" sz="2200" dirty="0"/>
          </a:p>
        </p:txBody>
      </p:sp>
      <p:sp>
        <p:nvSpPr>
          <p:cNvPr id="12" name="Text 10"/>
          <p:cNvSpPr/>
          <p:nvPr/>
        </p:nvSpPr>
        <p:spPr>
          <a:xfrm>
            <a:off x="457200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Subagent transcript thường bị summarize trong context. Bạn không thấy worker nghĩ gì, không reproduce được, không debug được. Audit-trail rất yếu.</a:t>
            </a:r>
            <a:endParaRPr lang="en-US" sz="1300" dirty="0"/>
          </a:p>
        </p:txBody>
      </p:sp>
      <p:sp>
        <p:nvSpPr>
          <p:cNvPr id="13" name="Shape 11"/>
          <p:cNvSpPr/>
          <p:nvPr/>
        </p:nvSpPr>
        <p:spPr>
          <a:xfrm>
            <a:off x="8229600" y="1828800"/>
            <a:ext cx="3657600" cy="4206240"/>
          </a:xfrm>
          <a:prstGeom prst="rect">
            <a:avLst/>
          </a:prstGeom>
          <a:solidFill>
            <a:srgbClr val="161B22"/>
          </a:solidFill>
          <a:ln w="12700">
            <a:solidFill>
              <a:srgbClr val="30363D"/>
            </a:solidFill>
            <a:prstDash val="solid"/>
          </a:ln>
        </p:spPr>
      </p:sp>
      <p:sp>
        <p:nvSpPr>
          <p:cNvPr id="14" name="Shape 12"/>
          <p:cNvSpPr/>
          <p:nvPr/>
        </p:nvSpPr>
        <p:spPr>
          <a:xfrm>
            <a:off x="8229600" y="1828800"/>
            <a:ext cx="73152" cy="4206240"/>
          </a:xfrm>
          <a:prstGeom prst="rect">
            <a:avLst/>
          </a:prstGeom>
          <a:solidFill>
            <a:srgbClr val="D2A8FF"/>
          </a:solidFill>
          <a:ln w="12700">
            <a:solidFill>
              <a:srgbClr val="D2A8FF"/>
            </a:solidFill>
            <a:prstDash val="solid"/>
          </a:ln>
        </p:spPr>
      </p:sp>
      <p:sp>
        <p:nvSpPr>
          <p:cNvPr id="15" name="Text 13"/>
          <p:cNvSpPr/>
          <p:nvPr/>
        </p:nvSpPr>
        <p:spPr>
          <a:xfrm>
            <a:off x="8503920" y="2011680"/>
            <a:ext cx="3291840" cy="548640"/>
          </a:xfrm>
          <a:prstGeom prst="rect">
            <a:avLst/>
          </a:prstGeom>
          <a:noFill/>
          <a:ln/>
        </p:spPr>
        <p:txBody>
          <a:bodyPr wrap="square" lIns="0" tIns="0" rIns="0" bIns="0" rtlCol="0" anchor="ctr"/>
          <a:lstStyle/>
          <a:p>
            <a:pPr indent="0" marL="0">
              <a:buNone/>
            </a:pPr>
            <a:r>
              <a:rPr lang="en-US" sz="2200" b="1" dirty="0">
                <a:solidFill>
                  <a:srgbClr val="D2A8FF"/>
                </a:solidFill>
                <a:latin typeface="Consolas" pitchFamily="34" charset="0"/>
                <a:ea typeface="Consolas" pitchFamily="34" charset="-122"/>
                <a:cs typeface="Consolas" pitchFamily="34" charset="-120"/>
              </a:rPr>
              <a:t>LỆCH LANE 🚧</a:t>
            </a:r>
            <a:endParaRPr lang="en-US" sz="2200" dirty="0"/>
          </a:p>
        </p:txBody>
      </p:sp>
      <p:sp>
        <p:nvSpPr>
          <p:cNvPr id="16" name="Text 14"/>
          <p:cNvSpPr/>
          <p:nvPr/>
        </p:nvSpPr>
        <p:spPr>
          <a:xfrm>
            <a:off x="850392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Một 'PM subagent' được gọi từ BE thường lại đi viết code. Vai trò bị blur. Không có cơ chế chặn 'stay in your lane' — chất lượng giảm dần.</a:t>
            </a:r>
            <a:endParaRPr lang="en-US" sz="1300" dirty="0"/>
          </a:p>
        </p:txBody>
      </p:sp>
      <p:sp>
        <p:nvSpPr>
          <p:cNvPr id="17" name="Text 1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 / 29</a:t>
            </a:r>
            <a:endParaRPr lang="en-US" sz="900" dirty="0"/>
          </a:p>
        </p:txBody>
      </p:sp>
      <p:sp>
        <p:nvSpPr>
          <p:cNvPr id="18" name="Text 1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9" name="Text 1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02_overview.md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Tổng quan giải pháp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1 người dùng → 1 Orchestrator → 8 worker agent, mỗi cái 1 model riêng</a:t>
            </a:r>
            <a:endParaRPr lang="en-US" sz="1400" dirty="0"/>
          </a:p>
        </p:txBody>
      </p:sp>
      <p:sp>
        <p:nvSpPr>
          <p:cNvPr id="5" name="Text 3"/>
          <p:cNvSpPr/>
          <p:nvPr/>
        </p:nvSpPr>
        <p:spPr>
          <a:xfrm>
            <a:off x="365760" y="1828800"/>
            <a:ext cx="5029200" cy="18288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Mỗi role là một tmux pane riêng, chạy OpenCode với một model phù hợp với năng lực và chi phí. Bạn chỉ chat với Orchestrator; Orchestrator route công việc bằng shell commands thật, không dùng subagent ảo.</a:t>
            </a:r>
            <a:endParaRPr lang="en-US" sz="1400" dirty="0"/>
          </a:p>
        </p:txBody>
      </p:sp>
      <p:sp>
        <p:nvSpPr>
          <p:cNvPr id="6" name="Shape 4"/>
          <p:cNvSpPr/>
          <p:nvPr/>
        </p:nvSpPr>
        <p:spPr>
          <a:xfrm>
            <a:off x="365760" y="3840480"/>
            <a:ext cx="54864" cy="292608"/>
          </a:xfrm>
          <a:prstGeom prst="rect">
            <a:avLst/>
          </a:prstGeom>
          <a:solidFill>
            <a:srgbClr val="7CE38B"/>
          </a:solidFill>
          <a:ln w="12700">
            <a:solidFill>
              <a:srgbClr val="7CE38B"/>
            </a:solidFill>
            <a:prstDash val="solid"/>
          </a:ln>
        </p:spPr>
      </p:sp>
      <p:sp>
        <p:nvSpPr>
          <p:cNvPr id="7" name="Text 5"/>
          <p:cNvSpPr/>
          <p:nvPr/>
        </p:nvSpPr>
        <p:spPr>
          <a:xfrm>
            <a:off x="502920" y="3840480"/>
            <a:ext cx="489204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3 tính chất cốt lõi</a:t>
            </a:r>
            <a:endParaRPr lang="en-US" sz="1400" dirty="0"/>
          </a:p>
        </p:txBody>
      </p:sp>
      <p:sp>
        <p:nvSpPr>
          <p:cNvPr id="8" name="Text 6"/>
          <p:cNvSpPr/>
          <p:nvPr/>
        </p:nvSpPr>
        <p:spPr>
          <a:xfrm>
            <a:off x="365760" y="4297680"/>
            <a:ext cx="5029200" cy="164592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Pane = execution boundary (process thật, model thật)</a:t>
            </a:r>
            <a:endParaRPr lang="en-US" sz="1300" dirty="0"/>
          </a:p>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Routing = bash command thật, audit-able qua .pane_logs/</a:t>
            </a:r>
            <a:endParaRPr lang="en-US" sz="1300" dirty="0"/>
          </a:p>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Memory = file system, cross-session, commit vào git</a:t>
            </a:r>
            <a:endParaRPr lang="en-US" sz="1300" dirty="0"/>
          </a:p>
        </p:txBody>
      </p:sp>
      <p:sp>
        <p:nvSpPr>
          <p:cNvPr id="9" name="Shape 7"/>
          <p:cNvSpPr/>
          <p:nvPr/>
        </p:nvSpPr>
        <p:spPr>
          <a:xfrm>
            <a:off x="5760720" y="1737360"/>
            <a:ext cx="6035040" cy="4389120"/>
          </a:xfrm>
          <a:prstGeom prst="rect">
            <a:avLst/>
          </a:prstGeom>
          <a:solidFill>
            <a:srgbClr val="161B22"/>
          </a:solidFill>
          <a:ln w="12700">
            <a:solidFill>
              <a:srgbClr val="30363D"/>
            </a:solidFill>
            <a:prstDash val="solid"/>
          </a:ln>
        </p:spPr>
      </p:sp>
      <p:sp>
        <p:nvSpPr>
          <p:cNvPr id="10" name="Shape 8"/>
          <p:cNvSpPr/>
          <p:nvPr/>
        </p:nvSpPr>
        <p:spPr>
          <a:xfrm>
            <a:off x="5852160" y="1828800"/>
            <a:ext cx="91440" cy="91440"/>
          </a:xfrm>
          <a:prstGeom prst="ellipse">
            <a:avLst/>
          </a:prstGeom>
          <a:solidFill>
            <a:srgbClr val="F85149"/>
          </a:solidFill>
          <a:ln w="12700">
            <a:solidFill>
              <a:srgbClr val="F85149"/>
            </a:solidFill>
            <a:prstDash val="solid"/>
          </a:ln>
        </p:spPr>
      </p:sp>
      <p:sp>
        <p:nvSpPr>
          <p:cNvPr id="11" name="Shape 9"/>
          <p:cNvSpPr/>
          <p:nvPr/>
        </p:nvSpPr>
        <p:spPr>
          <a:xfrm>
            <a:off x="5980176" y="1828800"/>
            <a:ext cx="91440" cy="91440"/>
          </a:xfrm>
          <a:prstGeom prst="ellipse">
            <a:avLst/>
          </a:prstGeom>
          <a:solidFill>
            <a:srgbClr val="D29922"/>
          </a:solidFill>
          <a:ln w="12700">
            <a:solidFill>
              <a:srgbClr val="D29922"/>
            </a:solidFill>
            <a:prstDash val="solid"/>
          </a:ln>
        </p:spPr>
      </p:sp>
      <p:sp>
        <p:nvSpPr>
          <p:cNvPr id="12" name="Shape 10"/>
          <p:cNvSpPr/>
          <p:nvPr/>
        </p:nvSpPr>
        <p:spPr>
          <a:xfrm>
            <a:off x="6108192" y="1828800"/>
            <a:ext cx="91440" cy="91440"/>
          </a:xfrm>
          <a:prstGeom prst="ellipse">
            <a:avLst/>
          </a:prstGeom>
          <a:solidFill>
            <a:srgbClr val="3FB950"/>
          </a:solidFill>
          <a:ln w="12700">
            <a:solidFill>
              <a:srgbClr val="3FB950"/>
            </a:solidFill>
            <a:prstDash val="solid"/>
          </a:ln>
        </p:spPr>
      </p:sp>
      <p:sp>
        <p:nvSpPr>
          <p:cNvPr id="13" name="Text 11"/>
          <p:cNvSpPr/>
          <p:nvPr/>
        </p:nvSpPr>
        <p:spPr>
          <a:xfrm>
            <a:off x="5897880" y="2057400"/>
            <a:ext cx="5760720" cy="402336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USER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ORCHESTRATOR  ║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route_to_pane.sh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    [SA]    [BA]   ... [DEL]</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panes 2 → 9 — mỗi cái 1 model</a:t>
            </a:r>
            <a:endParaRPr lang="en-US" sz="12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3 / 29</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03_bmad_intro.md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BMAD là gì?</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Breakthrough Method for Agile AI-Driven Development</a:t>
            </a:r>
            <a:endParaRPr lang="en-US" sz="1400" dirty="0"/>
          </a:p>
        </p:txBody>
      </p:sp>
      <p:sp>
        <p:nvSpPr>
          <p:cNvPr id="5" name="Shape 3"/>
          <p:cNvSpPr/>
          <p:nvPr/>
        </p:nvSpPr>
        <p:spPr>
          <a:xfrm>
            <a:off x="365760" y="1828800"/>
            <a:ext cx="11430000" cy="1371600"/>
          </a:xfrm>
          <a:prstGeom prst="rect">
            <a:avLst/>
          </a:prstGeom>
          <a:solidFill>
            <a:srgbClr val="161B22"/>
          </a:solidFill>
          <a:ln w="12700">
            <a:solidFill>
              <a:srgbClr val="30363D"/>
            </a:solidFill>
            <a:prstDash val="solid"/>
          </a:ln>
        </p:spPr>
      </p:sp>
      <p:sp>
        <p:nvSpPr>
          <p:cNvPr id="6" name="Text 4"/>
          <p:cNvSpPr/>
          <p:nvPr/>
        </p:nvSpPr>
        <p:spPr>
          <a:xfrm>
            <a:off x="3657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B</a:t>
            </a:r>
            <a:endParaRPr lang="en-US" sz="6400" dirty="0"/>
          </a:p>
        </p:txBody>
      </p:sp>
      <p:sp>
        <p:nvSpPr>
          <p:cNvPr id="7" name="Text 5"/>
          <p:cNvSpPr/>
          <p:nvPr/>
        </p:nvSpPr>
        <p:spPr>
          <a:xfrm>
            <a:off x="3657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Breakthrough</a:t>
            </a:r>
            <a:endParaRPr lang="en-US" sz="1400" dirty="0"/>
          </a:p>
        </p:txBody>
      </p:sp>
      <p:sp>
        <p:nvSpPr>
          <p:cNvPr id="8" name="Text 6"/>
          <p:cNvSpPr/>
          <p:nvPr/>
        </p:nvSpPr>
        <p:spPr>
          <a:xfrm>
            <a:off x="32232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M</a:t>
            </a:r>
            <a:endParaRPr lang="en-US" sz="6400" dirty="0"/>
          </a:p>
        </p:txBody>
      </p:sp>
      <p:sp>
        <p:nvSpPr>
          <p:cNvPr id="9" name="Text 7"/>
          <p:cNvSpPr/>
          <p:nvPr/>
        </p:nvSpPr>
        <p:spPr>
          <a:xfrm>
            <a:off x="32232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Method for</a:t>
            </a:r>
            <a:endParaRPr lang="en-US" sz="1400" dirty="0"/>
          </a:p>
        </p:txBody>
      </p:sp>
      <p:sp>
        <p:nvSpPr>
          <p:cNvPr id="10" name="Text 8"/>
          <p:cNvSpPr/>
          <p:nvPr/>
        </p:nvSpPr>
        <p:spPr>
          <a:xfrm>
            <a:off x="60807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A</a:t>
            </a:r>
            <a:endParaRPr lang="en-US" sz="6400" dirty="0"/>
          </a:p>
        </p:txBody>
      </p:sp>
      <p:sp>
        <p:nvSpPr>
          <p:cNvPr id="11" name="Text 9"/>
          <p:cNvSpPr/>
          <p:nvPr/>
        </p:nvSpPr>
        <p:spPr>
          <a:xfrm>
            <a:off x="60807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Agile AI-Driven</a:t>
            </a:r>
            <a:endParaRPr lang="en-US" sz="1400" dirty="0"/>
          </a:p>
        </p:txBody>
      </p:sp>
      <p:sp>
        <p:nvSpPr>
          <p:cNvPr id="12" name="Text 10"/>
          <p:cNvSpPr/>
          <p:nvPr/>
        </p:nvSpPr>
        <p:spPr>
          <a:xfrm>
            <a:off x="89382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D</a:t>
            </a:r>
            <a:endParaRPr lang="en-US" sz="6400" dirty="0"/>
          </a:p>
        </p:txBody>
      </p:sp>
      <p:sp>
        <p:nvSpPr>
          <p:cNvPr id="13" name="Text 11"/>
          <p:cNvSpPr/>
          <p:nvPr/>
        </p:nvSpPr>
        <p:spPr>
          <a:xfrm>
            <a:off x="89382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Development</a:t>
            </a:r>
            <a:endParaRPr lang="en-US" sz="1400" dirty="0"/>
          </a:p>
        </p:txBody>
      </p:sp>
      <p:sp>
        <p:nvSpPr>
          <p:cNvPr id="14" name="Text 12"/>
          <p:cNvSpPr/>
          <p:nvPr/>
        </p:nvSpPr>
        <p:spPr>
          <a:xfrm>
            <a:off x="365760" y="3200400"/>
            <a:ext cx="11430000" cy="13716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Ý tưởng cốt lõi: chia một dự án phần mềm thành các vai trò chuyên biệt giống một đội Agile thật (PM, Architect, BA, Dev, QA, …), và để mỗi vai trò chạy bởi một agent AI riêng với context và prompt được thiết kế kỹ. AI không thay thế Agile — AI thực thi Agile.</a:t>
            </a:r>
            <a:endParaRPr lang="en-US" sz="1400" dirty="0"/>
          </a:p>
        </p:txBody>
      </p:sp>
      <p:sp>
        <p:nvSpPr>
          <p:cNvPr id="15" name="Shape 13"/>
          <p:cNvSpPr/>
          <p:nvPr/>
        </p:nvSpPr>
        <p:spPr>
          <a:xfrm>
            <a:off x="365760" y="4663440"/>
            <a:ext cx="3657600" cy="1463040"/>
          </a:xfrm>
          <a:prstGeom prst="rect">
            <a:avLst/>
          </a:prstGeom>
          <a:solidFill>
            <a:srgbClr val="1C2128"/>
          </a:solidFill>
          <a:ln w="12700">
            <a:solidFill>
              <a:srgbClr val="30363D"/>
            </a:solidFill>
            <a:prstDash val="solid"/>
          </a:ln>
        </p:spPr>
      </p:sp>
      <p:sp>
        <p:nvSpPr>
          <p:cNvPr id="16" name="Text 14"/>
          <p:cNvSpPr/>
          <p:nvPr/>
        </p:nvSpPr>
        <p:spPr>
          <a:xfrm>
            <a:off x="54864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1. Agentic Planning</a:t>
            </a:r>
            <a:endParaRPr lang="en-US" sz="1400" dirty="0"/>
          </a:p>
        </p:txBody>
      </p:sp>
      <p:sp>
        <p:nvSpPr>
          <p:cNvPr id="17" name="Text 15"/>
          <p:cNvSpPr/>
          <p:nvPr/>
        </p:nvSpPr>
        <p:spPr>
          <a:xfrm>
            <a:off x="54864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Planning artifacts (PRD, Architecture, Stories) do các agent chuyên biệt sinh ra — không bắt một LLM làm tất.</a:t>
            </a:r>
            <a:endParaRPr lang="en-US" sz="1100" dirty="0"/>
          </a:p>
        </p:txBody>
      </p:sp>
      <p:sp>
        <p:nvSpPr>
          <p:cNvPr id="18" name="Shape 16"/>
          <p:cNvSpPr/>
          <p:nvPr/>
        </p:nvSpPr>
        <p:spPr>
          <a:xfrm>
            <a:off x="4297680" y="4663440"/>
            <a:ext cx="3657600" cy="1463040"/>
          </a:xfrm>
          <a:prstGeom prst="rect">
            <a:avLst/>
          </a:prstGeom>
          <a:solidFill>
            <a:srgbClr val="1C2128"/>
          </a:solidFill>
          <a:ln w="12700">
            <a:solidFill>
              <a:srgbClr val="30363D"/>
            </a:solidFill>
            <a:prstDash val="solid"/>
          </a:ln>
        </p:spPr>
      </p:sp>
      <p:sp>
        <p:nvSpPr>
          <p:cNvPr id="19" name="Text 17"/>
          <p:cNvSpPr/>
          <p:nvPr/>
        </p:nvSpPr>
        <p:spPr>
          <a:xfrm>
            <a:off x="448056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2. Context Engineering</a:t>
            </a:r>
            <a:endParaRPr lang="en-US" sz="1400" dirty="0"/>
          </a:p>
        </p:txBody>
      </p:sp>
      <p:sp>
        <p:nvSpPr>
          <p:cNvPr id="20" name="Text 18"/>
          <p:cNvSpPr/>
          <p:nvPr/>
        </p:nvSpPr>
        <p:spPr>
          <a:xfrm>
            <a:off x="448056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Mỗi agent chỉ được nhận đúng context nó cần — không feed cả repo. Tiết kiệm token, tăng độ chính xác.</a:t>
            </a:r>
            <a:endParaRPr lang="en-US" sz="1100" dirty="0"/>
          </a:p>
        </p:txBody>
      </p:sp>
      <p:sp>
        <p:nvSpPr>
          <p:cNvPr id="21" name="Shape 19"/>
          <p:cNvSpPr/>
          <p:nvPr/>
        </p:nvSpPr>
        <p:spPr>
          <a:xfrm>
            <a:off x="8229600" y="4663440"/>
            <a:ext cx="3657600" cy="1463040"/>
          </a:xfrm>
          <a:prstGeom prst="rect">
            <a:avLst/>
          </a:prstGeom>
          <a:solidFill>
            <a:srgbClr val="1C2128"/>
          </a:solidFill>
          <a:ln w="12700">
            <a:solidFill>
              <a:srgbClr val="30363D"/>
            </a:solidFill>
            <a:prstDash val="solid"/>
          </a:ln>
        </p:spPr>
      </p:sp>
      <p:sp>
        <p:nvSpPr>
          <p:cNvPr id="22" name="Text 20"/>
          <p:cNvSpPr/>
          <p:nvPr/>
        </p:nvSpPr>
        <p:spPr>
          <a:xfrm>
            <a:off x="841248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3. Doc-as-Spec</a:t>
            </a:r>
            <a:endParaRPr lang="en-US" sz="1400" dirty="0"/>
          </a:p>
        </p:txBody>
      </p:sp>
      <p:sp>
        <p:nvSpPr>
          <p:cNvPr id="23" name="Text 21"/>
          <p:cNvSpPr/>
          <p:nvPr/>
        </p:nvSpPr>
        <p:spPr>
          <a:xfrm>
            <a:off x="841248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Tài liệu (PRD, ADR, BACKLOG…) là source of truth giữa các agent, không phải conversation history.</a:t>
            </a:r>
            <a:endParaRPr lang="en-US" sz="11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4 / 29</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04_three_approaches.md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3 cách tiếp cận — chọn cái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Single-agent vs nhiều LLM không chung context vs BMAD multi-agent</a:t>
            </a:r>
            <a:endParaRPr lang="en-US" sz="1400" dirty="0"/>
          </a:p>
        </p:txBody>
      </p:sp>
      <p:sp>
        <p:nvSpPr>
          <p:cNvPr id="5" name="Shape 3"/>
          <p:cNvSpPr/>
          <p:nvPr/>
        </p:nvSpPr>
        <p:spPr>
          <a:xfrm>
            <a:off x="365760" y="1783080"/>
            <a:ext cx="3749040" cy="4572000"/>
          </a:xfrm>
          <a:prstGeom prst="rect">
            <a:avLst/>
          </a:prstGeom>
          <a:solidFill>
            <a:srgbClr val="161B22"/>
          </a:solidFill>
          <a:ln w="12700">
            <a:solidFill>
              <a:srgbClr val="30363D"/>
            </a:solidFill>
            <a:prstDash val="solid"/>
          </a:ln>
        </p:spPr>
      </p:sp>
      <p:sp>
        <p:nvSpPr>
          <p:cNvPr id="6" name="Shape 4"/>
          <p:cNvSpPr/>
          <p:nvPr/>
        </p:nvSpPr>
        <p:spPr>
          <a:xfrm>
            <a:off x="365760" y="1783080"/>
            <a:ext cx="73152" cy="4572000"/>
          </a:xfrm>
          <a:prstGeom prst="rect">
            <a:avLst/>
          </a:prstGeom>
          <a:solidFill>
            <a:srgbClr val="F85149"/>
          </a:solidFill>
          <a:ln w="12700">
            <a:solidFill>
              <a:srgbClr val="F85149"/>
            </a:solidFill>
            <a:prstDash val="solid"/>
          </a:ln>
        </p:spPr>
      </p:sp>
      <p:sp>
        <p:nvSpPr>
          <p:cNvPr id="7" name="Text 5"/>
          <p:cNvSpPr/>
          <p:nvPr/>
        </p:nvSpPr>
        <p:spPr>
          <a:xfrm>
            <a:off x="530352" y="1874520"/>
            <a:ext cx="3520440" cy="365760"/>
          </a:xfrm>
          <a:prstGeom prst="rect">
            <a:avLst/>
          </a:prstGeom>
          <a:noFill/>
          <a:ln/>
        </p:spPr>
        <p:txBody>
          <a:bodyPr wrap="square" lIns="0" tIns="0" rIns="0" bIns="0" rtlCol="0" anchor="ctr"/>
          <a:lstStyle/>
          <a:p>
            <a:pPr indent="0" marL="0">
              <a:buNone/>
            </a:pPr>
            <a:r>
              <a:rPr lang="en-US" sz="1400" b="1" dirty="0">
                <a:solidFill>
                  <a:srgbClr val="F85149"/>
                </a:solidFill>
                <a:latin typeface="Consolas" pitchFamily="34" charset="0"/>
                <a:ea typeface="Consolas" pitchFamily="34" charset="-122"/>
                <a:cs typeface="Consolas" pitchFamily="34" charset="-120"/>
              </a:rPr>
              <a:t>SINGLE-AGENT</a:t>
            </a:r>
            <a:endParaRPr lang="en-US" sz="1400" dirty="0"/>
          </a:p>
        </p:txBody>
      </p:sp>
      <p:sp>
        <p:nvSpPr>
          <p:cNvPr id="8" name="Text 6"/>
          <p:cNvSpPr/>
          <p:nvPr/>
        </p:nvSpPr>
        <p:spPr>
          <a:xfrm>
            <a:off x="53035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1 LLM, 1 context</a:t>
            </a:r>
            <a:endParaRPr lang="en-US" sz="1000" dirty="0"/>
          </a:p>
        </p:txBody>
      </p:sp>
      <p:sp>
        <p:nvSpPr>
          <p:cNvPr id="9" name="Text 7"/>
          <p:cNvSpPr/>
          <p:nvPr/>
        </p:nvSpPr>
        <p:spPr>
          <a:xfrm>
            <a:off x="530352" y="2542032"/>
            <a:ext cx="3520440" cy="274320"/>
          </a:xfrm>
          <a:prstGeom prst="rect">
            <a:avLst/>
          </a:prstGeom>
          <a:noFill/>
          <a:ln/>
        </p:spPr>
        <p:txBody>
          <a:bodyPr wrap="square" lIns="0" tIns="0" rIns="0" bIns="0" rtlCol="0" anchor="ctr"/>
          <a:lstStyle/>
          <a:p>
            <a:pPr indent="0" marL="0">
              <a:buNone/>
            </a:pPr>
            <a:r>
              <a:rPr lang="en-US" sz="1000" dirty="0">
                <a:solidFill>
                  <a:srgbClr val="F85149"/>
                </a:solidFill>
                <a:latin typeface="Consolas" pitchFamily="34" charset="0"/>
                <a:ea typeface="Consolas" pitchFamily="34" charset="-122"/>
                <a:cs typeface="Consolas" pitchFamily="34" charset="-120"/>
              </a:rPr>
              <a:t>e.g. ChatGPT / Claude cho mọi việc</a:t>
            </a:r>
            <a:endParaRPr lang="en-US" sz="1000" dirty="0"/>
          </a:p>
        </p:txBody>
      </p:sp>
      <p:sp>
        <p:nvSpPr>
          <p:cNvPr id="10" name="Shape 8"/>
          <p:cNvSpPr/>
          <p:nvPr/>
        </p:nvSpPr>
        <p:spPr>
          <a:xfrm>
            <a:off x="548640" y="2880360"/>
            <a:ext cx="3383280" cy="0"/>
          </a:xfrm>
          <a:prstGeom prst="line">
            <a:avLst/>
          </a:prstGeom>
          <a:noFill/>
          <a:ln w="6350">
            <a:solidFill>
              <a:srgbClr val="30363D"/>
            </a:solidFill>
            <a:prstDash val="solid"/>
          </a:ln>
        </p:spPr>
      </p:sp>
      <p:sp>
        <p:nvSpPr>
          <p:cNvPr id="11" name="Text 9"/>
          <p:cNvSpPr/>
          <p:nvPr/>
        </p:nvSpPr>
        <p:spPr>
          <a:xfrm>
            <a:off x="53035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1 LLM làm cả PM, SA, BA, BE, FE, QA</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Mọi quyết định trộn trong 1 conversation</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Không role boundary — model tự pick lane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Trả giá strong-model cho mọi task</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Context đầy nhanh → hallucination, drift</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Subagent ảo → mất audit trail</a:t>
            </a:r>
            <a:endParaRPr lang="en-US" sz="1100" dirty="0"/>
          </a:p>
        </p:txBody>
      </p:sp>
      <p:sp>
        <p:nvSpPr>
          <p:cNvPr id="12" name="Shape 10"/>
          <p:cNvSpPr/>
          <p:nvPr/>
        </p:nvSpPr>
        <p:spPr>
          <a:xfrm>
            <a:off x="4206240" y="1783080"/>
            <a:ext cx="3749040" cy="4572000"/>
          </a:xfrm>
          <a:prstGeom prst="rect">
            <a:avLst/>
          </a:prstGeom>
          <a:solidFill>
            <a:srgbClr val="161B22"/>
          </a:solidFill>
          <a:ln w="12700">
            <a:solidFill>
              <a:srgbClr val="30363D"/>
            </a:solidFill>
            <a:prstDash val="solid"/>
          </a:ln>
        </p:spPr>
      </p:sp>
      <p:sp>
        <p:nvSpPr>
          <p:cNvPr id="13" name="Shape 11"/>
          <p:cNvSpPr/>
          <p:nvPr/>
        </p:nvSpPr>
        <p:spPr>
          <a:xfrm>
            <a:off x="4206240" y="1783080"/>
            <a:ext cx="73152" cy="4572000"/>
          </a:xfrm>
          <a:prstGeom prst="rect">
            <a:avLst/>
          </a:prstGeom>
          <a:solidFill>
            <a:srgbClr val="D29922"/>
          </a:solidFill>
          <a:ln w="12700">
            <a:solidFill>
              <a:srgbClr val="D29922"/>
            </a:solidFill>
            <a:prstDash val="solid"/>
          </a:ln>
        </p:spPr>
      </p:sp>
      <p:sp>
        <p:nvSpPr>
          <p:cNvPr id="14" name="Text 12"/>
          <p:cNvSpPr/>
          <p:nvPr/>
        </p:nvSpPr>
        <p:spPr>
          <a:xfrm>
            <a:off x="4370832" y="1874520"/>
            <a:ext cx="3520440" cy="365760"/>
          </a:xfrm>
          <a:prstGeom prst="rect">
            <a:avLst/>
          </a:prstGeom>
          <a:noFill/>
          <a:ln/>
        </p:spPr>
        <p:txBody>
          <a:bodyPr wrap="square" lIns="0" tIns="0" rIns="0" bIns="0" rtlCol="0" anchor="ctr"/>
          <a:lstStyle/>
          <a:p>
            <a:pPr indent="0" marL="0">
              <a:buNone/>
            </a:pPr>
            <a:r>
              <a:rPr lang="en-US" sz="1400" b="1" dirty="0">
                <a:solidFill>
                  <a:srgbClr val="D29922"/>
                </a:solidFill>
                <a:latin typeface="Consolas" pitchFamily="34" charset="0"/>
                <a:ea typeface="Consolas" pitchFamily="34" charset="-122"/>
                <a:cs typeface="Consolas" pitchFamily="34" charset="-120"/>
              </a:rPr>
              <a:t>MULTI-LLM, NO CONTEXT</a:t>
            </a:r>
            <a:endParaRPr lang="en-US" sz="1400" dirty="0"/>
          </a:p>
        </p:txBody>
      </p:sp>
      <p:sp>
        <p:nvSpPr>
          <p:cNvPr id="15" name="Text 13"/>
          <p:cNvSpPr/>
          <p:nvPr/>
        </p:nvSpPr>
        <p:spPr>
          <a:xfrm>
            <a:off x="437083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Nhiều tool, user relay tay</a:t>
            </a:r>
            <a:endParaRPr lang="en-US" sz="1000" dirty="0"/>
          </a:p>
        </p:txBody>
      </p:sp>
      <p:sp>
        <p:nvSpPr>
          <p:cNvPr id="16" name="Text 14"/>
          <p:cNvSpPr/>
          <p:nvPr/>
        </p:nvSpPr>
        <p:spPr>
          <a:xfrm>
            <a:off x="4370832" y="2542032"/>
            <a:ext cx="3520440" cy="274320"/>
          </a:xfrm>
          <a:prstGeom prst="rect">
            <a:avLst/>
          </a:prstGeom>
          <a:noFill/>
          <a:ln/>
        </p:spPr>
        <p:txBody>
          <a:bodyPr wrap="square" lIns="0" tIns="0" rIns="0" bIns="0" rtlCol="0" anchor="ctr"/>
          <a:lstStyle/>
          <a:p>
            <a:pPr indent="0" marL="0">
              <a:buNone/>
            </a:pPr>
            <a:r>
              <a:rPr lang="en-US" sz="1000" dirty="0">
                <a:solidFill>
                  <a:srgbClr val="D29922"/>
                </a:solidFill>
                <a:latin typeface="Consolas" pitchFamily="34" charset="0"/>
                <a:ea typeface="Consolas" pitchFamily="34" charset="-122"/>
                <a:cs typeface="Consolas" pitchFamily="34" charset="-120"/>
              </a:rPr>
              <a:t>e.g. ChatGPT plan → Cursor code → Claude review</a:t>
            </a:r>
            <a:endParaRPr lang="en-US" sz="1000" dirty="0"/>
          </a:p>
        </p:txBody>
      </p:sp>
      <p:sp>
        <p:nvSpPr>
          <p:cNvPr id="17" name="Shape 15"/>
          <p:cNvSpPr/>
          <p:nvPr/>
        </p:nvSpPr>
        <p:spPr>
          <a:xfrm>
            <a:off x="4389120" y="2880360"/>
            <a:ext cx="3383280" cy="0"/>
          </a:xfrm>
          <a:prstGeom prst="line">
            <a:avLst/>
          </a:prstGeom>
          <a:noFill/>
          <a:ln w="6350">
            <a:solidFill>
              <a:srgbClr val="30363D"/>
            </a:solidFill>
            <a:prstDash val="solid"/>
          </a:ln>
        </p:spPr>
      </p:sp>
      <p:sp>
        <p:nvSpPr>
          <p:cNvPr id="18" name="Text 16"/>
          <p:cNvSpPr/>
          <p:nvPr/>
        </p:nvSpPr>
        <p:spPr>
          <a:xfrm>
            <a:off x="437083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Mỗi tool 1 model phù hợp việc (good)</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User phải copy/paste context giữa tool</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Mỗi tool có context riêng, không thấy nhau</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Không persistent memory giữa các tool</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Resume hôm sau: re-explain từ đầu</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Audit = chat history rời rạc, khó replay</a:t>
            </a:r>
            <a:endParaRPr lang="en-US" sz="1100" dirty="0"/>
          </a:p>
        </p:txBody>
      </p:sp>
      <p:sp>
        <p:nvSpPr>
          <p:cNvPr id="19" name="Shape 17"/>
          <p:cNvSpPr/>
          <p:nvPr/>
        </p:nvSpPr>
        <p:spPr>
          <a:xfrm>
            <a:off x="8046720" y="1783080"/>
            <a:ext cx="3749040" cy="4572000"/>
          </a:xfrm>
          <a:prstGeom prst="rect">
            <a:avLst/>
          </a:prstGeom>
          <a:solidFill>
            <a:srgbClr val="161B22"/>
          </a:solidFill>
          <a:ln w="12700">
            <a:solidFill>
              <a:srgbClr val="30363D"/>
            </a:solidFill>
            <a:prstDash val="solid"/>
          </a:ln>
        </p:spPr>
      </p:sp>
      <p:sp>
        <p:nvSpPr>
          <p:cNvPr id="20" name="Shape 18"/>
          <p:cNvSpPr/>
          <p:nvPr/>
        </p:nvSpPr>
        <p:spPr>
          <a:xfrm>
            <a:off x="8046720" y="1783080"/>
            <a:ext cx="73152" cy="4572000"/>
          </a:xfrm>
          <a:prstGeom prst="rect">
            <a:avLst/>
          </a:prstGeom>
          <a:solidFill>
            <a:srgbClr val="7CE38B"/>
          </a:solidFill>
          <a:ln w="12700">
            <a:solidFill>
              <a:srgbClr val="7CE38B"/>
            </a:solidFill>
            <a:prstDash val="solid"/>
          </a:ln>
        </p:spPr>
      </p:sp>
      <p:sp>
        <p:nvSpPr>
          <p:cNvPr id="21" name="Text 19"/>
          <p:cNvSpPr/>
          <p:nvPr/>
        </p:nvSpPr>
        <p:spPr>
          <a:xfrm>
            <a:off x="8211312" y="1874520"/>
            <a:ext cx="352044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BMAD MULTI-AGENT</a:t>
            </a:r>
            <a:endParaRPr lang="en-US" sz="1400" dirty="0"/>
          </a:p>
        </p:txBody>
      </p:sp>
      <p:sp>
        <p:nvSpPr>
          <p:cNvPr id="22" name="Text 20"/>
          <p:cNvSpPr/>
          <p:nvPr/>
        </p:nvSpPr>
        <p:spPr>
          <a:xfrm>
            <a:off x="821131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9 role × 9 model, file-based handoff</a:t>
            </a:r>
            <a:endParaRPr lang="en-US" sz="1000" dirty="0"/>
          </a:p>
        </p:txBody>
      </p:sp>
      <p:sp>
        <p:nvSpPr>
          <p:cNvPr id="23" name="Text 21"/>
          <p:cNvSpPr/>
          <p:nvPr/>
        </p:nvSpPr>
        <p:spPr>
          <a:xfrm>
            <a:off x="8211312" y="2542032"/>
            <a:ext cx="3520440" cy="274320"/>
          </a:xfrm>
          <a:prstGeom prst="rect">
            <a:avLst/>
          </a:prstGeom>
          <a:noFill/>
          <a:ln/>
        </p:spPr>
        <p:txBody>
          <a:bodyPr wrap="square" lIns="0" tIns="0" rIns="0" bIns="0" rtlCol="0" anchor="ctr"/>
          <a:lstStyle/>
          <a:p>
            <a:pPr indent="0" marL="0">
              <a:buNone/>
            </a:pPr>
            <a:r>
              <a:rPr lang="en-US" sz="1000" dirty="0">
                <a:solidFill>
                  <a:srgbClr val="7CE38B"/>
                </a:solidFill>
                <a:latin typeface="Consolas" pitchFamily="34" charset="0"/>
                <a:ea typeface="Consolas" pitchFamily="34" charset="-122"/>
                <a:cs typeface="Consolas" pitchFamily="34" charset="-120"/>
              </a:rPr>
              <a:t>e.g. Framework này (v10.11)</a:t>
            </a:r>
            <a:endParaRPr lang="en-US" sz="1000" dirty="0"/>
          </a:p>
        </p:txBody>
      </p:sp>
      <p:sp>
        <p:nvSpPr>
          <p:cNvPr id="24" name="Shape 22"/>
          <p:cNvSpPr/>
          <p:nvPr/>
        </p:nvSpPr>
        <p:spPr>
          <a:xfrm>
            <a:off x="8229600" y="2880360"/>
            <a:ext cx="3383280" cy="0"/>
          </a:xfrm>
          <a:prstGeom prst="line">
            <a:avLst/>
          </a:prstGeom>
          <a:noFill/>
          <a:ln w="6350">
            <a:solidFill>
              <a:srgbClr val="30363D"/>
            </a:solidFill>
            <a:prstDash val="solid"/>
          </a:ln>
        </p:spPr>
      </p:sp>
      <p:sp>
        <p:nvSpPr>
          <p:cNvPr id="25" name="Text 23"/>
          <p:cNvSpPr/>
          <p:nvPr/>
        </p:nvSpPr>
        <p:spPr>
          <a:xfrm>
            <a:off x="821131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1 agent / role, prompt + model riêng</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Handoff qua file system (PRD, ADR…)</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Routing là shell command — replay-able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Memory cross-session, commit git</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Role boundary cứng (Stay in your lane)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Phase gate + quality gate enforce</a:t>
            </a:r>
            <a:endParaRPr lang="en-US" sz="1100" dirty="0"/>
          </a:p>
        </p:txBody>
      </p:sp>
      <p:sp>
        <p:nvSpPr>
          <p:cNvPr id="26" name="Text 24"/>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5 / 29</a:t>
            </a:r>
            <a:endParaRPr lang="en-US" sz="900" dirty="0"/>
          </a:p>
        </p:txBody>
      </p:sp>
      <p:sp>
        <p:nvSpPr>
          <p:cNvPr id="27" name="Text 25"/>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8" name="Text 26"/>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05_how_we_implement_bmad.md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Framework hiện thực BMAD như thế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nguyên lý BMAD ánh xạ vào một cơ chế cụ thể</a:t>
            </a:r>
            <a:endParaRPr lang="en-US" sz="1400" dirty="0"/>
          </a:p>
        </p:txBody>
      </p:sp>
      <p:sp>
        <p:nvSpPr>
          <p:cNvPr id="5" name="Shape 3"/>
          <p:cNvSpPr/>
          <p:nvPr/>
        </p:nvSpPr>
        <p:spPr>
          <a:xfrm>
            <a:off x="365760" y="1828800"/>
            <a:ext cx="11430000" cy="640080"/>
          </a:xfrm>
          <a:prstGeom prst="rect">
            <a:avLst/>
          </a:prstGeom>
          <a:solidFill>
            <a:srgbClr val="161B22"/>
          </a:solidFill>
          <a:ln w="12700">
            <a:solidFill>
              <a:srgbClr val="30363D"/>
            </a:solidFill>
            <a:prstDash val="solid"/>
          </a:ln>
        </p:spPr>
      </p:sp>
      <p:sp>
        <p:nvSpPr>
          <p:cNvPr id="6" name="Shape 4"/>
          <p:cNvSpPr/>
          <p:nvPr/>
        </p:nvSpPr>
        <p:spPr>
          <a:xfrm>
            <a:off x="365760" y="1828800"/>
            <a:ext cx="73152" cy="640080"/>
          </a:xfrm>
          <a:prstGeom prst="rect">
            <a:avLst/>
          </a:prstGeom>
          <a:solidFill>
            <a:srgbClr val="7CE38B"/>
          </a:solidFill>
          <a:ln w="12700">
            <a:solidFill>
              <a:srgbClr val="7CE38B"/>
            </a:solidFill>
            <a:prstDash val="solid"/>
          </a:ln>
        </p:spPr>
      </p:sp>
      <p:sp>
        <p:nvSpPr>
          <p:cNvPr id="7" name="Text 5"/>
          <p:cNvSpPr/>
          <p:nvPr/>
        </p:nvSpPr>
        <p:spPr>
          <a:xfrm>
            <a:off x="548640" y="1828800"/>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Agentic Planning</a:t>
            </a:r>
            <a:endParaRPr lang="en-US" sz="1300" dirty="0"/>
          </a:p>
        </p:txBody>
      </p:sp>
      <p:sp>
        <p:nvSpPr>
          <p:cNvPr id="8" name="Text 6"/>
          <p:cNvSpPr/>
          <p:nvPr/>
        </p:nvSpPr>
        <p:spPr>
          <a:xfrm>
            <a:off x="3840480" y="1828800"/>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9 tmux pane × 9 prompt × 9 model — mỗi role có file prompts/agents/&lt;ROLE&gt;.md riêng</a:t>
            </a:r>
            <a:endParaRPr lang="en-US" sz="1200" dirty="0"/>
          </a:p>
        </p:txBody>
      </p:sp>
      <p:sp>
        <p:nvSpPr>
          <p:cNvPr id="9" name="Shape 7"/>
          <p:cNvSpPr/>
          <p:nvPr/>
        </p:nvSpPr>
        <p:spPr>
          <a:xfrm>
            <a:off x="365760" y="2542032"/>
            <a:ext cx="11430000" cy="640080"/>
          </a:xfrm>
          <a:prstGeom prst="rect">
            <a:avLst/>
          </a:prstGeom>
          <a:solidFill>
            <a:srgbClr val="1C2128"/>
          </a:solidFill>
          <a:ln w="12700">
            <a:solidFill>
              <a:srgbClr val="30363D"/>
            </a:solidFill>
            <a:prstDash val="solid"/>
          </a:ln>
        </p:spPr>
      </p:sp>
      <p:sp>
        <p:nvSpPr>
          <p:cNvPr id="10" name="Shape 8"/>
          <p:cNvSpPr/>
          <p:nvPr/>
        </p:nvSpPr>
        <p:spPr>
          <a:xfrm>
            <a:off x="365760" y="2542032"/>
            <a:ext cx="73152" cy="640080"/>
          </a:xfrm>
          <a:prstGeom prst="rect">
            <a:avLst/>
          </a:prstGeom>
          <a:solidFill>
            <a:srgbClr val="7CE38B"/>
          </a:solidFill>
          <a:ln w="12700">
            <a:solidFill>
              <a:srgbClr val="7CE38B"/>
            </a:solidFill>
            <a:prstDash val="solid"/>
          </a:ln>
        </p:spPr>
      </p:sp>
      <p:sp>
        <p:nvSpPr>
          <p:cNvPr id="11" name="Text 9"/>
          <p:cNvSpPr/>
          <p:nvPr/>
        </p:nvSpPr>
        <p:spPr>
          <a:xfrm>
            <a:off x="548640" y="2542032"/>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Context Engineering</a:t>
            </a:r>
            <a:endParaRPr lang="en-US" sz="1300" dirty="0"/>
          </a:p>
        </p:txBody>
      </p:sp>
      <p:sp>
        <p:nvSpPr>
          <p:cNvPr id="12" name="Text 10"/>
          <p:cNvSpPr/>
          <p:nvPr/>
        </p:nvSpPr>
        <p:spPr>
          <a:xfrm>
            <a:off x="3840480" y="2542032"/>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Lean role-specific read list (v10.6) + memory/&lt;ROLE&gt;.md (v10.5) — đọc đúng cái cần</a:t>
            </a:r>
            <a:endParaRPr lang="en-US" sz="1200" dirty="0"/>
          </a:p>
        </p:txBody>
      </p:sp>
      <p:sp>
        <p:nvSpPr>
          <p:cNvPr id="13" name="Shape 11"/>
          <p:cNvSpPr/>
          <p:nvPr/>
        </p:nvSpPr>
        <p:spPr>
          <a:xfrm>
            <a:off x="365760" y="3255264"/>
            <a:ext cx="11430000" cy="640080"/>
          </a:xfrm>
          <a:prstGeom prst="rect">
            <a:avLst/>
          </a:prstGeom>
          <a:solidFill>
            <a:srgbClr val="161B22"/>
          </a:solidFill>
          <a:ln w="12700">
            <a:solidFill>
              <a:srgbClr val="30363D"/>
            </a:solidFill>
            <a:prstDash val="solid"/>
          </a:ln>
        </p:spPr>
      </p:sp>
      <p:sp>
        <p:nvSpPr>
          <p:cNvPr id="14" name="Shape 12"/>
          <p:cNvSpPr/>
          <p:nvPr/>
        </p:nvSpPr>
        <p:spPr>
          <a:xfrm>
            <a:off x="365760" y="3255264"/>
            <a:ext cx="73152" cy="640080"/>
          </a:xfrm>
          <a:prstGeom prst="rect">
            <a:avLst/>
          </a:prstGeom>
          <a:solidFill>
            <a:srgbClr val="7CE38B"/>
          </a:solidFill>
          <a:ln w="12700">
            <a:solidFill>
              <a:srgbClr val="7CE38B"/>
            </a:solidFill>
            <a:prstDash val="solid"/>
          </a:ln>
        </p:spPr>
      </p:sp>
      <p:sp>
        <p:nvSpPr>
          <p:cNvPr id="15" name="Text 13"/>
          <p:cNvSpPr/>
          <p:nvPr/>
        </p:nvSpPr>
        <p:spPr>
          <a:xfrm>
            <a:off x="548640" y="3255264"/>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Doc-as-Spec</a:t>
            </a:r>
            <a:endParaRPr lang="en-US" sz="1300" dirty="0"/>
          </a:p>
        </p:txBody>
      </p:sp>
      <p:sp>
        <p:nvSpPr>
          <p:cNvPr id="16" name="Text 14"/>
          <p:cNvSpPr/>
          <p:nvPr/>
        </p:nvSpPr>
        <p:spPr>
          <a:xfrm>
            <a:off x="3840480" y="3255264"/>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PRD, ADR, USER_STORIES, TEST_REPORT là source of truth — workers handoff qua file, không qua chat history</a:t>
            </a:r>
            <a:endParaRPr lang="en-US" sz="1200" dirty="0"/>
          </a:p>
        </p:txBody>
      </p:sp>
      <p:sp>
        <p:nvSpPr>
          <p:cNvPr id="17" name="Shape 15"/>
          <p:cNvSpPr/>
          <p:nvPr/>
        </p:nvSpPr>
        <p:spPr>
          <a:xfrm>
            <a:off x="365760" y="3968496"/>
            <a:ext cx="11430000" cy="640080"/>
          </a:xfrm>
          <a:prstGeom prst="rect">
            <a:avLst/>
          </a:prstGeom>
          <a:solidFill>
            <a:srgbClr val="1C2128"/>
          </a:solidFill>
          <a:ln w="12700">
            <a:solidFill>
              <a:srgbClr val="30363D"/>
            </a:solidFill>
            <a:prstDash val="solid"/>
          </a:ln>
        </p:spPr>
      </p:sp>
      <p:sp>
        <p:nvSpPr>
          <p:cNvPr id="18" name="Shape 16"/>
          <p:cNvSpPr/>
          <p:nvPr/>
        </p:nvSpPr>
        <p:spPr>
          <a:xfrm>
            <a:off x="365760" y="3968496"/>
            <a:ext cx="73152" cy="640080"/>
          </a:xfrm>
          <a:prstGeom prst="rect">
            <a:avLst/>
          </a:prstGeom>
          <a:solidFill>
            <a:srgbClr val="7CE38B"/>
          </a:solidFill>
          <a:ln w="12700">
            <a:solidFill>
              <a:srgbClr val="7CE38B"/>
            </a:solidFill>
            <a:prstDash val="solid"/>
          </a:ln>
        </p:spPr>
      </p:sp>
      <p:sp>
        <p:nvSpPr>
          <p:cNvPr id="19" name="Text 17"/>
          <p:cNvSpPr/>
          <p:nvPr/>
        </p:nvSpPr>
        <p:spPr>
          <a:xfrm>
            <a:off x="548640" y="3968496"/>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Process discipline</a:t>
            </a:r>
            <a:endParaRPr lang="en-US" sz="1300" dirty="0"/>
          </a:p>
        </p:txBody>
      </p:sp>
      <p:sp>
        <p:nvSpPr>
          <p:cNvPr id="20" name="Text 18"/>
          <p:cNvSpPr/>
          <p:nvPr/>
        </p:nvSpPr>
        <p:spPr>
          <a:xfrm>
            <a:off x="3840480" y="3968496"/>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Phase gates v10.9, Stay-in-lane v10.10, Tech Stack Protocol v10.7</a:t>
            </a:r>
            <a:endParaRPr lang="en-US" sz="1200" dirty="0"/>
          </a:p>
        </p:txBody>
      </p:sp>
      <p:sp>
        <p:nvSpPr>
          <p:cNvPr id="21" name="Shape 19"/>
          <p:cNvSpPr/>
          <p:nvPr/>
        </p:nvSpPr>
        <p:spPr>
          <a:xfrm>
            <a:off x="365760" y="4681728"/>
            <a:ext cx="11430000" cy="640080"/>
          </a:xfrm>
          <a:prstGeom prst="rect">
            <a:avLst/>
          </a:prstGeom>
          <a:solidFill>
            <a:srgbClr val="161B22"/>
          </a:solidFill>
          <a:ln w="12700">
            <a:solidFill>
              <a:srgbClr val="30363D"/>
            </a:solidFill>
            <a:prstDash val="solid"/>
          </a:ln>
        </p:spPr>
      </p:sp>
      <p:sp>
        <p:nvSpPr>
          <p:cNvPr id="22" name="Shape 20"/>
          <p:cNvSpPr/>
          <p:nvPr/>
        </p:nvSpPr>
        <p:spPr>
          <a:xfrm>
            <a:off x="365760" y="4681728"/>
            <a:ext cx="73152" cy="640080"/>
          </a:xfrm>
          <a:prstGeom prst="rect">
            <a:avLst/>
          </a:prstGeom>
          <a:solidFill>
            <a:srgbClr val="7CE38B"/>
          </a:solidFill>
          <a:ln w="12700">
            <a:solidFill>
              <a:srgbClr val="7CE38B"/>
            </a:solidFill>
            <a:prstDash val="solid"/>
          </a:ln>
        </p:spPr>
      </p:sp>
      <p:sp>
        <p:nvSpPr>
          <p:cNvPr id="23" name="Text 21"/>
          <p:cNvSpPr/>
          <p:nvPr/>
        </p:nvSpPr>
        <p:spPr>
          <a:xfrm>
            <a:off x="548640" y="4681728"/>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Bug-free release</a:t>
            </a:r>
            <a:endParaRPr lang="en-US" sz="1300" dirty="0"/>
          </a:p>
        </p:txBody>
      </p:sp>
      <p:sp>
        <p:nvSpPr>
          <p:cNvPr id="24" name="Text 22"/>
          <p:cNvSpPr/>
          <p:nvPr/>
        </p:nvSpPr>
        <p:spPr>
          <a:xfrm>
            <a:off x="3840480" y="4681728"/>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VERDICT: PASS gate v10.3, BUG_REPORT.md status convention, prerequisite check v10.8</a:t>
            </a:r>
            <a:endParaRPr lang="en-US" sz="1200" dirty="0"/>
          </a:p>
        </p:txBody>
      </p:sp>
      <p:sp>
        <p:nvSpPr>
          <p:cNvPr id="25" name="Shape 23"/>
          <p:cNvSpPr/>
          <p:nvPr/>
        </p:nvSpPr>
        <p:spPr>
          <a:xfrm>
            <a:off x="365760" y="5394960"/>
            <a:ext cx="11430000" cy="640080"/>
          </a:xfrm>
          <a:prstGeom prst="rect">
            <a:avLst/>
          </a:prstGeom>
          <a:solidFill>
            <a:srgbClr val="1C2128"/>
          </a:solidFill>
          <a:ln w="12700">
            <a:solidFill>
              <a:srgbClr val="30363D"/>
            </a:solidFill>
            <a:prstDash val="solid"/>
          </a:ln>
        </p:spPr>
      </p:sp>
      <p:sp>
        <p:nvSpPr>
          <p:cNvPr id="26" name="Shape 24"/>
          <p:cNvSpPr/>
          <p:nvPr/>
        </p:nvSpPr>
        <p:spPr>
          <a:xfrm>
            <a:off x="365760" y="5394960"/>
            <a:ext cx="73152" cy="640080"/>
          </a:xfrm>
          <a:prstGeom prst="rect">
            <a:avLst/>
          </a:prstGeom>
          <a:solidFill>
            <a:srgbClr val="7CE38B"/>
          </a:solidFill>
          <a:ln w="12700">
            <a:solidFill>
              <a:srgbClr val="7CE38B"/>
            </a:solidFill>
            <a:prstDash val="solid"/>
          </a:ln>
        </p:spPr>
      </p:sp>
      <p:sp>
        <p:nvSpPr>
          <p:cNvPr id="27" name="Text 25"/>
          <p:cNvSpPr/>
          <p:nvPr/>
        </p:nvSpPr>
        <p:spPr>
          <a:xfrm>
            <a:off x="548640" y="5394960"/>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Continuity</a:t>
            </a:r>
            <a:endParaRPr lang="en-US" sz="1300" dirty="0"/>
          </a:p>
        </p:txBody>
      </p:sp>
      <p:sp>
        <p:nvSpPr>
          <p:cNvPr id="28" name="Text 26"/>
          <p:cNvSpPr/>
          <p:nvPr/>
        </p:nvSpPr>
        <p:spPr>
          <a:xfrm>
            <a:off x="3840480" y="5394960"/>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memory/_PROJECT_STATE.md + session resume + rescan_project.sh (v10.5)</a:t>
            </a:r>
            <a:endParaRPr lang="en-US" sz="1200" dirty="0"/>
          </a:p>
        </p:txBody>
      </p:sp>
      <p:sp>
        <p:nvSpPr>
          <p:cNvPr id="29" name="Text 27"/>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6 / 29</a:t>
            </a:r>
            <a:endParaRPr lang="en-US" sz="900" dirty="0"/>
          </a:p>
        </p:txBody>
      </p:sp>
      <p:sp>
        <p:nvSpPr>
          <p:cNvPr id="30" name="Text 28"/>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1" name="Text 29"/>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06_architecture.md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Kiến trúc tmux 9 pane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Pane 1 chat với bạn, pane 2-9 chờ được route việc</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USER      ║   bạn chỉ nói với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ORCHESTRATOR  ║   pane 1   opencode-go/glm-5.1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bash scripts/route_to_pane.sh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     ▼     ▼        ▼        ▼     ▼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  [SA]  [BA]  [UX]    [BE]      [FE]  [QA]  [DEL] (idle)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2    3     4     5         6        7     8     9</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deepseek-flash | deepseek-pro | qwen3.6 | mimo-v2.5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mỗi pane chỉ 'wake up' khi nhận routed task; xong → exit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7 / 29</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07_roles.md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9 vai trò trong đội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role có prompt + model + write boundary riêng</a:t>
            </a:r>
            <a:endParaRPr lang="en-US" sz="1400" dirty="0"/>
          </a:p>
        </p:txBody>
      </p:sp>
      <p:sp>
        <p:nvSpPr>
          <p:cNvPr id="5" name="Shape 3"/>
          <p:cNvSpPr/>
          <p:nvPr/>
        </p:nvSpPr>
        <p:spPr>
          <a:xfrm>
            <a:off x="365760" y="1783080"/>
            <a:ext cx="1874520" cy="384048"/>
          </a:xfrm>
          <a:prstGeom prst="rect">
            <a:avLst/>
          </a:prstGeom>
          <a:solidFill>
            <a:srgbClr val="2EA043"/>
          </a:solidFill>
          <a:ln w="12700">
            <a:solidFill>
              <a:srgbClr val="2EA043"/>
            </a:solidFill>
            <a:prstDash val="solid"/>
          </a:ln>
        </p:spPr>
      </p:sp>
      <p:sp>
        <p:nvSpPr>
          <p:cNvPr id="6" name="Text 4"/>
          <p:cNvSpPr/>
          <p:nvPr/>
        </p:nvSpPr>
        <p:spPr>
          <a:xfrm>
            <a:off x="457200" y="1783080"/>
            <a:ext cx="178308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ROLE</a:t>
            </a:r>
            <a:endParaRPr lang="en-US" sz="1100" dirty="0"/>
          </a:p>
        </p:txBody>
      </p:sp>
      <p:sp>
        <p:nvSpPr>
          <p:cNvPr id="7" name="Shape 5"/>
          <p:cNvSpPr/>
          <p:nvPr/>
        </p:nvSpPr>
        <p:spPr>
          <a:xfrm>
            <a:off x="2286000" y="1783080"/>
            <a:ext cx="3337560" cy="384048"/>
          </a:xfrm>
          <a:prstGeom prst="rect">
            <a:avLst/>
          </a:prstGeom>
          <a:solidFill>
            <a:srgbClr val="2EA043"/>
          </a:solidFill>
          <a:ln w="12700">
            <a:solidFill>
              <a:srgbClr val="2EA043"/>
            </a:solidFill>
            <a:prstDash val="solid"/>
          </a:ln>
        </p:spPr>
      </p:sp>
      <p:sp>
        <p:nvSpPr>
          <p:cNvPr id="8" name="Text 6"/>
          <p:cNvSpPr/>
          <p:nvPr/>
        </p:nvSpPr>
        <p:spPr>
          <a:xfrm>
            <a:off x="2377440" y="1783080"/>
            <a:ext cx="324612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TRÁCH NHIỆM CHÍNH</a:t>
            </a:r>
            <a:endParaRPr lang="en-US" sz="1100" dirty="0"/>
          </a:p>
        </p:txBody>
      </p:sp>
      <p:sp>
        <p:nvSpPr>
          <p:cNvPr id="9" name="Shape 7"/>
          <p:cNvSpPr/>
          <p:nvPr/>
        </p:nvSpPr>
        <p:spPr>
          <a:xfrm>
            <a:off x="5669280" y="1783080"/>
            <a:ext cx="2240280" cy="384048"/>
          </a:xfrm>
          <a:prstGeom prst="rect">
            <a:avLst/>
          </a:prstGeom>
          <a:solidFill>
            <a:srgbClr val="2EA043"/>
          </a:solidFill>
          <a:ln w="12700">
            <a:solidFill>
              <a:srgbClr val="2EA043"/>
            </a:solidFill>
            <a:prstDash val="solid"/>
          </a:ln>
        </p:spPr>
      </p:sp>
      <p:sp>
        <p:nvSpPr>
          <p:cNvPr id="10" name="Text 8"/>
          <p:cNvSpPr/>
          <p:nvPr/>
        </p:nvSpPr>
        <p:spPr>
          <a:xfrm>
            <a:off x="5760720" y="1783080"/>
            <a:ext cx="214884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MODEL (opencode-go)</a:t>
            </a:r>
            <a:endParaRPr lang="en-US" sz="1100" dirty="0"/>
          </a:p>
        </p:txBody>
      </p:sp>
      <p:sp>
        <p:nvSpPr>
          <p:cNvPr id="11" name="Shape 9"/>
          <p:cNvSpPr/>
          <p:nvPr/>
        </p:nvSpPr>
        <p:spPr>
          <a:xfrm>
            <a:off x="7955280" y="1783080"/>
            <a:ext cx="4160520" cy="384048"/>
          </a:xfrm>
          <a:prstGeom prst="rect">
            <a:avLst/>
          </a:prstGeom>
          <a:solidFill>
            <a:srgbClr val="2EA043"/>
          </a:solidFill>
          <a:ln w="12700">
            <a:solidFill>
              <a:srgbClr val="2EA043"/>
            </a:solidFill>
            <a:prstDash val="solid"/>
          </a:ln>
        </p:spPr>
      </p:sp>
      <p:sp>
        <p:nvSpPr>
          <p:cNvPr id="12" name="Text 10"/>
          <p:cNvSpPr/>
          <p:nvPr/>
        </p:nvSpPr>
        <p:spPr>
          <a:xfrm>
            <a:off x="8046720" y="1783080"/>
            <a:ext cx="406908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WRITE BOUNDARY</a:t>
            </a:r>
            <a:endParaRPr lang="en-US" sz="1100" dirty="0"/>
          </a:p>
        </p:txBody>
      </p:sp>
      <p:sp>
        <p:nvSpPr>
          <p:cNvPr id="13" name="Shape 11"/>
          <p:cNvSpPr/>
          <p:nvPr/>
        </p:nvSpPr>
        <p:spPr>
          <a:xfrm>
            <a:off x="365760" y="2194560"/>
            <a:ext cx="1874520" cy="411480"/>
          </a:xfrm>
          <a:prstGeom prst="rect">
            <a:avLst/>
          </a:prstGeom>
          <a:solidFill>
            <a:srgbClr val="161B22"/>
          </a:solidFill>
          <a:ln w="6350">
            <a:solidFill>
              <a:srgbClr val="30363D"/>
            </a:solidFill>
            <a:prstDash val="solid"/>
          </a:ln>
        </p:spPr>
      </p:sp>
      <p:sp>
        <p:nvSpPr>
          <p:cNvPr id="14" name="Text 12"/>
          <p:cNvSpPr/>
          <p:nvPr/>
        </p:nvSpPr>
        <p:spPr>
          <a:xfrm>
            <a:off x="457200" y="2194560"/>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ORCHESTRATOR</a:t>
            </a:r>
            <a:endParaRPr lang="en-US" sz="1000" dirty="0"/>
          </a:p>
        </p:txBody>
      </p:sp>
      <p:sp>
        <p:nvSpPr>
          <p:cNvPr id="15" name="Shape 13"/>
          <p:cNvSpPr/>
          <p:nvPr/>
        </p:nvSpPr>
        <p:spPr>
          <a:xfrm>
            <a:off x="2286000" y="2194560"/>
            <a:ext cx="3337560" cy="411480"/>
          </a:xfrm>
          <a:prstGeom prst="rect">
            <a:avLst/>
          </a:prstGeom>
          <a:solidFill>
            <a:srgbClr val="161B22"/>
          </a:solidFill>
          <a:ln w="6350">
            <a:solidFill>
              <a:srgbClr val="30363D"/>
            </a:solidFill>
            <a:prstDash val="solid"/>
          </a:ln>
        </p:spPr>
      </p:sp>
      <p:sp>
        <p:nvSpPr>
          <p:cNvPr id="16" name="Text 14"/>
          <p:cNvSpPr/>
          <p:nvPr/>
        </p:nvSpPr>
        <p:spPr>
          <a:xfrm>
            <a:off x="2377440" y="2194560"/>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Routing + phase gates</a:t>
            </a:r>
            <a:endParaRPr lang="en-US" sz="1000" dirty="0"/>
          </a:p>
        </p:txBody>
      </p:sp>
      <p:sp>
        <p:nvSpPr>
          <p:cNvPr id="17" name="Shape 15"/>
          <p:cNvSpPr/>
          <p:nvPr/>
        </p:nvSpPr>
        <p:spPr>
          <a:xfrm>
            <a:off x="5669280" y="2194560"/>
            <a:ext cx="2240280" cy="411480"/>
          </a:xfrm>
          <a:prstGeom prst="rect">
            <a:avLst/>
          </a:prstGeom>
          <a:solidFill>
            <a:srgbClr val="161B22"/>
          </a:solidFill>
          <a:ln w="6350">
            <a:solidFill>
              <a:srgbClr val="30363D"/>
            </a:solidFill>
            <a:prstDash val="solid"/>
          </a:ln>
        </p:spPr>
      </p:sp>
      <p:sp>
        <p:nvSpPr>
          <p:cNvPr id="18" name="Text 16"/>
          <p:cNvSpPr/>
          <p:nvPr/>
        </p:nvSpPr>
        <p:spPr>
          <a:xfrm>
            <a:off x="5760720" y="2194560"/>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glm-5.1</a:t>
            </a:r>
            <a:endParaRPr lang="en-US" sz="1000" dirty="0"/>
          </a:p>
        </p:txBody>
      </p:sp>
      <p:sp>
        <p:nvSpPr>
          <p:cNvPr id="19" name="Shape 17"/>
          <p:cNvSpPr/>
          <p:nvPr/>
        </p:nvSpPr>
        <p:spPr>
          <a:xfrm>
            <a:off x="7955280" y="2194560"/>
            <a:ext cx="4160520" cy="411480"/>
          </a:xfrm>
          <a:prstGeom prst="rect">
            <a:avLst/>
          </a:prstGeom>
          <a:solidFill>
            <a:srgbClr val="161B22"/>
          </a:solidFill>
          <a:ln w="6350">
            <a:solidFill>
              <a:srgbClr val="30363D"/>
            </a:solidFill>
            <a:prstDash val="solid"/>
          </a:ln>
        </p:spPr>
      </p:sp>
      <p:sp>
        <p:nvSpPr>
          <p:cNvPr id="20" name="Text 18"/>
          <p:cNvSpPr/>
          <p:nvPr/>
        </p:nvSpPr>
        <p:spPr>
          <a:xfrm>
            <a:off x="8046720" y="2194560"/>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TASK.md, _PROJECT_STATE.md</a:t>
            </a:r>
            <a:endParaRPr lang="en-US" sz="1000" dirty="0"/>
          </a:p>
        </p:txBody>
      </p:sp>
      <p:sp>
        <p:nvSpPr>
          <p:cNvPr id="21" name="Shape 19"/>
          <p:cNvSpPr/>
          <p:nvPr/>
        </p:nvSpPr>
        <p:spPr>
          <a:xfrm>
            <a:off x="365760" y="2633472"/>
            <a:ext cx="1874520" cy="411480"/>
          </a:xfrm>
          <a:prstGeom prst="rect">
            <a:avLst/>
          </a:prstGeom>
          <a:solidFill>
            <a:srgbClr val="1C2128"/>
          </a:solidFill>
          <a:ln w="6350">
            <a:solidFill>
              <a:srgbClr val="30363D"/>
            </a:solidFill>
            <a:prstDash val="solid"/>
          </a:ln>
        </p:spPr>
      </p:sp>
      <p:sp>
        <p:nvSpPr>
          <p:cNvPr id="22" name="Text 20"/>
          <p:cNvSpPr/>
          <p:nvPr/>
        </p:nvSpPr>
        <p:spPr>
          <a:xfrm>
            <a:off x="457200" y="2633472"/>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PM</a:t>
            </a:r>
            <a:endParaRPr lang="en-US" sz="1000" dirty="0"/>
          </a:p>
        </p:txBody>
      </p:sp>
      <p:sp>
        <p:nvSpPr>
          <p:cNvPr id="23" name="Shape 21"/>
          <p:cNvSpPr/>
          <p:nvPr/>
        </p:nvSpPr>
        <p:spPr>
          <a:xfrm>
            <a:off x="2286000" y="2633472"/>
            <a:ext cx="3337560" cy="411480"/>
          </a:xfrm>
          <a:prstGeom prst="rect">
            <a:avLst/>
          </a:prstGeom>
          <a:solidFill>
            <a:srgbClr val="1C2128"/>
          </a:solidFill>
          <a:ln w="6350">
            <a:solidFill>
              <a:srgbClr val="30363D"/>
            </a:solidFill>
            <a:prstDash val="solid"/>
          </a:ln>
        </p:spPr>
      </p:sp>
      <p:sp>
        <p:nvSpPr>
          <p:cNvPr id="24" name="Text 22"/>
          <p:cNvSpPr/>
          <p:nvPr/>
        </p:nvSpPr>
        <p:spPr>
          <a:xfrm>
            <a:off x="2377440" y="2633472"/>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Scope, PRD, MVP</a:t>
            </a:r>
            <a:endParaRPr lang="en-US" sz="1000" dirty="0"/>
          </a:p>
        </p:txBody>
      </p:sp>
      <p:sp>
        <p:nvSpPr>
          <p:cNvPr id="25" name="Shape 23"/>
          <p:cNvSpPr/>
          <p:nvPr/>
        </p:nvSpPr>
        <p:spPr>
          <a:xfrm>
            <a:off x="5669280" y="2633472"/>
            <a:ext cx="2240280" cy="411480"/>
          </a:xfrm>
          <a:prstGeom prst="rect">
            <a:avLst/>
          </a:prstGeom>
          <a:solidFill>
            <a:srgbClr val="1C2128"/>
          </a:solidFill>
          <a:ln w="6350">
            <a:solidFill>
              <a:srgbClr val="30363D"/>
            </a:solidFill>
            <a:prstDash val="solid"/>
          </a:ln>
        </p:spPr>
      </p:sp>
      <p:sp>
        <p:nvSpPr>
          <p:cNvPr id="26" name="Text 24"/>
          <p:cNvSpPr/>
          <p:nvPr/>
        </p:nvSpPr>
        <p:spPr>
          <a:xfrm>
            <a:off x="5760720" y="2633472"/>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deepseek-v4-flash</a:t>
            </a:r>
            <a:endParaRPr lang="en-US" sz="1000" dirty="0"/>
          </a:p>
        </p:txBody>
      </p:sp>
      <p:sp>
        <p:nvSpPr>
          <p:cNvPr id="27" name="Shape 25"/>
          <p:cNvSpPr/>
          <p:nvPr/>
        </p:nvSpPr>
        <p:spPr>
          <a:xfrm>
            <a:off x="7955280" y="2633472"/>
            <a:ext cx="4160520" cy="411480"/>
          </a:xfrm>
          <a:prstGeom prst="rect">
            <a:avLst/>
          </a:prstGeom>
          <a:solidFill>
            <a:srgbClr val="1C2128"/>
          </a:solidFill>
          <a:ln w="6350">
            <a:solidFill>
              <a:srgbClr val="30363D"/>
            </a:solidFill>
            <a:prstDash val="solid"/>
          </a:ln>
        </p:spPr>
      </p:sp>
      <p:sp>
        <p:nvSpPr>
          <p:cNvPr id="28" name="Text 26"/>
          <p:cNvSpPr/>
          <p:nvPr/>
        </p:nvSpPr>
        <p:spPr>
          <a:xfrm>
            <a:off x="8046720" y="2633472"/>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docs/product/PRD,ROADMAP, planning/BACKLOG</a:t>
            </a:r>
            <a:endParaRPr lang="en-US" sz="1000" dirty="0"/>
          </a:p>
        </p:txBody>
      </p:sp>
      <p:sp>
        <p:nvSpPr>
          <p:cNvPr id="29" name="Shape 27"/>
          <p:cNvSpPr/>
          <p:nvPr/>
        </p:nvSpPr>
        <p:spPr>
          <a:xfrm>
            <a:off x="365760" y="3072384"/>
            <a:ext cx="1874520" cy="411480"/>
          </a:xfrm>
          <a:prstGeom prst="rect">
            <a:avLst/>
          </a:prstGeom>
          <a:solidFill>
            <a:srgbClr val="161B22"/>
          </a:solidFill>
          <a:ln w="6350">
            <a:solidFill>
              <a:srgbClr val="30363D"/>
            </a:solidFill>
            <a:prstDash val="solid"/>
          </a:ln>
        </p:spPr>
      </p:sp>
      <p:sp>
        <p:nvSpPr>
          <p:cNvPr id="30" name="Text 28"/>
          <p:cNvSpPr/>
          <p:nvPr/>
        </p:nvSpPr>
        <p:spPr>
          <a:xfrm>
            <a:off x="457200" y="3072384"/>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SA</a:t>
            </a:r>
            <a:endParaRPr lang="en-US" sz="1000" dirty="0"/>
          </a:p>
        </p:txBody>
      </p:sp>
      <p:sp>
        <p:nvSpPr>
          <p:cNvPr id="31" name="Shape 29"/>
          <p:cNvSpPr/>
          <p:nvPr/>
        </p:nvSpPr>
        <p:spPr>
          <a:xfrm>
            <a:off x="2286000" y="3072384"/>
            <a:ext cx="3337560" cy="411480"/>
          </a:xfrm>
          <a:prstGeom prst="rect">
            <a:avLst/>
          </a:prstGeom>
          <a:solidFill>
            <a:srgbClr val="161B22"/>
          </a:solidFill>
          <a:ln w="6350">
            <a:solidFill>
              <a:srgbClr val="30363D"/>
            </a:solidFill>
            <a:prstDash val="solid"/>
          </a:ln>
        </p:spPr>
      </p:sp>
      <p:sp>
        <p:nvSpPr>
          <p:cNvPr id="32" name="Text 30"/>
          <p:cNvSpPr/>
          <p:nvPr/>
        </p:nvSpPr>
        <p:spPr>
          <a:xfrm>
            <a:off x="2377440" y="3072384"/>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Architecture, stack</a:t>
            </a:r>
            <a:endParaRPr lang="en-US" sz="1000" dirty="0"/>
          </a:p>
        </p:txBody>
      </p:sp>
      <p:sp>
        <p:nvSpPr>
          <p:cNvPr id="33" name="Shape 31"/>
          <p:cNvSpPr/>
          <p:nvPr/>
        </p:nvSpPr>
        <p:spPr>
          <a:xfrm>
            <a:off x="5669280" y="3072384"/>
            <a:ext cx="2240280" cy="411480"/>
          </a:xfrm>
          <a:prstGeom prst="rect">
            <a:avLst/>
          </a:prstGeom>
          <a:solidFill>
            <a:srgbClr val="161B22"/>
          </a:solidFill>
          <a:ln w="6350">
            <a:solidFill>
              <a:srgbClr val="30363D"/>
            </a:solidFill>
            <a:prstDash val="solid"/>
          </a:ln>
        </p:spPr>
      </p:sp>
      <p:sp>
        <p:nvSpPr>
          <p:cNvPr id="34" name="Text 32"/>
          <p:cNvSpPr/>
          <p:nvPr/>
        </p:nvSpPr>
        <p:spPr>
          <a:xfrm>
            <a:off x="5760720" y="3072384"/>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35" name="Shape 33"/>
          <p:cNvSpPr/>
          <p:nvPr/>
        </p:nvSpPr>
        <p:spPr>
          <a:xfrm>
            <a:off x="7955280" y="3072384"/>
            <a:ext cx="4160520" cy="411480"/>
          </a:xfrm>
          <a:prstGeom prst="rect">
            <a:avLst/>
          </a:prstGeom>
          <a:solidFill>
            <a:srgbClr val="161B22"/>
          </a:solidFill>
          <a:ln w="6350">
            <a:solidFill>
              <a:srgbClr val="30363D"/>
            </a:solidFill>
            <a:prstDash val="solid"/>
          </a:ln>
        </p:spPr>
      </p:sp>
      <p:sp>
        <p:nvSpPr>
          <p:cNvPr id="36" name="Text 34"/>
          <p:cNvSpPr/>
          <p:nvPr/>
        </p:nvSpPr>
        <p:spPr>
          <a:xfrm>
            <a:off x="8046720" y="3072384"/>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docs/architecture/*</a:t>
            </a:r>
            <a:endParaRPr lang="en-US" sz="1000" dirty="0"/>
          </a:p>
        </p:txBody>
      </p:sp>
      <p:sp>
        <p:nvSpPr>
          <p:cNvPr id="37" name="Shape 35"/>
          <p:cNvSpPr/>
          <p:nvPr/>
        </p:nvSpPr>
        <p:spPr>
          <a:xfrm>
            <a:off x="365760" y="3511296"/>
            <a:ext cx="1874520" cy="411480"/>
          </a:xfrm>
          <a:prstGeom prst="rect">
            <a:avLst/>
          </a:prstGeom>
          <a:solidFill>
            <a:srgbClr val="1C2128"/>
          </a:solidFill>
          <a:ln w="6350">
            <a:solidFill>
              <a:srgbClr val="30363D"/>
            </a:solidFill>
            <a:prstDash val="solid"/>
          </a:ln>
        </p:spPr>
      </p:sp>
      <p:sp>
        <p:nvSpPr>
          <p:cNvPr id="38" name="Text 36"/>
          <p:cNvSpPr/>
          <p:nvPr/>
        </p:nvSpPr>
        <p:spPr>
          <a:xfrm>
            <a:off x="457200" y="3511296"/>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BA</a:t>
            </a:r>
            <a:endParaRPr lang="en-US" sz="1000" dirty="0"/>
          </a:p>
        </p:txBody>
      </p:sp>
      <p:sp>
        <p:nvSpPr>
          <p:cNvPr id="39" name="Shape 37"/>
          <p:cNvSpPr/>
          <p:nvPr/>
        </p:nvSpPr>
        <p:spPr>
          <a:xfrm>
            <a:off x="2286000" y="3511296"/>
            <a:ext cx="3337560" cy="411480"/>
          </a:xfrm>
          <a:prstGeom prst="rect">
            <a:avLst/>
          </a:prstGeom>
          <a:solidFill>
            <a:srgbClr val="1C2128"/>
          </a:solidFill>
          <a:ln w="6350">
            <a:solidFill>
              <a:srgbClr val="30363D"/>
            </a:solidFill>
            <a:prstDash val="solid"/>
          </a:ln>
        </p:spPr>
      </p:sp>
      <p:sp>
        <p:nvSpPr>
          <p:cNvPr id="40" name="Text 38"/>
          <p:cNvSpPr/>
          <p:nvPr/>
        </p:nvSpPr>
        <p:spPr>
          <a:xfrm>
            <a:off x="2377440" y="3511296"/>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Business rules, stories</a:t>
            </a:r>
            <a:endParaRPr lang="en-US" sz="1000" dirty="0"/>
          </a:p>
        </p:txBody>
      </p:sp>
      <p:sp>
        <p:nvSpPr>
          <p:cNvPr id="41" name="Shape 39"/>
          <p:cNvSpPr/>
          <p:nvPr/>
        </p:nvSpPr>
        <p:spPr>
          <a:xfrm>
            <a:off x="5669280" y="3511296"/>
            <a:ext cx="2240280" cy="411480"/>
          </a:xfrm>
          <a:prstGeom prst="rect">
            <a:avLst/>
          </a:prstGeom>
          <a:solidFill>
            <a:srgbClr val="1C2128"/>
          </a:solidFill>
          <a:ln w="6350">
            <a:solidFill>
              <a:srgbClr val="30363D"/>
            </a:solidFill>
            <a:prstDash val="solid"/>
          </a:ln>
        </p:spPr>
      </p:sp>
      <p:sp>
        <p:nvSpPr>
          <p:cNvPr id="42" name="Text 40"/>
          <p:cNvSpPr/>
          <p:nvPr/>
        </p:nvSpPr>
        <p:spPr>
          <a:xfrm>
            <a:off x="5760720" y="3511296"/>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qwen3.6-plus</a:t>
            </a:r>
            <a:endParaRPr lang="en-US" sz="1000" dirty="0"/>
          </a:p>
        </p:txBody>
      </p:sp>
      <p:sp>
        <p:nvSpPr>
          <p:cNvPr id="43" name="Shape 41"/>
          <p:cNvSpPr/>
          <p:nvPr/>
        </p:nvSpPr>
        <p:spPr>
          <a:xfrm>
            <a:off x="7955280" y="3511296"/>
            <a:ext cx="4160520" cy="411480"/>
          </a:xfrm>
          <a:prstGeom prst="rect">
            <a:avLst/>
          </a:prstGeom>
          <a:solidFill>
            <a:srgbClr val="1C2128"/>
          </a:solidFill>
          <a:ln w="6350">
            <a:solidFill>
              <a:srgbClr val="30363D"/>
            </a:solidFill>
            <a:prstDash val="solid"/>
          </a:ln>
        </p:spPr>
      </p:sp>
      <p:sp>
        <p:nvSpPr>
          <p:cNvPr id="44" name="Text 42"/>
          <p:cNvSpPr/>
          <p:nvPr/>
        </p:nvSpPr>
        <p:spPr>
          <a:xfrm>
            <a:off x="8046720" y="3511296"/>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docs/business/*</a:t>
            </a:r>
            <a:endParaRPr lang="en-US" sz="1000" dirty="0"/>
          </a:p>
        </p:txBody>
      </p:sp>
      <p:sp>
        <p:nvSpPr>
          <p:cNvPr id="45" name="Shape 43"/>
          <p:cNvSpPr/>
          <p:nvPr/>
        </p:nvSpPr>
        <p:spPr>
          <a:xfrm>
            <a:off x="365760" y="3950208"/>
            <a:ext cx="1874520" cy="411480"/>
          </a:xfrm>
          <a:prstGeom prst="rect">
            <a:avLst/>
          </a:prstGeom>
          <a:solidFill>
            <a:srgbClr val="161B22"/>
          </a:solidFill>
          <a:ln w="6350">
            <a:solidFill>
              <a:srgbClr val="30363D"/>
            </a:solidFill>
            <a:prstDash val="solid"/>
          </a:ln>
        </p:spPr>
      </p:sp>
      <p:sp>
        <p:nvSpPr>
          <p:cNvPr id="46" name="Text 44"/>
          <p:cNvSpPr/>
          <p:nvPr/>
        </p:nvSpPr>
        <p:spPr>
          <a:xfrm>
            <a:off x="457200" y="3950208"/>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UX</a:t>
            </a:r>
            <a:endParaRPr lang="en-US" sz="1000" dirty="0"/>
          </a:p>
        </p:txBody>
      </p:sp>
      <p:sp>
        <p:nvSpPr>
          <p:cNvPr id="47" name="Shape 45"/>
          <p:cNvSpPr/>
          <p:nvPr/>
        </p:nvSpPr>
        <p:spPr>
          <a:xfrm>
            <a:off x="2286000" y="3950208"/>
            <a:ext cx="3337560" cy="411480"/>
          </a:xfrm>
          <a:prstGeom prst="rect">
            <a:avLst/>
          </a:prstGeom>
          <a:solidFill>
            <a:srgbClr val="161B22"/>
          </a:solidFill>
          <a:ln w="6350">
            <a:solidFill>
              <a:srgbClr val="30363D"/>
            </a:solidFill>
            <a:prstDash val="solid"/>
          </a:ln>
        </p:spPr>
      </p:sp>
      <p:sp>
        <p:nvSpPr>
          <p:cNvPr id="48" name="Text 46"/>
          <p:cNvSpPr/>
          <p:nvPr/>
        </p:nvSpPr>
        <p:spPr>
          <a:xfrm>
            <a:off x="2377440" y="3950208"/>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User flow, wireframes</a:t>
            </a:r>
            <a:endParaRPr lang="en-US" sz="1000" dirty="0"/>
          </a:p>
        </p:txBody>
      </p:sp>
      <p:sp>
        <p:nvSpPr>
          <p:cNvPr id="49" name="Shape 47"/>
          <p:cNvSpPr/>
          <p:nvPr/>
        </p:nvSpPr>
        <p:spPr>
          <a:xfrm>
            <a:off x="5669280" y="3950208"/>
            <a:ext cx="2240280" cy="411480"/>
          </a:xfrm>
          <a:prstGeom prst="rect">
            <a:avLst/>
          </a:prstGeom>
          <a:solidFill>
            <a:srgbClr val="161B22"/>
          </a:solidFill>
          <a:ln w="6350">
            <a:solidFill>
              <a:srgbClr val="30363D"/>
            </a:solidFill>
            <a:prstDash val="solid"/>
          </a:ln>
        </p:spPr>
      </p:sp>
      <p:sp>
        <p:nvSpPr>
          <p:cNvPr id="50" name="Text 48"/>
          <p:cNvSpPr/>
          <p:nvPr/>
        </p:nvSpPr>
        <p:spPr>
          <a:xfrm>
            <a:off x="5760720" y="3950208"/>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mimo-v2.5</a:t>
            </a:r>
            <a:endParaRPr lang="en-US" sz="1000" dirty="0"/>
          </a:p>
        </p:txBody>
      </p:sp>
      <p:sp>
        <p:nvSpPr>
          <p:cNvPr id="51" name="Shape 49"/>
          <p:cNvSpPr/>
          <p:nvPr/>
        </p:nvSpPr>
        <p:spPr>
          <a:xfrm>
            <a:off x="7955280" y="3950208"/>
            <a:ext cx="4160520" cy="411480"/>
          </a:xfrm>
          <a:prstGeom prst="rect">
            <a:avLst/>
          </a:prstGeom>
          <a:solidFill>
            <a:srgbClr val="161B22"/>
          </a:solidFill>
          <a:ln w="6350">
            <a:solidFill>
              <a:srgbClr val="30363D"/>
            </a:solidFill>
            <a:prstDash val="solid"/>
          </a:ln>
        </p:spPr>
      </p:sp>
      <p:sp>
        <p:nvSpPr>
          <p:cNvPr id="52" name="Text 50"/>
          <p:cNvSpPr/>
          <p:nvPr/>
        </p:nvSpPr>
        <p:spPr>
          <a:xfrm>
            <a:off x="8046720" y="3950208"/>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docs/product/UX_FLOW, WIREFRAMES</a:t>
            </a:r>
            <a:endParaRPr lang="en-US" sz="1000" dirty="0"/>
          </a:p>
        </p:txBody>
      </p:sp>
      <p:sp>
        <p:nvSpPr>
          <p:cNvPr id="53" name="Shape 51"/>
          <p:cNvSpPr/>
          <p:nvPr/>
        </p:nvSpPr>
        <p:spPr>
          <a:xfrm>
            <a:off x="365760" y="4389120"/>
            <a:ext cx="1874520" cy="411480"/>
          </a:xfrm>
          <a:prstGeom prst="rect">
            <a:avLst/>
          </a:prstGeom>
          <a:solidFill>
            <a:srgbClr val="1C2128"/>
          </a:solidFill>
          <a:ln w="6350">
            <a:solidFill>
              <a:srgbClr val="30363D"/>
            </a:solidFill>
            <a:prstDash val="solid"/>
          </a:ln>
        </p:spPr>
      </p:sp>
      <p:sp>
        <p:nvSpPr>
          <p:cNvPr id="54" name="Text 52"/>
          <p:cNvSpPr/>
          <p:nvPr/>
        </p:nvSpPr>
        <p:spPr>
          <a:xfrm>
            <a:off x="457200" y="4389120"/>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BE</a:t>
            </a:r>
            <a:endParaRPr lang="en-US" sz="1000" dirty="0"/>
          </a:p>
        </p:txBody>
      </p:sp>
      <p:sp>
        <p:nvSpPr>
          <p:cNvPr id="55" name="Shape 53"/>
          <p:cNvSpPr/>
          <p:nvPr/>
        </p:nvSpPr>
        <p:spPr>
          <a:xfrm>
            <a:off x="2286000" y="4389120"/>
            <a:ext cx="3337560" cy="411480"/>
          </a:xfrm>
          <a:prstGeom prst="rect">
            <a:avLst/>
          </a:prstGeom>
          <a:solidFill>
            <a:srgbClr val="1C2128"/>
          </a:solidFill>
          <a:ln w="6350">
            <a:solidFill>
              <a:srgbClr val="30363D"/>
            </a:solidFill>
            <a:prstDash val="solid"/>
          </a:ln>
        </p:spPr>
      </p:sp>
      <p:sp>
        <p:nvSpPr>
          <p:cNvPr id="56" name="Text 54"/>
          <p:cNvSpPr/>
          <p:nvPr/>
        </p:nvSpPr>
        <p:spPr>
          <a:xfrm>
            <a:off x="2377440" y="4389120"/>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code + tests</a:t>
            </a:r>
            <a:endParaRPr lang="en-US" sz="1000" dirty="0"/>
          </a:p>
        </p:txBody>
      </p:sp>
      <p:sp>
        <p:nvSpPr>
          <p:cNvPr id="57" name="Shape 55"/>
          <p:cNvSpPr/>
          <p:nvPr/>
        </p:nvSpPr>
        <p:spPr>
          <a:xfrm>
            <a:off x="5669280" y="4389120"/>
            <a:ext cx="2240280" cy="411480"/>
          </a:xfrm>
          <a:prstGeom prst="rect">
            <a:avLst/>
          </a:prstGeom>
          <a:solidFill>
            <a:srgbClr val="1C2128"/>
          </a:solidFill>
          <a:ln w="6350">
            <a:solidFill>
              <a:srgbClr val="30363D"/>
            </a:solidFill>
            <a:prstDash val="solid"/>
          </a:ln>
        </p:spPr>
      </p:sp>
      <p:sp>
        <p:nvSpPr>
          <p:cNvPr id="58" name="Text 56"/>
          <p:cNvSpPr/>
          <p:nvPr/>
        </p:nvSpPr>
        <p:spPr>
          <a:xfrm>
            <a:off x="5760720" y="4389120"/>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59" name="Shape 57"/>
          <p:cNvSpPr/>
          <p:nvPr/>
        </p:nvSpPr>
        <p:spPr>
          <a:xfrm>
            <a:off x="7955280" y="4389120"/>
            <a:ext cx="4160520" cy="411480"/>
          </a:xfrm>
          <a:prstGeom prst="rect">
            <a:avLst/>
          </a:prstGeom>
          <a:solidFill>
            <a:srgbClr val="1C2128"/>
          </a:solidFill>
          <a:ln w="6350">
            <a:solidFill>
              <a:srgbClr val="30363D"/>
            </a:solidFill>
            <a:prstDash val="solid"/>
          </a:ln>
        </p:spPr>
      </p:sp>
      <p:sp>
        <p:nvSpPr>
          <p:cNvPr id="60" name="Text 58"/>
          <p:cNvSpPr/>
          <p:nvPr/>
        </p:nvSpPr>
        <p:spPr>
          <a:xfrm>
            <a:off x="8046720" y="4389120"/>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planning/BE_PLAN</a:t>
            </a:r>
            <a:endParaRPr lang="en-US" sz="1000" dirty="0"/>
          </a:p>
        </p:txBody>
      </p:sp>
      <p:sp>
        <p:nvSpPr>
          <p:cNvPr id="61" name="Shape 59"/>
          <p:cNvSpPr/>
          <p:nvPr/>
        </p:nvSpPr>
        <p:spPr>
          <a:xfrm>
            <a:off x="365760" y="4828032"/>
            <a:ext cx="1874520" cy="411480"/>
          </a:xfrm>
          <a:prstGeom prst="rect">
            <a:avLst/>
          </a:prstGeom>
          <a:solidFill>
            <a:srgbClr val="161B22"/>
          </a:solidFill>
          <a:ln w="6350">
            <a:solidFill>
              <a:srgbClr val="30363D"/>
            </a:solidFill>
            <a:prstDash val="solid"/>
          </a:ln>
        </p:spPr>
      </p:sp>
      <p:sp>
        <p:nvSpPr>
          <p:cNvPr id="62" name="Text 60"/>
          <p:cNvSpPr/>
          <p:nvPr/>
        </p:nvSpPr>
        <p:spPr>
          <a:xfrm>
            <a:off x="457200" y="4828032"/>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FE</a:t>
            </a:r>
            <a:endParaRPr lang="en-US" sz="1000" dirty="0"/>
          </a:p>
        </p:txBody>
      </p:sp>
      <p:sp>
        <p:nvSpPr>
          <p:cNvPr id="63" name="Shape 61"/>
          <p:cNvSpPr/>
          <p:nvPr/>
        </p:nvSpPr>
        <p:spPr>
          <a:xfrm>
            <a:off x="2286000" y="4828032"/>
            <a:ext cx="3337560" cy="411480"/>
          </a:xfrm>
          <a:prstGeom prst="rect">
            <a:avLst/>
          </a:prstGeom>
          <a:solidFill>
            <a:srgbClr val="161B22"/>
          </a:solidFill>
          <a:ln w="6350">
            <a:solidFill>
              <a:srgbClr val="30363D"/>
            </a:solidFill>
            <a:prstDash val="solid"/>
          </a:ln>
        </p:spPr>
      </p:sp>
      <p:sp>
        <p:nvSpPr>
          <p:cNvPr id="64" name="Text 62"/>
          <p:cNvSpPr/>
          <p:nvPr/>
        </p:nvSpPr>
        <p:spPr>
          <a:xfrm>
            <a:off x="2377440" y="4828032"/>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Frontend code + tests</a:t>
            </a:r>
            <a:endParaRPr lang="en-US" sz="1000" dirty="0"/>
          </a:p>
        </p:txBody>
      </p:sp>
      <p:sp>
        <p:nvSpPr>
          <p:cNvPr id="65" name="Shape 63"/>
          <p:cNvSpPr/>
          <p:nvPr/>
        </p:nvSpPr>
        <p:spPr>
          <a:xfrm>
            <a:off x="5669280" y="4828032"/>
            <a:ext cx="2240280" cy="411480"/>
          </a:xfrm>
          <a:prstGeom prst="rect">
            <a:avLst/>
          </a:prstGeom>
          <a:solidFill>
            <a:srgbClr val="161B22"/>
          </a:solidFill>
          <a:ln w="6350">
            <a:solidFill>
              <a:srgbClr val="30363D"/>
            </a:solidFill>
            <a:prstDash val="solid"/>
          </a:ln>
        </p:spPr>
      </p:sp>
      <p:sp>
        <p:nvSpPr>
          <p:cNvPr id="66" name="Text 64"/>
          <p:cNvSpPr/>
          <p:nvPr/>
        </p:nvSpPr>
        <p:spPr>
          <a:xfrm>
            <a:off x="5760720" y="4828032"/>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kimi-k2.6</a:t>
            </a:r>
            <a:endParaRPr lang="en-US" sz="1000" dirty="0"/>
          </a:p>
        </p:txBody>
      </p:sp>
      <p:sp>
        <p:nvSpPr>
          <p:cNvPr id="67" name="Shape 65"/>
          <p:cNvSpPr/>
          <p:nvPr/>
        </p:nvSpPr>
        <p:spPr>
          <a:xfrm>
            <a:off x="7955280" y="4828032"/>
            <a:ext cx="4160520" cy="411480"/>
          </a:xfrm>
          <a:prstGeom prst="rect">
            <a:avLst/>
          </a:prstGeom>
          <a:solidFill>
            <a:srgbClr val="161B22"/>
          </a:solidFill>
          <a:ln w="6350">
            <a:solidFill>
              <a:srgbClr val="30363D"/>
            </a:solidFill>
            <a:prstDash val="solid"/>
          </a:ln>
        </p:spPr>
      </p:sp>
      <p:sp>
        <p:nvSpPr>
          <p:cNvPr id="68" name="Text 66"/>
          <p:cNvSpPr/>
          <p:nvPr/>
        </p:nvSpPr>
        <p:spPr>
          <a:xfrm>
            <a:off x="8046720" y="4828032"/>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frontend/*, planning/FE_PLAN</a:t>
            </a:r>
            <a:endParaRPr lang="en-US" sz="1000" dirty="0"/>
          </a:p>
        </p:txBody>
      </p:sp>
      <p:sp>
        <p:nvSpPr>
          <p:cNvPr id="69" name="Shape 67"/>
          <p:cNvSpPr/>
          <p:nvPr/>
        </p:nvSpPr>
        <p:spPr>
          <a:xfrm>
            <a:off x="365760" y="5266944"/>
            <a:ext cx="1874520" cy="411480"/>
          </a:xfrm>
          <a:prstGeom prst="rect">
            <a:avLst/>
          </a:prstGeom>
          <a:solidFill>
            <a:srgbClr val="1C2128"/>
          </a:solidFill>
          <a:ln w="6350">
            <a:solidFill>
              <a:srgbClr val="30363D"/>
            </a:solidFill>
            <a:prstDash val="solid"/>
          </a:ln>
        </p:spPr>
      </p:sp>
      <p:sp>
        <p:nvSpPr>
          <p:cNvPr id="70" name="Text 68"/>
          <p:cNvSpPr/>
          <p:nvPr/>
        </p:nvSpPr>
        <p:spPr>
          <a:xfrm>
            <a:off x="457200" y="5266944"/>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QA</a:t>
            </a:r>
            <a:endParaRPr lang="en-US" sz="1000" dirty="0"/>
          </a:p>
        </p:txBody>
      </p:sp>
      <p:sp>
        <p:nvSpPr>
          <p:cNvPr id="71" name="Shape 69"/>
          <p:cNvSpPr/>
          <p:nvPr/>
        </p:nvSpPr>
        <p:spPr>
          <a:xfrm>
            <a:off x="2286000" y="5266944"/>
            <a:ext cx="3337560" cy="411480"/>
          </a:xfrm>
          <a:prstGeom prst="rect">
            <a:avLst/>
          </a:prstGeom>
          <a:solidFill>
            <a:srgbClr val="1C2128"/>
          </a:solidFill>
          <a:ln w="6350">
            <a:solidFill>
              <a:srgbClr val="30363D"/>
            </a:solidFill>
            <a:prstDash val="solid"/>
          </a:ln>
        </p:spPr>
      </p:sp>
      <p:sp>
        <p:nvSpPr>
          <p:cNvPr id="72" name="Text 70"/>
          <p:cNvSpPr/>
          <p:nvPr/>
        </p:nvSpPr>
        <p:spPr>
          <a:xfrm>
            <a:off x="2377440" y="5266944"/>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Test plan + verdict</a:t>
            </a:r>
            <a:endParaRPr lang="en-US" sz="1000" dirty="0"/>
          </a:p>
        </p:txBody>
      </p:sp>
      <p:sp>
        <p:nvSpPr>
          <p:cNvPr id="73" name="Shape 71"/>
          <p:cNvSpPr/>
          <p:nvPr/>
        </p:nvSpPr>
        <p:spPr>
          <a:xfrm>
            <a:off x="5669280" y="5266944"/>
            <a:ext cx="2240280" cy="411480"/>
          </a:xfrm>
          <a:prstGeom prst="rect">
            <a:avLst/>
          </a:prstGeom>
          <a:solidFill>
            <a:srgbClr val="1C2128"/>
          </a:solidFill>
          <a:ln w="6350">
            <a:solidFill>
              <a:srgbClr val="30363D"/>
            </a:solidFill>
            <a:prstDash val="solid"/>
          </a:ln>
        </p:spPr>
      </p:sp>
      <p:sp>
        <p:nvSpPr>
          <p:cNvPr id="74" name="Text 72"/>
          <p:cNvSpPr/>
          <p:nvPr/>
        </p:nvSpPr>
        <p:spPr>
          <a:xfrm>
            <a:off x="5760720" y="5266944"/>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qwen3.5-plus</a:t>
            </a:r>
            <a:endParaRPr lang="en-US" sz="1000" dirty="0"/>
          </a:p>
        </p:txBody>
      </p:sp>
      <p:sp>
        <p:nvSpPr>
          <p:cNvPr id="75" name="Shape 73"/>
          <p:cNvSpPr/>
          <p:nvPr/>
        </p:nvSpPr>
        <p:spPr>
          <a:xfrm>
            <a:off x="7955280" y="5266944"/>
            <a:ext cx="4160520" cy="411480"/>
          </a:xfrm>
          <a:prstGeom prst="rect">
            <a:avLst/>
          </a:prstGeom>
          <a:solidFill>
            <a:srgbClr val="1C2128"/>
          </a:solidFill>
          <a:ln w="6350">
            <a:solidFill>
              <a:srgbClr val="30363D"/>
            </a:solidFill>
            <a:prstDash val="solid"/>
          </a:ln>
        </p:spPr>
      </p:sp>
      <p:sp>
        <p:nvSpPr>
          <p:cNvPr id="76" name="Text 74"/>
          <p:cNvSpPr/>
          <p:nvPr/>
        </p:nvSpPr>
        <p:spPr>
          <a:xfrm>
            <a:off x="8046720" y="5266944"/>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docs/qa/*, reports/*</a:t>
            </a:r>
            <a:endParaRPr lang="en-US" sz="1000" dirty="0"/>
          </a:p>
        </p:txBody>
      </p:sp>
      <p:sp>
        <p:nvSpPr>
          <p:cNvPr id="77" name="Shape 75"/>
          <p:cNvSpPr/>
          <p:nvPr/>
        </p:nvSpPr>
        <p:spPr>
          <a:xfrm>
            <a:off x="365760" y="5705856"/>
            <a:ext cx="1874520" cy="411480"/>
          </a:xfrm>
          <a:prstGeom prst="rect">
            <a:avLst/>
          </a:prstGeom>
          <a:solidFill>
            <a:srgbClr val="161B22"/>
          </a:solidFill>
          <a:ln w="6350">
            <a:solidFill>
              <a:srgbClr val="30363D"/>
            </a:solidFill>
            <a:prstDash val="solid"/>
          </a:ln>
        </p:spPr>
      </p:sp>
      <p:sp>
        <p:nvSpPr>
          <p:cNvPr id="78" name="Text 76"/>
          <p:cNvSpPr/>
          <p:nvPr/>
        </p:nvSpPr>
        <p:spPr>
          <a:xfrm>
            <a:off x="457200" y="5705856"/>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DELIVERY</a:t>
            </a:r>
            <a:endParaRPr lang="en-US" sz="1000" dirty="0"/>
          </a:p>
        </p:txBody>
      </p:sp>
      <p:sp>
        <p:nvSpPr>
          <p:cNvPr id="79" name="Shape 77"/>
          <p:cNvSpPr/>
          <p:nvPr/>
        </p:nvSpPr>
        <p:spPr>
          <a:xfrm>
            <a:off x="2286000" y="5705856"/>
            <a:ext cx="3337560" cy="411480"/>
          </a:xfrm>
          <a:prstGeom prst="rect">
            <a:avLst/>
          </a:prstGeom>
          <a:solidFill>
            <a:srgbClr val="161B22"/>
          </a:solidFill>
          <a:ln w="6350">
            <a:solidFill>
              <a:srgbClr val="30363D"/>
            </a:solidFill>
            <a:prstDash val="solid"/>
          </a:ln>
        </p:spPr>
      </p:sp>
      <p:sp>
        <p:nvSpPr>
          <p:cNvPr id="80" name="Text 78"/>
          <p:cNvSpPr/>
          <p:nvPr/>
        </p:nvSpPr>
        <p:spPr>
          <a:xfrm>
            <a:off x="2377440" y="5705856"/>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 deploy, URL</a:t>
            </a:r>
            <a:endParaRPr lang="en-US" sz="1000" dirty="0"/>
          </a:p>
        </p:txBody>
      </p:sp>
      <p:sp>
        <p:nvSpPr>
          <p:cNvPr id="81" name="Shape 79"/>
          <p:cNvSpPr/>
          <p:nvPr/>
        </p:nvSpPr>
        <p:spPr>
          <a:xfrm>
            <a:off x="5669280" y="5705856"/>
            <a:ext cx="2240280" cy="411480"/>
          </a:xfrm>
          <a:prstGeom prst="rect">
            <a:avLst/>
          </a:prstGeom>
          <a:solidFill>
            <a:srgbClr val="161B22"/>
          </a:solidFill>
          <a:ln w="6350">
            <a:solidFill>
              <a:srgbClr val="30363D"/>
            </a:solidFill>
            <a:prstDash val="solid"/>
          </a:ln>
        </p:spPr>
      </p:sp>
      <p:sp>
        <p:nvSpPr>
          <p:cNvPr id="82" name="Text 80"/>
          <p:cNvSpPr/>
          <p:nvPr/>
        </p:nvSpPr>
        <p:spPr>
          <a:xfrm>
            <a:off x="5760720" y="5705856"/>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glm-5</a:t>
            </a:r>
            <a:endParaRPr lang="en-US" sz="1000" dirty="0"/>
          </a:p>
        </p:txBody>
      </p:sp>
      <p:sp>
        <p:nvSpPr>
          <p:cNvPr id="83" name="Shape 81"/>
          <p:cNvSpPr/>
          <p:nvPr/>
        </p:nvSpPr>
        <p:spPr>
          <a:xfrm>
            <a:off x="7955280" y="5705856"/>
            <a:ext cx="4160520" cy="411480"/>
          </a:xfrm>
          <a:prstGeom prst="rect">
            <a:avLst/>
          </a:prstGeom>
          <a:solidFill>
            <a:srgbClr val="161B22"/>
          </a:solidFill>
          <a:ln w="6350">
            <a:solidFill>
              <a:srgbClr val="30363D"/>
            </a:solidFill>
            <a:prstDash val="solid"/>
          </a:ln>
        </p:spPr>
      </p:sp>
      <p:sp>
        <p:nvSpPr>
          <p:cNvPr id="84" name="Text 82"/>
          <p:cNvSpPr/>
          <p:nvPr/>
        </p:nvSpPr>
        <p:spPr>
          <a:xfrm>
            <a:off x="8046720" y="5705856"/>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Dockerfile, compose, docs/delivery/*</a:t>
            </a:r>
            <a:endParaRPr lang="en-US" sz="1000" dirty="0"/>
          </a:p>
        </p:txBody>
      </p:sp>
      <p:sp>
        <p:nvSpPr>
          <p:cNvPr id="85" name="Text 83"/>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8 / 29</a:t>
            </a:r>
            <a:endParaRPr lang="en-US" sz="900" dirty="0"/>
          </a:p>
        </p:txBody>
      </p:sp>
      <p:sp>
        <p:nvSpPr>
          <p:cNvPr id="86" name="Text 84"/>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87" name="Text 85"/>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08_model_per_role.md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Tại sao mix model = tiết kiệm?</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PM/BA không cần model mạnh; SA/BE/FE cần. Một mô hình ≠ một mức giá hợp lý cho mọi việc.</a:t>
            </a:r>
            <a:endParaRPr lang="en-US" sz="1400" dirty="0"/>
          </a:p>
        </p:txBody>
      </p:sp>
      <p:sp>
        <p:nvSpPr>
          <p:cNvPr id="5" name="Shape 3"/>
          <p:cNvSpPr/>
          <p:nvPr/>
        </p:nvSpPr>
        <p:spPr>
          <a:xfrm>
            <a:off x="365760" y="1783080"/>
            <a:ext cx="3657600" cy="3657600"/>
          </a:xfrm>
          <a:prstGeom prst="rect">
            <a:avLst/>
          </a:prstGeom>
          <a:solidFill>
            <a:srgbClr val="161B22"/>
          </a:solidFill>
          <a:ln w="12700">
            <a:solidFill>
              <a:srgbClr val="30363D"/>
            </a:solidFill>
            <a:prstDash val="solid"/>
          </a:ln>
        </p:spPr>
      </p:sp>
      <p:sp>
        <p:nvSpPr>
          <p:cNvPr id="6" name="Shape 4"/>
          <p:cNvSpPr/>
          <p:nvPr/>
        </p:nvSpPr>
        <p:spPr>
          <a:xfrm>
            <a:off x="365760" y="1783080"/>
            <a:ext cx="3657600" cy="384048"/>
          </a:xfrm>
          <a:prstGeom prst="rect">
            <a:avLst/>
          </a:prstGeom>
          <a:solidFill>
            <a:srgbClr val="2EA043"/>
          </a:solidFill>
          <a:ln w="12700">
            <a:solidFill>
              <a:srgbClr val="2EA043"/>
            </a:solidFill>
            <a:prstDash val="solid"/>
          </a:ln>
        </p:spPr>
      </p:sp>
      <p:sp>
        <p:nvSpPr>
          <p:cNvPr id="7" name="Text 5"/>
          <p:cNvSpPr/>
          <p:nvPr/>
        </p:nvSpPr>
        <p:spPr>
          <a:xfrm>
            <a:off x="50292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FREE / CHEAP</a:t>
            </a:r>
            <a:endParaRPr lang="en-US" sz="1300" dirty="0"/>
          </a:p>
        </p:txBody>
      </p:sp>
      <p:sp>
        <p:nvSpPr>
          <p:cNvPr id="8" name="Text 6"/>
          <p:cNvSpPr/>
          <p:nvPr/>
        </p:nvSpPr>
        <p:spPr>
          <a:xfrm>
            <a:off x="548640" y="2331720"/>
            <a:ext cx="3291840" cy="1188720"/>
          </a:xfrm>
          <a:prstGeom prst="rect">
            <a:avLst/>
          </a:prstGeom>
          <a:noFill/>
          <a:ln/>
        </p:spPr>
        <p:txBody>
          <a:bodyPr wrap="square" lIns="0" tIns="0" rIns="0" bIns="0" rtlCol="0" anchor="t"/>
          <a:lstStyle/>
          <a:p>
            <a:pPr indent="0" marL="0">
              <a:buNone/>
            </a:pPr>
            <a:r>
              <a:rPr lang="en-US" sz="1600" b="1" dirty="0">
                <a:solidFill>
                  <a:srgbClr val="2EA043"/>
                </a:solidFill>
                <a:latin typeface="Consolas" pitchFamily="34" charset="0"/>
                <a:ea typeface="Consolas" pitchFamily="34" charset="-122"/>
                <a:cs typeface="Consolas" pitchFamily="34" charset="-120"/>
              </a:rPr>
              <a:t>mimo-v2.5</a:t>
            </a:r>
            <a:endParaRPr lang="en-US" sz="1600" dirty="0"/>
          </a:p>
          <a:p>
            <a:pPr indent="0" marL="0">
              <a:buNone/>
            </a:pPr>
            <a:r>
              <a:rPr lang="en-US" sz="1600" b="1" dirty="0">
                <a:solidFill>
                  <a:srgbClr val="2EA043"/>
                </a:solidFill>
                <a:latin typeface="Consolas" pitchFamily="34" charset="0"/>
                <a:ea typeface="Consolas" pitchFamily="34" charset="-122"/>
                <a:cs typeface="Consolas" pitchFamily="34" charset="-120"/>
              </a:rPr>
              <a:t>glm-5</a:t>
            </a:r>
            <a:endParaRPr lang="en-US" sz="1600" dirty="0"/>
          </a:p>
        </p:txBody>
      </p:sp>
      <p:sp>
        <p:nvSpPr>
          <p:cNvPr id="9" name="Text 7"/>
          <p:cNvSpPr/>
          <p:nvPr/>
        </p:nvSpPr>
        <p:spPr>
          <a:xfrm>
            <a:off x="54864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0" name="Text 8"/>
          <p:cNvSpPr/>
          <p:nvPr/>
        </p:nvSpPr>
        <p:spPr>
          <a:xfrm>
            <a:off x="54864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UX, DELIVERY</a:t>
            </a:r>
            <a:endParaRPr lang="en-US" sz="1400" dirty="0"/>
          </a:p>
        </p:txBody>
      </p:sp>
      <p:sp>
        <p:nvSpPr>
          <p:cNvPr id="11" name="Shape 9"/>
          <p:cNvSpPr/>
          <p:nvPr/>
        </p:nvSpPr>
        <p:spPr>
          <a:xfrm>
            <a:off x="4297680" y="1783080"/>
            <a:ext cx="3657600" cy="3657600"/>
          </a:xfrm>
          <a:prstGeom prst="rect">
            <a:avLst/>
          </a:prstGeom>
          <a:solidFill>
            <a:srgbClr val="161B22"/>
          </a:solidFill>
          <a:ln w="12700">
            <a:solidFill>
              <a:srgbClr val="30363D"/>
            </a:solidFill>
            <a:prstDash val="solid"/>
          </a:ln>
        </p:spPr>
      </p:sp>
      <p:sp>
        <p:nvSpPr>
          <p:cNvPr id="12" name="Shape 10"/>
          <p:cNvSpPr/>
          <p:nvPr/>
        </p:nvSpPr>
        <p:spPr>
          <a:xfrm>
            <a:off x="4297680" y="1783080"/>
            <a:ext cx="3657600" cy="384048"/>
          </a:xfrm>
          <a:prstGeom prst="rect">
            <a:avLst/>
          </a:prstGeom>
          <a:solidFill>
            <a:srgbClr val="79C0FF"/>
          </a:solidFill>
          <a:ln w="12700">
            <a:solidFill>
              <a:srgbClr val="79C0FF"/>
            </a:solidFill>
            <a:prstDash val="solid"/>
          </a:ln>
        </p:spPr>
      </p:sp>
      <p:sp>
        <p:nvSpPr>
          <p:cNvPr id="13" name="Text 11"/>
          <p:cNvSpPr/>
          <p:nvPr/>
        </p:nvSpPr>
        <p:spPr>
          <a:xfrm>
            <a:off x="443484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MEDIUM</a:t>
            </a:r>
            <a:endParaRPr lang="en-US" sz="1300" dirty="0"/>
          </a:p>
        </p:txBody>
      </p:sp>
      <p:sp>
        <p:nvSpPr>
          <p:cNvPr id="14" name="Text 12"/>
          <p:cNvSpPr/>
          <p:nvPr/>
        </p:nvSpPr>
        <p:spPr>
          <a:xfrm>
            <a:off x="4480560" y="2331720"/>
            <a:ext cx="3291840" cy="1188720"/>
          </a:xfrm>
          <a:prstGeom prst="rect">
            <a:avLst/>
          </a:prstGeom>
          <a:noFill/>
          <a:ln/>
        </p:spPr>
        <p:txBody>
          <a:bodyPr wrap="square" lIns="0" tIns="0" rIns="0" bIns="0" rtlCol="0" anchor="t"/>
          <a:lstStyle/>
          <a:p>
            <a:pPr indent="0" marL="0">
              <a:buNone/>
            </a:pPr>
            <a:r>
              <a:rPr lang="en-US" sz="1600" b="1" dirty="0">
                <a:solidFill>
                  <a:srgbClr val="79C0FF"/>
                </a:solidFill>
                <a:latin typeface="Consolas" pitchFamily="34" charset="0"/>
                <a:ea typeface="Consolas" pitchFamily="34" charset="-122"/>
                <a:cs typeface="Consolas" pitchFamily="34" charset="-120"/>
              </a:rPr>
              <a:t>deepseek-flash</a:t>
            </a:r>
            <a:endParaRPr lang="en-US" sz="1600" dirty="0"/>
          </a:p>
          <a:p>
            <a:pPr indent="0" marL="0">
              <a:buNone/>
            </a:pPr>
            <a:r>
              <a:rPr lang="en-US" sz="1600" b="1" dirty="0">
                <a:solidFill>
                  <a:srgbClr val="79C0FF"/>
                </a:solidFill>
                <a:latin typeface="Consolas" pitchFamily="34" charset="0"/>
                <a:ea typeface="Consolas" pitchFamily="34" charset="-122"/>
                <a:cs typeface="Consolas" pitchFamily="34" charset="-120"/>
              </a:rPr>
              <a:t>qwen3.6</a:t>
            </a:r>
            <a:endParaRPr lang="en-US" sz="1600" dirty="0"/>
          </a:p>
        </p:txBody>
      </p:sp>
      <p:sp>
        <p:nvSpPr>
          <p:cNvPr id="15" name="Text 13"/>
          <p:cNvSpPr/>
          <p:nvPr/>
        </p:nvSpPr>
        <p:spPr>
          <a:xfrm>
            <a:off x="448056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6" name="Text 14"/>
          <p:cNvSpPr/>
          <p:nvPr/>
        </p:nvSpPr>
        <p:spPr>
          <a:xfrm>
            <a:off x="448056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PM, BA, QA</a:t>
            </a:r>
            <a:endParaRPr lang="en-US" sz="1400" dirty="0"/>
          </a:p>
        </p:txBody>
      </p:sp>
      <p:sp>
        <p:nvSpPr>
          <p:cNvPr id="17" name="Shape 15"/>
          <p:cNvSpPr/>
          <p:nvPr/>
        </p:nvSpPr>
        <p:spPr>
          <a:xfrm>
            <a:off x="8229600" y="1783080"/>
            <a:ext cx="3657600" cy="3657600"/>
          </a:xfrm>
          <a:prstGeom prst="rect">
            <a:avLst/>
          </a:prstGeom>
          <a:solidFill>
            <a:srgbClr val="161B22"/>
          </a:solidFill>
          <a:ln w="12700">
            <a:solidFill>
              <a:srgbClr val="30363D"/>
            </a:solidFill>
            <a:prstDash val="solid"/>
          </a:ln>
        </p:spPr>
      </p:sp>
      <p:sp>
        <p:nvSpPr>
          <p:cNvPr id="18" name="Shape 16"/>
          <p:cNvSpPr/>
          <p:nvPr/>
        </p:nvSpPr>
        <p:spPr>
          <a:xfrm>
            <a:off x="8229600" y="1783080"/>
            <a:ext cx="3657600" cy="384048"/>
          </a:xfrm>
          <a:prstGeom prst="rect">
            <a:avLst/>
          </a:prstGeom>
          <a:solidFill>
            <a:srgbClr val="D29922"/>
          </a:solidFill>
          <a:ln w="12700">
            <a:solidFill>
              <a:srgbClr val="D29922"/>
            </a:solidFill>
            <a:prstDash val="solid"/>
          </a:ln>
        </p:spPr>
      </p:sp>
      <p:sp>
        <p:nvSpPr>
          <p:cNvPr id="19" name="Text 17"/>
          <p:cNvSpPr/>
          <p:nvPr/>
        </p:nvSpPr>
        <p:spPr>
          <a:xfrm>
            <a:off x="836676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STRONG</a:t>
            </a:r>
            <a:endParaRPr lang="en-US" sz="1300" dirty="0"/>
          </a:p>
        </p:txBody>
      </p:sp>
      <p:sp>
        <p:nvSpPr>
          <p:cNvPr id="20" name="Text 18"/>
          <p:cNvSpPr/>
          <p:nvPr/>
        </p:nvSpPr>
        <p:spPr>
          <a:xfrm>
            <a:off x="8412480" y="2331720"/>
            <a:ext cx="3291840" cy="1188720"/>
          </a:xfrm>
          <a:prstGeom prst="rect">
            <a:avLst/>
          </a:prstGeom>
          <a:noFill/>
          <a:ln/>
        </p:spPr>
        <p:txBody>
          <a:bodyPr wrap="square" lIns="0" tIns="0" rIns="0" bIns="0" rtlCol="0" anchor="t"/>
          <a:lstStyle/>
          <a:p>
            <a:pPr indent="0" marL="0">
              <a:buNone/>
            </a:pPr>
            <a:r>
              <a:rPr lang="en-US" sz="1600" b="1" dirty="0">
                <a:solidFill>
                  <a:srgbClr val="D29922"/>
                </a:solidFill>
                <a:latin typeface="Consolas" pitchFamily="34" charset="0"/>
                <a:ea typeface="Consolas" pitchFamily="34" charset="-122"/>
                <a:cs typeface="Consolas" pitchFamily="34" charset="-120"/>
              </a:rPr>
              <a:t>deepseek-v4-pro</a:t>
            </a:r>
            <a:endParaRPr lang="en-US" sz="1600" dirty="0"/>
          </a:p>
          <a:p>
            <a:pPr indent="0" marL="0">
              <a:buNone/>
            </a:pPr>
            <a:r>
              <a:rPr lang="en-US" sz="1600" b="1" dirty="0">
                <a:solidFill>
                  <a:srgbClr val="D29922"/>
                </a:solidFill>
                <a:latin typeface="Consolas" pitchFamily="34" charset="0"/>
                <a:ea typeface="Consolas" pitchFamily="34" charset="-122"/>
                <a:cs typeface="Consolas" pitchFamily="34" charset="-120"/>
              </a:rPr>
              <a:t>kimi-k2.6</a:t>
            </a:r>
            <a:endParaRPr lang="en-US" sz="1600" dirty="0"/>
          </a:p>
        </p:txBody>
      </p:sp>
      <p:sp>
        <p:nvSpPr>
          <p:cNvPr id="21" name="Text 19"/>
          <p:cNvSpPr/>
          <p:nvPr/>
        </p:nvSpPr>
        <p:spPr>
          <a:xfrm>
            <a:off x="841248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22" name="Text 20"/>
          <p:cNvSpPr/>
          <p:nvPr/>
        </p:nvSpPr>
        <p:spPr>
          <a:xfrm>
            <a:off x="841248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SA, BE, FE</a:t>
            </a:r>
            <a:endParaRPr lang="en-US" sz="1400" dirty="0"/>
          </a:p>
        </p:txBody>
      </p:sp>
      <p:sp>
        <p:nvSpPr>
          <p:cNvPr id="23" name="Text 21"/>
          <p:cNvSpPr/>
          <p:nvPr/>
        </p:nvSpPr>
        <p:spPr>
          <a:xfrm>
            <a:off x="365760" y="5669280"/>
            <a:ext cx="11430000" cy="365760"/>
          </a:xfrm>
          <a:prstGeom prst="rect">
            <a:avLst/>
          </a:prstGeom>
          <a:noFill/>
          <a:ln/>
        </p:spPr>
        <p:txBody>
          <a:bodyPr wrap="square" lIns="0" tIns="0" rIns="0" bIns="0" rtlCol="0" anchor="ctr"/>
          <a:lstStyle/>
          <a:p>
            <a:pPr algn="ctr" indent="0" marL="0">
              <a:buNone/>
            </a:pPr>
            <a:r>
              <a:rPr lang="en-US" sz="1300" i="1" dirty="0">
                <a:solidFill>
                  <a:srgbClr val="8B949E"/>
                </a:solidFill>
                <a:latin typeface="Calibri" pitchFamily="34" charset="0"/>
                <a:ea typeface="Calibri" pitchFamily="34" charset="-122"/>
                <a:cs typeface="Calibri" pitchFamily="34" charset="-120"/>
              </a:rPr>
              <a:t>Cấu hình tại config/agent_models.env — đổi model bất cứ lúc nào không sửa code.</a:t>
            </a:r>
            <a:endParaRPr lang="en-US" sz="13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9 / 29</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09_routing.md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Cơ chế routing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Orchestrator giao việc cho worker bằng bash thật, không subagent ảo</a:t>
            </a:r>
            <a:endParaRPr lang="en-US" sz="1400" dirty="0"/>
          </a:p>
        </p:txBody>
      </p:sp>
      <p:sp>
        <p:nvSpPr>
          <p:cNvPr id="5" name="Text 3"/>
          <p:cNvSpPr/>
          <p:nvPr/>
        </p:nvSpPr>
        <p:spPr>
          <a:xfrm>
            <a:off x="365760" y="1783080"/>
            <a:ext cx="576072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Mỗi lần Orchestrator gọi route_to_pane.sh:</a:t>
            </a:r>
            <a:endParaRPr lang="en-US" sz="1300" dirty="0"/>
          </a:p>
        </p:txBody>
      </p:sp>
      <p:sp>
        <p:nvSpPr>
          <p:cNvPr id="6" name="Shape 4"/>
          <p:cNvSpPr/>
          <p:nvPr/>
        </p:nvSpPr>
        <p:spPr>
          <a:xfrm>
            <a:off x="365760" y="2231136"/>
            <a:ext cx="292608" cy="292608"/>
          </a:xfrm>
          <a:prstGeom prst="ellipse">
            <a:avLst/>
          </a:prstGeom>
          <a:solidFill>
            <a:srgbClr val="7CE38B"/>
          </a:solidFill>
          <a:ln w="12700">
            <a:solidFill>
              <a:srgbClr val="7CE38B"/>
            </a:solidFill>
            <a:prstDash val="solid"/>
          </a:ln>
        </p:spPr>
      </p:sp>
      <p:sp>
        <p:nvSpPr>
          <p:cNvPr id="7" name="Text 5"/>
          <p:cNvSpPr/>
          <p:nvPr/>
        </p:nvSpPr>
        <p:spPr>
          <a:xfrm>
            <a:off x="365760" y="223113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1</a:t>
            </a:r>
            <a:endParaRPr lang="en-US" sz="1100" dirty="0"/>
          </a:p>
        </p:txBody>
      </p:sp>
      <p:sp>
        <p:nvSpPr>
          <p:cNvPr id="8" name="Text 6"/>
          <p:cNvSpPr/>
          <p:nvPr/>
        </p:nvSpPr>
        <p:spPr>
          <a:xfrm>
            <a:off x="777240" y="219456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Validate role + tìm pane id trong .agent_panes</a:t>
            </a:r>
            <a:endParaRPr lang="en-US" sz="1200" dirty="0"/>
          </a:p>
        </p:txBody>
      </p:sp>
      <p:sp>
        <p:nvSpPr>
          <p:cNvPr id="9" name="Shape 7"/>
          <p:cNvSpPr/>
          <p:nvPr/>
        </p:nvSpPr>
        <p:spPr>
          <a:xfrm>
            <a:off x="365760" y="2734056"/>
            <a:ext cx="292608" cy="292608"/>
          </a:xfrm>
          <a:prstGeom prst="ellipse">
            <a:avLst/>
          </a:prstGeom>
          <a:solidFill>
            <a:srgbClr val="7CE38B"/>
          </a:solidFill>
          <a:ln w="12700">
            <a:solidFill>
              <a:srgbClr val="7CE38B"/>
            </a:solidFill>
            <a:prstDash val="solid"/>
          </a:ln>
        </p:spPr>
      </p:sp>
      <p:sp>
        <p:nvSpPr>
          <p:cNvPr id="10" name="Text 8"/>
          <p:cNvSpPr/>
          <p:nvPr/>
        </p:nvSpPr>
        <p:spPr>
          <a:xfrm>
            <a:off x="365760" y="273405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2</a:t>
            </a:r>
            <a:endParaRPr lang="en-US" sz="1100" dirty="0"/>
          </a:p>
        </p:txBody>
      </p:sp>
      <p:sp>
        <p:nvSpPr>
          <p:cNvPr id="11" name="Text 9"/>
          <p:cNvSpPr/>
          <p:nvPr/>
        </p:nvSpPr>
        <p:spPr>
          <a:xfrm>
            <a:off x="777240" y="269748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Sinh task file .pane_tasks/&lt;ROLE&gt;_&lt;ts&gt;.md</a:t>
            </a:r>
            <a:endParaRPr lang="en-US" sz="1200" dirty="0"/>
          </a:p>
        </p:txBody>
      </p:sp>
      <p:sp>
        <p:nvSpPr>
          <p:cNvPr id="12" name="Shape 10"/>
          <p:cNvSpPr/>
          <p:nvPr/>
        </p:nvSpPr>
        <p:spPr>
          <a:xfrm>
            <a:off x="365760" y="3236976"/>
            <a:ext cx="292608" cy="292608"/>
          </a:xfrm>
          <a:prstGeom prst="ellipse">
            <a:avLst/>
          </a:prstGeom>
          <a:solidFill>
            <a:srgbClr val="7CE38B"/>
          </a:solidFill>
          <a:ln w="12700">
            <a:solidFill>
              <a:srgbClr val="7CE38B"/>
            </a:solidFill>
            <a:prstDash val="solid"/>
          </a:ln>
        </p:spPr>
      </p:sp>
      <p:sp>
        <p:nvSpPr>
          <p:cNvPr id="13" name="Text 11"/>
          <p:cNvSpPr/>
          <p:nvPr/>
        </p:nvSpPr>
        <p:spPr>
          <a:xfrm>
            <a:off x="365760" y="323697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3</a:t>
            </a:r>
            <a:endParaRPr lang="en-US" sz="1100" dirty="0"/>
          </a:p>
        </p:txBody>
      </p:sp>
      <p:sp>
        <p:nvSpPr>
          <p:cNvPr id="14" name="Text 12"/>
          <p:cNvSpPr/>
          <p:nvPr/>
        </p:nvSpPr>
        <p:spPr>
          <a:xfrm>
            <a:off x="777240" y="320040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Ghi receipt vào .pane_logs/_routing_receipts.log</a:t>
            </a:r>
            <a:endParaRPr lang="en-US" sz="1200" dirty="0"/>
          </a:p>
        </p:txBody>
      </p:sp>
      <p:sp>
        <p:nvSpPr>
          <p:cNvPr id="15" name="Shape 13"/>
          <p:cNvSpPr/>
          <p:nvPr/>
        </p:nvSpPr>
        <p:spPr>
          <a:xfrm>
            <a:off x="365760" y="3739896"/>
            <a:ext cx="292608" cy="292608"/>
          </a:xfrm>
          <a:prstGeom prst="ellipse">
            <a:avLst/>
          </a:prstGeom>
          <a:solidFill>
            <a:srgbClr val="7CE38B"/>
          </a:solidFill>
          <a:ln w="12700">
            <a:solidFill>
              <a:srgbClr val="7CE38B"/>
            </a:solidFill>
            <a:prstDash val="solid"/>
          </a:ln>
        </p:spPr>
      </p:sp>
      <p:sp>
        <p:nvSpPr>
          <p:cNvPr id="16" name="Text 14"/>
          <p:cNvSpPr/>
          <p:nvPr/>
        </p:nvSpPr>
        <p:spPr>
          <a:xfrm>
            <a:off x="365760" y="373989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4</a:t>
            </a:r>
            <a:endParaRPr lang="en-US" sz="1100" dirty="0"/>
          </a:p>
        </p:txBody>
      </p:sp>
      <p:sp>
        <p:nvSpPr>
          <p:cNvPr id="17" name="Text 15"/>
          <p:cNvSpPr/>
          <p:nvPr/>
        </p:nvSpPr>
        <p:spPr>
          <a:xfrm>
            <a:off x="777240" y="370332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tmux send-keys vào pane đích: `opencode run --model &lt;X&gt; "&lt;task&gt;"`</a:t>
            </a:r>
            <a:endParaRPr lang="en-US" sz="1200" dirty="0"/>
          </a:p>
        </p:txBody>
      </p:sp>
      <p:sp>
        <p:nvSpPr>
          <p:cNvPr id="18" name="Shape 16"/>
          <p:cNvSpPr/>
          <p:nvPr/>
        </p:nvSpPr>
        <p:spPr>
          <a:xfrm>
            <a:off x="365760" y="4242816"/>
            <a:ext cx="292608" cy="292608"/>
          </a:xfrm>
          <a:prstGeom prst="ellipse">
            <a:avLst/>
          </a:prstGeom>
          <a:solidFill>
            <a:srgbClr val="7CE38B"/>
          </a:solidFill>
          <a:ln w="12700">
            <a:solidFill>
              <a:srgbClr val="7CE38B"/>
            </a:solidFill>
            <a:prstDash val="solid"/>
          </a:ln>
        </p:spPr>
      </p:sp>
      <p:sp>
        <p:nvSpPr>
          <p:cNvPr id="19" name="Text 17"/>
          <p:cNvSpPr/>
          <p:nvPr/>
        </p:nvSpPr>
        <p:spPr>
          <a:xfrm>
            <a:off x="365760" y="424281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5</a:t>
            </a:r>
            <a:endParaRPr lang="en-US" sz="1100" dirty="0"/>
          </a:p>
        </p:txBody>
      </p:sp>
      <p:sp>
        <p:nvSpPr>
          <p:cNvPr id="20" name="Text 18"/>
          <p:cNvSpPr/>
          <p:nvPr/>
        </p:nvSpPr>
        <p:spPr>
          <a:xfrm>
            <a:off x="777240" y="420624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Pane đích spawn opencode, đọc context, làm việc, exit</a:t>
            </a:r>
            <a:endParaRPr lang="en-US" sz="1200" dirty="0"/>
          </a:p>
        </p:txBody>
      </p:sp>
      <p:sp>
        <p:nvSpPr>
          <p:cNvPr id="21" name="Shape 19"/>
          <p:cNvSpPr/>
          <p:nvPr/>
        </p:nvSpPr>
        <p:spPr>
          <a:xfrm>
            <a:off x="6309360" y="1783080"/>
            <a:ext cx="5486400" cy="4389120"/>
          </a:xfrm>
          <a:prstGeom prst="rect">
            <a:avLst/>
          </a:prstGeom>
          <a:solidFill>
            <a:srgbClr val="161B22"/>
          </a:solidFill>
          <a:ln w="12700">
            <a:solidFill>
              <a:srgbClr val="30363D"/>
            </a:solidFill>
            <a:prstDash val="solid"/>
          </a:ln>
        </p:spPr>
      </p:sp>
      <p:sp>
        <p:nvSpPr>
          <p:cNvPr id="22" name="Shape 20"/>
          <p:cNvSpPr/>
          <p:nvPr/>
        </p:nvSpPr>
        <p:spPr>
          <a:xfrm>
            <a:off x="6400800" y="1874520"/>
            <a:ext cx="91440" cy="91440"/>
          </a:xfrm>
          <a:prstGeom prst="ellipse">
            <a:avLst/>
          </a:prstGeom>
          <a:solidFill>
            <a:srgbClr val="F85149"/>
          </a:solidFill>
          <a:ln w="12700">
            <a:solidFill>
              <a:srgbClr val="F85149"/>
            </a:solidFill>
            <a:prstDash val="solid"/>
          </a:ln>
        </p:spPr>
      </p:sp>
      <p:sp>
        <p:nvSpPr>
          <p:cNvPr id="23" name="Shape 21"/>
          <p:cNvSpPr/>
          <p:nvPr/>
        </p:nvSpPr>
        <p:spPr>
          <a:xfrm>
            <a:off x="6528816" y="1874520"/>
            <a:ext cx="91440" cy="91440"/>
          </a:xfrm>
          <a:prstGeom prst="ellipse">
            <a:avLst/>
          </a:prstGeom>
          <a:solidFill>
            <a:srgbClr val="D29922"/>
          </a:solidFill>
          <a:ln w="12700">
            <a:solidFill>
              <a:srgbClr val="D29922"/>
            </a:solidFill>
            <a:prstDash val="solid"/>
          </a:ln>
        </p:spPr>
      </p:sp>
      <p:sp>
        <p:nvSpPr>
          <p:cNvPr id="24" name="Shape 22"/>
          <p:cNvSpPr/>
          <p:nvPr/>
        </p:nvSpPr>
        <p:spPr>
          <a:xfrm>
            <a:off x="6656832" y="1874520"/>
            <a:ext cx="91440" cy="91440"/>
          </a:xfrm>
          <a:prstGeom prst="ellipse">
            <a:avLst/>
          </a:prstGeom>
          <a:solidFill>
            <a:srgbClr val="3FB950"/>
          </a:solidFill>
          <a:ln w="12700">
            <a:solidFill>
              <a:srgbClr val="3FB950"/>
            </a:solidFill>
            <a:prstDash val="solid"/>
          </a:ln>
        </p:spPr>
      </p:sp>
      <p:sp>
        <p:nvSpPr>
          <p:cNvPr id="25" name="Text 23"/>
          <p:cNvSpPr/>
          <p:nvPr/>
        </p:nvSpPr>
        <p:spPr>
          <a:xfrm>
            <a:off x="6446520" y="2103120"/>
            <a:ext cx="5212080" cy="402336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Bạn nói với Orchestrator:</a:t>
            </a: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"Bắt đầu phase discovery"</a:t>
            </a:r>
            <a:endParaRPr lang="en-US" sz="1200" dirty="0"/>
          </a:p>
          <a:p>
            <a:pPr indent="0" marL="0">
              <a:buNone/>
            </a:pP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scripts/delegate_phase.sh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discovery</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routes PM, BA, UX in parallel</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writes 3 task files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tmux send-keys to panes 2,4,5</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Verify routing thật sự đã chạy:</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scripts/verify_routing.sh</a:t>
            </a:r>
            <a:endParaRPr lang="en-US" sz="1200" dirty="0"/>
          </a:p>
        </p:txBody>
      </p:sp>
      <p:sp>
        <p:nvSpPr>
          <p:cNvPr id="26" name="Text 24"/>
          <p:cNvSpPr/>
          <p:nvPr/>
        </p:nvSpPr>
        <p:spPr>
          <a:xfrm>
            <a:off x="365760" y="6035040"/>
            <a:ext cx="11430000" cy="320040"/>
          </a:xfrm>
          <a:prstGeom prst="rect">
            <a:avLst/>
          </a:prstGeom>
          <a:noFill/>
          <a:ln/>
        </p:spPr>
        <p:txBody>
          <a:bodyPr wrap="square" lIns="0" tIns="0" rIns="0" bIns="0" rtlCol="0" anchor="ctr"/>
          <a:lstStyle/>
          <a:p>
            <a:pPr indent="0" marL="0">
              <a:buNone/>
            </a:pPr>
            <a:r>
              <a:rPr lang="en-US" sz="1100" i="1" dirty="0">
                <a:solidFill>
                  <a:srgbClr val="D29922"/>
                </a:solidFill>
                <a:latin typeface="Calibri" pitchFamily="34" charset="0"/>
                <a:ea typeface="Calibri" pitchFamily="34" charset="-122"/>
                <a:cs typeface="Calibri" pitchFamily="34" charset="-120"/>
              </a:rPr>
              <a:t>→ route_to_pane.sh REFUSES target=ORCHESTRATOR (v10.0) để tránh self-kill TUI.</a:t>
            </a:r>
            <a:endParaRPr lang="en-US" sz="1100" dirty="0"/>
          </a:p>
        </p:txBody>
      </p:sp>
      <p:sp>
        <p:nvSpPr>
          <p:cNvPr id="27" name="Text 2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10 / 29</a:t>
            </a:r>
            <a:endParaRPr lang="en-US" sz="900" dirty="0"/>
          </a:p>
        </p:txBody>
      </p:sp>
      <p:sp>
        <p:nvSpPr>
          <p:cNvPr id="28" name="Text 2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9" name="Text 2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10_clarification.md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Vòng lặp clarification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không chat trực tiếp với user — hỏi qua Orchestrator</a:t>
            </a:r>
            <a:endParaRPr lang="en-US" sz="1400" dirty="0"/>
          </a:p>
        </p:txBody>
      </p:sp>
      <p:sp>
        <p:nvSpPr>
          <p:cNvPr id="5" name="Shape 3"/>
          <p:cNvSpPr/>
          <p:nvPr/>
        </p:nvSpPr>
        <p:spPr>
          <a:xfrm>
            <a:off x="365760" y="1783080"/>
            <a:ext cx="11430000" cy="420624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384048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[SA pane]   gặp quyết định cần user (Postgres vs Mongo?)</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bash scripts/ask_orchestrator.sh SA "&lt;question&gt;"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writes .pane_questions/SA_&lt;ts&gt;.md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tmux send-keys [INBOX] vào pane 1 + Enter (v10.4)</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auto-wake → list_pending_questions.sh → present cho USER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"Postgres on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bash scripts/answer_role.sh SA &lt;qid&gt; "&lt;answer&gt;"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writes .pane_answers/SA_&lt;qid&gt;.md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auto-routes SA với answer attached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[SA pane]   resume — đọc answer, tiếp tục task, ghi memory/SA.md</a:t>
            </a:r>
            <a:endParaRPr lang="en-US" sz="1200" dirty="0"/>
          </a:p>
        </p:txBody>
      </p:sp>
      <p:sp>
        <p:nvSpPr>
          <p:cNvPr id="10" name="Shape 8"/>
          <p:cNvSpPr/>
          <p:nvPr/>
        </p:nvSpPr>
        <p:spPr>
          <a:xfrm>
            <a:off x="365760" y="6080760"/>
            <a:ext cx="54864" cy="292608"/>
          </a:xfrm>
          <a:prstGeom prst="rect">
            <a:avLst/>
          </a:prstGeom>
          <a:solidFill>
            <a:srgbClr val="7CE38B"/>
          </a:solidFill>
          <a:ln w="12700">
            <a:solidFill>
              <a:srgbClr val="7CE38B"/>
            </a:solidFill>
            <a:prstDash val="solid"/>
          </a:ln>
        </p:spPr>
      </p:sp>
      <p:sp>
        <p:nvSpPr>
          <p:cNvPr id="11" name="Text 9"/>
          <p:cNvSpPr/>
          <p:nvPr/>
        </p:nvSpPr>
        <p:spPr>
          <a:xfrm>
            <a:off x="502920" y="6080760"/>
            <a:ext cx="1129284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Stop-and-ask threshold (universal — v10.7 + v10.10)</a:t>
            </a:r>
            <a:endParaRPr lang="en-US" sz="14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11 / 29</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11_notification.md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Vòng lặp notification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báo sự kiện ngược lại Orchestrator (không cần trả lời)</a:t>
            </a:r>
            <a:endParaRPr lang="en-US" sz="1400" dirty="0"/>
          </a:p>
        </p:txBody>
      </p:sp>
      <p:sp>
        <p:nvSpPr>
          <p:cNvPr id="5" name="Text 3"/>
          <p:cNvSpPr/>
          <p:nvPr/>
        </p:nvSpPr>
        <p:spPr>
          <a:xfrm>
            <a:off x="365760" y="1783080"/>
            <a:ext cx="11430000" cy="41148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Khác với ask_orchestrator.sh (cần trả lời), notify_orchestrator.sh là one-way event:</a:t>
            </a:r>
            <a:endParaRPr lang="en-US" sz="1300" dirty="0"/>
          </a:p>
        </p:txBody>
      </p:sp>
      <p:sp>
        <p:nvSpPr>
          <p:cNvPr id="6" name="Shape 4"/>
          <p:cNvSpPr/>
          <p:nvPr/>
        </p:nvSpPr>
        <p:spPr>
          <a:xfrm>
            <a:off x="365760" y="2377440"/>
            <a:ext cx="5669280" cy="3474720"/>
          </a:xfrm>
          <a:prstGeom prst="rect">
            <a:avLst/>
          </a:prstGeom>
          <a:solidFill>
            <a:srgbClr val="161B22"/>
          </a:solidFill>
          <a:ln w="12700">
            <a:solidFill>
              <a:srgbClr val="30363D"/>
            </a:solidFill>
            <a:prstDash val="solid"/>
          </a:ln>
        </p:spPr>
      </p:sp>
      <p:sp>
        <p:nvSpPr>
          <p:cNvPr id="7" name="Shape 5"/>
          <p:cNvSpPr/>
          <p:nvPr/>
        </p:nvSpPr>
        <p:spPr>
          <a:xfrm>
            <a:off x="365760" y="2377440"/>
            <a:ext cx="73152" cy="3474720"/>
          </a:xfrm>
          <a:prstGeom prst="rect">
            <a:avLst/>
          </a:prstGeom>
          <a:solidFill>
            <a:srgbClr val="7CE38B"/>
          </a:solidFill>
          <a:ln w="12700">
            <a:solidFill>
              <a:srgbClr val="7CE38B"/>
            </a:solidFill>
            <a:prstDash val="solid"/>
          </a:ln>
        </p:spPr>
      </p:sp>
      <p:sp>
        <p:nvSpPr>
          <p:cNvPr id="8" name="Text 6"/>
          <p:cNvSpPr/>
          <p:nvPr/>
        </p:nvSpPr>
        <p:spPr>
          <a:xfrm>
            <a:off x="548640" y="2468880"/>
            <a:ext cx="5303520" cy="41148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 Tests PASS — auto-route DELIVERY</a:t>
            </a:r>
            <a:endParaRPr lang="en-US" sz="1400" dirty="0"/>
          </a:p>
        </p:txBody>
      </p:sp>
      <p:sp>
        <p:nvSpPr>
          <p:cNvPr id="9" name="Text 7"/>
          <p:cNvSpPr/>
          <p:nvPr/>
        </p:nvSpPr>
        <p:spPr>
          <a:xfrm>
            <a:off x="640080" y="2926080"/>
            <a:ext cx="5120640" cy="2743200"/>
          </a:xfrm>
          <a:prstGeom prst="rect">
            <a:avLst/>
          </a:prstGeom>
          <a:noFill/>
          <a:ln/>
        </p:spPr>
        <p:txBody>
          <a:bodyPr wrap="square" lIns="0" tIns="0" rIns="0" bIns="0" rtlCol="0" anchor="t"/>
          <a:lstStyle/>
          <a:p>
            <a:pPr indent="0" marL="0">
              <a:buNone/>
            </a:pPr>
            <a:r>
              <a:rPr lang="en-US" sz="1200" dirty="0">
                <a:solidFill>
                  <a:srgbClr val="8B949E"/>
                </a:solidFill>
                <a:latin typeface="Calibri" pitchFamily="34" charset="0"/>
                <a:ea typeface="Calibri" pitchFamily="34" charset="-122"/>
                <a:cs typeface="Calibri" pitchFamily="34" charset="-120"/>
              </a:rPr>
              <a:t>QA chạy test xong, VERDICT: PASS:</a:t>
            </a:r>
            <a:endParaRPr lang="en-US" sz="1200" dirty="0"/>
          </a:p>
          <a:p>
            <a:pPr indent="0" marL="0">
              <a:buNone/>
            </a:pP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notify_orchestrator.sh QA \</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"Tests PASS — routing DELIVERY"</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route_to_pane.sh DELIVERY "..."</a:t>
            </a:r>
            <a:endParaRPr lang="en-US" sz="1200" dirty="0"/>
          </a:p>
          <a:p>
            <a:pPr indent="0" marL="0">
              <a:buNone/>
            </a:pPr>
            <a:endParaRPr lang="en-US" sz="1200" dirty="0"/>
          </a:p>
          <a:p>
            <a:pPr indent="0" marL="0">
              <a:buNone/>
            </a:pPr>
            <a:r>
              <a:rPr lang="en-US" sz="1200" dirty="0">
                <a:solidFill>
                  <a:srgbClr val="E6EDF3"/>
                </a:solidFill>
                <a:latin typeface="Calibri" pitchFamily="34" charset="0"/>
                <a:ea typeface="Calibri" pitchFamily="34" charset="-122"/>
                <a:cs typeface="Calibri" pitchFamily="34" charset="-120"/>
              </a:rPr>
              <a:t>Orch auto-wake, kể user, watch deploy</a:t>
            </a:r>
            <a:endParaRPr lang="en-US" sz="1200" dirty="0"/>
          </a:p>
        </p:txBody>
      </p:sp>
      <p:sp>
        <p:nvSpPr>
          <p:cNvPr id="10" name="Shape 8"/>
          <p:cNvSpPr/>
          <p:nvPr/>
        </p:nvSpPr>
        <p:spPr>
          <a:xfrm>
            <a:off x="6309360" y="2377440"/>
            <a:ext cx="5486400" cy="3474720"/>
          </a:xfrm>
          <a:prstGeom prst="rect">
            <a:avLst/>
          </a:prstGeom>
          <a:solidFill>
            <a:srgbClr val="161B22"/>
          </a:solidFill>
          <a:ln w="12700">
            <a:solidFill>
              <a:srgbClr val="30363D"/>
            </a:solidFill>
            <a:prstDash val="solid"/>
          </a:ln>
        </p:spPr>
      </p:sp>
      <p:sp>
        <p:nvSpPr>
          <p:cNvPr id="11" name="Shape 9"/>
          <p:cNvSpPr/>
          <p:nvPr/>
        </p:nvSpPr>
        <p:spPr>
          <a:xfrm>
            <a:off x="6309360" y="2377440"/>
            <a:ext cx="73152" cy="3474720"/>
          </a:xfrm>
          <a:prstGeom prst="rect">
            <a:avLst/>
          </a:prstGeom>
          <a:solidFill>
            <a:srgbClr val="79C0FF"/>
          </a:solidFill>
          <a:ln w="12700">
            <a:solidFill>
              <a:srgbClr val="79C0FF"/>
            </a:solidFill>
            <a:prstDash val="solid"/>
          </a:ln>
        </p:spPr>
      </p:sp>
      <p:sp>
        <p:nvSpPr>
          <p:cNvPr id="12" name="Text 10"/>
          <p:cNvSpPr/>
          <p:nvPr/>
        </p:nvSpPr>
        <p:spPr>
          <a:xfrm>
            <a:off x="6492240" y="2468880"/>
            <a:ext cx="5120640" cy="411480"/>
          </a:xfrm>
          <a:prstGeom prst="rect">
            <a:avLst/>
          </a:prstGeom>
          <a:noFill/>
          <a:ln/>
        </p:spPr>
        <p:txBody>
          <a:bodyPr wrap="square" lIns="0" tIns="0" rIns="0" bIns="0" rtlCol="0" anchor="ctr"/>
          <a:lstStyle/>
          <a:p>
            <a:pPr indent="0" marL="0">
              <a:buNone/>
            </a:pPr>
            <a:r>
              <a:rPr lang="en-US" sz="1400" b="1" dirty="0">
                <a:solidFill>
                  <a:srgbClr val="79C0FF"/>
                </a:solidFill>
                <a:latin typeface="Consolas" pitchFamily="34" charset="0"/>
                <a:ea typeface="Consolas" pitchFamily="34" charset="-122"/>
                <a:cs typeface="Consolas" pitchFamily="34" charset="-120"/>
              </a:rPr>
              <a:t>🚀 App is live — URL ready</a:t>
            </a:r>
            <a:endParaRPr lang="en-US" sz="1400" dirty="0"/>
          </a:p>
        </p:txBody>
      </p:sp>
      <p:sp>
        <p:nvSpPr>
          <p:cNvPr id="13" name="Text 11"/>
          <p:cNvSpPr/>
          <p:nvPr/>
        </p:nvSpPr>
        <p:spPr>
          <a:xfrm>
            <a:off x="6400800" y="2926080"/>
            <a:ext cx="5212080" cy="2743200"/>
          </a:xfrm>
          <a:prstGeom prst="rect">
            <a:avLst/>
          </a:prstGeom>
          <a:noFill/>
          <a:ln/>
        </p:spPr>
        <p:txBody>
          <a:bodyPr wrap="square" lIns="0" tIns="0" rIns="0" bIns="0" rtlCol="0" anchor="t"/>
          <a:lstStyle/>
          <a:p>
            <a:pPr indent="0" marL="0">
              <a:buNone/>
            </a:pPr>
            <a:r>
              <a:rPr lang="en-US" sz="1200" dirty="0">
                <a:solidFill>
                  <a:srgbClr val="8B949E"/>
                </a:solidFill>
                <a:latin typeface="Calibri" pitchFamily="34" charset="0"/>
                <a:ea typeface="Calibri" pitchFamily="34" charset="-122"/>
                <a:cs typeface="Calibri" pitchFamily="34" charset="-120"/>
              </a:rPr>
              <a:t>DELIVERY xong docker compose up:</a:t>
            </a:r>
            <a:endParaRPr lang="en-US" sz="1200" dirty="0"/>
          </a:p>
          <a:p>
            <a:pPr indent="0" marL="0">
              <a:buNone/>
            </a:pPr>
            <a:endParaRPr lang="en-US" sz="1200" dirty="0"/>
          </a:p>
          <a:p>
            <a:pPr indent="0" marL="0">
              <a:buNone/>
            </a:pPr>
            <a:r>
              <a:rPr lang="en-US" sz="1200" dirty="0">
                <a:solidFill>
                  <a:srgbClr val="79C0FF"/>
                </a:solidFill>
                <a:latin typeface="Consolas" pitchFamily="34" charset="0"/>
                <a:ea typeface="Consolas" pitchFamily="34" charset="-122"/>
                <a:cs typeface="Consolas" pitchFamily="34" charset="-120"/>
              </a:rPr>
              <a:t>$ notify_orchestrator.sh DELIVERY \</a:t>
            </a:r>
            <a:endParaRPr lang="en-US" sz="1200" dirty="0"/>
          </a:p>
          <a:p>
            <a:pPr indent="0" marL="0">
              <a:buNone/>
            </a:pPr>
            <a:r>
              <a:rPr lang="en-US" sz="1200" dirty="0">
                <a:solidFill>
                  <a:srgbClr val="79C0FF"/>
                </a:solidFill>
                <a:latin typeface="Consolas" pitchFamily="34" charset="0"/>
                <a:ea typeface="Consolas" pitchFamily="34" charset="-122"/>
                <a:cs typeface="Consolas" pitchFamily="34" charset="-120"/>
              </a:rPr>
              <a:t>    "App live — http://localhost:3000"</a:t>
            </a:r>
            <a:endParaRPr lang="en-US" sz="1200" dirty="0"/>
          </a:p>
          <a:p>
            <a:pPr indent="0" marL="0">
              <a:buNone/>
            </a:pPr>
            <a:endParaRPr lang="en-US" sz="1200" dirty="0"/>
          </a:p>
          <a:p>
            <a:pPr indent="0" marL="0">
              <a:buNone/>
            </a:pPr>
            <a:r>
              <a:rPr lang="en-US" sz="1200" dirty="0">
                <a:solidFill>
                  <a:srgbClr val="8B949E"/>
                </a:solidFill>
                <a:latin typeface="Calibri" pitchFamily="34" charset="0"/>
                <a:ea typeface="Calibri" pitchFamily="34" charset="-122"/>
                <a:cs typeface="Calibri" pitchFamily="34" charset="-120"/>
              </a:rPr>
              <a:t>Orch nhận [INBOX], next turn: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cat docs/delivery/RUNNING_APP.md</a:t>
            </a:r>
            <a:endParaRPr lang="en-US" sz="1200" dirty="0"/>
          </a:p>
          <a:p>
            <a:pPr indent="0" marL="0">
              <a:buNone/>
            </a:pPr>
            <a:r>
              <a:rPr lang="en-US" sz="1200" dirty="0">
                <a:solidFill>
                  <a:srgbClr val="E6EDF3"/>
                </a:solidFill>
                <a:latin typeface="Calibri" pitchFamily="34" charset="0"/>
                <a:ea typeface="Calibri" pitchFamily="34" charset="-122"/>
                <a:cs typeface="Calibri" pitchFamily="34" charset="-120"/>
              </a:rPr>
              <a:t>  → user gets URL</a:t>
            </a:r>
            <a:endParaRPr lang="en-US" sz="1200" dirty="0"/>
          </a:p>
        </p:txBody>
      </p:sp>
      <p:sp>
        <p:nvSpPr>
          <p:cNvPr id="14" name="Text 12"/>
          <p:cNvSpPr/>
          <p:nvPr/>
        </p:nvSpPr>
        <p:spPr>
          <a:xfrm>
            <a:off x="365760" y="612648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onsolas" pitchFamily="34" charset="0"/>
                <a:ea typeface="Consolas" pitchFamily="34" charset="-122"/>
                <a:cs typeface="Consolas" pitchFamily="34" charset="-120"/>
              </a:rPr>
              <a:t>Inbox xem qua: $ bash scripts/list_pending_questions.sh  (hiển thị cả questions + notifications)</a:t>
            </a:r>
            <a:endParaRPr lang="en-US" sz="1100" dirty="0"/>
          </a:p>
        </p:txBody>
      </p:sp>
      <p:sp>
        <p:nvSpPr>
          <p:cNvPr id="15" name="Text 13"/>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12 / 29</a:t>
            </a:r>
            <a:endParaRPr lang="en-US" sz="900" dirty="0"/>
          </a:p>
        </p:txBody>
      </p:sp>
      <p:sp>
        <p:nvSpPr>
          <p:cNvPr id="16" name="Text 14"/>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7" name="Text 15"/>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12_memory.md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Memory layer — ký ức xuyên session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Workers chạy one-shot rồi exit. Memory file thay thế conversation history.</a:t>
            </a:r>
            <a:endParaRPr lang="en-US" sz="1400" dirty="0"/>
          </a:p>
        </p:txBody>
      </p:sp>
      <p:sp>
        <p:nvSpPr>
          <p:cNvPr id="5" name="Text 3"/>
          <p:cNvSpPr/>
          <p:nvPr/>
        </p:nvSpPr>
        <p:spPr>
          <a:xfrm>
            <a:off x="365760" y="1783080"/>
            <a:ext cx="11430000" cy="9144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Mỗi role có file memory/&lt;ROLE&gt;.md — append-only scratchpad của decisions, conventions, gotchas. Commit vào git. Đọc đầu mỗi task, append cuối mỗi task.</a:t>
            </a:r>
            <a:endParaRPr lang="en-US" sz="1400" dirty="0"/>
          </a:p>
        </p:txBody>
      </p:sp>
      <p:sp>
        <p:nvSpPr>
          <p:cNvPr id="6" name="Shape 4"/>
          <p:cNvSpPr/>
          <p:nvPr/>
        </p:nvSpPr>
        <p:spPr>
          <a:xfrm>
            <a:off x="365760" y="2743200"/>
            <a:ext cx="11430000" cy="3383280"/>
          </a:xfrm>
          <a:prstGeom prst="rect">
            <a:avLst/>
          </a:prstGeom>
          <a:solidFill>
            <a:srgbClr val="161B22"/>
          </a:solidFill>
          <a:ln w="12700">
            <a:solidFill>
              <a:srgbClr val="30363D"/>
            </a:solidFill>
            <a:prstDash val="solid"/>
          </a:ln>
        </p:spPr>
      </p:sp>
      <p:sp>
        <p:nvSpPr>
          <p:cNvPr id="7" name="Shape 5"/>
          <p:cNvSpPr/>
          <p:nvPr/>
        </p:nvSpPr>
        <p:spPr>
          <a:xfrm>
            <a:off x="457200" y="2834640"/>
            <a:ext cx="91440" cy="91440"/>
          </a:xfrm>
          <a:prstGeom prst="ellipse">
            <a:avLst/>
          </a:prstGeom>
          <a:solidFill>
            <a:srgbClr val="F85149"/>
          </a:solidFill>
          <a:ln w="12700">
            <a:solidFill>
              <a:srgbClr val="F85149"/>
            </a:solidFill>
            <a:prstDash val="solid"/>
          </a:ln>
        </p:spPr>
      </p:sp>
      <p:sp>
        <p:nvSpPr>
          <p:cNvPr id="8" name="Shape 6"/>
          <p:cNvSpPr/>
          <p:nvPr/>
        </p:nvSpPr>
        <p:spPr>
          <a:xfrm>
            <a:off x="585216" y="2834640"/>
            <a:ext cx="91440" cy="91440"/>
          </a:xfrm>
          <a:prstGeom prst="ellipse">
            <a:avLst/>
          </a:prstGeom>
          <a:solidFill>
            <a:srgbClr val="D29922"/>
          </a:solidFill>
          <a:ln w="12700">
            <a:solidFill>
              <a:srgbClr val="D29922"/>
            </a:solidFill>
            <a:prstDash val="solid"/>
          </a:ln>
        </p:spPr>
      </p:sp>
      <p:sp>
        <p:nvSpPr>
          <p:cNvPr id="9" name="Shape 7"/>
          <p:cNvSpPr/>
          <p:nvPr/>
        </p:nvSpPr>
        <p:spPr>
          <a:xfrm>
            <a:off x="713232" y="2834640"/>
            <a:ext cx="91440" cy="91440"/>
          </a:xfrm>
          <a:prstGeom prst="ellipse">
            <a:avLst/>
          </a:prstGeom>
          <a:solidFill>
            <a:srgbClr val="3FB950"/>
          </a:solidFill>
          <a:ln w="12700">
            <a:solidFill>
              <a:srgbClr val="3FB950"/>
            </a:solidFill>
            <a:prstDash val="solid"/>
          </a:ln>
        </p:spPr>
      </p:sp>
      <p:sp>
        <p:nvSpPr>
          <p:cNvPr id="10" name="Text 8"/>
          <p:cNvSpPr/>
          <p:nvPr/>
        </p:nvSpPr>
        <p:spPr>
          <a:xfrm>
            <a:off x="502920" y="3063240"/>
            <a:ext cx="11155680" cy="301752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memory/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README.md                  format + discipline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_PROJECT_STATE.md          team snapshot (Orchestrator owns)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ORCHESTRATOR.md            routing decisions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PM.md   SA.md   BA.md      per-role: Decisions / Conventions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UX.md   BE.md   FE.md       Gotchas / Open items I'm tracking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QA.md   DELIVERY.md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Cấu trúc entry: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2026-05-14 18:30 — Postgres on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Chose Postgres because user wants free Supabase tier (.pane_answers/SA_xxx.md).</a:t>
            </a:r>
            <a:endParaRPr lang="en-US" sz="1200" dirty="0"/>
          </a:p>
        </p:txBody>
      </p:sp>
      <p:sp>
        <p:nvSpPr>
          <p:cNvPr id="11" name="Text 9"/>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Memory ≠ docs canonical. ADR ghi decisions kiến trúc; memory ghi 'connective tissue' (lý do, gotcha, todo ngắn hạn).</a:t>
            </a:r>
            <a:endParaRPr lang="en-US" sz="11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13 / 29</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13_session_resume.md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Session resume — như team quay lại ngày mới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start_agents_tmux.sh tự detect RESUME vs FRESH</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Day 2: bạn chạy lại session</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nestfi-ai-room</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RESUME mode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non-empty memory/PM.md detected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Orchestrator sẽ chạy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scripts/rescan_project.sh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khi first turn</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8 giây sau khi opencode load,</a:t>
            </a: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auto-ping vào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[RESUME] Session resumed — run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bash scripts/rescan_project.sh first.</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Orchestrator's first action</a:t>
            </a:r>
            <a:endParaRPr lang="en-US" sz="1400" dirty="0"/>
          </a:p>
        </p:txBody>
      </p:sp>
      <p:sp>
        <p:nvSpPr>
          <p:cNvPr id="12" name="Text 10"/>
          <p:cNvSpPr/>
          <p:nvPr/>
        </p:nvSpPr>
        <p:spPr>
          <a:xfrm>
            <a:off x="6492240" y="2286000"/>
            <a:ext cx="5303520" cy="3657600"/>
          </a:xfrm>
          <a:prstGeom prst="rect">
            <a:avLst/>
          </a:prstGeom>
          <a:noFill/>
          <a:ln/>
        </p:spPr>
        <p:txBody>
          <a:bodyPr wrap="square" lIns="0" tIns="0" rIns="0" bIns="0" rtlCol="0" anchor="ctr"/>
          <a:lstStyle/>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Đọc memory/_PROJECT_STATE.md</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Tail 30 dòng memory/&lt;ROLE&gt;.md mỗi role</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Liệt kê docs có content (&gt;200B)</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Đếm source code BE/FE</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Đọc RUNNING_APP.md → live URL</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Show inbox: pending Q + notifs</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Greet user: 3-5 bullet recap, đợi direction</a:t>
            </a:r>
            <a:endParaRPr lang="en-US" sz="1200" dirty="0"/>
          </a:p>
        </p:txBody>
      </p:sp>
      <p:sp>
        <p:nvSpPr>
          <p:cNvPr id="13" name="Text 11"/>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Orchestrator KHÔNG auto-advance phase. Project tiếp tục đúng nơi để lại.</a:t>
            </a:r>
            <a:endParaRPr lang="en-US" sz="11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14 / 29</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14_phase_pipeline.md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Phase pipeline — 7 giai đoạn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Giống Agile thật: discovery → design → backlog → planning → build → test → delivery</a:t>
            </a:r>
            <a:endParaRPr lang="en-US" sz="1400" dirty="0"/>
          </a:p>
        </p:txBody>
      </p:sp>
      <p:sp>
        <p:nvSpPr>
          <p:cNvPr id="5" name="Shape 3"/>
          <p:cNvSpPr/>
          <p:nvPr/>
        </p:nvSpPr>
        <p:spPr>
          <a:xfrm>
            <a:off x="365760" y="1828800"/>
            <a:ext cx="11430000" cy="603504"/>
          </a:xfrm>
          <a:prstGeom prst="rect">
            <a:avLst/>
          </a:prstGeom>
          <a:solidFill>
            <a:srgbClr val="161B22"/>
          </a:solidFill>
          <a:ln w="12700">
            <a:solidFill>
              <a:srgbClr val="30363D"/>
            </a:solidFill>
            <a:prstDash val="solid"/>
          </a:ln>
        </p:spPr>
      </p:sp>
      <p:sp>
        <p:nvSpPr>
          <p:cNvPr id="6" name="Shape 4"/>
          <p:cNvSpPr/>
          <p:nvPr/>
        </p:nvSpPr>
        <p:spPr>
          <a:xfrm>
            <a:off x="502920" y="1947672"/>
            <a:ext cx="365760" cy="365760"/>
          </a:xfrm>
          <a:prstGeom prst="ellipse">
            <a:avLst/>
          </a:prstGeom>
          <a:solidFill>
            <a:srgbClr val="7CE38B"/>
          </a:solidFill>
          <a:ln w="12700">
            <a:solidFill>
              <a:srgbClr val="7CE38B"/>
            </a:solidFill>
            <a:prstDash val="solid"/>
          </a:ln>
        </p:spPr>
      </p:sp>
      <p:sp>
        <p:nvSpPr>
          <p:cNvPr id="7" name="Text 5"/>
          <p:cNvSpPr/>
          <p:nvPr/>
        </p:nvSpPr>
        <p:spPr>
          <a:xfrm>
            <a:off x="502920" y="1947672"/>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0</a:t>
            </a:r>
            <a:endParaRPr lang="en-US" sz="1400" dirty="0"/>
          </a:p>
        </p:txBody>
      </p:sp>
      <p:sp>
        <p:nvSpPr>
          <p:cNvPr id="8" name="Text 6"/>
          <p:cNvSpPr/>
          <p:nvPr/>
        </p:nvSpPr>
        <p:spPr>
          <a:xfrm>
            <a:off x="1005840" y="1828800"/>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DISCOVERY</a:t>
            </a:r>
            <a:endParaRPr lang="en-US" sz="1400" dirty="0"/>
          </a:p>
        </p:txBody>
      </p:sp>
      <p:sp>
        <p:nvSpPr>
          <p:cNvPr id="9" name="Text 7"/>
          <p:cNvSpPr/>
          <p:nvPr/>
        </p:nvSpPr>
        <p:spPr>
          <a:xfrm>
            <a:off x="3383280" y="1828800"/>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PM + BA + UX</a:t>
            </a:r>
            <a:endParaRPr lang="en-US" sz="1100" dirty="0"/>
          </a:p>
        </p:txBody>
      </p:sp>
      <p:sp>
        <p:nvSpPr>
          <p:cNvPr id="10" name="Text 8"/>
          <p:cNvSpPr/>
          <p:nvPr/>
        </p:nvSpPr>
        <p:spPr>
          <a:xfrm>
            <a:off x="5760720" y="1828800"/>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PRD, BUSINESS_REQ, USER_STORIES, UX_FLOW</a:t>
            </a:r>
            <a:endParaRPr lang="en-US" sz="1000" dirty="0"/>
          </a:p>
        </p:txBody>
      </p:sp>
      <p:sp>
        <p:nvSpPr>
          <p:cNvPr id="11" name="Shape 9"/>
          <p:cNvSpPr/>
          <p:nvPr/>
        </p:nvSpPr>
        <p:spPr>
          <a:xfrm>
            <a:off x="365760" y="2487168"/>
            <a:ext cx="11430000" cy="603504"/>
          </a:xfrm>
          <a:prstGeom prst="rect">
            <a:avLst/>
          </a:prstGeom>
          <a:solidFill>
            <a:srgbClr val="1C2128"/>
          </a:solidFill>
          <a:ln w="12700">
            <a:solidFill>
              <a:srgbClr val="30363D"/>
            </a:solidFill>
            <a:prstDash val="solid"/>
          </a:ln>
        </p:spPr>
      </p:sp>
      <p:sp>
        <p:nvSpPr>
          <p:cNvPr id="12" name="Shape 10"/>
          <p:cNvSpPr/>
          <p:nvPr/>
        </p:nvSpPr>
        <p:spPr>
          <a:xfrm>
            <a:off x="502920" y="2606040"/>
            <a:ext cx="365760" cy="365760"/>
          </a:xfrm>
          <a:prstGeom prst="ellipse">
            <a:avLst/>
          </a:prstGeom>
          <a:solidFill>
            <a:srgbClr val="7CE38B"/>
          </a:solidFill>
          <a:ln w="12700">
            <a:solidFill>
              <a:srgbClr val="7CE38B"/>
            </a:solidFill>
            <a:prstDash val="solid"/>
          </a:ln>
        </p:spPr>
      </p:sp>
      <p:sp>
        <p:nvSpPr>
          <p:cNvPr id="13" name="Text 11"/>
          <p:cNvSpPr/>
          <p:nvPr/>
        </p:nvSpPr>
        <p:spPr>
          <a:xfrm>
            <a:off x="502920" y="2606040"/>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14" name="Text 12"/>
          <p:cNvSpPr/>
          <p:nvPr/>
        </p:nvSpPr>
        <p:spPr>
          <a:xfrm>
            <a:off x="1005840" y="2487168"/>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SOLUTION</a:t>
            </a:r>
            <a:endParaRPr lang="en-US" sz="1400" dirty="0"/>
          </a:p>
        </p:txBody>
      </p:sp>
      <p:sp>
        <p:nvSpPr>
          <p:cNvPr id="15" name="Text 13"/>
          <p:cNvSpPr/>
          <p:nvPr/>
        </p:nvSpPr>
        <p:spPr>
          <a:xfrm>
            <a:off x="3383280" y="2487168"/>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SA</a:t>
            </a:r>
            <a:endParaRPr lang="en-US" sz="1100" dirty="0"/>
          </a:p>
        </p:txBody>
      </p:sp>
      <p:sp>
        <p:nvSpPr>
          <p:cNvPr id="16" name="Text 14"/>
          <p:cNvSpPr/>
          <p:nvPr/>
        </p:nvSpPr>
        <p:spPr>
          <a:xfrm>
            <a:off x="5760720" y="2487168"/>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SOLUTION_ARCH, TECH_STACK ✍ confirmed, ADR, API_CONTRACT</a:t>
            </a:r>
            <a:endParaRPr lang="en-US" sz="1000" dirty="0"/>
          </a:p>
        </p:txBody>
      </p:sp>
      <p:sp>
        <p:nvSpPr>
          <p:cNvPr id="17" name="Shape 15"/>
          <p:cNvSpPr/>
          <p:nvPr/>
        </p:nvSpPr>
        <p:spPr>
          <a:xfrm>
            <a:off x="365760" y="3145536"/>
            <a:ext cx="11430000" cy="603504"/>
          </a:xfrm>
          <a:prstGeom prst="rect">
            <a:avLst/>
          </a:prstGeom>
          <a:solidFill>
            <a:srgbClr val="161B22"/>
          </a:solidFill>
          <a:ln w="12700">
            <a:solidFill>
              <a:srgbClr val="30363D"/>
            </a:solidFill>
            <a:prstDash val="solid"/>
          </a:ln>
        </p:spPr>
      </p:sp>
      <p:sp>
        <p:nvSpPr>
          <p:cNvPr id="18" name="Shape 16"/>
          <p:cNvSpPr/>
          <p:nvPr/>
        </p:nvSpPr>
        <p:spPr>
          <a:xfrm>
            <a:off x="502920" y="3264408"/>
            <a:ext cx="365760" cy="365760"/>
          </a:xfrm>
          <a:prstGeom prst="ellipse">
            <a:avLst/>
          </a:prstGeom>
          <a:solidFill>
            <a:srgbClr val="7CE38B"/>
          </a:solidFill>
          <a:ln w="12700">
            <a:solidFill>
              <a:srgbClr val="7CE38B"/>
            </a:solidFill>
            <a:prstDash val="solid"/>
          </a:ln>
        </p:spPr>
      </p:sp>
      <p:sp>
        <p:nvSpPr>
          <p:cNvPr id="19" name="Text 17"/>
          <p:cNvSpPr/>
          <p:nvPr/>
        </p:nvSpPr>
        <p:spPr>
          <a:xfrm>
            <a:off x="502920" y="3264408"/>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20" name="Text 18"/>
          <p:cNvSpPr/>
          <p:nvPr/>
        </p:nvSpPr>
        <p:spPr>
          <a:xfrm>
            <a:off x="1005840" y="3145536"/>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BACKLOG</a:t>
            </a:r>
            <a:endParaRPr lang="en-US" sz="1400" dirty="0"/>
          </a:p>
        </p:txBody>
      </p:sp>
      <p:sp>
        <p:nvSpPr>
          <p:cNvPr id="21" name="Text 19"/>
          <p:cNvSpPr/>
          <p:nvPr/>
        </p:nvSpPr>
        <p:spPr>
          <a:xfrm>
            <a:off x="3383280" y="3145536"/>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PM + BA + UX + SA</a:t>
            </a:r>
            <a:endParaRPr lang="en-US" sz="1100" dirty="0"/>
          </a:p>
        </p:txBody>
      </p:sp>
      <p:sp>
        <p:nvSpPr>
          <p:cNvPr id="22" name="Text 20"/>
          <p:cNvSpPr/>
          <p:nvPr/>
        </p:nvSpPr>
        <p:spPr>
          <a:xfrm>
            <a:off x="5760720" y="3145536"/>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BACKLOG ưu tiên, USER_STORIES có AC</a:t>
            </a:r>
            <a:endParaRPr lang="en-US" sz="1000" dirty="0"/>
          </a:p>
        </p:txBody>
      </p:sp>
      <p:sp>
        <p:nvSpPr>
          <p:cNvPr id="23" name="Shape 21"/>
          <p:cNvSpPr/>
          <p:nvPr/>
        </p:nvSpPr>
        <p:spPr>
          <a:xfrm>
            <a:off x="365760" y="3803904"/>
            <a:ext cx="11430000" cy="603504"/>
          </a:xfrm>
          <a:prstGeom prst="rect">
            <a:avLst/>
          </a:prstGeom>
          <a:solidFill>
            <a:srgbClr val="1C2128"/>
          </a:solidFill>
          <a:ln w="12700">
            <a:solidFill>
              <a:srgbClr val="30363D"/>
            </a:solidFill>
            <a:prstDash val="solid"/>
          </a:ln>
        </p:spPr>
      </p:sp>
      <p:sp>
        <p:nvSpPr>
          <p:cNvPr id="24" name="Shape 22"/>
          <p:cNvSpPr/>
          <p:nvPr/>
        </p:nvSpPr>
        <p:spPr>
          <a:xfrm>
            <a:off x="502920" y="3922776"/>
            <a:ext cx="365760" cy="365760"/>
          </a:xfrm>
          <a:prstGeom prst="ellipse">
            <a:avLst/>
          </a:prstGeom>
          <a:solidFill>
            <a:srgbClr val="7CE38B"/>
          </a:solidFill>
          <a:ln w="12700">
            <a:solidFill>
              <a:srgbClr val="7CE38B"/>
            </a:solidFill>
            <a:prstDash val="solid"/>
          </a:ln>
        </p:spPr>
      </p:sp>
      <p:sp>
        <p:nvSpPr>
          <p:cNvPr id="25" name="Text 23"/>
          <p:cNvSpPr/>
          <p:nvPr/>
        </p:nvSpPr>
        <p:spPr>
          <a:xfrm>
            <a:off x="502920" y="3922776"/>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26" name="Text 24"/>
          <p:cNvSpPr/>
          <p:nvPr/>
        </p:nvSpPr>
        <p:spPr>
          <a:xfrm>
            <a:off x="1005840" y="3803904"/>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PLANNING</a:t>
            </a:r>
            <a:endParaRPr lang="en-US" sz="1400" dirty="0"/>
          </a:p>
        </p:txBody>
      </p:sp>
      <p:sp>
        <p:nvSpPr>
          <p:cNvPr id="27" name="Text 25"/>
          <p:cNvSpPr/>
          <p:nvPr/>
        </p:nvSpPr>
        <p:spPr>
          <a:xfrm>
            <a:off x="3383280" y="3803904"/>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BE + FE + QA + DEL</a:t>
            </a:r>
            <a:endParaRPr lang="en-US" sz="1100" dirty="0"/>
          </a:p>
        </p:txBody>
      </p:sp>
      <p:sp>
        <p:nvSpPr>
          <p:cNvPr id="28" name="Text 26"/>
          <p:cNvSpPr/>
          <p:nvPr/>
        </p:nvSpPr>
        <p:spPr>
          <a:xfrm>
            <a:off x="5760720" y="3803904"/>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BE_PLAN, FE_PLAN, TEST_PLAN, DELIVERY_PLAN</a:t>
            </a:r>
            <a:endParaRPr lang="en-US" sz="1000" dirty="0"/>
          </a:p>
        </p:txBody>
      </p:sp>
      <p:sp>
        <p:nvSpPr>
          <p:cNvPr id="29" name="Shape 27"/>
          <p:cNvSpPr/>
          <p:nvPr/>
        </p:nvSpPr>
        <p:spPr>
          <a:xfrm>
            <a:off x="365760" y="4462272"/>
            <a:ext cx="11430000" cy="603504"/>
          </a:xfrm>
          <a:prstGeom prst="rect">
            <a:avLst/>
          </a:prstGeom>
          <a:solidFill>
            <a:srgbClr val="161B22"/>
          </a:solidFill>
          <a:ln w="12700">
            <a:solidFill>
              <a:srgbClr val="30363D"/>
            </a:solidFill>
            <a:prstDash val="solid"/>
          </a:ln>
        </p:spPr>
      </p:sp>
      <p:sp>
        <p:nvSpPr>
          <p:cNvPr id="30" name="Shape 28"/>
          <p:cNvSpPr/>
          <p:nvPr/>
        </p:nvSpPr>
        <p:spPr>
          <a:xfrm>
            <a:off x="502920" y="4581144"/>
            <a:ext cx="365760" cy="365760"/>
          </a:xfrm>
          <a:prstGeom prst="ellipse">
            <a:avLst/>
          </a:prstGeom>
          <a:solidFill>
            <a:srgbClr val="7CE38B"/>
          </a:solidFill>
          <a:ln w="12700">
            <a:solidFill>
              <a:srgbClr val="7CE38B"/>
            </a:solidFill>
            <a:prstDash val="solid"/>
          </a:ln>
        </p:spPr>
      </p:sp>
      <p:sp>
        <p:nvSpPr>
          <p:cNvPr id="31" name="Text 29"/>
          <p:cNvSpPr/>
          <p:nvPr/>
        </p:nvSpPr>
        <p:spPr>
          <a:xfrm>
            <a:off x="502920" y="4581144"/>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32" name="Text 30"/>
          <p:cNvSpPr/>
          <p:nvPr/>
        </p:nvSpPr>
        <p:spPr>
          <a:xfrm>
            <a:off x="1005840" y="4462272"/>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BUILD</a:t>
            </a:r>
            <a:endParaRPr lang="en-US" sz="1400" dirty="0"/>
          </a:p>
        </p:txBody>
      </p:sp>
      <p:sp>
        <p:nvSpPr>
          <p:cNvPr id="33" name="Text 31"/>
          <p:cNvSpPr/>
          <p:nvPr/>
        </p:nvSpPr>
        <p:spPr>
          <a:xfrm>
            <a:off x="3383280" y="4462272"/>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BE + FE</a:t>
            </a:r>
            <a:endParaRPr lang="en-US" sz="1100" dirty="0"/>
          </a:p>
        </p:txBody>
      </p:sp>
      <p:sp>
        <p:nvSpPr>
          <p:cNvPr id="34" name="Text 32"/>
          <p:cNvSpPr/>
          <p:nvPr/>
        </p:nvSpPr>
        <p:spPr>
          <a:xfrm>
            <a:off x="5760720" y="4462272"/>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 frontend/* (source thật)</a:t>
            </a:r>
            <a:endParaRPr lang="en-US" sz="1000" dirty="0"/>
          </a:p>
        </p:txBody>
      </p:sp>
      <p:sp>
        <p:nvSpPr>
          <p:cNvPr id="35" name="Shape 33"/>
          <p:cNvSpPr/>
          <p:nvPr/>
        </p:nvSpPr>
        <p:spPr>
          <a:xfrm>
            <a:off x="365760" y="5120640"/>
            <a:ext cx="11430000" cy="603504"/>
          </a:xfrm>
          <a:prstGeom prst="rect">
            <a:avLst/>
          </a:prstGeom>
          <a:solidFill>
            <a:srgbClr val="1C2128"/>
          </a:solidFill>
          <a:ln w="12700">
            <a:solidFill>
              <a:srgbClr val="30363D"/>
            </a:solidFill>
            <a:prstDash val="solid"/>
          </a:ln>
        </p:spPr>
      </p:sp>
      <p:sp>
        <p:nvSpPr>
          <p:cNvPr id="36" name="Shape 34"/>
          <p:cNvSpPr/>
          <p:nvPr/>
        </p:nvSpPr>
        <p:spPr>
          <a:xfrm>
            <a:off x="502920" y="5239512"/>
            <a:ext cx="365760" cy="365760"/>
          </a:xfrm>
          <a:prstGeom prst="ellipse">
            <a:avLst/>
          </a:prstGeom>
          <a:solidFill>
            <a:srgbClr val="7CE38B"/>
          </a:solidFill>
          <a:ln w="12700">
            <a:solidFill>
              <a:srgbClr val="7CE38B"/>
            </a:solidFill>
            <a:prstDash val="solid"/>
          </a:ln>
        </p:spPr>
      </p:sp>
      <p:sp>
        <p:nvSpPr>
          <p:cNvPr id="37" name="Text 35"/>
          <p:cNvSpPr/>
          <p:nvPr/>
        </p:nvSpPr>
        <p:spPr>
          <a:xfrm>
            <a:off x="502920" y="5239512"/>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38" name="Text 36"/>
          <p:cNvSpPr/>
          <p:nvPr/>
        </p:nvSpPr>
        <p:spPr>
          <a:xfrm>
            <a:off x="1005840" y="5120640"/>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TEST &amp; FIX</a:t>
            </a:r>
            <a:endParaRPr lang="en-US" sz="1400" dirty="0"/>
          </a:p>
        </p:txBody>
      </p:sp>
      <p:sp>
        <p:nvSpPr>
          <p:cNvPr id="39" name="Text 37"/>
          <p:cNvSpPr/>
          <p:nvPr/>
        </p:nvSpPr>
        <p:spPr>
          <a:xfrm>
            <a:off x="3383280" y="5120640"/>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QA + BE + FE</a:t>
            </a:r>
            <a:endParaRPr lang="en-US" sz="1100" dirty="0"/>
          </a:p>
        </p:txBody>
      </p:sp>
      <p:sp>
        <p:nvSpPr>
          <p:cNvPr id="40" name="Text 38"/>
          <p:cNvSpPr/>
          <p:nvPr/>
        </p:nvSpPr>
        <p:spPr>
          <a:xfrm>
            <a:off x="5760720" y="5120640"/>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TEST_REPORT VERDICT: PASS, BUG_REPORT clean</a:t>
            </a:r>
            <a:endParaRPr lang="en-US" sz="1000" dirty="0"/>
          </a:p>
        </p:txBody>
      </p:sp>
      <p:sp>
        <p:nvSpPr>
          <p:cNvPr id="41" name="Shape 39"/>
          <p:cNvSpPr/>
          <p:nvPr/>
        </p:nvSpPr>
        <p:spPr>
          <a:xfrm>
            <a:off x="365760" y="5779008"/>
            <a:ext cx="11430000" cy="603504"/>
          </a:xfrm>
          <a:prstGeom prst="rect">
            <a:avLst/>
          </a:prstGeom>
          <a:solidFill>
            <a:srgbClr val="161B22"/>
          </a:solidFill>
          <a:ln w="12700">
            <a:solidFill>
              <a:srgbClr val="30363D"/>
            </a:solidFill>
            <a:prstDash val="solid"/>
          </a:ln>
        </p:spPr>
      </p:sp>
      <p:sp>
        <p:nvSpPr>
          <p:cNvPr id="42" name="Shape 40"/>
          <p:cNvSpPr/>
          <p:nvPr/>
        </p:nvSpPr>
        <p:spPr>
          <a:xfrm>
            <a:off x="502920" y="5897880"/>
            <a:ext cx="365760" cy="365760"/>
          </a:xfrm>
          <a:prstGeom prst="ellipse">
            <a:avLst/>
          </a:prstGeom>
          <a:solidFill>
            <a:srgbClr val="7CE38B"/>
          </a:solidFill>
          <a:ln w="12700">
            <a:solidFill>
              <a:srgbClr val="7CE38B"/>
            </a:solidFill>
            <a:prstDash val="solid"/>
          </a:ln>
        </p:spPr>
      </p:sp>
      <p:sp>
        <p:nvSpPr>
          <p:cNvPr id="43" name="Text 41"/>
          <p:cNvSpPr/>
          <p:nvPr/>
        </p:nvSpPr>
        <p:spPr>
          <a:xfrm>
            <a:off x="502920" y="5897880"/>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6</a:t>
            </a:r>
            <a:endParaRPr lang="en-US" sz="1400" dirty="0"/>
          </a:p>
        </p:txBody>
      </p:sp>
      <p:sp>
        <p:nvSpPr>
          <p:cNvPr id="44" name="Text 42"/>
          <p:cNvSpPr/>
          <p:nvPr/>
        </p:nvSpPr>
        <p:spPr>
          <a:xfrm>
            <a:off x="1005840" y="5779008"/>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DELIVERY</a:t>
            </a:r>
            <a:endParaRPr lang="en-US" sz="1400" dirty="0"/>
          </a:p>
        </p:txBody>
      </p:sp>
      <p:sp>
        <p:nvSpPr>
          <p:cNvPr id="45" name="Text 43"/>
          <p:cNvSpPr/>
          <p:nvPr/>
        </p:nvSpPr>
        <p:spPr>
          <a:xfrm>
            <a:off x="3383280" y="5779008"/>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DELIVERY</a:t>
            </a:r>
            <a:endParaRPr lang="en-US" sz="1100" dirty="0"/>
          </a:p>
        </p:txBody>
      </p:sp>
      <p:sp>
        <p:nvSpPr>
          <p:cNvPr id="46" name="Text 44"/>
          <p:cNvSpPr/>
          <p:nvPr/>
        </p:nvSpPr>
        <p:spPr>
          <a:xfrm>
            <a:off x="5760720" y="5779008"/>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docker-compose, Dockerfile, RUNNING_APP.md + live URL</a:t>
            </a:r>
            <a:endParaRPr lang="en-US" sz="1000" dirty="0"/>
          </a:p>
        </p:txBody>
      </p:sp>
      <p:sp>
        <p:nvSpPr>
          <p:cNvPr id="47" name="Text 4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15 / 29</a:t>
            </a:r>
            <a:endParaRPr lang="en-US" sz="900" dirty="0"/>
          </a:p>
        </p:txBody>
      </p:sp>
      <p:sp>
        <p:nvSpPr>
          <p:cNvPr id="48" name="Text 4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9" name="Text 4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15_phase_gates.md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Phase gates — không nhảy phase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Không thể vào phase N khi phase N-1 chưa qua exit criteria</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Check một phase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1_SOLUTION_DESIGN</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Check tất cả phase tới đó</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--through 3_IMPLEMENTATION_PLANNING</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Officially advance (refuse nếu gate fail)</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scripts/advance_phase.sh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4_BUILD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Override khi user explicit waive: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ADVANCE_PHASE_FORCE=1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bash scripts/advance_phase.sh 6_DELIVERY</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Semantic checks (vượt khỏi file-exists)</a:t>
            </a:r>
            <a:endParaRPr lang="en-US" sz="1400" dirty="0"/>
          </a:p>
        </p:txBody>
      </p:sp>
      <p:sp>
        <p:nvSpPr>
          <p:cNvPr id="12" name="Text 10"/>
          <p:cNvSpPr/>
          <p:nvPr/>
        </p:nvSpPr>
        <p:spPr>
          <a:xfrm>
            <a:off x="6492240" y="2331720"/>
            <a:ext cx="5303520" cy="3840480"/>
          </a:xfrm>
          <a:prstGeom prst="rect">
            <a:avLst/>
          </a:prstGeom>
          <a:noFill/>
          <a:ln/>
        </p:spPr>
        <p:txBody>
          <a:bodyPr wrap="square" lIns="0" tIns="0" rIns="0" bIns="0" rtlCol="0" anchor="ctr"/>
          <a:lstStyle/>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1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TECH_STACK.md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có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"Confirmed by user"</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4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backend/</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frontend/</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có source files thật</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5 cần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VERDICT: PASS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no OPEN_CRITICAL / OPEN_MAJOR / RETEST_FAIL</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6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RUNNING_APP.md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có URL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http(s)://</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thật</a:t>
            </a:r>
            <a:endParaRPr lang="en-US" sz="12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16 / 29</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16_release_gate.md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Release gate — bug-free hoặc no-ship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DELIVERY refuse deploy nếu TEST_REPORT FAIL hoặc BUG_REPORT có blocker</a:t>
            </a:r>
            <a:endParaRPr lang="en-US" sz="1400" dirty="0"/>
          </a:p>
        </p:txBody>
      </p:sp>
      <p:sp>
        <p:nvSpPr>
          <p:cNvPr id="5" name="Shape 3"/>
          <p:cNvSpPr/>
          <p:nvPr/>
        </p:nvSpPr>
        <p:spPr>
          <a:xfrm>
            <a:off x="365760" y="1783080"/>
            <a:ext cx="5486400" cy="4572000"/>
          </a:xfrm>
          <a:prstGeom prst="rect">
            <a:avLst/>
          </a:prstGeom>
          <a:solidFill>
            <a:srgbClr val="161B22"/>
          </a:solidFill>
          <a:ln w="12700">
            <a:solidFill>
              <a:srgbClr val="30363D"/>
            </a:solidFill>
            <a:prstDash val="solid"/>
          </a:ln>
        </p:spPr>
      </p:sp>
      <p:sp>
        <p:nvSpPr>
          <p:cNvPr id="6" name="Text 4"/>
          <p:cNvSpPr/>
          <p:nvPr/>
        </p:nvSpPr>
        <p:spPr>
          <a:xfrm>
            <a:off x="457200" y="1874520"/>
            <a:ext cx="530352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Bug status convention (QA)</a:t>
            </a:r>
            <a:endParaRPr lang="en-US" sz="1400" dirty="0"/>
          </a:p>
        </p:txBody>
      </p:sp>
      <p:sp>
        <p:nvSpPr>
          <p:cNvPr id="7" name="Shape 5"/>
          <p:cNvSpPr/>
          <p:nvPr/>
        </p:nvSpPr>
        <p:spPr>
          <a:xfrm>
            <a:off x="548640" y="2441448"/>
            <a:ext cx="146304" cy="146304"/>
          </a:xfrm>
          <a:prstGeom prst="ellipse">
            <a:avLst/>
          </a:prstGeom>
          <a:solidFill>
            <a:srgbClr val="F85149"/>
          </a:solidFill>
          <a:ln w="12700">
            <a:solidFill>
              <a:srgbClr val="F85149"/>
            </a:solidFill>
            <a:prstDash val="solid"/>
          </a:ln>
        </p:spPr>
      </p:sp>
      <p:sp>
        <p:nvSpPr>
          <p:cNvPr id="8" name="Text 6"/>
          <p:cNvSpPr/>
          <p:nvPr/>
        </p:nvSpPr>
        <p:spPr>
          <a:xfrm>
            <a:off x="777240" y="233172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OPEN_CRITICAL</a:t>
            </a:r>
            <a:endParaRPr lang="en-US" sz="1100" dirty="0"/>
          </a:p>
        </p:txBody>
      </p:sp>
      <p:sp>
        <p:nvSpPr>
          <p:cNvPr id="9" name="Text 7"/>
          <p:cNvSpPr/>
          <p:nvPr/>
        </p:nvSpPr>
        <p:spPr>
          <a:xfrm>
            <a:off x="2606040" y="233172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Blocks all use of the app</a:t>
            </a:r>
            <a:endParaRPr lang="en-US" sz="1000" dirty="0"/>
          </a:p>
        </p:txBody>
      </p:sp>
      <p:sp>
        <p:nvSpPr>
          <p:cNvPr id="10" name="Shape 8"/>
          <p:cNvSpPr/>
          <p:nvPr/>
        </p:nvSpPr>
        <p:spPr>
          <a:xfrm>
            <a:off x="548640" y="2807208"/>
            <a:ext cx="146304" cy="146304"/>
          </a:xfrm>
          <a:prstGeom prst="ellipse">
            <a:avLst/>
          </a:prstGeom>
          <a:solidFill>
            <a:srgbClr val="F85149"/>
          </a:solidFill>
          <a:ln w="12700">
            <a:solidFill>
              <a:srgbClr val="F85149"/>
            </a:solidFill>
            <a:prstDash val="solid"/>
          </a:ln>
        </p:spPr>
      </p:sp>
      <p:sp>
        <p:nvSpPr>
          <p:cNvPr id="11" name="Text 9"/>
          <p:cNvSpPr/>
          <p:nvPr/>
        </p:nvSpPr>
        <p:spPr>
          <a:xfrm>
            <a:off x="777240" y="269748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OPEN_MAJOR</a:t>
            </a:r>
            <a:endParaRPr lang="en-US" sz="1100" dirty="0"/>
          </a:p>
        </p:txBody>
      </p:sp>
      <p:sp>
        <p:nvSpPr>
          <p:cNvPr id="12" name="Text 10"/>
          <p:cNvSpPr/>
          <p:nvPr/>
        </p:nvSpPr>
        <p:spPr>
          <a:xfrm>
            <a:off x="2606040" y="269748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Affects primary user story</a:t>
            </a:r>
            <a:endParaRPr lang="en-US" sz="1000" dirty="0"/>
          </a:p>
        </p:txBody>
      </p:sp>
      <p:sp>
        <p:nvSpPr>
          <p:cNvPr id="13" name="Shape 11"/>
          <p:cNvSpPr/>
          <p:nvPr/>
        </p:nvSpPr>
        <p:spPr>
          <a:xfrm>
            <a:off x="548640" y="3172968"/>
            <a:ext cx="146304" cy="146304"/>
          </a:xfrm>
          <a:prstGeom prst="ellipse">
            <a:avLst/>
          </a:prstGeom>
          <a:solidFill>
            <a:srgbClr val="2EA043"/>
          </a:solidFill>
          <a:ln w="12700">
            <a:solidFill>
              <a:srgbClr val="2EA043"/>
            </a:solidFill>
            <a:prstDash val="solid"/>
          </a:ln>
        </p:spPr>
      </p:sp>
      <p:sp>
        <p:nvSpPr>
          <p:cNvPr id="14" name="Text 12"/>
          <p:cNvSpPr/>
          <p:nvPr/>
        </p:nvSpPr>
        <p:spPr>
          <a:xfrm>
            <a:off x="777240" y="306324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OPEN_MINOR</a:t>
            </a:r>
            <a:endParaRPr lang="en-US" sz="1100" dirty="0"/>
          </a:p>
        </p:txBody>
      </p:sp>
      <p:sp>
        <p:nvSpPr>
          <p:cNvPr id="15" name="Text 13"/>
          <p:cNvSpPr/>
          <p:nvPr/>
        </p:nvSpPr>
        <p:spPr>
          <a:xfrm>
            <a:off x="2606040" y="306324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Cosmetic / non-critical</a:t>
            </a:r>
            <a:endParaRPr lang="en-US" sz="1000" dirty="0"/>
          </a:p>
        </p:txBody>
      </p:sp>
      <p:sp>
        <p:nvSpPr>
          <p:cNvPr id="16" name="Shape 14"/>
          <p:cNvSpPr/>
          <p:nvPr/>
        </p:nvSpPr>
        <p:spPr>
          <a:xfrm>
            <a:off x="548640" y="3538728"/>
            <a:ext cx="146304" cy="146304"/>
          </a:xfrm>
          <a:prstGeom prst="ellipse">
            <a:avLst/>
          </a:prstGeom>
          <a:solidFill>
            <a:srgbClr val="2EA043"/>
          </a:solidFill>
          <a:ln w="12700">
            <a:solidFill>
              <a:srgbClr val="2EA043"/>
            </a:solidFill>
            <a:prstDash val="solid"/>
          </a:ln>
        </p:spPr>
      </p:sp>
      <p:sp>
        <p:nvSpPr>
          <p:cNvPr id="17" name="Text 15"/>
          <p:cNvSpPr/>
          <p:nvPr/>
        </p:nvSpPr>
        <p:spPr>
          <a:xfrm>
            <a:off x="777240" y="342900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RETESTING</a:t>
            </a:r>
            <a:endParaRPr lang="en-US" sz="1100" dirty="0"/>
          </a:p>
        </p:txBody>
      </p:sp>
      <p:sp>
        <p:nvSpPr>
          <p:cNvPr id="18" name="Text 16"/>
          <p:cNvSpPr/>
          <p:nvPr/>
        </p:nvSpPr>
        <p:spPr>
          <a:xfrm>
            <a:off x="2606040" y="342900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pushed, QA verifying</a:t>
            </a:r>
            <a:endParaRPr lang="en-US" sz="1000" dirty="0"/>
          </a:p>
        </p:txBody>
      </p:sp>
      <p:sp>
        <p:nvSpPr>
          <p:cNvPr id="19" name="Shape 17"/>
          <p:cNvSpPr/>
          <p:nvPr/>
        </p:nvSpPr>
        <p:spPr>
          <a:xfrm>
            <a:off x="548640" y="3904488"/>
            <a:ext cx="146304" cy="146304"/>
          </a:xfrm>
          <a:prstGeom prst="ellipse">
            <a:avLst/>
          </a:prstGeom>
          <a:solidFill>
            <a:srgbClr val="2EA043"/>
          </a:solidFill>
          <a:ln w="12700">
            <a:solidFill>
              <a:srgbClr val="2EA043"/>
            </a:solidFill>
            <a:prstDash val="solid"/>
          </a:ln>
        </p:spPr>
      </p:sp>
      <p:sp>
        <p:nvSpPr>
          <p:cNvPr id="20" name="Text 18"/>
          <p:cNvSpPr/>
          <p:nvPr/>
        </p:nvSpPr>
        <p:spPr>
          <a:xfrm>
            <a:off x="777240" y="379476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RETEST_PASS</a:t>
            </a:r>
            <a:endParaRPr lang="en-US" sz="1100" dirty="0"/>
          </a:p>
        </p:txBody>
      </p:sp>
      <p:sp>
        <p:nvSpPr>
          <p:cNvPr id="21" name="Text 19"/>
          <p:cNvSpPr/>
          <p:nvPr/>
        </p:nvSpPr>
        <p:spPr>
          <a:xfrm>
            <a:off x="2606040" y="379476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verified</a:t>
            </a:r>
            <a:endParaRPr lang="en-US" sz="1000" dirty="0"/>
          </a:p>
        </p:txBody>
      </p:sp>
      <p:sp>
        <p:nvSpPr>
          <p:cNvPr id="22" name="Shape 20"/>
          <p:cNvSpPr/>
          <p:nvPr/>
        </p:nvSpPr>
        <p:spPr>
          <a:xfrm>
            <a:off x="548640" y="4270248"/>
            <a:ext cx="146304" cy="146304"/>
          </a:xfrm>
          <a:prstGeom prst="ellipse">
            <a:avLst/>
          </a:prstGeom>
          <a:solidFill>
            <a:srgbClr val="F85149"/>
          </a:solidFill>
          <a:ln w="12700">
            <a:solidFill>
              <a:srgbClr val="F85149"/>
            </a:solidFill>
            <a:prstDash val="solid"/>
          </a:ln>
        </p:spPr>
      </p:sp>
      <p:sp>
        <p:nvSpPr>
          <p:cNvPr id="23" name="Text 21"/>
          <p:cNvSpPr/>
          <p:nvPr/>
        </p:nvSpPr>
        <p:spPr>
          <a:xfrm>
            <a:off x="777240" y="416052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RETEST_FAIL</a:t>
            </a:r>
            <a:endParaRPr lang="en-US" sz="1100" dirty="0"/>
          </a:p>
        </p:txBody>
      </p:sp>
      <p:sp>
        <p:nvSpPr>
          <p:cNvPr id="24" name="Text 22"/>
          <p:cNvSpPr/>
          <p:nvPr/>
        </p:nvSpPr>
        <p:spPr>
          <a:xfrm>
            <a:off x="2606040" y="416052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didn't work</a:t>
            </a:r>
            <a:endParaRPr lang="en-US" sz="1000" dirty="0"/>
          </a:p>
        </p:txBody>
      </p:sp>
      <p:sp>
        <p:nvSpPr>
          <p:cNvPr id="25" name="Shape 23"/>
          <p:cNvSpPr/>
          <p:nvPr/>
        </p:nvSpPr>
        <p:spPr>
          <a:xfrm>
            <a:off x="548640" y="4636008"/>
            <a:ext cx="146304" cy="146304"/>
          </a:xfrm>
          <a:prstGeom prst="ellipse">
            <a:avLst/>
          </a:prstGeom>
          <a:solidFill>
            <a:srgbClr val="2EA043"/>
          </a:solidFill>
          <a:ln w="12700">
            <a:solidFill>
              <a:srgbClr val="2EA043"/>
            </a:solidFill>
            <a:prstDash val="solid"/>
          </a:ln>
        </p:spPr>
      </p:sp>
      <p:sp>
        <p:nvSpPr>
          <p:cNvPr id="26" name="Text 24"/>
          <p:cNvSpPr/>
          <p:nvPr/>
        </p:nvSpPr>
        <p:spPr>
          <a:xfrm>
            <a:off x="777240" y="452628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FIXED</a:t>
            </a:r>
            <a:endParaRPr lang="en-US" sz="1100" dirty="0"/>
          </a:p>
        </p:txBody>
      </p:sp>
      <p:sp>
        <p:nvSpPr>
          <p:cNvPr id="27" name="Text 25"/>
          <p:cNvSpPr/>
          <p:nvPr/>
        </p:nvSpPr>
        <p:spPr>
          <a:xfrm>
            <a:off x="2606040" y="452628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Closed</a:t>
            </a:r>
            <a:endParaRPr lang="en-US" sz="1000" dirty="0"/>
          </a:p>
        </p:txBody>
      </p:sp>
      <p:sp>
        <p:nvSpPr>
          <p:cNvPr id="28" name="Shape 26"/>
          <p:cNvSpPr/>
          <p:nvPr/>
        </p:nvSpPr>
        <p:spPr>
          <a:xfrm>
            <a:off x="548640" y="5001768"/>
            <a:ext cx="146304" cy="146304"/>
          </a:xfrm>
          <a:prstGeom prst="ellipse">
            <a:avLst/>
          </a:prstGeom>
          <a:solidFill>
            <a:srgbClr val="2EA043"/>
          </a:solidFill>
          <a:ln w="12700">
            <a:solidFill>
              <a:srgbClr val="2EA043"/>
            </a:solidFill>
            <a:prstDash val="solid"/>
          </a:ln>
        </p:spPr>
      </p:sp>
      <p:sp>
        <p:nvSpPr>
          <p:cNvPr id="29" name="Text 27"/>
          <p:cNvSpPr/>
          <p:nvPr/>
        </p:nvSpPr>
        <p:spPr>
          <a:xfrm>
            <a:off x="777240" y="489204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WONT_FIX</a:t>
            </a:r>
            <a:endParaRPr lang="en-US" sz="1100" dirty="0"/>
          </a:p>
        </p:txBody>
      </p:sp>
      <p:sp>
        <p:nvSpPr>
          <p:cNvPr id="30" name="Text 28"/>
          <p:cNvSpPr/>
          <p:nvPr/>
        </p:nvSpPr>
        <p:spPr>
          <a:xfrm>
            <a:off x="2606040" y="489204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Accepted, not fixing</a:t>
            </a:r>
            <a:endParaRPr lang="en-US" sz="1000" dirty="0"/>
          </a:p>
        </p:txBody>
      </p:sp>
      <p:sp>
        <p:nvSpPr>
          <p:cNvPr id="31" name="Shape 29"/>
          <p:cNvSpPr/>
          <p:nvPr/>
        </p:nvSpPr>
        <p:spPr>
          <a:xfrm>
            <a:off x="6126480" y="1783080"/>
            <a:ext cx="5669280" cy="4572000"/>
          </a:xfrm>
          <a:prstGeom prst="rect">
            <a:avLst/>
          </a:prstGeom>
          <a:solidFill>
            <a:srgbClr val="161B22"/>
          </a:solidFill>
          <a:ln w="12700">
            <a:solidFill>
              <a:srgbClr val="30363D"/>
            </a:solidFill>
            <a:prstDash val="solid"/>
          </a:ln>
        </p:spPr>
      </p:sp>
      <p:sp>
        <p:nvSpPr>
          <p:cNvPr id="32" name="Shape 30"/>
          <p:cNvSpPr/>
          <p:nvPr/>
        </p:nvSpPr>
        <p:spPr>
          <a:xfrm>
            <a:off x="6217920" y="1874520"/>
            <a:ext cx="91440" cy="91440"/>
          </a:xfrm>
          <a:prstGeom prst="ellipse">
            <a:avLst/>
          </a:prstGeom>
          <a:solidFill>
            <a:srgbClr val="F85149"/>
          </a:solidFill>
          <a:ln w="12700">
            <a:solidFill>
              <a:srgbClr val="F85149"/>
            </a:solidFill>
            <a:prstDash val="solid"/>
          </a:ln>
        </p:spPr>
      </p:sp>
      <p:sp>
        <p:nvSpPr>
          <p:cNvPr id="33" name="Shape 31"/>
          <p:cNvSpPr/>
          <p:nvPr/>
        </p:nvSpPr>
        <p:spPr>
          <a:xfrm>
            <a:off x="6345936" y="1874520"/>
            <a:ext cx="91440" cy="91440"/>
          </a:xfrm>
          <a:prstGeom prst="ellipse">
            <a:avLst/>
          </a:prstGeom>
          <a:solidFill>
            <a:srgbClr val="D29922"/>
          </a:solidFill>
          <a:ln w="12700">
            <a:solidFill>
              <a:srgbClr val="D29922"/>
            </a:solidFill>
            <a:prstDash val="solid"/>
          </a:ln>
        </p:spPr>
      </p:sp>
      <p:sp>
        <p:nvSpPr>
          <p:cNvPr id="34" name="Shape 32"/>
          <p:cNvSpPr/>
          <p:nvPr/>
        </p:nvSpPr>
        <p:spPr>
          <a:xfrm>
            <a:off x="6473952" y="1874520"/>
            <a:ext cx="91440" cy="91440"/>
          </a:xfrm>
          <a:prstGeom prst="ellipse">
            <a:avLst/>
          </a:prstGeom>
          <a:solidFill>
            <a:srgbClr val="3FB950"/>
          </a:solidFill>
          <a:ln w="12700">
            <a:solidFill>
              <a:srgbClr val="3FB950"/>
            </a:solidFill>
            <a:prstDash val="solid"/>
          </a:ln>
        </p:spPr>
      </p:sp>
      <p:sp>
        <p:nvSpPr>
          <p:cNvPr id="35" name="Text 33"/>
          <p:cNvSpPr/>
          <p:nvPr/>
        </p:nvSpPr>
        <p:spPr>
          <a:xfrm>
            <a:off x="6263640" y="2103120"/>
            <a:ext cx="539496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DELIVERY prereq check (v10.9):</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scripts/check_prerequisites.sh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Hard-blocks unless ALL true: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reports/TEST_REPORT.md exists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_SIGNED_TECH_STACK_   (Confirmed by user)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_VERDICT_PASS_        (TEST_REPORT)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_NO_OPEN_CRITICAL_MAJOR_  (BUG_REPORT)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_CODE_BE_             (backend/ has src)</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_CODE_FE_             (frontend/ has src)</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 tự refuse, notify Orch,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Orch route BE/FE/QA fix trước.</a:t>
            </a:r>
            <a:endParaRPr lang="en-US" sz="1200" dirty="0"/>
          </a:p>
        </p:txBody>
      </p:sp>
      <p:sp>
        <p:nvSpPr>
          <p:cNvPr id="36" name="Text 34"/>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17 / 29</a:t>
            </a:r>
            <a:endParaRPr lang="en-US" sz="900" dirty="0"/>
          </a:p>
        </p:txBody>
      </p:sp>
      <p:sp>
        <p:nvSpPr>
          <p:cNvPr id="37" name="Text 35"/>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8" name="Text 36"/>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17_quick_start.md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Quick start — 5 lệnh để khởi động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Clone từ GitHub → bootstrap project → talk to Orchestrator</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1. Clone từ GitHub (monorepo learning-vault)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git clone https://github.com/minhtuan-labs/learning-vault.git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cd learning-vault/frameworks/product-engineering-template</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2. Copy template ra project mới (hoặc dùng tại chỗ)</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cp -R . ~/my-project &amp;&amp; cd ~/my-project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chmod +x scripts/*.sh</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3. Mô tả ý tưởng — đây là input duy nhất của user</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$EDITOR PRODUCT_IDEA.md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4. Verify các model có sẵn trong OpenCode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scripts/check_opencode_models.sh</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5. Khởi động 9-pane tmux session</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my-project</a:t>
            </a:r>
            <a:endParaRPr lang="en-US" sz="1200" dirty="0"/>
          </a:p>
        </p:txBody>
      </p:sp>
      <p:sp>
        <p:nvSpPr>
          <p:cNvPr id="10" name="Text 8"/>
          <p:cNvSpPr/>
          <p:nvPr/>
        </p:nvSpPr>
        <p:spPr>
          <a:xfrm>
            <a:off x="365760" y="6126480"/>
            <a:ext cx="11430000" cy="365760"/>
          </a:xfrm>
          <a:prstGeom prst="rect">
            <a:avLst/>
          </a:prstGeom>
          <a:noFill/>
          <a:ln/>
        </p:spPr>
        <p:txBody>
          <a:bodyPr wrap="square" lIns="0" tIns="0" rIns="0" bIns="0" rtlCol="0" anchor="ctr"/>
          <a:lstStyle/>
          <a:p>
            <a:pPr algn="ctr" indent="0" marL="0">
              <a:buNone/>
            </a:pPr>
            <a:r>
              <a:rPr lang="en-US" sz="1300" i="1" dirty="0">
                <a:solidFill>
                  <a:srgbClr val="7CE38B"/>
                </a:solidFill>
                <a:latin typeface="Calibri" pitchFamily="34" charset="0"/>
                <a:ea typeface="Calibri" pitchFamily="34" charset="-122"/>
                <a:cs typeface="Calibri" pitchFamily="34" charset="-120"/>
              </a:rPr>
              <a:t>Sau đó chỉ nói với pane 1 (Orchestrator). 8 pane còn lại tự awake khi cần.</a:t>
            </a:r>
            <a:endParaRPr lang="en-US" sz="13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18 / 29</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18_workflow_day1.md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Workflow — Day 1 (Discovery → Solution)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Bạn chỉ chat với Orchestrator, mỗi turn ngắn gọn</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USER : Bắt đầu dự án NestFi — app quản lý tài chính gia đình.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discovery → PM, BA, UX song song)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Đã route 3 agent. Sẽ ping khi có câu hỏi hoặc xong.</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[5 phút sau, SA chưa cần — PM file question vì PRODUCT_IDEA chưa đủ]</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[INBOX] new clarification from PM — đối tượng user chính ai? B2C? B2B?</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PM hỏi: bạn nhắm user B2C (cá nhân/gia đình) hay B2B (kế toán)?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B2C — gia đình 2-5 thành viên, không cần kế toán pro.</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PM ... → PM resume → ghi PRD)</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tiếp tục solution design.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solution → SA, ask về 12 stack dimensions)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SA hỏi: Stack đề xuất — Next.js / FastAPI / Postgres / Tailwind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với defaults, dùng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SA ... → SA viết TECH_STACK, ADR, API_CONTRACT)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19 / 29</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19_workflow_day2.md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Workflow — Day 2+ (Build → Test → Release)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Resume từ memory, đẩy tiếp phase, ship</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nestfi-ai-room</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RESUME mode — non-empty memory/SA.md detected</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auto-ping]  [RESUME] Run rescan_project.sh first.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Chào buổi sáng. Phase hiện tại: 3_PLANNING (BE+FE+QA+DEL done).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Sẵn sàng vào 4_BUILD. Có 0 question pending. Tiếp tục?</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Yes, build.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build → BE + FE)</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[~30 phút sau BE và FE đều notify done]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Ship it.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release → test phase first)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QA chạy test, viết VERDICT: PASS → auto-route DELIVERY.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 hỏi: ports FE=3000 BE=8000 DB=5432 OK?</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defaults.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DELIVERY → docker compose up --build -d → URL ready)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App live tại http://localhost:3000  ▣  RELEASE_NOTES updated.</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20 / 29</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20_tech_stack_protocol.md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Tech Stack Confirmation Protocol (v10.7)</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SA không được tự pick Next.js/React/Postgres trên auto-pilot</a:t>
            </a:r>
            <a:endParaRPr lang="en-US" sz="1400" dirty="0"/>
          </a:p>
        </p:txBody>
      </p:sp>
      <p:sp>
        <p:nvSpPr>
          <p:cNvPr id="5" name="Text 3"/>
          <p:cNvSpPr/>
          <p:nvPr/>
        </p:nvSpPr>
        <p:spPr>
          <a:xfrm>
            <a:off x="365760" y="1783080"/>
            <a:ext cx="11430000" cy="640080"/>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Trước khi viết TECH_STACK.md, SA phải gửi 1 câu hỏi batched với 12 dimensions để user confirm hoặc override:</a:t>
            </a:r>
            <a:endParaRPr lang="en-US" sz="1300" dirty="0"/>
          </a:p>
        </p:txBody>
      </p:sp>
      <p:sp>
        <p:nvSpPr>
          <p:cNvPr id="6" name="Shape 4"/>
          <p:cNvSpPr/>
          <p:nvPr/>
        </p:nvSpPr>
        <p:spPr>
          <a:xfrm>
            <a:off x="365760" y="2606040"/>
            <a:ext cx="3749040" cy="411480"/>
          </a:xfrm>
          <a:prstGeom prst="rect">
            <a:avLst/>
          </a:prstGeom>
          <a:solidFill>
            <a:srgbClr val="161B22"/>
          </a:solidFill>
          <a:ln w="12700">
            <a:solidFill>
              <a:srgbClr val="30363D"/>
            </a:solidFill>
            <a:prstDash val="solid"/>
          </a:ln>
        </p:spPr>
      </p:sp>
      <p:sp>
        <p:nvSpPr>
          <p:cNvPr id="7" name="Shape 5"/>
          <p:cNvSpPr/>
          <p:nvPr/>
        </p:nvSpPr>
        <p:spPr>
          <a:xfrm>
            <a:off x="365760" y="2606040"/>
            <a:ext cx="54864" cy="411480"/>
          </a:xfrm>
          <a:prstGeom prst="rect">
            <a:avLst/>
          </a:prstGeom>
          <a:solidFill>
            <a:srgbClr val="7CE38B"/>
          </a:solidFill>
          <a:ln w="12700">
            <a:solidFill>
              <a:srgbClr val="7CE38B"/>
            </a:solidFill>
            <a:prstDash val="solid"/>
          </a:ln>
        </p:spPr>
      </p:sp>
      <p:sp>
        <p:nvSpPr>
          <p:cNvPr id="8" name="Text 6"/>
          <p:cNvSpPr/>
          <p:nvPr/>
        </p:nvSpPr>
        <p:spPr>
          <a:xfrm>
            <a:off x="50292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 Frontend framework</a:t>
            </a:r>
            <a:endParaRPr lang="en-US" sz="1200" dirty="0"/>
          </a:p>
        </p:txBody>
      </p:sp>
      <p:sp>
        <p:nvSpPr>
          <p:cNvPr id="9" name="Shape 7"/>
          <p:cNvSpPr/>
          <p:nvPr/>
        </p:nvSpPr>
        <p:spPr>
          <a:xfrm>
            <a:off x="4297680" y="2606040"/>
            <a:ext cx="3749040" cy="411480"/>
          </a:xfrm>
          <a:prstGeom prst="rect">
            <a:avLst/>
          </a:prstGeom>
          <a:solidFill>
            <a:srgbClr val="161B22"/>
          </a:solidFill>
          <a:ln w="12700">
            <a:solidFill>
              <a:srgbClr val="30363D"/>
            </a:solidFill>
            <a:prstDash val="solid"/>
          </a:ln>
        </p:spPr>
      </p:sp>
      <p:sp>
        <p:nvSpPr>
          <p:cNvPr id="10" name="Shape 8"/>
          <p:cNvSpPr/>
          <p:nvPr/>
        </p:nvSpPr>
        <p:spPr>
          <a:xfrm>
            <a:off x="4297680" y="2606040"/>
            <a:ext cx="54864" cy="411480"/>
          </a:xfrm>
          <a:prstGeom prst="rect">
            <a:avLst/>
          </a:prstGeom>
          <a:solidFill>
            <a:srgbClr val="7CE38B"/>
          </a:solidFill>
          <a:ln w="12700">
            <a:solidFill>
              <a:srgbClr val="7CE38B"/>
            </a:solidFill>
            <a:prstDash val="solid"/>
          </a:ln>
        </p:spPr>
      </p:sp>
      <p:sp>
        <p:nvSpPr>
          <p:cNvPr id="11" name="Text 9"/>
          <p:cNvSpPr/>
          <p:nvPr/>
        </p:nvSpPr>
        <p:spPr>
          <a:xfrm>
            <a:off x="443484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2. Frontend language</a:t>
            </a:r>
            <a:endParaRPr lang="en-US" sz="1200" dirty="0"/>
          </a:p>
        </p:txBody>
      </p:sp>
      <p:sp>
        <p:nvSpPr>
          <p:cNvPr id="12" name="Shape 10"/>
          <p:cNvSpPr/>
          <p:nvPr/>
        </p:nvSpPr>
        <p:spPr>
          <a:xfrm>
            <a:off x="8229600" y="2606040"/>
            <a:ext cx="3749040" cy="411480"/>
          </a:xfrm>
          <a:prstGeom prst="rect">
            <a:avLst/>
          </a:prstGeom>
          <a:solidFill>
            <a:srgbClr val="161B22"/>
          </a:solidFill>
          <a:ln w="12700">
            <a:solidFill>
              <a:srgbClr val="30363D"/>
            </a:solidFill>
            <a:prstDash val="solid"/>
          </a:ln>
        </p:spPr>
      </p:sp>
      <p:sp>
        <p:nvSpPr>
          <p:cNvPr id="13" name="Shape 11"/>
          <p:cNvSpPr/>
          <p:nvPr/>
        </p:nvSpPr>
        <p:spPr>
          <a:xfrm>
            <a:off x="8229600" y="2606040"/>
            <a:ext cx="54864" cy="411480"/>
          </a:xfrm>
          <a:prstGeom prst="rect">
            <a:avLst/>
          </a:prstGeom>
          <a:solidFill>
            <a:srgbClr val="7CE38B"/>
          </a:solidFill>
          <a:ln w="12700">
            <a:solidFill>
              <a:srgbClr val="7CE38B"/>
            </a:solidFill>
            <a:prstDash val="solid"/>
          </a:ln>
        </p:spPr>
      </p:sp>
      <p:sp>
        <p:nvSpPr>
          <p:cNvPr id="14" name="Text 12"/>
          <p:cNvSpPr/>
          <p:nvPr/>
        </p:nvSpPr>
        <p:spPr>
          <a:xfrm>
            <a:off x="836676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3. UI / design system</a:t>
            </a:r>
            <a:endParaRPr lang="en-US" sz="1200" dirty="0"/>
          </a:p>
        </p:txBody>
      </p:sp>
      <p:sp>
        <p:nvSpPr>
          <p:cNvPr id="15" name="Shape 13"/>
          <p:cNvSpPr/>
          <p:nvPr/>
        </p:nvSpPr>
        <p:spPr>
          <a:xfrm>
            <a:off x="365760" y="3108960"/>
            <a:ext cx="3749040" cy="411480"/>
          </a:xfrm>
          <a:prstGeom prst="rect">
            <a:avLst/>
          </a:prstGeom>
          <a:solidFill>
            <a:srgbClr val="161B22"/>
          </a:solidFill>
          <a:ln w="12700">
            <a:solidFill>
              <a:srgbClr val="30363D"/>
            </a:solidFill>
            <a:prstDash val="solid"/>
          </a:ln>
        </p:spPr>
      </p:sp>
      <p:sp>
        <p:nvSpPr>
          <p:cNvPr id="16" name="Shape 14"/>
          <p:cNvSpPr/>
          <p:nvPr/>
        </p:nvSpPr>
        <p:spPr>
          <a:xfrm>
            <a:off x="365760" y="3108960"/>
            <a:ext cx="54864" cy="411480"/>
          </a:xfrm>
          <a:prstGeom prst="rect">
            <a:avLst/>
          </a:prstGeom>
          <a:solidFill>
            <a:srgbClr val="7CE38B"/>
          </a:solidFill>
          <a:ln w="12700">
            <a:solidFill>
              <a:srgbClr val="7CE38B"/>
            </a:solidFill>
            <a:prstDash val="solid"/>
          </a:ln>
        </p:spPr>
      </p:sp>
      <p:sp>
        <p:nvSpPr>
          <p:cNvPr id="17" name="Text 15"/>
          <p:cNvSpPr/>
          <p:nvPr/>
        </p:nvSpPr>
        <p:spPr>
          <a:xfrm>
            <a:off x="50292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4. Backend language</a:t>
            </a:r>
            <a:endParaRPr lang="en-US" sz="1200" dirty="0"/>
          </a:p>
        </p:txBody>
      </p:sp>
      <p:sp>
        <p:nvSpPr>
          <p:cNvPr id="18" name="Shape 16"/>
          <p:cNvSpPr/>
          <p:nvPr/>
        </p:nvSpPr>
        <p:spPr>
          <a:xfrm>
            <a:off x="4297680" y="3108960"/>
            <a:ext cx="3749040" cy="411480"/>
          </a:xfrm>
          <a:prstGeom prst="rect">
            <a:avLst/>
          </a:prstGeom>
          <a:solidFill>
            <a:srgbClr val="161B22"/>
          </a:solidFill>
          <a:ln w="12700">
            <a:solidFill>
              <a:srgbClr val="30363D"/>
            </a:solidFill>
            <a:prstDash val="solid"/>
          </a:ln>
        </p:spPr>
      </p:sp>
      <p:sp>
        <p:nvSpPr>
          <p:cNvPr id="19" name="Shape 17"/>
          <p:cNvSpPr/>
          <p:nvPr/>
        </p:nvSpPr>
        <p:spPr>
          <a:xfrm>
            <a:off x="4297680" y="3108960"/>
            <a:ext cx="54864" cy="411480"/>
          </a:xfrm>
          <a:prstGeom prst="rect">
            <a:avLst/>
          </a:prstGeom>
          <a:solidFill>
            <a:srgbClr val="7CE38B"/>
          </a:solidFill>
          <a:ln w="12700">
            <a:solidFill>
              <a:srgbClr val="7CE38B"/>
            </a:solidFill>
            <a:prstDash val="solid"/>
          </a:ln>
        </p:spPr>
      </p:sp>
      <p:sp>
        <p:nvSpPr>
          <p:cNvPr id="20" name="Text 18"/>
          <p:cNvSpPr/>
          <p:nvPr/>
        </p:nvSpPr>
        <p:spPr>
          <a:xfrm>
            <a:off x="443484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5. Backend framework</a:t>
            </a:r>
            <a:endParaRPr lang="en-US" sz="1200" dirty="0"/>
          </a:p>
        </p:txBody>
      </p:sp>
      <p:sp>
        <p:nvSpPr>
          <p:cNvPr id="21" name="Shape 19"/>
          <p:cNvSpPr/>
          <p:nvPr/>
        </p:nvSpPr>
        <p:spPr>
          <a:xfrm>
            <a:off x="8229600" y="3108960"/>
            <a:ext cx="3749040" cy="411480"/>
          </a:xfrm>
          <a:prstGeom prst="rect">
            <a:avLst/>
          </a:prstGeom>
          <a:solidFill>
            <a:srgbClr val="161B22"/>
          </a:solidFill>
          <a:ln w="12700">
            <a:solidFill>
              <a:srgbClr val="30363D"/>
            </a:solidFill>
            <a:prstDash val="solid"/>
          </a:ln>
        </p:spPr>
      </p:sp>
      <p:sp>
        <p:nvSpPr>
          <p:cNvPr id="22" name="Shape 20"/>
          <p:cNvSpPr/>
          <p:nvPr/>
        </p:nvSpPr>
        <p:spPr>
          <a:xfrm>
            <a:off x="8229600" y="3108960"/>
            <a:ext cx="54864" cy="411480"/>
          </a:xfrm>
          <a:prstGeom prst="rect">
            <a:avLst/>
          </a:prstGeom>
          <a:solidFill>
            <a:srgbClr val="7CE38B"/>
          </a:solidFill>
          <a:ln w="12700">
            <a:solidFill>
              <a:srgbClr val="7CE38B"/>
            </a:solidFill>
            <a:prstDash val="solid"/>
          </a:ln>
        </p:spPr>
      </p:sp>
      <p:sp>
        <p:nvSpPr>
          <p:cNvPr id="23" name="Text 21"/>
          <p:cNvSpPr/>
          <p:nvPr/>
        </p:nvSpPr>
        <p:spPr>
          <a:xfrm>
            <a:off x="836676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6. Primary datastore</a:t>
            </a:r>
            <a:endParaRPr lang="en-US" sz="1200" dirty="0"/>
          </a:p>
        </p:txBody>
      </p:sp>
      <p:sp>
        <p:nvSpPr>
          <p:cNvPr id="24" name="Shape 22"/>
          <p:cNvSpPr/>
          <p:nvPr/>
        </p:nvSpPr>
        <p:spPr>
          <a:xfrm>
            <a:off x="365760" y="3611880"/>
            <a:ext cx="3749040" cy="411480"/>
          </a:xfrm>
          <a:prstGeom prst="rect">
            <a:avLst/>
          </a:prstGeom>
          <a:solidFill>
            <a:srgbClr val="161B22"/>
          </a:solidFill>
          <a:ln w="12700">
            <a:solidFill>
              <a:srgbClr val="30363D"/>
            </a:solidFill>
            <a:prstDash val="solid"/>
          </a:ln>
        </p:spPr>
      </p:sp>
      <p:sp>
        <p:nvSpPr>
          <p:cNvPr id="25" name="Shape 23"/>
          <p:cNvSpPr/>
          <p:nvPr/>
        </p:nvSpPr>
        <p:spPr>
          <a:xfrm>
            <a:off x="365760" y="3611880"/>
            <a:ext cx="54864" cy="411480"/>
          </a:xfrm>
          <a:prstGeom prst="rect">
            <a:avLst/>
          </a:prstGeom>
          <a:solidFill>
            <a:srgbClr val="7CE38B"/>
          </a:solidFill>
          <a:ln w="12700">
            <a:solidFill>
              <a:srgbClr val="7CE38B"/>
            </a:solidFill>
            <a:prstDash val="solid"/>
          </a:ln>
        </p:spPr>
      </p:sp>
      <p:sp>
        <p:nvSpPr>
          <p:cNvPr id="26" name="Text 24"/>
          <p:cNvSpPr/>
          <p:nvPr/>
        </p:nvSpPr>
        <p:spPr>
          <a:xfrm>
            <a:off x="50292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7. ORM / data layer</a:t>
            </a:r>
            <a:endParaRPr lang="en-US" sz="1200" dirty="0"/>
          </a:p>
        </p:txBody>
      </p:sp>
      <p:sp>
        <p:nvSpPr>
          <p:cNvPr id="27" name="Shape 25"/>
          <p:cNvSpPr/>
          <p:nvPr/>
        </p:nvSpPr>
        <p:spPr>
          <a:xfrm>
            <a:off x="4297680" y="3611880"/>
            <a:ext cx="3749040" cy="411480"/>
          </a:xfrm>
          <a:prstGeom prst="rect">
            <a:avLst/>
          </a:prstGeom>
          <a:solidFill>
            <a:srgbClr val="161B22"/>
          </a:solidFill>
          <a:ln w="12700">
            <a:solidFill>
              <a:srgbClr val="30363D"/>
            </a:solidFill>
            <a:prstDash val="solid"/>
          </a:ln>
        </p:spPr>
      </p:sp>
      <p:sp>
        <p:nvSpPr>
          <p:cNvPr id="28" name="Shape 26"/>
          <p:cNvSpPr/>
          <p:nvPr/>
        </p:nvSpPr>
        <p:spPr>
          <a:xfrm>
            <a:off x="4297680" y="3611880"/>
            <a:ext cx="54864" cy="411480"/>
          </a:xfrm>
          <a:prstGeom prst="rect">
            <a:avLst/>
          </a:prstGeom>
          <a:solidFill>
            <a:srgbClr val="7CE38B"/>
          </a:solidFill>
          <a:ln w="12700">
            <a:solidFill>
              <a:srgbClr val="7CE38B"/>
            </a:solidFill>
            <a:prstDash val="solid"/>
          </a:ln>
        </p:spPr>
      </p:sp>
      <p:sp>
        <p:nvSpPr>
          <p:cNvPr id="29" name="Text 27"/>
          <p:cNvSpPr/>
          <p:nvPr/>
        </p:nvSpPr>
        <p:spPr>
          <a:xfrm>
            <a:off x="443484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8. Auth approach</a:t>
            </a:r>
            <a:endParaRPr lang="en-US" sz="1200" dirty="0"/>
          </a:p>
        </p:txBody>
      </p:sp>
      <p:sp>
        <p:nvSpPr>
          <p:cNvPr id="30" name="Shape 28"/>
          <p:cNvSpPr/>
          <p:nvPr/>
        </p:nvSpPr>
        <p:spPr>
          <a:xfrm>
            <a:off x="8229600" y="3611880"/>
            <a:ext cx="3749040" cy="411480"/>
          </a:xfrm>
          <a:prstGeom prst="rect">
            <a:avLst/>
          </a:prstGeom>
          <a:solidFill>
            <a:srgbClr val="161B22"/>
          </a:solidFill>
          <a:ln w="12700">
            <a:solidFill>
              <a:srgbClr val="30363D"/>
            </a:solidFill>
            <a:prstDash val="solid"/>
          </a:ln>
        </p:spPr>
      </p:sp>
      <p:sp>
        <p:nvSpPr>
          <p:cNvPr id="31" name="Shape 29"/>
          <p:cNvSpPr/>
          <p:nvPr/>
        </p:nvSpPr>
        <p:spPr>
          <a:xfrm>
            <a:off x="8229600" y="3611880"/>
            <a:ext cx="54864" cy="411480"/>
          </a:xfrm>
          <a:prstGeom prst="rect">
            <a:avLst/>
          </a:prstGeom>
          <a:solidFill>
            <a:srgbClr val="7CE38B"/>
          </a:solidFill>
          <a:ln w="12700">
            <a:solidFill>
              <a:srgbClr val="7CE38B"/>
            </a:solidFill>
            <a:prstDash val="solid"/>
          </a:ln>
        </p:spPr>
      </p:sp>
      <p:sp>
        <p:nvSpPr>
          <p:cNvPr id="32" name="Text 30"/>
          <p:cNvSpPr/>
          <p:nvPr/>
        </p:nvSpPr>
        <p:spPr>
          <a:xfrm>
            <a:off x="836676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9. Cache / queue / search</a:t>
            </a:r>
            <a:endParaRPr lang="en-US" sz="1200" dirty="0"/>
          </a:p>
        </p:txBody>
      </p:sp>
      <p:sp>
        <p:nvSpPr>
          <p:cNvPr id="33" name="Shape 31"/>
          <p:cNvSpPr/>
          <p:nvPr/>
        </p:nvSpPr>
        <p:spPr>
          <a:xfrm>
            <a:off x="365760" y="4114800"/>
            <a:ext cx="3749040" cy="411480"/>
          </a:xfrm>
          <a:prstGeom prst="rect">
            <a:avLst/>
          </a:prstGeom>
          <a:solidFill>
            <a:srgbClr val="161B22"/>
          </a:solidFill>
          <a:ln w="12700">
            <a:solidFill>
              <a:srgbClr val="30363D"/>
            </a:solidFill>
            <a:prstDash val="solid"/>
          </a:ln>
        </p:spPr>
      </p:sp>
      <p:sp>
        <p:nvSpPr>
          <p:cNvPr id="34" name="Shape 32"/>
          <p:cNvSpPr/>
          <p:nvPr/>
        </p:nvSpPr>
        <p:spPr>
          <a:xfrm>
            <a:off x="365760" y="4114800"/>
            <a:ext cx="54864" cy="411480"/>
          </a:xfrm>
          <a:prstGeom prst="rect">
            <a:avLst/>
          </a:prstGeom>
          <a:solidFill>
            <a:srgbClr val="7CE38B"/>
          </a:solidFill>
          <a:ln w="12700">
            <a:solidFill>
              <a:srgbClr val="7CE38B"/>
            </a:solidFill>
            <a:prstDash val="solid"/>
          </a:ln>
        </p:spPr>
      </p:sp>
      <p:sp>
        <p:nvSpPr>
          <p:cNvPr id="35" name="Text 33"/>
          <p:cNvSpPr/>
          <p:nvPr/>
        </p:nvSpPr>
        <p:spPr>
          <a:xfrm>
            <a:off x="50292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10. Hosting target</a:t>
            </a:r>
            <a:endParaRPr lang="en-US" sz="1200" dirty="0"/>
          </a:p>
        </p:txBody>
      </p:sp>
      <p:sp>
        <p:nvSpPr>
          <p:cNvPr id="36" name="Shape 34"/>
          <p:cNvSpPr/>
          <p:nvPr/>
        </p:nvSpPr>
        <p:spPr>
          <a:xfrm>
            <a:off x="4297680" y="4114800"/>
            <a:ext cx="3749040" cy="411480"/>
          </a:xfrm>
          <a:prstGeom prst="rect">
            <a:avLst/>
          </a:prstGeom>
          <a:solidFill>
            <a:srgbClr val="161B22"/>
          </a:solidFill>
          <a:ln w="12700">
            <a:solidFill>
              <a:srgbClr val="30363D"/>
            </a:solidFill>
            <a:prstDash val="solid"/>
          </a:ln>
        </p:spPr>
      </p:sp>
      <p:sp>
        <p:nvSpPr>
          <p:cNvPr id="37" name="Shape 35"/>
          <p:cNvSpPr/>
          <p:nvPr/>
        </p:nvSpPr>
        <p:spPr>
          <a:xfrm>
            <a:off x="4297680" y="4114800"/>
            <a:ext cx="54864" cy="411480"/>
          </a:xfrm>
          <a:prstGeom prst="rect">
            <a:avLst/>
          </a:prstGeom>
          <a:solidFill>
            <a:srgbClr val="7CE38B"/>
          </a:solidFill>
          <a:ln w="12700">
            <a:solidFill>
              <a:srgbClr val="7CE38B"/>
            </a:solidFill>
            <a:prstDash val="solid"/>
          </a:ln>
        </p:spPr>
      </p:sp>
      <p:sp>
        <p:nvSpPr>
          <p:cNvPr id="38" name="Text 36"/>
          <p:cNvSpPr/>
          <p:nvPr/>
        </p:nvSpPr>
        <p:spPr>
          <a:xfrm>
            <a:off x="443484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11. Code layout</a:t>
            </a:r>
            <a:endParaRPr lang="en-US" sz="1200" dirty="0"/>
          </a:p>
        </p:txBody>
      </p:sp>
      <p:sp>
        <p:nvSpPr>
          <p:cNvPr id="39" name="Shape 37"/>
          <p:cNvSpPr/>
          <p:nvPr/>
        </p:nvSpPr>
        <p:spPr>
          <a:xfrm>
            <a:off x="8229600" y="4114800"/>
            <a:ext cx="3749040" cy="411480"/>
          </a:xfrm>
          <a:prstGeom prst="rect">
            <a:avLst/>
          </a:prstGeom>
          <a:solidFill>
            <a:srgbClr val="161B22"/>
          </a:solidFill>
          <a:ln w="12700">
            <a:solidFill>
              <a:srgbClr val="30363D"/>
            </a:solidFill>
            <a:prstDash val="solid"/>
          </a:ln>
        </p:spPr>
      </p:sp>
      <p:sp>
        <p:nvSpPr>
          <p:cNvPr id="40" name="Shape 38"/>
          <p:cNvSpPr/>
          <p:nvPr/>
        </p:nvSpPr>
        <p:spPr>
          <a:xfrm>
            <a:off x="8229600" y="4114800"/>
            <a:ext cx="54864" cy="411480"/>
          </a:xfrm>
          <a:prstGeom prst="rect">
            <a:avLst/>
          </a:prstGeom>
          <a:solidFill>
            <a:srgbClr val="7CE38B"/>
          </a:solidFill>
          <a:ln w="12700">
            <a:solidFill>
              <a:srgbClr val="7CE38B"/>
            </a:solidFill>
            <a:prstDash val="solid"/>
          </a:ln>
        </p:spPr>
      </p:sp>
      <p:sp>
        <p:nvSpPr>
          <p:cNvPr id="41" name="Text 39"/>
          <p:cNvSpPr/>
          <p:nvPr/>
        </p:nvSpPr>
        <p:spPr>
          <a:xfrm>
            <a:off x="836676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12. Package manager</a:t>
            </a:r>
            <a:endParaRPr lang="en-US" sz="1200" dirty="0"/>
          </a:p>
        </p:txBody>
      </p:sp>
      <p:sp>
        <p:nvSpPr>
          <p:cNvPr id="42" name="Text 40"/>
          <p:cNvSpPr/>
          <p:nvPr/>
        </p:nvSpPr>
        <p:spPr>
          <a:xfrm>
            <a:off x="365760" y="5989320"/>
            <a:ext cx="11430000" cy="45720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Sau khi user trả lời, SA quote answer verbatim vào TECH_STACK.md + dòng "Confirmed by user (qid: SA_xxx)". Phase 1 gate kiểm tra dòng này.</a:t>
            </a:r>
            <a:endParaRPr lang="en-US" sz="1100" dirty="0"/>
          </a:p>
        </p:txBody>
      </p:sp>
      <p:sp>
        <p:nvSpPr>
          <p:cNvPr id="43" name="Text 4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21 / 29</a:t>
            </a:r>
            <a:endParaRPr lang="en-US" sz="900" dirty="0"/>
          </a:p>
        </p:txBody>
      </p:sp>
      <p:sp>
        <p:nvSpPr>
          <p:cNvPr id="44" name="Text 4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5" name="Text 4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21_stay_in_lane.md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Stay in your lane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role có write boundary. Cross-boundary = route owner, không tự làm.</a:t>
            </a:r>
            <a:endParaRPr lang="en-US" sz="1400" dirty="0"/>
          </a:p>
        </p:txBody>
      </p:sp>
      <p:sp>
        <p:nvSpPr>
          <p:cNvPr id="5" name="Shape 3"/>
          <p:cNvSpPr/>
          <p:nvPr/>
        </p:nvSpPr>
        <p:spPr>
          <a:xfrm>
            <a:off x="365760" y="1783080"/>
            <a:ext cx="11430000" cy="457200"/>
          </a:xfrm>
          <a:prstGeom prst="rect">
            <a:avLst/>
          </a:prstGeom>
          <a:solidFill>
            <a:srgbClr val="161B22"/>
          </a:solidFill>
          <a:ln w="12700">
            <a:solidFill>
              <a:srgbClr val="30363D"/>
            </a:solidFill>
            <a:prstDash val="solid"/>
          </a:ln>
        </p:spPr>
      </p:sp>
      <p:sp>
        <p:nvSpPr>
          <p:cNvPr id="6" name="Shape 4"/>
          <p:cNvSpPr/>
          <p:nvPr/>
        </p:nvSpPr>
        <p:spPr>
          <a:xfrm>
            <a:off x="365760" y="1783080"/>
            <a:ext cx="73152" cy="457200"/>
          </a:xfrm>
          <a:prstGeom prst="rect">
            <a:avLst/>
          </a:prstGeom>
          <a:solidFill>
            <a:srgbClr val="7CE38B"/>
          </a:solidFill>
          <a:ln w="12700">
            <a:solidFill>
              <a:srgbClr val="7CE38B"/>
            </a:solidFill>
            <a:prstDash val="solid"/>
          </a:ln>
        </p:spPr>
      </p:sp>
      <p:sp>
        <p:nvSpPr>
          <p:cNvPr id="7" name="Text 5"/>
          <p:cNvSpPr/>
          <p:nvPr/>
        </p:nvSpPr>
        <p:spPr>
          <a:xfrm>
            <a:off x="548640" y="178308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PM</a:t>
            </a:r>
            <a:endParaRPr lang="en-US" sz="1300" dirty="0"/>
          </a:p>
        </p:txBody>
      </p:sp>
      <p:sp>
        <p:nvSpPr>
          <p:cNvPr id="8" name="Text 6"/>
          <p:cNvSpPr/>
          <p:nvPr/>
        </p:nvSpPr>
        <p:spPr>
          <a:xfrm>
            <a:off x="2468880" y="178308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docs/product/{PRD,ROADMAP}.md, planning/{BACKLOG,OPEN_QUESTIONS}.md</a:t>
            </a:r>
            <a:endParaRPr lang="en-US" sz="1100" dirty="0"/>
          </a:p>
        </p:txBody>
      </p:sp>
      <p:sp>
        <p:nvSpPr>
          <p:cNvPr id="9" name="Shape 7"/>
          <p:cNvSpPr/>
          <p:nvPr/>
        </p:nvSpPr>
        <p:spPr>
          <a:xfrm>
            <a:off x="365760" y="2286000"/>
            <a:ext cx="11430000" cy="457200"/>
          </a:xfrm>
          <a:prstGeom prst="rect">
            <a:avLst/>
          </a:prstGeom>
          <a:solidFill>
            <a:srgbClr val="1C2128"/>
          </a:solidFill>
          <a:ln w="12700">
            <a:solidFill>
              <a:srgbClr val="30363D"/>
            </a:solidFill>
            <a:prstDash val="solid"/>
          </a:ln>
        </p:spPr>
      </p:sp>
      <p:sp>
        <p:nvSpPr>
          <p:cNvPr id="10" name="Shape 8"/>
          <p:cNvSpPr/>
          <p:nvPr/>
        </p:nvSpPr>
        <p:spPr>
          <a:xfrm>
            <a:off x="365760" y="2286000"/>
            <a:ext cx="73152" cy="457200"/>
          </a:xfrm>
          <a:prstGeom prst="rect">
            <a:avLst/>
          </a:prstGeom>
          <a:solidFill>
            <a:srgbClr val="7CE38B"/>
          </a:solidFill>
          <a:ln w="12700">
            <a:solidFill>
              <a:srgbClr val="7CE38B"/>
            </a:solidFill>
            <a:prstDash val="solid"/>
          </a:ln>
        </p:spPr>
      </p:sp>
      <p:sp>
        <p:nvSpPr>
          <p:cNvPr id="11" name="Text 9"/>
          <p:cNvSpPr/>
          <p:nvPr/>
        </p:nvSpPr>
        <p:spPr>
          <a:xfrm>
            <a:off x="548640" y="228600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SA</a:t>
            </a:r>
            <a:endParaRPr lang="en-US" sz="1300" dirty="0"/>
          </a:p>
        </p:txBody>
      </p:sp>
      <p:sp>
        <p:nvSpPr>
          <p:cNvPr id="12" name="Text 10"/>
          <p:cNvSpPr/>
          <p:nvPr/>
        </p:nvSpPr>
        <p:spPr>
          <a:xfrm>
            <a:off x="2468880" y="228600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docs/architecture/*.md</a:t>
            </a:r>
            <a:endParaRPr lang="en-US" sz="1100" dirty="0"/>
          </a:p>
        </p:txBody>
      </p:sp>
      <p:sp>
        <p:nvSpPr>
          <p:cNvPr id="13" name="Shape 11"/>
          <p:cNvSpPr/>
          <p:nvPr/>
        </p:nvSpPr>
        <p:spPr>
          <a:xfrm>
            <a:off x="365760" y="2788920"/>
            <a:ext cx="11430000" cy="457200"/>
          </a:xfrm>
          <a:prstGeom prst="rect">
            <a:avLst/>
          </a:prstGeom>
          <a:solidFill>
            <a:srgbClr val="161B22"/>
          </a:solidFill>
          <a:ln w="12700">
            <a:solidFill>
              <a:srgbClr val="30363D"/>
            </a:solidFill>
            <a:prstDash val="solid"/>
          </a:ln>
        </p:spPr>
      </p:sp>
      <p:sp>
        <p:nvSpPr>
          <p:cNvPr id="14" name="Shape 12"/>
          <p:cNvSpPr/>
          <p:nvPr/>
        </p:nvSpPr>
        <p:spPr>
          <a:xfrm>
            <a:off x="365760" y="2788920"/>
            <a:ext cx="73152" cy="457200"/>
          </a:xfrm>
          <a:prstGeom prst="rect">
            <a:avLst/>
          </a:prstGeom>
          <a:solidFill>
            <a:srgbClr val="7CE38B"/>
          </a:solidFill>
          <a:ln w="12700">
            <a:solidFill>
              <a:srgbClr val="7CE38B"/>
            </a:solidFill>
            <a:prstDash val="solid"/>
          </a:ln>
        </p:spPr>
      </p:sp>
      <p:sp>
        <p:nvSpPr>
          <p:cNvPr id="15" name="Text 13"/>
          <p:cNvSpPr/>
          <p:nvPr/>
        </p:nvSpPr>
        <p:spPr>
          <a:xfrm>
            <a:off x="548640" y="278892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BA</a:t>
            </a:r>
            <a:endParaRPr lang="en-US" sz="1300" dirty="0"/>
          </a:p>
        </p:txBody>
      </p:sp>
      <p:sp>
        <p:nvSpPr>
          <p:cNvPr id="16" name="Text 14"/>
          <p:cNvSpPr/>
          <p:nvPr/>
        </p:nvSpPr>
        <p:spPr>
          <a:xfrm>
            <a:off x="2468880" y="278892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docs/business/*.md</a:t>
            </a:r>
            <a:endParaRPr lang="en-US" sz="1100" dirty="0"/>
          </a:p>
        </p:txBody>
      </p:sp>
      <p:sp>
        <p:nvSpPr>
          <p:cNvPr id="17" name="Shape 15"/>
          <p:cNvSpPr/>
          <p:nvPr/>
        </p:nvSpPr>
        <p:spPr>
          <a:xfrm>
            <a:off x="365760" y="3291840"/>
            <a:ext cx="11430000" cy="457200"/>
          </a:xfrm>
          <a:prstGeom prst="rect">
            <a:avLst/>
          </a:prstGeom>
          <a:solidFill>
            <a:srgbClr val="1C2128"/>
          </a:solidFill>
          <a:ln w="12700">
            <a:solidFill>
              <a:srgbClr val="30363D"/>
            </a:solidFill>
            <a:prstDash val="solid"/>
          </a:ln>
        </p:spPr>
      </p:sp>
      <p:sp>
        <p:nvSpPr>
          <p:cNvPr id="18" name="Shape 16"/>
          <p:cNvSpPr/>
          <p:nvPr/>
        </p:nvSpPr>
        <p:spPr>
          <a:xfrm>
            <a:off x="365760" y="3291840"/>
            <a:ext cx="73152" cy="457200"/>
          </a:xfrm>
          <a:prstGeom prst="rect">
            <a:avLst/>
          </a:prstGeom>
          <a:solidFill>
            <a:srgbClr val="7CE38B"/>
          </a:solidFill>
          <a:ln w="12700">
            <a:solidFill>
              <a:srgbClr val="7CE38B"/>
            </a:solidFill>
            <a:prstDash val="solid"/>
          </a:ln>
        </p:spPr>
      </p:sp>
      <p:sp>
        <p:nvSpPr>
          <p:cNvPr id="19" name="Text 17"/>
          <p:cNvSpPr/>
          <p:nvPr/>
        </p:nvSpPr>
        <p:spPr>
          <a:xfrm>
            <a:off x="548640" y="329184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UX</a:t>
            </a:r>
            <a:endParaRPr lang="en-US" sz="1300" dirty="0"/>
          </a:p>
        </p:txBody>
      </p:sp>
      <p:sp>
        <p:nvSpPr>
          <p:cNvPr id="20" name="Text 18"/>
          <p:cNvSpPr/>
          <p:nvPr/>
        </p:nvSpPr>
        <p:spPr>
          <a:xfrm>
            <a:off x="2468880" y="329184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docs/product/{UX_FLOW,WIREFRAMES,DESIGN_NOTES}.md</a:t>
            </a:r>
            <a:endParaRPr lang="en-US" sz="1100" dirty="0"/>
          </a:p>
        </p:txBody>
      </p:sp>
      <p:sp>
        <p:nvSpPr>
          <p:cNvPr id="21" name="Shape 19"/>
          <p:cNvSpPr/>
          <p:nvPr/>
        </p:nvSpPr>
        <p:spPr>
          <a:xfrm>
            <a:off x="365760" y="3794760"/>
            <a:ext cx="11430000" cy="457200"/>
          </a:xfrm>
          <a:prstGeom prst="rect">
            <a:avLst/>
          </a:prstGeom>
          <a:solidFill>
            <a:srgbClr val="161B22"/>
          </a:solidFill>
          <a:ln w="12700">
            <a:solidFill>
              <a:srgbClr val="30363D"/>
            </a:solidFill>
            <a:prstDash val="solid"/>
          </a:ln>
        </p:spPr>
      </p:sp>
      <p:sp>
        <p:nvSpPr>
          <p:cNvPr id="22" name="Shape 20"/>
          <p:cNvSpPr/>
          <p:nvPr/>
        </p:nvSpPr>
        <p:spPr>
          <a:xfrm>
            <a:off x="365760" y="3794760"/>
            <a:ext cx="73152" cy="457200"/>
          </a:xfrm>
          <a:prstGeom prst="rect">
            <a:avLst/>
          </a:prstGeom>
          <a:solidFill>
            <a:srgbClr val="7CE38B"/>
          </a:solidFill>
          <a:ln w="12700">
            <a:solidFill>
              <a:srgbClr val="7CE38B"/>
            </a:solidFill>
            <a:prstDash val="solid"/>
          </a:ln>
        </p:spPr>
      </p:sp>
      <p:sp>
        <p:nvSpPr>
          <p:cNvPr id="23" name="Text 21"/>
          <p:cNvSpPr/>
          <p:nvPr/>
        </p:nvSpPr>
        <p:spPr>
          <a:xfrm>
            <a:off x="548640" y="379476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BE</a:t>
            </a:r>
            <a:endParaRPr lang="en-US" sz="1300" dirty="0"/>
          </a:p>
        </p:txBody>
      </p:sp>
      <p:sp>
        <p:nvSpPr>
          <p:cNvPr id="24" name="Text 22"/>
          <p:cNvSpPr/>
          <p:nvPr/>
        </p:nvSpPr>
        <p:spPr>
          <a:xfrm>
            <a:off x="2468880" y="379476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backend/* (source), planning/BE_PLAN.md</a:t>
            </a:r>
            <a:endParaRPr lang="en-US" sz="1100" dirty="0"/>
          </a:p>
        </p:txBody>
      </p:sp>
      <p:sp>
        <p:nvSpPr>
          <p:cNvPr id="25" name="Shape 23"/>
          <p:cNvSpPr/>
          <p:nvPr/>
        </p:nvSpPr>
        <p:spPr>
          <a:xfrm>
            <a:off x="365760" y="4297680"/>
            <a:ext cx="11430000" cy="457200"/>
          </a:xfrm>
          <a:prstGeom prst="rect">
            <a:avLst/>
          </a:prstGeom>
          <a:solidFill>
            <a:srgbClr val="1C2128"/>
          </a:solidFill>
          <a:ln w="12700">
            <a:solidFill>
              <a:srgbClr val="30363D"/>
            </a:solidFill>
            <a:prstDash val="solid"/>
          </a:ln>
        </p:spPr>
      </p:sp>
      <p:sp>
        <p:nvSpPr>
          <p:cNvPr id="26" name="Shape 24"/>
          <p:cNvSpPr/>
          <p:nvPr/>
        </p:nvSpPr>
        <p:spPr>
          <a:xfrm>
            <a:off x="365760" y="4297680"/>
            <a:ext cx="73152" cy="457200"/>
          </a:xfrm>
          <a:prstGeom prst="rect">
            <a:avLst/>
          </a:prstGeom>
          <a:solidFill>
            <a:srgbClr val="7CE38B"/>
          </a:solidFill>
          <a:ln w="12700">
            <a:solidFill>
              <a:srgbClr val="7CE38B"/>
            </a:solidFill>
            <a:prstDash val="solid"/>
          </a:ln>
        </p:spPr>
      </p:sp>
      <p:sp>
        <p:nvSpPr>
          <p:cNvPr id="27" name="Text 25"/>
          <p:cNvSpPr/>
          <p:nvPr/>
        </p:nvSpPr>
        <p:spPr>
          <a:xfrm>
            <a:off x="548640" y="429768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FE</a:t>
            </a:r>
            <a:endParaRPr lang="en-US" sz="1300" dirty="0"/>
          </a:p>
        </p:txBody>
      </p:sp>
      <p:sp>
        <p:nvSpPr>
          <p:cNvPr id="28" name="Text 26"/>
          <p:cNvSpPr/>
          <p:nvPr/>
        </p:nvSpPr>
        <p:spPr>
          <a:xfrm>
            <a:off x="2468880" y="429768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frontend/* (source), planning/FE_PLAN.md</a:t>
            </a:r>
            <a:endParaRPr lang="en-US" sz="1100" dirty="0"/>
          </a:p>
        </p:txBody>
      </p:sp>
      <p:sp>
        <p:nvSpPr>
          <p:cNvPr id="29" name="Shape 27"/>
          <p:cNvSpPr/>
          <p:nvPr/>
        </p:nvSpPr>
        <p:spPr>
          <a:xfrm>
            <a:off x="365760" y="4800600"/>
            <a:ext cx="11430000" cy="457200"/>
          </a:xfrm>
          <a:prstGeom prst="rect">
            <a:avLst/>
          </a:prstGeom>
          <a:solidFill>
            <a:srgbClr val="161B22"/>
          </a:solidFill>
          <a:ln w="12700">
            <a:solidFill>
              <a:srgbClr val="30363D"/>
            </a:solidFill>
            <a:prstDash val="solid"/>
          </a:ln>
        </p:spPr>
      </p:sp>
      <p:sp>
        <p:nvSpPr>
          <p:cNvPr id="30" name="Shape 28"/>
          <p:cNvSpPr/>
          <p:nvPr/>
        </p:nvSpPr>
        <p:spPr>
          <a:xfrm>
            <a:off x="365760" y="4800600"/>
            <a:ext cx="73152" cy="457200"/>
          </a:xfrm>
          <a:prstGeom prst="rect">
            <a:avLst/>
          </a:prstGeom>
          <a:solidFill>
            <a:srgbClr val="7CE38B"/>
          </a:solidFill>
          <a:ln w="12700">
            <a:solidFill>
              <a:srgbClr val="7CE38B"/>
            </a:solidFill>
            <a:prstDash val="solid"/>
          </a:ln>
        </p:spPr>
      </p:sp>
      <p:sp>
        <p:nvSpPr>
          <p:cNvPr id="31" name="Text 29"/>
          <p:cNvSpPr/>
          <p:nvPr/>
        </p:nvSpPr>
        <p:spPr>
          <a:xfrm>
            <a:off x="548640" y="480060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QA</a:t>
            </a:r>
            <a:endParaRPr lang="en-US" sz="1300" dirty="0"/>
          </a:p>
        </p:txBody>
      </p:sp>
      <p:sp>
        <p:nvSpPr>
          <p:cNvPr id="32" name="Text 30"/>
          <p:cNvSpPr/>
          <p:nvPr/>
        </p:nvSpPr>
        <p:spPr>
          <a:xfrm>
            <a:off x="2468880" y="480060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docs/qa/*.md, reports/*.md, plus tests if BE/FE didn't</a:t>
            </a:r>
            <a:endParaRPr lang="en-US" sz="1100" dirty="0"/>
          </a:p>
        </p:txBody>
      </p:sp>
      <p:sp>
        <p:nvSpPr>
          <p:cNvPr id="33" name="Shape 31"/>
          <p:cNvSpPr/>
          <p:nvPr/>
        </p:nvSpPr>
        <p:spPr>
          <a:xfrm>
            <a:off x="365760" y="5303520"/>
            <a:ext cx="11430000" cy="457200"/>
          </a:xfrm>
          <a:prstGeom prst="rect">
            <a:avLst/>
          </a:prstGeom>
          <a:solidFill>
            <a:srgbClr val="1C2128"/>
          </a:solidFill>
          <a:ln w="12700">
            <a:solidFill>
              <a:srgbClr val="30363D"/>
            </a:solidFill>
            <a:prstDash val="solid"/>
          </a:ln>
        </p:spPr>
      </p:sp>
      <p:sp>
        <p:nvSpPr>
          <p:cNvPr id="34" name="Shape 32"/>
          <p:cNvSpPr/>
          <p:nvPr/>
        </p:nvSpPr>
        <p:spPr>
          <a:xfrm>
            <a:off x="365760" y="5303520"/>
            <a:ext cx="73152" cy="457200"/>
          </a:xfrm>
          <a:prstGeom prst="rect">
            <a:avLst/>
          </a:prstGeom>
          <a:solidFill>
            <a:srgbClr val="7CE38B"/>
          </a:solidFill>
          <a:ln w="12700">
            <a:solidFill>
              <a:srgbClr val="7CE38B"/>
            </a:solidFill>
            <a:prstDash val="solid"/>
          </a:ln>
        </p:spPr>
      </p:sp>
      <p:sp>
        <p:nvSpPr>
          <p:cNvPr id="35" name="Text 33"/>
          <p:cNvSpPr/>
          <p:nvPr/>
        </p:nvSpPr>
        <p:spPr>
          <a:xfrm>
            <a:off x="548640" y="530352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DELIVERY</a:t>
            </a:r>
            <a:endParaRPr lang="en-US" sz="1300" dirty="0"/>
          </a:p>
        </p:txBody>
      </p:sp>
      <p:sp>
        <p:nvSpPr>
          <p:cNvPr id="36" name="Text 34"/>
          <p:cNvSpPr/>
          <p:nvPr/>
        </p:nvSpPr>
        <p:spPr>
          <a:xfrm>
            <a:off x="2468880" y="530352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Dockerfiles, docker-compose.yml, .env.example, docs/delivery/*</a:t>
            </a:r>
            <a:endParaRPr lang="en-US" sz="1100" dirty="0"/>
          </a:p>
        </p:txBody>
      </p:sp>
      <p:sp>
        <p:nvSpPr>
          <p:cNvPr id="37" name="Shape 35"/>
          <p:cNvSpPr/>
          <p:nvPr/>
        </p:nvSpPr>
        <p:spPr>
          <a:xfrm>
            <a:off x="365760" y="5806440"/>
            <a:ext cx="11430000" cy="457200"/>
          </a:xfrm>
          <a:prstGeom prst="rect">
            <a:avLst/>
          </a:prstGeom>
          <a:solidFill>
            <a:srgbClr val="161B22"/>
          </a:solidFill>
          <a:ln w="12700">
            <a:solidFill>
              <a:srgbClr val="30363D"/>
            </a:solidFill>
            <a:prstDash val="solid"/>
          </a:ln>
        </p:spPr>
      </p:sp>
      <p:sp>
        <p:nvSpPr>
          <p:cNvPr id="38" name="Shape 36"/>
          <p:cNvSpPr/>
          <p:nvPr/>
        </p:nvSpPr>
        <p:spPr>
          <a:xfrm>
            <a:off x="365760" y="5806440"/>
            <a:ext cx="73152" cy="457200"/>
          </a:xfrm>
          <a:prstGeom prst="rect">
            <a:avLst/>
          </a:prstGeom>
          <a:solidFill>
            <a:srgbClr val="7CE38B"/>
          </a:solidFill>
          <a:ln w="12700">
            <a:solidFill>
              <a:srgbClr val="7CE38B"/>
            </a:solidFill>
            <a:prstDash val="solid"/>
          </a:ln>
        </p:spPr>
      </p:sp>
      <p:sp>
        <p:nvSpPr>
          <p:cNvPr id="39" name="Text 37"/>
          <p:cNvSpPr/>
          <p:nvPr/>
        </p:nvSpPr>
        <p:spPr>
          <a:xfrm>
            <a:off x="548640" y="580644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ORCHESTRATOR</a:t>
            </a:r>
            <a:endParaRPr lang="en-US" sz="1300" dirty="0"/>
          </a:p>
        </p:txBody>
      </p:sp>
      <p:sp>
        <p:nvSpPr>
          <p:cNvPr id="40" name="Text 38"/>
          <p:cNvSpPr/>
          <p:nvPr/>
        </p:nvSpPr>
        <p:spPr>
          <a:xfrm>
            <a:off x="2468880" y="580644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TASK.md, memory/_PROJECT_STATE.md (coordinator only)</a:t>
            </a:r>
            <a:endParaRPr lang="en-US" sz="1100" dirty="0"/>
          </a:p>
        </p:txBody>
      </p:sp>
      <p:sp>
        <p:nvSpPr>
          <p:cNvPr id="41" name="Text 39"/>
          <p:cNvSpPr/>
          <p:nvPr/>
        </p:nvSpPr>
        <p:spPr>
          <a:xfrm>
            <a:off x="365760" y="6126480"/>
            <a:ext cx="11430000" cy="32004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Đọc tự do, ghi giới hạn. DELIVERY hit FE build bug → route FE (hoặc SA triage), KHÔNG tự sửa frontend/.</a:t>
            </a:r>
            <a:endParaRPr lang="en-US" sz="1100" dirty="0"/>
          </a:p>
        </p:txBody>
      </p:sp>
      <p:sp>
        <p:nvSpPr>
          <p:cNvPr id="42" name="Text 4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22 / 29</a:t>
            </a:r>
            <a:endParaRPr lang="en-US" sz="900" dirty="0"/>
          </a:p>
        </p:txBody>
      </p:sp>
      <p:sp>
        <p:nvSpPr>
          <p:cNvPr id="43" name="Text 4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4" name="Text 4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22_prerequisite_check.md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Prerequisite check (v10.8)</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không bao giờ guess thiếu input — block và route upstream</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Worker chạy đầu mọi task:</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scripts/check_prerequisites.sh BE</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Prerequisite check for BE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docs/architecture/API_CONTRACT.md   MISSING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docs/architecture/TECH_STACK.md     OK</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planning/BE_PLAN.md                 SKELETON</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BLOCKED — BE cannot proceed. 2 missing.</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Required action: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notify_orchestrator.sh BE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"Cannot proceed — missing API_CONTRACT.md,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BE_PLAN.md. Need SA, BE to produce."</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Orchestrator coordinates</a:t>
            </a:r>
            <a:endParaRPr lang="en-US" sz="1400" dirty="0"/>
          </a:p>
        </p:txBody>
      </p:sp>
      <p:sp>
        <p:nvSpPr>
          <p:cNvPr id="12" name="Text 10"/>
          <p:cNvSpPr/>
          <p:nvPr/>
        </p:nvSpPr>
        <p:spPr>
          <a:xfrm>
            <a:off x="6492240" y="2286000"/>
            <a:ext cx="5303520" cy="3931920"/>
          </a:xfrm>
          <a:prstGeom prst="rect">
            <a:avLst/>
          </a:prstGeom>
          <a:noFill/>
          <a:ln/>
        </p:spPr>
        <p:txBody>
          <a:bodyPr wrap="square" lIns="0" tIns="0" rIns="0" bIns="0" rtlCol="0" anchor="ctr"/>
          <a:lstStyle/>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1. Nhận notification BE blocked.</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2. Parse missing list + owners.</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3. Route mỗi upstream owner:</a:t>
            </a:r>
            <a:endParaRPr lang="en-US" sz="1100" dirty="0"/>
          </a:p>
          <a:p>
            <a:pPr indent="0" marL="0">
              <a:spcAft>
                <a:spcPts val="400"/>
              </a:spcAft>
              <a:buNone/>
            </a:pPr>
            <a:r>
              <a:rPr lang="en-US" sz="1100" dirty="0">
                <a:solidFill>
                  <a:srgbClr val="79C0FF"/>
                </a:solidFill>
                <a:latin typeface="Consolas" pitchFamily="34" charset="0"/>
                <a:ea typeface="Consolas" pitchFamily="34" charset="-122"/>
                <a:cs typeface="Consolas" pitchFamily="34" charset="-120"/>
              </a:rPr>
              <a:t>     → SA: produce API_CONTRACT.md</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4. Update memory/_PROJECT_STATE.md</a:t>
            </a:r>
            <a:endParaRPr lang="en-US" sz="1100" dirty="0"/>
          </a:p>
          <a:p>
            <a:pPr indent="0" marL="0">
              <a:spcAft>
                <a:spcPts val="400"/>
              </a:spcAft>
              <a:buNone/>
            </a:pPr>
            <a:r>
              <a:rPr lang="en-US" sz="1100" dirty="0">
                <a:solidFill>
                  <a:srgbClr val="8B949E"/>
                </a:solidFill>
                <a:latin typeface="Consolas" pitchFamily="34" charset="0"/>
                <a:ea typeface="Consolas" pitchFamily="34" charset="-122"/>
                <a:cs typeface="Consolas" pitchFamily="34" charset="-120"/>
              </a:rPr>
              <a:t>     Active workstreams = SA writing</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5. Khi SA notify "done":</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     check_prerequisites.sh BE → OK</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     route_to_pane.sh BE "&lt;orig task&gt;"</a:t>
            </a:r>
            <a:endParaRPr lang="en-US" sz="11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23 / 29</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23_build_failure_routing.md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Build failure routing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DELIVERY phát hiện lỗi build → route đúng owner, KHÔNG tự sửa</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Anti-pattern (v10.10 forbids):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[DELIVERY]  docker compose build → fails: "HStack.justify"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reads frontend/nestfi/pages/family_selection.py    ✗ WRONG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greps "justify" in frontend/nestfi               ✗ WRONG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edits FE source                                     ✗✗ VERY WRONG</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Correct flow (v10.10):</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[DELIVERY]  tail -50 docs/delivery/_last_build.log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"target frontend: failed to solve"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route_to_pane.sh FE "Build failed. See _last_build.log.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Failing line: HStack.justify. Likely outdated Reflex</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API in pages/. Fix FE source. Notify when ready."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notify_orchestrator.sh DELIVERY "Build FAIL — routed FE"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exit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ack user → wait FE notify done → re-route DELIVERY</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24 / 29</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24_framework_immutable.md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Framework files immutable (v10.11)</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Agents không sửa AGENTS.md, prompts/, scripts/, config/ … Sync template bằng script.</a:t>
            </a:r>
            <a:endParaRPr lang="en-US" sz="1400" dirty="0"/>
          </a:p>
        </p:txBody>
      </p:sp>
      <p:sp>
        <p:nvSpPr>
          <p:cNvPr id="5" name="Shape 3"/>
          <p:cNvSpPr/>
          <p:nvPr/>
        </p:nvSpPr>
        <p:spPr>
          <a:xfrm>
            <a:off x="365760" y="1783080"/>
            <a:ext cx="5669280" cy="4572000"/>
          </a:xfrm>
          <a:prstGeom prst="rect">
            <a:avLst/>
          </a:prstGeom>
          <a:solidFill>
            <a:srgbClr val="161B22"/>
          </a:solidFill>
          <a:ln w="12700">
            <a:solidFill>
              <a:srgbClr val="30363D"/>
            </a:solidFill>
            <a:prstDash val="solid"/>
          </a:ln>
        </p:spPr>
      </p:sp>
      <p:sp>
        <p:nvSpPr>
          <p:cNvPr id="6" name="Text 4"/>
          <p:cNvSpPr/>
          <p:nvPr/>
        </p:nvSpPr>
        <p:spPr>
          <a:xfrm>
            <a:off x="457200" y="1874520"/>
            <a:ext cx="5486400" cy="365760"/>
          </a:xfrm>
          <a:prstGeom prst="rect">
            <a:avLst/>
          </a:prstGeom>
          <a:noFill/>
          <a:ln/>
        </p:spPr>
        <p:txBody>
          <a:bodyPr wrap="square" lIns="0" tIns="0" rIns="0" bIns="0" rtlCol="0" anchor="ctr"/>
          <a:lstStyle/>
          <a:p>
            <a:pPr indent="0" marL="0">
              <a:buNone/>
            </a:pPr>
            <a:r>
              <a:rPr lang="en-US" sz="1400" b="1" dirty="0">
                <a:solidFill>
                  <a:srgbClr val="F85149"/>
                </a:solidFill>
                <a:latin typeface="Consolas" pitchFamily="34" charset="0"/>
                <a:ea typeface="Consolas" pitchFamily="34" charset="-122"/>
                <a:cs typeface="Consolas" pitchFamily="34" charset="-120"/>
              </a:rPr>
              <a:t>Read-only cho mọi agent</a:t>
            </a:r>
            <a:endParaRPr lang="en-US" sz="1400" dirty="0"/>
          </a:p>
        </p:txBody>
      </p:sp>
      <p:sp>
        <p:nvSpPr>
          <p:cNvPr id="7" name="Text 5"/>
          <p:cNvSpPr/>
          <p:nvPr/>
        </p:nvSpPr>
        <p:spPr>
          <a:xfrm>
            <a:off x="457200" y="2331720"/>
            <a:ext cx="5486400" cy="3931920"/>
          </a:xfrm>
          <a:prstGeom prst="rect">
            <a:avLst/>
          </a:prstGeom>
          <a:noFill/>
          <a:ln/>
        </p:spPr>
        <p:txBody>
          <a:bodyPr wrap="square" lIns="0" tIns="0" rIns="0" bIns="0" rtlCol="0" anchor="t"/>
          <a:lstStyle/>
          <a:p>
            <a:pPr indent="0" marL="0">
              <a:buNone/>
            </a:pPr>
            <a:r>
              <a:rPr lang="en-US" sz="1100" dirty="0">
                <a:solidFill>
                  <a:srgbClr val="E6EDF3"/>
                </a:solidFill>
                <a:latin typeface="Consolas" pitchFamily="34" charset="0"/>
                <a:ea typeface="Consolas" pitchFamily="34" charset="-122"/>
                <a:cs typeface="Consolas" pitchFamily="34" charset="-120"/>
              </a:rPr>
              <a:t>  AGENTS.md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README.md  VERSION.md  LICENSE  .gitignore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PRODUCT_ENGINEERING.md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.opencode/config.json  opencode.json</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scripts/*.sh                 (toàn bộ)</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prompts/agents/*.md          (mọi role prompt)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config/*                     (env, json, 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planning/{PANE_ROUTING,ORCH_RUNTIME,AGENT_WORKFLOW}.md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docs/delivery/{OPENCODE_SETUP,TMUX_USAGE}.md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memory/README.md</a:t>
            </a:r>
            <a:endParaRPr lang="en-US" sz="1100" dirty="0"/>
          </a:p>
        </p:txBody>
      </p:sp>
      <p:sp>
        <p:nvSpPr>
          <p:cNvPr id="8" name="Shape 6"/>
          <p:cNvSpPr/>
          <p:nvPr/>
        </p:nvSpPr>
        <p:spPr>
          <a:xfrm>
            <a:off x="6217920" y="1783080"/>
            <a:ext cx="5577840" cy="4572000"/>
          </a:xfrm>
          <a:prstGeom prst="rect">
            <a:avLst/>
          </a:prstGeom>
          <a:solidFill>
            <a:srgbClr val="161B22"/>
          </a:solidFill>
          <a:ln w="12700">
            <a:solidFill>
              <a:srgbClr val="30363D"/>
            </a:solidFill>
            <a:prstDash val="solid"/>
          </a:ln>
        </p:spPr>
      </p:sp>
      <p:sp>
        <p:nvSpPr>
          <p:cNvPr id="9" name="Text 7"/>
          <p:cNvSpPr/>
          <p:nvPr/>
        </p:nvSpPr>
        <p:spPr>
          <a:xfrm>
            <a:off x="6309360" y="1874520"/>
            <a:ext cx="539496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Sync an toàn từ template mới</a:t>
            </a:r>
            <a:endParaRPr lang="en-US" sz="1400" dirty="0"/>
          </a:p>
        </p:txBody>
      </p:sp>
      <p:sp>
        <p:nvSpPr>
          <p:cNvPr id="10" name="Text 8"/>
          <p:cNvSpPr/>
          <p:nvPr/>
        </p:nvSpPr>
        <p:spPr>
          <a:xfrm>
            <a:off x="6309360" y="2331720"/>
            <a:ext cx="5394960" cy="3931920"/>
          </a:xfrm>
          <a:prstGeom prst="rect">
            <a:avLst/>
          </a:prstGeom>
          <a:noFill/>
          <a:ln/>
        </p:spPr>
        <p:txBody>
          <a:bodyPr wrap="square" lIns="0" tIns="0" rIns="0" bIns="0" rtlCol="0" anchor="t"/>
          <a:lstStyle/>
          <a:p>
            <a:pPr indent="0" marL="0">
              <a:buNone/>
            </a:pPr>
            <a:r>
              <a:rPr lang="en-US" sz="1100" dirty="0">
                <a:solidFill>
                  <a:srgbClr val="8B949E"/>
                </a:solidFill>
                <a:latin typeface="Consolas" pitchFamily="34" charset="0"/>
                <a:ea typeface="Consolas" pitchFamily="34" charset="-122"/>
                <a:cs typeface="Consolas" pitchFamily="34" charset="-120"/>
              </a:rPr>
              <a:t># Dry-run xem sẽ làm gì:</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../product-engineering-template --dry-run</a:t>
            </a:r>
            <a:endParaRPr lang="en-US" sz="1100" dirty="0"/>
          </a:p>
          <a:p>
            <a:pPr indent="0" marL="0">
              <a:buNone/>
            </a:pPr>
            <a:endParaRPr lang="en-US" sz="1100" dirty="0"/>
          </a:p>
          <a:p>
            <a:pPr indent="0" marL="0">
              <a:buNone/>
            </a:pPr>
            <a:r>
              <a:rPr lang="en-US" sz="1100" dirty="0">
                <a:solidFill>
                  <a:srgbClr val="8B949E"/>
                </a:solidFill>
                <a:latin typeface="Consolas" pitchFamily="34" charset="0"/>
                <a:ea typeface="Consolas" pitchFamily="34" charset="-122"/>
                <a:cs typeface="Consolas" pitchFamily="34" charset="-120"/>
              </a:rPr>
              <a:t># Apply:</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../product-engineering-template</a:t>
            </a:r>
            <a:endParaRPr lang="en-US" sz="1100" dirty="0"/>
          </a:p>
          <a:p>
            <a:pPr indent="0" marL="0">
              <a:buNone/>
            </a:pP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Mọi file bị overwrite được backup vào</a:t>
            </a:r>
            <a:endParaRPr lang="en-US" sz="1100" dirty="0"/>
          </a:p>
          <a:p>
            <a:pPr indent="0" marL="0">
              <a:buNone/>
            </a:pPr>
            <a:r>
              <a:rPr lang="en-US" sz="1100" dirty="0">
                <a:solidFill>
                  <a:srgbClr val="79C0FF"/>
                </a:solidFill>
                <a:latin typeface="Consolas" pitchFamily="34" charset="0"/>
                <a:ea typeface="Consolas" pitchFamily="34" charset="-122"/>
                <a:cs typeface="Consolas" pitchFamily="34" charset="-120"/>
              </a:rPr>
              <a:t>.framework_sync_backup/&lt;timestamp&gt;/</a:t>
            </a:r>
            <a:endParaRPr lang="en-US" sz="1100" dirty="0"/>
          </a:p>
          <a:p>
            <a:pPr indent="0" marL="0">
              <a:buNone/>
            </a:pP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PRODUCT_IDEA.md, TASK.md, memory/*, docs/</a:t>
            </a: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outputs, backend/, frontend/ KHÔNG bị đụng.</a:t>
            </a:r>
            <a:endParaRPr lang="en-US" sz="11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25 / 29</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25_troubleshooting.md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Troubleshooting cheat sheet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Những lỗi phổ biến và cách thoát nhanh</a:t>
            </a:r>
            <a:endParaRPr lang="en-US" sz="1400" dirty="0"/>
          </a:p>
        </p:txBody>
      </p:sp>
      <p:sp>
        <p:nvSpPr>
          <p:cNvPr id="5" name="Shape 3"/>
          <p:cNvSpPr/>
          <p:nvPr/>
        </p:nvSpPr>
        <p:spPr>
          <a:xfrm>
            <a:off x="365760" y="1783080"/>
            <a:ext cx="11430000" cy="566928"/>
          </a:xfrm>
          <a:prstGeom prst="rect">
            <a:avLst/>
          </a:prstGeom>
          <a:solidFill>
            <a:srgbClr val="161B22"/>
          </a:solidFill>
          <a:ln w="12700">
            <a:solidFill>
              <a:srgbClr val="30363D"/>
            </a:solidFill>
            <a:prstDash val="solid"/>
          </a:ln>
        </p:spPr>
      </p:sp>
      <p:sp>
        <p:nvSpPr>
          <p:cNvPr id="6" name="Shape 4"/>
          <p:cNvSpPr/>
          <p:nvPr/>
        </p:nvSpPr>
        <p:spPr>
          <a:xfrm>
            <a:off x="365760" y="1783080"/>
            <a:ext cx="73152" cy="566928"/>
          </a:xfrm>
          <a:prstGeom prst="rect">
            <a:avLst/>
          </a:prstGeom>
          <a:solidFill>
            <a:srgbClr val="D29922"/>
          </a:solidFill>
          <a:ln w="12700">
            <a:solidFill>
              <a:srgbClr val="D29922"/>
            </a:solidFill>
            <a:prstDash val="solid"/>
          </a:ln>
        </p:spPr>
      </p:sp>
      <p:sp>
        <p:nvSpPr>
          <p:cNvPr id="7" name="Text 5"/>
          <p:cNvSpPr/>
          <p:nvPr/>
        </p:nvSpPr>
        <p:spPr>
          <a:xfrm>
            <a:off x="548640" y="1783080"/>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Pane 1 stuck ở dquote&gt;</a:t>
            </a:r>
            <a:endParaRPr lang="en-US" sz="1200" dirty="0"/>
          </a:p>
        </p:txBody>
      </p:sp>
      <p:sp>
        <p:nvSpPr>
          <p:cNvPr id="8" name="Text 6"/>
          <p:cNvSpPr/>
          <p:nvPr/>
        </p:nvSpPr>
        <p:spPr>
          <a:xfrm>
            <a:off x="4572000" y="1783080"/>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Ctrl+C → auto-relaunch loop sẽ prompt Enter để vào lại TUI</a:t>
            </a:r>
            <a:endParaRPr lang="en-US" sz="1100" dirty="0"/>
          </a:p>
        </p:txBody>
      </p:sp>
      <p:sp>
        <p:nvSpPr>
          <p:cNvPr id="9" name="Shape 7"/>
          <p:cNvSpPr/>
          <p:nvPr/>
        </p:nvSpPr>
        <p:spPr>
          <a:xfrm>
            <a:off x="365760" y="2414016"/>
            <a:ext cx="11430000" cy="566928"/>
          </a:xfrm>
          <a:prstGeom prst="rect">
            <a:avLst/>
          </a:prstGeom>
          <a:solidFill>
            <a:srgbClr val="1C2128"/>
          </a:solidFill>
          <a:ln w="12700">
            <a:solidFill>
              <a:srgbClr val="30363D"/>
            </a:solidFill>
            <a:prstDash val="solid"/>
          </a:ln>
        </p:spPr>
      </p:sp>
      <p:sp>
        <p:nvSpPr>
          <p:cNvPr id="10" name="Shape 8"/>
          <p:cNvSpPr/>
          <p:nvPr/>
        </p:nvSpPr>
        <p:spPr>
          <a:xfrm>
            <a:off x="365760" y="2414016"/>
            <a:ext cx="73152" cy="566928"/>
          </a:xfrm>
          <a:prstGeom prst="rect">
            <a:avLst/>
          </a:prstGeom>
          <a:solidFill>
            <a:srgbClr val="D29922"/>
          </a:solidFill>
          <a:ln w="12700">
            <a:solidFill>
              <a:srgbClr val="D29922"/>
            </a:solidFill>
            <a:prstDash val="solid"/>
          </a:ln>
        </p:spPr>
      </p:sp>
      <p:sp>
        <p:nvSpPr>
          <p:cNvPr id="11" name="Text 9"/>
          <p:cNvSpPr/>
          <p:nvPr/>
        </p:nvSpPr>
        <p:spPr>
          <a:xfrm>
            <a:off x="548640" y="2414016"/>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Orch nói routed nhưng không thấy</a:t>
            </a:r>
            <a:endParaRPr lang="en-US" sz="1200" dirty="0"/>
          </a:p>
        </p:txBody>
      </p:sp>
      <p:sp>
        <p:nvSpPr>
          <p:cNvPr id="12" name="Text 10"/>
          <p:cNvSpPr/>
          <p:nvPr/>
        </p:nvSpPr>
        <p:spPr>
          <a:xfrm>
            <a:off x="4572000" y="2414016"/>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scripts/verify_routing.sh  — nếu trống, Orch chỉ chat, chưa thực sự bash</a:t>
            </a:r>
            <a:endParaRPr lang="en-US" sz="1100" dirty="0"/>
          </a:p>
        </p:txBody>
      </p:sp>
      <p:sp>
        <p:nvSpPr>
          <p:cNvPr id="13" name="Shape 11"/>
          <p:cNvSpPr/>
          <p:nvPr/>
        </p:nvSpPr>
        <p:spPr>
          <a:xfrm>
            <a:off x="365760" y="3044952"/>
            <a:ext cx="11430000" cy="566928"/>
          </a:xfrm>
          <a:prstGeom prst="rect">
            <a:avLst/>
          </a:prstGeom>
          <a:solidFill>
            <a:srgbClr val="161B22"/>
          </a:solidFill>
          <a:ln w="12700">
            <a:solidFill>
              <a:srgbClr val="30363D"/>
            </a:solidFill>
            <a:prstDash val="solid"/>
          </a:ln>
        </p:spPr>
      </p:sp>
      <p:sp>
        <p:nvSpPr>
          <p:cNvPr id="14" name="Shape 12"/>
          <p:cNvSpPr/>
          <p:nvPr/>
        </p:nvSpPr>
        <p:spPr>
          <a:xfrm>
            <a:off x="365760" y="3044952"/>
            <a:ext cx="73152" cy="566928"/>
          </a:xfrm>
          <a:prstGeom prst="rect">
            <a:avLst/>
          </a:prstGeom>
          <a:solidFill>
            <a:srgbClr val="D29922"/>
          </a:solidFill>
          <a:ln w="12700">
            <a:solidFill>
              <a:srgbClr val="D29922"/>
            </a:solidFill>
            <a:prstDash val="solid"/>
          </a:ln>
        </p:spPr>
      </p:sp>
      <p:sp>
        <p:nvSpPr>
          <p:cNvPr id="15" name="Text 13"/>
          <p:cNvSpPr/>
          <p:nvPr/>
        </p:nvSpPr>
        <p:spPr>
          <a:xfrm>
            <a:off x="548640" y="3044952"/>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Có Q pending mà Orch im lặng</a:t>
            </a:r>
            <a:endParaRPr lang="en-US" sz="1200" dirty="0"/>
          </a:p>
        </p:txBody>
      </p:sp>
      <p:sp>
        <p:nvSpPr>
          <p:cNvPr id="16" name="Text 14"/>
          <p:cNvSpPr/>
          <p:nvPr/>
        </p:nvSpPr>
        <p:spPr>
          <a:xfrm>
            <a:off x="4572000" y="3044952"/>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Gõ 'có câu hỏi gì pending không?' — Orch chạy list_pending_questions.sh</a:t>
            </a:r>
            <a:endParaRPr lang="en-US" sz="1100" dirty="0"/>
          </a:p>
        </p:txBody>
      </p:sp>
      <p:sp>
        <p:nvSpPr>
          <p:cNvPr id="17" name="Shape 15"/>
          <p:cNvSpPr/>
          <p:nvPr/>
        </p:nvSpPr>
        <p:spPr>
          <a:xfrm>
            <a:off x="365760" y="3675888"/>
            <a:ext cx="11430000" cy="566928"/>
          </a:xfrm>
          <a:prstGeom prst="rect">
            <a:avLst/>
          </a:prstGeom>
          <a:solidFill>
            <a:srgbClr val="1C2128"/>
          </a:solidFill>
          <a:ln w="12700">
            <a:solidFill>
              <a:srgbClr val="30363D"/>
            </a:solidFill>
            <a:prstDash val="solid"/>
          </a:ln>
        </p:spPr>
      </p:sp>
      <p:sp>
        <p:nvSpPr>
          <p:cNvPr id="18" name="Shape 16"/>
          <p:cNvSpPr/>
          <p:nvPr/>
        </p:nvSpPr>
        <p:spPr>
          <a:xfrm>
            <a:off x="365760" y="3675888"/>
            <a:ext cx="73152" cy="566928"/>
          </a:xfrm>
          <a:prstGeom prst="rect">
            <a:avLst/>
          </a:prstGeom>
          <a:solidFill>
            <a:srgbClr val="D29922"/>
          </a:solidFill>
          <a:ln w="12700">
            <a:solidFill>
              <a:srgbClr val="D29922"/>
            </a:solidFill>
            <a:prstDash val="solid"/>
          </a:ln>
        </p:spPr>
      </p:sp>
      <p:sp>
        <p:nvSpPr>
          <p:cNvPr id="19" name="Text 17"/>
          <p:cNvSpPr/>
          <p:nvPr/>
        </p:nvSpPr>
        <p:spPr>
          <a:xfrm>
            <a:off x="548640" y="3675888"/>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DELIVERY refuse deploy</a:t>
            </a:r>
            <a:endParaRPr lang="en-US" sz="1200" dirty="0"/>
          </a:p>
        </p:txBody>
      </p:sp>
      <p:sp>
        <p:nvSpPr>
          <p:cNvPr id="20" name="Text 18"/>
          <p:cNvSpPr/>
          <p:nvPr/>
        </p:nvSpPr>
        <p:spPr>
          <a:xfrm>
            <a:off x="4572000" y="3675888"/>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Đọc reports/TEST_REPORT.md + BUG_REPORT.md — fix blocker rồi re-route</a:t>
            </a:r>
            <a:endParaRPr lang="en-US" sz="1100" dirty="0"/>
          </a:p>
        </p:txBody>
      </p:sp>
      <p:sp>
        <p:nvSpPr>
          <p:cNvPr id="21" name="Shape 19"/>
          <p:cNvSpPr/>
          <p:nvPr/>
        </p:nvSpPr>
        <p:spPr>
          <a:xfrm>
            <a:off x="365760" y="4306824"/>
            <a:ext cx="11430000" cy="566928"/>
          </a:xfrm>
          <a:prstGeom prst="rect">
            <a:avLst/>
          </a:prstGeom>
          <a:solidFill>
            <a:srgbClr val="161B22"/>
          </a:solidFill>
          <a:ln w="12700">
            <a:solidFill>
              <a:srgbClr val="30363D"/>
            </a:solidFill>
            <a:prstDash val="solid"/>
          </a:ln>
        </p:spPr>
      </p:sp>
      <p:sp>
        <p:nvSpPr>
          <p:cNvPr id="22" name="Shape 20"/>
          <p:cNvSpPr/>
          <p:nvPr/>
        </p:nvSpPr>
        <p:spPr>
          <a:xfrm>
            <a:off x="365760" y="4306824"/>
            <a:ext cx="73152" cy="566928"/>
          </a:xfrm>
          <a:prstGeom prst="rect">
            <a:avLst/>
          </a:prstGeom>
          <a:solidFill>
            <a:srgbClr val="D29922"/>
          </a:solidFill>
          <a:ln w="12700">
            <a:solidFill>
              <a:srgbClr val="D29922"/>
            </a:solidFill>
            <a:prstDash val="solid"/>
          </a:ln>
        </p:spPr>
      </p:sp>
      <p:sp>
        <p:nvSpPr>
          <p:cNvPr id="23" name="Text 21"/>
          <p:cNvSpPr/>
          <p:nvPr/>
        </p:nvSpPr>
        <p:spPr>
          <a:xfrm>
            <a:off x="548640" y="4306824"/>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Build fails — DELIVERY tự sửa FE</a:t>
            </a:r>
            <a:endParaRPr lang="en-US" sz="1200" dirty="0"/>
          </a:p>
        </p:txBody>
      </p:sp>
      <p:sp>
        <p:nvSpPr>
          <p:cNvPr id="24" name="Text 22"/>
          <p:cNvSpPr/>
          <p:nvPr/>
        </p:nvSpPr>
        <p:spPr>
          <a:xfrm>
            <a:off x="4572000" y="4306824"/>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Stop. Re-route DELIVERY với hint follow Build Failure Routing Protocol</a:t>
            </a:r>
            <a:endParaRPr lang="en-US" sz="1100" dirty="0"/>
          </a:p>
        </p:txBody>
      </p:sp>
      <p:sp>
        <p:nvSpPr>
          <p:cNvPr id="25" name="Shape 23"/>
          <p:cNvSpPr/>
          <p:nvPr/>
        </p:nvSpPr>
        <p:spPr>
          <a:xfrm>
            <a:off x="365760" y="4937760"/>
            <a:ext cx="11430000" cy="566928"/>
          </a:xfrm>
          <a:prstGeom prst="rect">
            <a:avLst/>
          </a:prstGeom>
          <a:solidFill>
            <a:srgbClr val="1C2128"/>
          </a:solidFill>
          <a:ln w="12700">
            <a:solidFill>
              <a:srgbClr val="30363D"/>
            </a:solidFill>
            <a:prstDash val="solid"/>
          </a:ln>
        </p:spPr>
      </p:sp>
      <p:sp>
        <p:nvSpPr>
          <p:cNvPr id="26" name="Shape 24"/>
          <p:cNvSpPr/>
          <p:nvPr/>
        </p:nvSpPr>
        <p:spPr>
          <a:xfrm>
            <a:off x="365760" y="4937760"/>
            <a:ext cx="73152" cy="566928"/>
          </a:xfrm>
          <a:prstGeom prst="rect">
            <a:avLst/>
          </a:prstGeom>
          <a:solidFill>
            <a:srgbClr val="D29922"/>
          </a:solidFill>
          <a:ln w="12700">
            <a:solidFill>
              <a:srgbClr val="D29922"/>
            </a:solidFill>
            <a:prstDash val="solid"/>
          </a:ln>
        </p:spPr>
      </p:sp>
      <p:sp>
        <p:nvSpPr>
          <p:cNvPr id="27" name="Text 25"/>
          <p:cNvSpPr/>
          <p:nvPr/>
        </p:nvSpPr>
        <p:spPr>
          <a:xfrm>
            <a:off x="548640" y="4937760"/>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Model not found</a:t>
            </a:r>
            <a:endParaRPr lang="en-US" sz="1200" dirty="0"/>
          </a:p>
        </p:txBody>
      </p:sp>
      <p:sp>
        <p:nvSpPr>
          <p:cNvPr id="28" name="Text 26"/>
          <p:cNvSpPr/>
          <p:nvPr/>
        </p:nvSpPr>
        <p:spPr>
          <a:xfrm>
            <a:off x="4572000" y="4937760"/>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scripts/check_opencode_models.sh — fix config/agent_models.env</a:t>
            </a:r>
            <a:endParaRPr lang="en-US" sz="1100" dirty="0"/>
          </a:p>
        </p:txBody>
      </p:sp>
      <p:sp>
        <p:nvSpPr>
          <p:cNvPr id="29" name="Shape 27"/>
          <p:cNvSpPr/>
          <p:nvPr/>
        </p:nvSpPr>
        <p:spPr>
          <a:xfrm>
            <a:off x="365760" y="5568696"/>
            <a:ext cx="11430000" cy="566928"/>
          </a:xfrm>
          <a:prstGeom prst="rect">
            <a:avLst/>
          </a:prstGeom>
          <a:solidFill>
            <a:srgbClr val="161B22"/>
          </a:solidFill>
          <a:ln w="12700">
            <a:solidFill>
              <a:srgbClr val="30363D"/>
            </a:solidFill>
            <a:prstDash val="solid"/>
          </a:ln>
        </p:spPr>
      </p:sp>
      <p:sp>
        <p:nvSpPr>
          <p:cNvPr id="30" name="Shape 28"/>
          <p:cNvSpPr/>
          <p:nvPr/>
        </p:nvSpPr>
        <p:spPr>
          <a:xfrm>
            <a:off x="365760" y="5568696"/>
            <a:ext cx="73152" cy="566928"/>
          </a:xfrm>
          <a:prstGeom prst="rect">
            <a:avLst/>
          </a:prstGeom>
          <a:solidFill>
            <a:srgbClr val="D29922"/>
          </a:solidFill>
          <a:ln w="12700">
            <a:solidFill>
              <a:srgbClr val="D29922"/>
            </a:solidFill>
            <a:prstDash val="solid"/>
          </a:ln>
        </p:spPr>
      </p:sp>
      <p:sp>
        <p:nvSpPr>
          <p:cNvPr id="31" name="Text 29"/>
          <p:cNvSpPr/>
          <p:nvPr/>
        </p:nvSpPr>
        <p:spPr>
          <a:xfrm>
            <a:off x="548640" y="5568696"/>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memory/ drift khỏi reality</a:t>
            </a:r>
            <a:endParaRPr lang="en-US" sz="1200" dirty="0"/>
          </a:p>
        </p:txBody>
      </p:sp>
      <p:sp>
        <p:nvSpPr>
          <p:cNvPr id="32" name="Text 30"/>
          <p:cNvSpPr/>
          <p:nvPr/>
        </p:nvSpPr>
        <p:spPr>
          <a:xfrm>
            <a:off x="4572000" y="5568696"/>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scripts/rescan_project.sh — Orch update memory/_PROJECT_STATE.md</a:t>
            </a:r>
            <a:endParaRPr lang="en-US" sz="1100" dirty="0"/>
          </a:p>
        </p:txBody>
      </p:sp>
      <p:sp>
        <p:nvSpPr>
          <p:cNvPr id="33" name="Text 3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26 / 29</a:t>
            </a:r>
            <a:endParaRPr lang="en-US" sz="900" dirty="0"/>
          </a:p>
        </p:txBody>
      </p:sp>
      <p:sp>
        <p:nvSpPr>
          <p:cNvPr id="34" name="Text 3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5" name="Text 3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26_version_history.md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Version history</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Từ ý tưởng cho tới v10.11 — mỗi bước thuần additive, không phá rule cũ</a:t>
            </a:r>
            <a:endParaRPr lang="en-US" sz="1400" dirty="0"/>
          </a:p>
        </p:txBody>
      </p:sp>
      <p:sp>
        <p:nvSpPr>
          <p:cNvPr id="5" name="Shape 3"/>
          <p:cNvSpPr/>
          <p:nvPr/>
        </p:nvSpPr>
        <p:spPr>
          <a:xfrm>
            <a:off x="365760" y="1783080"/>
            <a:ext cx="11430000" cy="356616"/>
          </a:xfrm>
          <a:prstGeom prst="rect">
            <a:avLst/>
          </a:prstGeom>
          <a:solidFill>
            <a:srgbClr val="161B22"/>
          </a:solidFill>
          <a:ln w="12700">
            <a:solidFill>
              <a:srgbClr val="30363D"/>
            </a:solidFill>
            <a:prstDash val="solid"/>
          </a:ln>
        </p:spPr>
      </p:sp>
      <p:sp>
        <p:nvSpPr>
          <p:cNvPr id="6" name="Text 4"/>
          <p:cNvSpPr/>
          <p:nvPr/>
        </p:nvSpPr>
        <p:spPr>
          <a:xfrm>
            <a:off x="502920" y="178308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v10.0</a:t>
            </a:r>
            <a:endParaRPr lang="en-US" sz="1100" dirty="0"/>
          </a:p>
        </p:txBody>
      </p:sp>
      <p:sp>
        <p:nvSpPr>
          <p:cNvPr id="7" name="Text 5"/>
          <p:cNvSpPr/>
          <p:nvPr/>
        </p:nvSpPr>
        <p:spPr>
          <a:xfrm>
            <a:off x="1554480" y="178308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Real config + Task subagent disabled + verify_routing</a:t>
            </a:r>
            <a:endParaRPr lang="en-US" sz="1100" dirty="0"/>
          </a:p>
        </p:txBody>
      </p:sp>
      <p:sp>
        <p:nvSpPr>
          <p:cNvPr id="8" name="Shape 6"/>
          <p:cNvSpPr/>
          <p:nvPr/>
        </p:nvSpPr>
        <p:spPr>
          <a:xfrm>
            <a:off x="365760" y="2157984"/>
            <a:ext cx="11430000" cy="356616"/>
          </a:xfrm>
          <a:prstGeom prst="rect">
            <a:avLst/>
          </a:prstGeom>
          <a:solidFill>
            <a:srgbClr val="1C2128"/>
          </a:solidFill>
          <a:ln w="12700">
            <a:solidFill>
              <a:srgbClr val="30363D"/>
            </a:solidFill>
            <a:prstDash val="solid"/>
          </a:ln>
        </p:spPr>
      </p:sp>
      <p:sp>
        <p:nvSpPr>
          <p:cNvPr id="9" name="Text 7"/>
          <p:cNvSpPr/>
          <p:nvPr/>
        </p:nvSpPr>
        <p:spPr>
          <a:xfrm>
            <a:off x="502920" y="215798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a:t>
            </a:r>
            <a:endParaRPr lang="en-US" sz="1100" dirty="0"/>
          </a:p>
        </p:txBody>
      </p:sp>
      <p:sp>
        <p:nvSpPr>
          <p:cNvPr id="10" name="Text 8"/>
          <p:cNvSpPr/>
          <p:nvPr/>
        </p:nvSpPr>
        <p:spPr>
          <a:xfrm>
            <a:off x="1554480" y="215798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Drop --config flag; AGENTS.md autoload; kill racy auto-paste</a:t>
            </a:r>
            <a:endParaRPr lang="en-US" sz="1100" dirty="0"/>
          </a:p>
        </p:txBody>
      </p:sp>
      <p:sp>
        <p:nvSpPr>
          <p:cNvPr id="11" name="Shape 9"/>
          <p:cNvSpPr/>
          <p:nvPr/>
        </p:nvSpPr>
        <p:spPr>
          <a:xfrm>
            <a:off x="365760" y="2532888"/>
            <a:ext cx="11430000" cy="356616"/>
          </a:xfrm>
          <a:prstGeom prst="rect">
            <a:avLst/>
          </a:prstGeom>
          <a:solidFill>
            <a:srgbClr val="161B22"/>
          </a:solidFill>
          <a:ln w="12700">
            <a:solidFill>
              <a:srgbClr val="30363D"/>
            </a:solidFill>
            <a:prstDash val="solid"/>
          </a:ln>
        </p:spPr>
      </p:sp>
      <p:sp>
        <p:nvSpPr>
          <p:cNvPr id="12" name="Text 10"/>
          <p:cNvSpPr/>
          <p:nvPr/>
        </p:nvSpPr>
        <p:spPr>
          <a:xfrm>
            <a:off x="502920" y="2532888"/>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v10.2</a:t>
            </a:r>
            <a:endParaRPr lang="en-US" sz="1100" dirty="0"/>
          </a:p>
        </p:txBody>
      </p:sp>
      <p:sp>
        <p:nvSpPr>
          <p:cNvPr id="13" name="Text 11"/>
          <p:cNvSpPr/>
          <p:nvPr/>
        </p:nvSpPr>
        <p:spPr>
          <a:xfrm>
            <a:off x="1554480" y="2532888"/>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Clarification loop (ask/answer/list) + Orch auto-relaunch</a:t>
            </a:r>
            <a:endParaRPr lang="en-US" sz="1100" dirty="0"/>
          </a:p>
        </p:txBody>
      </p:sp>
      <p:sp>
        <p:nvSpPr>
          <p:cNvPr id="14" name="Shape 12"/>
          <p:cNvSpPr/>
          <p:nvPr/>
        </p:nvSpPr>
        <p:spPr>
          <a:xfrm>
            <a:off x="365760" y="2907792"/>
            <a:ext cx="11430000" cy="356616"/>
          </a:xfrm>
          <a:prstGeom prst="rect">
            <a:avLst/>
          </a:prstGeom>
          <a:solidFill>
            <a:srgbClr val="1C2128"/>
          </a:solidFill>
          <a:ln w="12700">
            <a:solidFill>
              <a:srgbClr val="30363D"/>
            </a:solidFill>
            <a:prstDash val="solid"/>
          </a:ln>
        </p:spPr>
      </p:sp>
      <p:sp>
        <p:nvSpPr>
          <p:cNvPr id="15" name="Text 13"/>
          <p:cNvSpPr/>
          <p:nvPr/>
        </p:nvSpPr>
        <p:spPr>
          <a:xfrm>
            <a:off x="502920" y="2907792"/>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v10.3</a:t>
            </a:r>
            <a:endParaRPr lang="en-US" sz="1100" dirty="0"/>
          </a:p>
        </p:txBody>
      </p:sp>
      <p:sp>
        <p:nvSpPr>
          <p:cNvPr id="16" name="Text 14"/>
          <p:cNvSpPr/>
          <p:nvPr/>
        </p:nvSpPr>
        <p:spPr>
          <a:xfrm>
            <a:off x="1554480" y="2907792"/>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QA verdict gate; DELIVERY ships end-to-end; notify_orchestrator</a:t>
            </a:r>
            <a:endParaRPr lang="en-US" sz="1100" dirty="0"/>
          </a:p>
        </p:txBody>
      </p:sp>
      <p:sp>
        <p:nvSpPr>
          <p:cNvPr id="17" name="Shape 15"/>
          <p:cNvSpPr/>
          <p:nvPr/>
        </p:nvSpPr>
        <p:spPr>
          <a:xfrm>
            <a:off x="365760" y="3282696"/>
            <a:ext cx="11430000" cy="356616"/>
          </a:xfrm>
          <a:prstGeom prst="rect">
            <a:avLst/>
          </a:prstGeom>
          <a:solidFill>
            <a:srgbClr val="161B22"/>
          </a:solidFill>
          <a:ln w="12700">
            <a:solidFill>
              <a:srgbClr val="30363D"/>
            </a:solidFill>
            <a:prstDash val="solid"/>
          </a:ln>
        </p:spPr>
      </p:sp>
      <p:sp>
        <p:nvSpPr>
          <p:cNvPr id="18" name="Text 16"/>
          <p:cNvSpPr/>
          <p:nvPr/>
        </p:nvSpPr>
        <p:spPr>
          <a:xfrm>
            <a:off x="502920" y="3282696"/>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v10.4</a:t>
            </a:r>
            <a:endParaRPr lang="en-US" sz="1100" dirty="0"/>
          </a:p>
        </p:txBody>
      </p:sp>
      <p:sp>
        <p:nvSpPr>
          <p:cNvPr id="19" name="Text 17"/>
          <p:cNvSpPr/>
          <p:nvPr/>
        </p:nvSpPr>
        <p:spPr>
          <a:xfrm>
            <a:off x="1554480" y="3282696"/>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Auto-wake Orchestrator via [INBOX] keystroke ping</a:t>
            </a:r>
            <a:endParaRPr lang="en-US" sz="1100" dirty="0"/>
          </a:p>
        </p:txBody>
      </p:sp>
      <p:sp>
        <p:nvSpPr>
          <p:cNvPr id="20" name="Shape 18"/>
          <p:cNvSpPr/>
          <p:nvPr/>
        </p:nvSpPr>
        <p:spPr>
          <a:xfrm>
            <a:off x="365760" y="3657600"/>
            <a:ext cx="11430000" cy="356616"/>
          </a:xfrm>
          <a:prstGeom prst="rect">
            <a:avLst/>
          </a:prstGeom>
          <a:solidFill>
            <a:srgbClr val="1C2128"/>
          </a:solidFill>
          <a:ln w="12700">
            <a:solidFill>
              <a:srgbClr val="30363D"/>
            </a:solidFill>
            <a:prstDash val="solid"/>
          </a:ln>
        </p:spPr>
      </p:sp>
      <p:sp>
        <p:nvSpPr>
          <p:cNvPr id="21" name="Text 19"/>
          <p:cNvSpPr/>
          <p:nvPr/>
        </p:nvSpPr>
        <p:spPr>
          <a:xfrm>
            <a:off x="502920" y="365760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v10.5</a:t>
            </a:r>
            <a:endParaRPr lang="en-US" sz="1100" dirty="0"/>
          </a:p>
        </p:txBody>
      </p:sp>
      <p:sp>
        <p:nvSpPr>
          <p:cNvPr id="22" name="Text 20"/>
          <p:cNvSpPr/>
          <p:nvPr/>
        </p:nvSpPr>
        <p:spPr>
          <a:xfrm>
            <a:off x="1554480" y="365760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Durable memory/ layer + session resume + rescan_project</a:t>
            </a:r>
            <a:endParaRPr lang="en-US" sz="1100" dirty="0"/>
          </a:p>
        </p:txBody>
      </p:sp>
      <p:sp>
        <p:nvSpPr>
          <p:cNvPr id="23" name="Shape 21"/>
          <p:cNvSpPr/>
          <p:nvPr/>
        </p:nvSpPr>
        <p:spPr>
          <a:xfrm>
            <a:off x="365760" y="4032504"/>
            <a:ext cx="11430000" cy="356616"/>
          </a:xfrm>
          <a:prstGeom prst="rect">
            <a:avLst/>
          </a:prstGeom>
          <a:solidFill>
            <a:srgbClr val="161B22"/>
          </a:solidFill>
          <a:ln w="12700">
            <a:solidFill>
              <a:srgbClr val="30363D"/>
            </a:solidFill>
            <a:prstDash val="solid"/>
          </a:ln>
        </p:spPr>
      </p:sp>
      <p:sp>
        <p:nvSpPr>
          <p:cNvPr id="24" name="Text 22"/>
          <p:cNvSpPr/>
          <p:nvPr/>
        </p:nvSpPr>
        <p:spPr>
          <a:xfrm>
            <a:off x="502920" y="403250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v10.6</a:t>
            </a:r>
            <a:endParaRPr lang="en-US" sz="1100" dirty="0"/>
          </a:p>
        </p:txBody>
      </p:sp>
      <p:sp>
        <p:nvSpPr>
          <p:cNvPr id="25" name="Text 23"/>
          <p:cNvSpPr/>
          <p:nvPr/>
        </p:nvSpPr>
        <p:spPr>
          <a:xfrm>
            <a:off x="1554480" y="403250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Lean role-specific read list (cut token waste ~50%)</a:t>
            </a:r>
            <a:endParaRPr lang="en-US" sz="1100" dirty="0"/>
          </a:p>
        </p:txBody>
      </p:sp>
      <p:sp>
        <p:nvSpPr>
          <p:cNvPr id="26" name="Shape 24"/>
          <p:cNvSpPr/>
          <p:nvPr/>
        </p:nvSpPr>
        <p:spPr>
          <a:xfrm>
            <a:off x="365760" y="4407408"/>
            <a:ext cx="11430000" cy="356616"/>
          </a:xfrm>
          <a:prstGeom prst="rect">
            <a:avLst/>
          </a:prstGeom>
          <a:solidFill>
            <a:srgbClr val="1C2128"/>
          </a:solidFill>
          <a:ln w="12700">
            <a:solidFill>
              <a:srgbClr val="30363D"/>
            </a:solidFill>
            <a:prstDash val="solid"/>
          </a:ln>
        </p:spPr>
      </p:sp>
      <p:sp>
        <p:nvSpPr>
          <p:cNvPr id="27" name="Text 25"/>
          <p:cNvSpPr/>
          <p:nvPr/>
        </p:nvSpPr>
        <p:spPr>
          <a:xfrm>
            <a:off x="502920" y="4407408"/>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v10.7</a:t>
            </a:r>
            <a:endParaRPr lang="en-US" sz="1100" dirty="0"/>
          </a:p>
        </p:txBody>
      </p:sp>
      <p:sp>
        <p:nvSpPr>
          <p:cNvPr id="28" name="Text 26"/>
          <p:cNvSpPr/>
          <p:nvPr/>
        </p:nvSpPr>
        <p:spPr>
          <a:xfrm>
            <a:off x="1554480" y="4407408"/>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Tech Stack Confirmation Protocol (SA + BE/FE addenda)</a:t>
            </a:r>
            <a:endParaRPr lang="en-US" sz="1100" dirty="0"/>
          </a:p>
        </p:txBody>
      </p:sp>
      <p:sp>
        <p:nvSpPr>
          <p:cNvPr id="29" name="Shape 27"/>
          <p:cNvSpPr/>
          <p:nvPr/>
        </p:nvSpPr>
        <p:spPr>
          <a:xfrm>
            <a:off x="365760" y="4782312"/>
            <a:ext cx="11430000" cy="356616"/>
          </a:xfrm>
          <a:prstGeom prst="rect">
            <a:avLst/>
          </a:prstGeom>
          <a:solidFill>
            <a:srgbClr val="161B22"/>
          </a:solidFill>
          <a:ln w="12700">
            <a:solidFill>
              <a:srgbClr val="30363D"/>
            </a:solidFill>
            <a:prstDash val="solid"/>
          </a:ln>
        </p:spPr>
      </p:sp>
      <p:sp>
        <p:nvSpPr>
          <p:cNvPr id="30" name="Text 28"/>
          <p:cNvSpPr/>
          <p:nvPr/>
        </p:nvSpPr>
        <p:spPr>
          <a:xfrm>
            <a:off x="502920" y="4782312"/>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v10.8</a:t>
            </a:r>
            <a:endParaRPr lang="en-US" sz="1100" dirty="0"/>
          </a:p>
        </p:txBody>
      </p:sp>
      <p:sp>
        <p:nvSpPr>
          <p:cNvPr id="31" name="Text 29"/>
          <p:cNvSpPr/>
          <p:nvPr/>
        </p:nvSpPr>
        <p:spPr>
          <a:xfrm>
            <a:off x="1554480" y="4782312"/>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Prerequisite check — fail fast on missing inputs</a:t>
            </a:r>
            <a:endParaRPr lang="en-US" sz="1100" dirty="0"/>
          </a:p>
        </p:txBody>
      </p:sp>
      <p:sp>
        <p:nvSpPr>
          <p:cNvPr id="32" name="Shape 30"/>
          <p:cNvSpPr/>
          <p:nvPr/>
        </p:nvSpPr>
        <p:spPr>
          <a:xfrm>
            <a:off x="365760" y="5157216"/>
            <a:ext cx="11430000" cy="356616"/>
          </a:xfrm>
          <a:prstGeom prst="rect">
            <a:avLst/>
          </a:prstGeom>
          <a:solidFill>
            <a:srgbClr val="1C2128"/>
          </a:solidFill>
          <a:ln w="12700">
            <a:solidFill>
              <a:srgbClr val="30363D"/>
            </a:solidFill>
            <a:prstDash val="solid"/>
          </a:ln>
        </p:spPr>
      </p:sp>
      <p:sp>
        <p:nvSpPr>
          <p:cNvPr id="33" name="Text 31"/>
          <p:cNvSpPr/>
          <p:nvPr/>
        </p:nvSpPr>
        <p:spPr>
          <a:xfrm>
            <a:off x="502920" y="5157216"/>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v10.9</a:t>
            </a:r>
            <a:endParaRPr lang="en-US" sz="1100" dirty="0"/>
          </a:p>
        </p:txBody>
      </p:sp>
      <p:sp>
        <p:nvSpPr>
          <p:cNvPr id="34" name="Text 32"/>
          <p:cNvSpPr/>
          <p:nvPr/>
        </p:nvSpPr>
        <p:spPr>
          <a:xfrm>
            <a:off x="1554480" y="5157216"/>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Phase gates + quality gates (VERDICT, no critical bugs)</a:t>
            </a:r>
            <a:endParaRPr lang="en-US" sz="1100" dirty="0"/>
          </a:p>
        </p:txBody>
      </p:sp>
      <p:sp>
        <p:nvSpPr>
          <p:cNvPr id="35" name="Shape 33"/>
          <p:cNvSpPr/>
          <p:nvPr/>
        </p:nvSpPr>
        <p:spPr>
          <a:xfrm>
            <a:off x="365760" y="5532120"/>
            <a:ext cx="11430000" cy="356616"/>
          </a:xfrm>
          <a:prstGeom prst="rect">
            <a:avLst/>
          </a:prstGeom>
          <a:solidFill>
            <a:srgbClr val="161B22"/>
          </a:solidFill>
          <a:ln w="12700">
            <a:solidFill>
              <a:srgbClr val="30363D"/>
            </a:solidFill>
            <a:prstDash val="solid"/>
          </a:ln>
        </p:spPr>
      </p:sp>
      <p:sp>
        <p:nvSpPr>
          <p:cNvPr id="36" name="Text 34"/>
          <p:cNvSpPr/>
          <p:nvPr/>
        </p:nvSpPr>
        <p:spPr>
          <a:xfrm>
            <a:off x="502920" y="553212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v10.10</a:t>
            </a:r>
            <a:endParaRPr lang="en-US" sz="1100" dirty="0"/>
          </a:p>
        </p:txBody>
      </p:sp>
      <p:sp>
        <p:nvSpPr>
          <p:cNvPr id="37" name="Text 35"/>
          <p:cNvSpPr/>
          <p:nvPr/>
        </p:nvSpPr>
        <p:spPr>
          <a:xfrm>
            <a:off x="1554480" y="553212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Stay-in-lane + Build Failure Routing Protocol</a:t>
            </a:r>
            <a:endParaRPr lang="en-US" sz="1100" dirty="0"/>
          </a:p>
        </p:txBody>
      </p:sp>
      <p:sp>
        <p:nvSpPr>
          <p:cNvPr id="38" name="Shape 36"/>
          <p:cNvSpPr/>
          <p:nvPr/>
        </p:nvSpPr>
        <p:spPr>
          <a:xfrm>
            <a:off x="365760" y="5907024"/>
            <a:ext cx="11430000" cy="356616"/>
          </a:xfrm>
          <a:prstGeom prst="rect">
            <a:avLst/>
          </a:prstGeom>
          <a:solidFill>
            <a:srgbClr val="1C2128"/>
          </a:solidFill>
          <a:ln w="12700">
            <a:solidFill>
              <a:srgbClr val="30363D"/>
            </a:solidFill>
            <a:prstDash val="solid"/>
          </a:ln>
        </p:spPr>
      </p:sp>
      <p:sp>
        <p:nvSpPr>
          <p:cNvPr id="39" name="Text 37"/>
          <p:cNvSpPr/>
          <p:nvPr/>
        </p:nvSpPr>
        <p:spPr>
          <a:xfrm>
            <a:off x="502920" y="590702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v10.11</a:t>
            </a:r>
            <a:endParaRPr lang="en-US" sz="1100" dirty="0"/>
          </a:p>
        </p:txBody>
      </p:sp>
      <p:sp>
        <p:nvSpPr>
          <p:cNvPr id="40" name="Text 38"/>
          <p:cNvSpPr/>
          <p:nvPr/>
        </p:nvSpPr>
        <p:spPr>
          <a:xfrm>
            <a:off x="1554480" y="590702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Framework files immutable + safe sync script</a:t>
            </a:r>
            <a:endParaRPr lang="en-US" sz="1100" dirty="0"/>
          </a:p>
        </p:txBody>
      </p:sp>
      <p:sp>
        <p:nvSpPr>
          <p:cNvPr id="41" name="Text 39"/>
          <p:cNvSpPr/>
          <p:nvPr/>
        </p:nvSpPr>
        <p:spPr>
          <a:xfrm>
            <a:off x="365760" y="635508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alibri" pitchFamily="34" charset="0"/>
                <a:ea typeface="Calibri" pitchFamily="34" charset="-122"/>
                <a:cs typeface="Calibri" pitchFamily="34" charset="-120"/>
              </a:rPr>
              <a:t>Nguyên tắc: mỗi version thêm chứ không bớt. Grep verify trước và sau mỗi thay đổi.</a:t>
            </a:r>
            <a:endParaRPr lang="en-US" sz="1100" dirty="0"/>
          </a:p>
        </p:txBody>
      </p:sp>
      <p:sp>
        <p:nvSpPr>
          <p:cNvPr id="42" name="Text 4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27 / 29</a:t>
            </a:r>
            <a:endParaRPr lang="en-US" sz="900" dirty="0"/>
          </a:p>
        </p:txBody>
      </p:sp>
      <p:sp>
        <p:nvSpPr>
          <p:cNvPr id="43" name="Text 4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4" name="Text 4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27_next_update.md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Next update for this framework</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Coming soon — đang trong giai đoạn thiết kế</a:t>
            </a:r>
            <a:endParaRPr lang="en-US" sz="1400" dirty="0"/>
          </a:p>
        </p:txBody>
      </p:sp>
      <p:sp>
        <p:nvSpPr>
          <p:cNvPr id="5" name="Shape 3"/>
          <p:cNvSpPr/>
          <p:nvPr/>
        </p:nvSpPr>
        <p:spPr>
          <a:xfrm>
            <a:off x="1280160" y="2194560"/>
            <a:ext cx="9601200" cy="1554480"/>
          </a:xfrm>
          <a:prstGeom prst="rect">
            <a:avLst/>
          </a:prstGeom>
          <a:solidFill>
            <a:srgbClr val="161B22"/>
          </a:solidFill>
          <a:ln w="12700">
            <a:solidFill>
              <a:srgbClr val="30363D"/>
            </a:solidFill>
            <a:prstDash val="solid"/>
          </a:ln>
        </p:spPr>
      </p:sp>
      <p:sp>
        <p:nvSpPr>
          <p:cNvPr id="6" name="Shape 4"/>
          <p:cNvSpPr/>
          <p:nvPr/>
        </p:nvSpPr>
        <p:spPr>
          <a:xfrm>
            <a:off x="1280160" y="2194560"/>
            <a:ext cx="91440" cy="1554480"/>
          </a:xfrm>
          <a:prstGeom prst="rect">
            <a:avLst/>
          </a:prstGeom>
          <a:solidFill>
            <a:srgbClr val="D2A8FF"/>
          </a:solidFill>
          <a:ln w="12700">
            <a:solidFill>
              <a:srgbClr val="D2A8FF"/>
            </a:solidFill>
            <a:prstDash val="solid"/>
          </a:ln>
        </p:spPr>
      </p:sp>
      <p:sp>
        <p:nvSpPr>
          <p:cNvPr id="7" name="Text 5"/>
          <p:cNvSpPr/>
          <p:nvPr/>
        </p:nvSpPr>
        <p:spPr>
          <a:xfrm>
            <a:off x="1554480" y="2331720"/>
            <a:ext cx="9144000" cy="640080"/>
          </a:xfrm>
          <a:prstGeom prst="rect">
            <a:avLst/>
          </a:prstGeom>
          <a:noFill/>
          <a:ln/>
        </p:spPr>
        <p:txBody>
          <a:bodyPr wrap="square" lIns="0" tIns="0" rIns="0" bIns="0" rtlCol="0" anchor="ctr"/>
          <a:lstStyle/>
          <a:p>
            <a:pPr indent="0" marL="0">
              <a:buNone/>
            </a:pPr>
            <a:r>
              <a:rPr lang="en-US" sz="3000" b="1" dirty="0">
                <a:solidFill>
                  <a:srgbClr val="D2A8FF"/>
                </a:solidFill>
                <a:latin typeface="Consolas" pitchFamily="34" charset="0"/>
                <a:ea typeface="Consolas" pitchFamily="34" charset="-122"/>
                <a:cs typeface="Consolas" pitchFamily="34" charset="-120"/>
              </a:rPr>
              <a:t>Scrum Master  +  agile cadence</a:t>
            </a:r>
            <a:endParaRPr lang="en-US" sz="3000" dirty="0"/>
          </a:p>
        </p:txBody>
      </p:sp>
      <p:sp>
        <p:nvSpPr>
          <p:cNvPr id="8" name="Text 6"/>
          <p:cNvSpPr/>
          <p:nvPr/>
        </p:nvSpPr>
        <p:spPr>
          <a:xfrm>
            <a:off x="1554480" y="2971800"/>
            <a:ext cx="9144000" cy="685800"/>
          </a:xfrm>
          <a:prstGeom prst="rect">
            <a:avLst/>
          </a:prstGeom>
          <a:noFill/>
          <a:ln/>
        </p:spPr>
        <p:txBody>
          <a:bodyPr wrap="square" lIns="0" tIns="0" rIns="0" bIns="0" rtlCol="0" anchor="t"/>
          <a:lstStyle/>
          <a:p>
            <a:pPr indent="0" marL="0">
              <a:buNone/>
            </a:pPr>
            <a:r>
              <a:rPr lang="en-US" sz="1300" i="1" dirty="0">
                <a:solidFill>
                  <a:srgbClr val="E6EDF3"/>
                </a:solidFill>
                <a:latin typeface="Calibri" pitchFamily="34" charset="0"/>
                <a:ea typeface="Calibri" pitchFamily="34" charset="-122"/>
                <a:cs typeface="Calibri" pitchFamily="34" charset="-120"/>
              </a:rPr>
              <a:t>v10.12 (planned) — vai trò facilitator để team có retrospective, theo dõi impediment, và đo health của project</a:t>
            </a:r>
            <a:endParaRPr lang="en-US" sz="1300" dirty="0"/>
          </a:p>
        </p:txBody>
      </p:sp>
      <p:sp>
        <p:nvSpPr>
          <p:cNvPr id="9" name="Shape 7"/>
          <p:cNvSpPr/>
          <p:nvPr/>
        </p:nvSpPr>
        <p:spPr>
          <a:xfrm>
            <a:off x="365760" y="3977640"/>
            <a:ext cx="3749040" cy="2103120"/>
          </a:xfrm>
          <a:prstGeom prst="rect">
            <a:avLst/>
          </a:prstGeom>
          <a:solidFill>
            <a:srgbClr val="1C2128"/>
          </a:solidFill>
          <a:ln w="12700">
            <a:solidFill>
              <a:srgbClr val="30363D"/>
            </a:solidFill>
            <a:prstDash val="solid"/>
          </a:ln>
        </p:spPr>
      </p:sp>
      <p:sp>
        <p:nvSpPr>
          <p:cNvPr id="10" name="Text 8"/>
          <p:cNvSpPr/>
          <p:nvPr/>
        </p:nvSpPr>
        <p:spPr>
          <a:xfrm>
            <a:off x="54864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Retrospective</a:t>
            </a:r>
            <a:endParaRPr lang="en-US" sz="1600" dirty="0"/>
          </a:p>
        </p:txBody>
      </p:sp>
      <p:sp>
        <p:nvSpPr>
          <p:cNvPr id="11" name="Text 9"/>
          <p:cNvSpPr/>
          <p:nvPr/>
        </p:nvSpPr>
        <p:spPr>
          <a:xfrm>
            <a:off x="54864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Sau mỗi phase, tổng hợp 'what went well / didn't / improve' vào docs/process/RETRO.md</a:t>
            </a:r>
            <a:endParaRPr lang="en-US" sz="1200" dirty="0"/>
          </a:p>
        </p:txBody>
      </p:sp>
      <p:sp>
        <p:nvSpPr>
          <p:cNvPr id="12" name="Shape 10"/>
          <p:cNvSpPr/>
          <p:nvPr/>
        </p:nvSpPr>
        <p:spPr>
          <a:xfrm>
            <a:off x="4297680" y="3977640"/>
            <a:ext cx="3749040" cy="2103120"/>
          </a:xfrm>
          <a:prstGeom prst="rect">
            <a:avLst/>
          </a:prstGeom>
          <a:solidFill>
            <a:srgbClr val="1C2128"/>
          </a:solidFill>
          <a:ln w="12700">
            <a:solidFill>
              <a:srgbClr val="30363D"/>
            </a:solidFill>
            <a:prstDash val="solid"/>
          </a:ln>
        </p:spPr>
      </p:sp>
      <p:sp>
        <p:nvSpPr>
          <p:cNvPr id="13" name="Text 11"/>
          <p:cNvSpPr/>
          <p:nvPr/>
        </p:nvSpPr>
        <p:spPr>
          <a:xfrm>
            <a:off x="448056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Impediment log</a:t>
            </a:r>
            <a:endParaRPr lang="en-US" sz="1600" dirty="0"/>
          </a:p>
        </p:txBody>
      </p:sp>
      <p:sp>
        <p:nvSpPr>
          <p:cNvPr id="14" name="Text 12"/>
          <p:cNvSpPr/>
          <p:nvPr/>
        </p:nvSpPr>
        <p:spPr>
          <a:xfrm>
            <a:off x="448056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Track Q pending lâu, bug lặp, role hay block → escalate cho Orchestrator</a:t>
            </a:r>
            <a:endParaRPr lang="en-US" sz="1200" dirty="0"/>
          </a:p>
        </p:txBody>
      </p:sp>
      <p:sp>
        <p:nvSpPr>
          <p:cNvPr id="15" name="Shape 13"/>
          <p:cNvSpPr/>
          <p:nvPr/>
        </p:nvSpPr>
        <p:spPr>
          <a:xfrm>
            <a:off x="8229600" y="3977640"/>
            <a:ext cx="3749040" cy="2103120"/>
          </a:xfrm>
          <a:prstGeom prst="rect">
            <a:avLst/>
          </a:prstGeom>
          <a:solidFill>
            <a:srgbClr val="1C2128"/>
          </a:solidFill>
          <a:ln w="12700">
            <a:solidFill>
              <a:srgbClr val="30363D"/>
            </a:solidFill>
            <a:prstDash val="solid"/>
          </a:ln>
        </p:spPr>
      </p:sp>
      <p:sp>
        <p:nvSpPr>
          <p:cNvPr id="16" name="Text 14"/>
          <p:cNvSpPr/>
          <p:nvPr/>
        </p:nvSpPr>
        <p:spPr>
          <a:xfrm>
            <a:off x="841248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Health metrics</a:t>
            </a:r>
            <a:endParaRPr lang="en-US" sz="1600" dirty="0"/>
          </a:p>
        </p:txBody>
      </p:sp>
      <p:sp>
        <p:nvSpPr>
          <p:cNvPr id="17" name="Text 15"/>
          <p:cNvSpPr/>
          <p:nvPr/>
        </p:nvSpPr>
        <p:spPr>
          <a:xfrm>
            <a:off x="841248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Turn / phase, Q / role, rework ratio, time-to-PASS — visibility cho user</a:t>
            </a:r>
            <a:endParaRPr lang="en-US" sz="1200" dirty="0"/>
          </a:p>
        </p:txBody>
      </p:sp>
      <p:sp>
        <p:nvSpPr>
          <p:cNvPr id="18" name="Text 16"/>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alibri" pitchFamily="34" charset="0"/>
                <a:ea typeface="Calibri" pitchFamily="34" charset="-122"/>
                <a:cs typeface="Calibri" pitchFamily="34" charset="-120"/>
              </a:rPr>
              <a:t>Đang cân nhắc: SM là 1 pane riêng (pane 10) hay merge vào Orchestrator. Quyết định sau khi thử nghiệm.</a:t>
            </a:r>
            <a:endParaRPr lang="en-US" sz="1100" dirty="0"/>
          </a:p>
        </p:txBody>
      </p:sp>
      <p:sp>
        <p:nvSpPr>
          <p:cNvPr id="19" name="Text 17"/>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28 / 29</a:t>
            </a:r>
            <a:endParaRPr lang="en-US" sz="900" dirty="0"/>
          </a:p>
        </p:txBody>
      </p:sp>
      <p:sp>
        <p:nvSpPr>
          <p:cNvPr id="20" name="Text 18"/>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1" name="Text 19"/>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64008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git clone </a:t>
            </a:r>
            <a:pPr indent="0" marL="0">
              <a:buNone/>
            </a:pPr>
            <a:r>
              <a:rPr lang="en-US" sz="1700" dirty="0">
                <a:solidFill>
                  <a:srgbClr val="79C0FF"/>
                </a:solidFill>
                <a:latin typeface="Consolas" pitchFamily="34" charset="0"/>
                <a:ea typeface="Consolas" pitchFamily="34" charset="-122"/>
                <a:cs typeface="Consolas" pitchFamily="34" charset="-120"/>
              </a:rPr>
              <a:t>github.com/minhtuan-labs/learning-vault</a:t>
            </a:r>
            <a:endParaRPr lang="en-US" sz="1700" dirty="0"/>
          </a:p>
        </p:txBody>
      </p:sp>
      <p:sp>
        <p:nvSpPr>
          <p:cNvPr id="3" name="Text 1"/>
          <p:cNvSpPr/>
          <p:nvPr/>
        </p:nvSpPr>
        <p:spPr>
          <a:xfrm>
            <a:off x="548640" y="114300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cd learning-vault/frameworks/product-engineering-template</a:t>
            </a:r>
            <a:endParaRPr lang="en-US" sz="1700" dirty="0"/>
          </a:p>
        </p:txBody>
      </p:sp>
      <p:sp>
        <p:nvSpPr>
          <p:cNvPr id="4" name="Text 2"/>
          <p:cNvSpPr/>
          <p:nvPr/>
        </p:nvSpPr>
        <p:spPr>
          <a:xfrm>
            <a:off x="548640" y="164592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bash scripts/start_agents_tmux.sh </a:t>
            </a:r>
            <a:pPr indent="0" marL="0">
              <a:buNone/>
            </a:pPr>
            <a:r>
              <a:rPr lang="en-US" sz="1700" dirty="0">
                <a:solidFill>
                  <a:srgbClr val="79C0FF"/>
                </a:solidFill>
                <a:latin typeface="Consolas" pitchFamily="34" charset="0"/>
                <a:ea typeface="Consolas" pitchFamily="34" charset="-122"/>
                <a:cs typeface="Consolas" pitchFamily="34" charset="-120"/>
              </a:rPr>
              <a:t>my-project</a:t>
            </a:r>
            <a:endParaRPr lang="en-US" sz="1700" dirty="0"/>
          </a:p>
        </p:txBody>
      </p:sp>
      <p:sp>
        <p:nvSpPr>
          <p:cNvPr id="5" name="Text 3"/>
          <p:cNvSpPr/>
          <p:nvPr/>
        </p:nvSpPr>
        <p:spPr>
          <a:xfrm>
            <a:off x="548640" y="214884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8B949E"/>
                </a:solidFill>
                <a:latin typeface="Consolas" pitchFamily="34" charset="0"/>
                <a:ea typeface="Consolas" pitchFamily="34" charset="-122"/>
                <a:cs typeface="Consolas" pitchFamily="34" charset="-120"/>
              </a:rPr>
              <a:t># nói với pane 1: "bắt đầu dự án X"</a:t>
            </a:r>
            <a:endParaRPr lang="en-US" sz="1700" dirty="0"/>
          </a:p>
        </p:txBody>
      </p:sp>
      <p:sp>
        <p:nvSpPr>
          <p:cNvPr id="6" name="Shape 4"/>
          <p:cNvSpPr/>
          <p:nvPr/>
        </p:nvSpPr>
        <p:spPr>
          <a:xfrm>
            <a:off x="0" y="3108960"/>
            <a:ext cx="12161520" cy="36576"/>
          </a:xfrm>
          <a:prstGeom prst="rect">
            <a:avLst/>
          </a:prstGeom>
          <a:solidFill>
            <a:srgbClr val="7CE38B"/>
          </a:solidFill>
          <a:ln w="12700">
            <a:solidFill>
              <a:srgbClr val="7CE38B"/>
            </a:solidFill>
            <a:prstDash val="solid"/>
          </a:ln>
        </p:spPr>
      </p:sp>
      <p:sp>
        <p:nvSpPr>
          <p:cNvPr id="7" name="Text 5"/>
          <p:cNvSpPr/>
          <p:nvPr/>
        </p:nvSpPr>
        <p:spPr>
          <a:xfrm>
            <a:off x="548640" y="3474720"/>
            <a:ext cx="10972800" cy="640080"/>
          </a:xfrm>
          <a:prstGeom prst="rect">
            <a:avLst/>
          </a:prstGeom>
          <a:noFill/>
          <a:ln/>
        </p:spPr>
        <p:txBody>
          <a:bodyPr wrap="square" lIns="0" tIns="0" rIns="0" bIns="0" rtlCol="0" anchor="ctr"/>
          <a:lstStyle/>
          <a:p>
            <a:pPr indent="0" marL="0">
              <a:buNone/>
            </a:pPr>
            <a:r>
              <a:rPr lang="en-US" sz="4200" b="1" dirty="0">
                <a:solidFill>
                  <a:srgbClr val="E6EDF3"/>
                </a:solidFill>
                <a:latin typeface="Consolas" pitchFamily="34" charset="0"/>
                <a:ea typeface="Consolas" pitchFamily="34" charset="-122"/>
                <a:cs typeface="Consolas" pitchFamily="34" charset="-120"/>
              </a:rPr>
              <a:t>Cảm ơn đã đọc tới đây.</a:t>
            </a:r>
            <a:endParaRPr lang="en-US" sz="4200" dirty="0"/>
          </a:p>
        </p:txBody>
      </p:sp>
      <p:sp>
        <p:nvSpPr>
          <p:cNvPr id="8" name="Text 6"/>
          <p:cNvSpPr/>
          <p:nvPr/>
        </p:nvSpPr>
        <p:spPr>
          <a:xfrm>
            <a:off x="548640" y="4297680"/>
            <a:ext cx="10972800" cy="1097280"/>
          </a:xfrm>
          <a:prstGeom prst="rect">
            <a:avLst/>
          </a:prstGeom>
          <a:noFill/>
          <a:ln/>
        </p:spPr>
        <p:txBody>
          <a:bodyPr wrap="square" lIns="0" tIns="0" rIns="0" bIns="0" rtlCol="0" anchor="ctr"/>
          <a:lstStyle/>
          <a:p>
            <a:pPr indent="0" marL="0">
              <a:buNone/>
            </a:pPr>
            <a:r>
              <a:rPr lang="en-US" sz="1600" i="1" dirty="0">
                <a:solidFill>
                  <a:srgbClr val="8B949E"/>
                </a:solidFill>
                <a:latin typeface="Calibri" pitchFamily="34" charset="0"/>
                <a:ea typeface="Calibri" pitchFamily="34" charset="-122"/>
                <a:cs typeface="Calibri" pitchFamily="34" charset="-120"/>
              </a:rPr>
              <a:t>Framework này là một dự án nhỏ — phản hồi, issue, PR đều rất welcome.</a:t>
            </a:r>
            <a:endParaRPr lang="en-US" sz="1600" dirty="0"/>
          </a:p>
          <a:p>
            <a:pPr indent="0" marL="0">
              <a:buNone/>
            </a:pPr>
            <a:r>
              <a:rPr lang="en-US" sz="1600" i="1" dirty="0">
                <a:solidFill>
                  <a:srgbClr val="8B949E"/>
                </a:solidFill>
                <a:latin typeface="Calibri" pitchFamily="34" charset="0"/>
                <a:ea typeface="Calibri" pitchFamily="34" charset="-122"/>
                <a:cs typeface="Calibri" pitchFamily="34" charset="-120"/>
              </a:rPr>
              <a:t>Đặc biệt nếu bạn thử với fork OpenCode khác hoặc model provider khác và gặp gì lạ.</a:t>
            </a:r>
            <a:endParaRPr lang="en-US" sz="1600" dirty="0"/>
          </a:p>
        </p:txBody>
      </p:sp>
      <p:sp>
        <p:nvSpPr>
          <p:cNvPr id="9" name="Shape 7"/>
          <p:cNvSpPr/>
          <p:nvPr/>
        </p:nvSpPr>
        <p:spPr>
          <a:xfrm>
            <a:off x="548640" y="5943600"/>
            <a:ext cx="2286000" cy="292608"/>
          </a:xfrm>
          <a:prstGeom prst="roundRect">
            <a:avLst>
              <a:gd name="adj" fmla="val 18750"/>
            </a:avLst>
          </a:prstGeom>
          <a:solidFill>
            <a:srgbClr val="2EA043"/>
          </a:solidFill>
          <a:ln w="12700">
            <a:solidFill>
              <a:srgbClr val="2EA043"/>
            </a:solidFill>
            <a:prstDash val="solid"/>
          </a:ln>
        </p:spPr>
      </p:sp>
      <p:sp>
        <p:nvSpPr>
          <p:cNvPr id="10" name="Text 8"/>
          <p:cNvSpPr/>
          <p:nvPr/>
        </p:nvSpPr>
        <p:spPr>
          <a:xfrm>
            <a:off x="54864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MIT License</a:t>
            </a:r>
            <a:endParaRPr lang="en-US" sz="1100" dirty="0"/>
          </a:p>
        </p:txBody>
      </p:sp>
      <p:sp>
        <p:nvSpPr>
          <p:cNvPr id="11" name="Shape 9"/>
          <p:cNvSpPr/>
          <p:nvPr/>
        </p:nvSpPr>
        <p:spPr>
          <a:xfrm>
            <a:off x="2971800" y="5943600"/>
            <a:ext cx="2286000" cy="292608"/>
          </a:xfrm>
          <a:prstGeom prst="roundRect">
            <a:avLst>
              <a:gd name="adj" fmla="val 18750"/>
            </a:avLst>
          </a:prstGeom>
          <a:solidFill>
            <a:srgbClr val="7CE38B"/>
          </a:solidFill>
          <a:ln w="12700">
            <a:solidFill>
              <a:srgbClr val="7CE38B"/>
            </a:solidFill>
            <a:prstDash val="solid"/>
          </a:ln>
        </p:spPr>
      </p:sp>
      <p:sp>
        <p:nvSpPr>
          <p:cNvPr id="12" name="Text 10"/>
          <p:cNvSpPr/>
          <p:nvPr/>
        </p:nvSpPr>
        <p:spPr>
          <a:xfrm>
            <a:off x="297180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v10.11</a:t>
            </a:r>
            <a:endParaRPr lang="en-US" sz="1100" dirty="0"/>
          </a:p>
        </p:txBody>
      </p:sp>
      <p:sp>
        <p:nvSpPr>
          <p:cNvPr id="13" name="Shape 11"/>
          <p:cNvSpPr/>
          <p:nvPr/>
        </p:nvSpPr>
        <p:spPr>
          <a:xfrm>
            <a:off x="5394960" y="5943600"/>
            <a:ext cx="2286000" cy="292608"/>
          </a:xfrm>
          <a:prstGeom prst="roundRect">
            <a:avLst>
              <a:gd name="adj" fmla="val 18750"/>
            </a:avLst>
          </a:prstGeom>
          <a:solidFill>
            <a:srgbClr val="79C0FF"/>
          </a:solidFill>
          <a:ln w="12700">
            <a:solidFill>
              <a:srgbClr val="79C0FF"/>
            </a:solidFill>
            <a:prstDash val="solid"/>
          </a:ln>
        </p:spPr>
      </p:sp>
      <p:sp>
        <p:nvSpPr>
          <p:cNvPr id="14" name="Text 12"/>
          <p:cNvSpPr/>
          <p:nvPr/>
        </p:nvSpPr>
        <p:spPr>
          <a:xfrm>
            <a:off x="539496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tmux + opencode-go</a:t>
            </a:r>
            <a:endParaRPr lang="en-US" sz="1100" dirty="0"/>
          </a:p>
        </p:txBody>
      </p:sp>
      <p:sp>
        <p:nvSpPr>
          <p:cNvPr id="15" name="Shape 13"/>
          <p:cNvSpPr/>
          <p:nvPr/>
        </p:nvSpPr>
        <p:spPr>
          <a:xfrm>
            <a:off x="7818120" y="5943600"/>
            <a:ext cx="2286000" cy="292608"/>
          </a:xfrm>
          <a:prstGeom prst="roundRect">
            <a:avLst>
              <a:gd name="adj" fmla="val 18750"/>
            </a:avLst>
          </a:prstGeom>
          <a:solidFill>
            <a:srgbClr val="D2A8FF"/>
          </a:solidFill>
          <a:ln w="12700">
            <a:solidFill>
              <a:srgbClr val="D2A8FF"/>
            </a:solidFill>
            <a:prstDash val="solid"/>
          </a:ln>
        </p:spPr>
      </p:sp>
      <p:sp>
        <p:nvSpPr>
          <p:cNvPr id="16" name="Text 14"/>
          <p:cNvSpPr/>
          <p:nvPr/>
        </p:nvSpPr>
        <p:spPr>
          <a:xfrm>
            <a:off x="781812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Tuan M. Pham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Engineering Agent Framework — Onboarding</dc:title>
  <dc:subject>Multi-agent product engineering on tmux with OpenCode</dc:subject>
  <dc:creator>Tuan M. Pham</dc:creator>
  <cp:lastModifiedBy>Tuan M. Pham</cp:lastModifiedBy>
  <cp:revision>1</cp:revision>
  <dcterms:created xsi:type="dcterms:W3CDTF">2026-05-15T05:48:19Z</dcterms:created>
  <dcterms:modified xsi:type="dcterms:W3CDTF">2026-05-15T05:48:19Z</dcterms:modified>
</cp:coreProperties>
</file>