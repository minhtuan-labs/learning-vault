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notesMasterIdLst>
    <p:notesMasterId r:id="rId3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notesMaster" Target="notesMasters/notesMaster1.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0" y="2194560"/>
            <a:ext cx="12161520" cy="45720"/>
          </a:xfrm>
          <a:prstGeom prst="rect">
            <a:avLst/>
          </a:prstGeom>
          <a:solidFill>
            <a:srgbClr val="7CE38B"/>
          </a:solidFill>
          <a:ln w="12700">
            <a:solidFill>
              <a:srgbClr val="7CE38B"/>
            </a:solidFill>
            <a:prstDash val="solid"/>
          </a:ln>
        </p:spPr>
      </p:sp>
      <p:sp>
        <p:nvSpPr>
          <p:cNvPr id="3" name="Text 1"/>
          <p:cNvSpPr/>
          <p:nvPr/>
        </p:nvSpPr>
        <p:spPr>
          <a:xfrm>
            <a:off x="548640" y="914400"/>
            <a:ext cx="10972800" cy="548640"/>
          </a:xfrm>
          <a:prstGeom prst="rect">
            <a:avLst/>
          </a:prstGeom>
          <a:noFill/>
          <a:ln/>
        </p:spPr>
        <p:txBody>
          <a:bodyPr wrap="square" lIns="0" tIns="0" rIns="0" bIns="0" rtlCol="0" anchor="ctr"/>
          <a:lstStyle/>
          <a:p>
            <a:pPr indent="0" marL="0">
              <a:buNone/>
            </a:pPr>
            <a:r>
              <a:rPr lang="en-US" sz="2200" b="1" dirty="0">
                <a:solidFill>
                  <a:srgbClr val="7CE38B"/>
                </a:solidFill>
                <a:latin typeface="Consolas" pitchFamily="34" charset="0"/>
                <a:ea typeface="Consolas" pitchFamily="34" charset="-122"/>
                <a:cs typeface="Consolas" pitchFamily="34" charset="-120"/>
              </a:rPr>
              <a:t>$ </a:t>
            </a:r>
            <a:pPr indent="0" marL="0">
              <a:buNone/>
            </a:pPr>
            <a:r>
              <a:rPr lang="en-US" sz="2200" b="1" dirty="0">
                <a:solidFill>
                  <a:srgbClr val="E6EDF3"/>
                </a:solidFill>
                <a:latin typeface="Consolas" pitchFamily="34" charset="0"/>
                <a:ea typeface="Consolas" pitchFamily="34" charset="-122"/>
                <a:cs typeface="Consolas" pitchFamily="34" charset="-120"/>
              </a:rPr>
              <a:t>product-engineering-template</a:t>
            </a:r>
            <a:pPr indent="0" marL="0">
              <a:buNone/>
            </a:pPr>
            <a:r>
              <a:rPr lang="en-US" sz="2200" dirty="0">
                <a:solidFill>
                  <a:srgbClr val="79C0FF"/>
                </a:solidFill>
                <a:latin typeface="Consolas" pitchFamily="34" charset="0"/>
                <a:ea typeface="Consolas" pitchFamily="34" charset="-122"/>
                <a:cs typeface="Consolas" pitchFamily="34" charset="-120"/>
              </a:rPr>
              <a:t> --start</a:t>
            </a:r>
            <a:endParaRPr lang="en-US" sz="2200" dirty="0"/>
          </a:p>
        </p:txBody>
      </p:sp>
      <p:sp>
        <p:nvSpPr>
          <p:cNvPr id="4" name="Text 2"/>
          <p:cNvSpPr/>
          <p:nvPr/>
        </p:nvSpPr>
        <p:spPr>
          <a:xfrm>
            <a:off x="548640" y="2560320"/>
            <a:ext cx="10972800" cy="1828800"/>
          </a:xfrm>
          <a:prstGeom prst="rect">
            <a:avLst/>
          </a:prstGeom>
          <a:noFill/>
          <a:ln/>
        </p:spPr>
        <p:txBody>
          <a:bodyPr wrap="square" lIns="0" tIns="0" rIns="0" bIns="0" rtlCol="0" anchor="ctr"/>
          <a:lstStyle/>
          <a:p>
            <a:pPr indent="0" marL="0">
              <a:lnSpc>
                <a:spcPct val="95000"/>
              </a:lnSpc>
              <a:buNone/>
            </a:pPr>
            <a:r>
              <a:rPr lang="en-US" sz="6000" b="1" spc="200" kern="0" dirty="0">
                <a:solidFill>
                  <a:srgbClr val="E6EDF3"/>
                </a:solidFill>
                <a:latin typeface="Consolas" pitchFamily="34" charset="0"/>
                <a:ea typeface="Consolas" pitchFamily="34" charset="-122"/>
                <a:cs typeface="Consolas" pitchFamily="34" charset="-120"/>
              </a:rPr>
              <a:t>PRODUCT ENGINEERING</a:t>
            </a:r>
            <a:endParaRPr lang="en-US" sz="6000" dirty="0"/>
          </a:p>
          <a:p>
            <a:pPr indent="0" marL="0">
              <a:lnSpc>
                <a:spcPct val="95000"/>
              </a:lnSpc>
              <a:buNone/>
            </a:pPr>
            <a:r>
              <a:rPr lang="en-US" sz="6000" b="1" spc="200" kern="0" dirty="0">
                <a:solidFill>
                  <a:srgbClr val="E6EDF3"/>
                </a:solidFill>
                <a:latin typeface="Consolas" pitchFamily="34" charset="0"/>
                <a:ea typeface="Consolas" pitchFamily="34" charset="-122"/>
                <a:cs typeface="Consolas" pitchFamily="34" charset="-120"/>
              </a:rPr>
              <a:t>AGENT FRAMEWORK</a:t>
            </a:r>
            <a:endParaRPr lang="en-US" sz="6000" dirty="0"/>
          </a:p>
        </p:txBody>
      </p:sp>
      <p:sp>
        <p:nvSpPr>
          <p:cNvPr id="5" name="Text 3"/>
          <p:cNvSpPr/>
          <p:nvPr/>
        </p:nvSpPr>
        <p:spPr>
          <a:xfrm>
            <a:off x="548640" y="4572000"/>
            <a:ext cx="10972800" cy="1005840"/>
          </a:xfrm>
          <a:prstGeom prst="rect">
            <a:avLst/>
          </a:prstGeom>
          <a:noFill/>
          <a:ln/>
        </p:spPr>
        <p:txBody>
          <a:bodyPr wrap="square" lIns="0" tIns="0" rIns="0" bIns="0" rtlCol="0" anchor="ctr"/>
          <a:lstStyle/>
          <a:p>
            <a:pPr indent="0" marL="0">
              <a:buNone/>
            </a:pPr>
            <a:r>
              <a:rPr lang="en-US" sz="1600" i="1" dirty="0">
                <a:solidFill>
                  <a:srgbClr val="8B949E"/>
                </a:solidFill>
                <a:latin typeface="Calibri" pitchFamily="34" charset="0"/>
                <a:ea typeface="Calibri" pitchFamily="34" charset="-122"/>
                <a:cs typeface="Calibri" pitchFamily="34" charset="-120"/>
              </a:rPr>
              <a:t>Một đội kỹ sư sản phẩm AI trên tmux — 9 vai trò, 9 pane, 9 model.</a:t>
            </a:r>
            <a:endParaRPr lang="en-US" sz="1600" dirty="0"/>
          </a:p>
          <a:p>
            <a:pPr indent="0" marL="0">
              <a:buNone/>
            </a:pPr>
            <a:r>
              <a:rPr lang="en-US" sz="1600" i="1" dirty="0">
                <a:solidFill>
                  <a:srgbClr val="8B949E"/>
                </a:solidFill>
                <a:latin typeface="Calibri" pitchFamily="34" charset="0"/>
                <a:ea typeface="Calibri" pitchFamily="34" charset="-122"/>
                <a:cs typeface="Calibri" pitchFamily="34" charset="-120"/>
              </a:rPr>
              <a:t>Học theo nguyên lý BMAD. Talk với Orchestrator, để cả đội cùng làm việc.</a:t>
            </a:r>
            <a:endParaRPr lang="en-US" sz="1600" dirty="0"/>
          </a:p>
        </p:txBody>
      </p:sp>
      <p:sp>
        <p:nvSpPr>
          <p:cNvPr id="6" name="Text 4"/>
          <p:cNvSpPr/>
          <p:nvPr/>
        </p:nvSpPr>
        <p:spPr>
          <a:xfrm>
            <a:off x="548640" y="6035040"/>
            <a:ext cx="10972800" cy="320040"/>
          </a:xfrm>
          <a:prstGeom prst="rect">
            <a:avLst/>
          </a:prstGeom>
          <a:noFill/>
          <a:ln/>
        </p:spPr>
        <p:txBody>
          <a:bodyPr wrap="square" lIns="0" tIns="0" rIns="0" bIns="0" rtlCol="0" anchor="ctr"/>
          <a:lstStyle/>
          <a:p>
            <a:pPr indent="0" marL="0">
              <a:buNone/>
            </a:pPr>
            <a:r>
              <a:rPr lang="en-US" sz="1200" dirty="0">
                <a:solidFill>
                  <a:srgbClr val="7CE38B"/>
                </a:solidFill>
                <a:latin typeface="Consolas" pitchFamily="34" charset="0"/>
                <a:ea typeface="Consolas" pitchFamily="34" charset="-122"/>
                <a:cs typeface="Consolas" pitchFamily="34" charset="-120"/>
              </a:rPr>
              <a:t>v10.12</a:t>
            </a:r>
            <a:pPr indent="0" marL="0">
              <a:buNone/>
            </a:pPr>
            <a:r>
              <a:rPr lang="en-US" sz="1200" dirty="0">
                <a:solidFill>
                  <a:srgbClr val="8B949E"/>
                </a:solidFill>
                <a:latin typeface="Consolas" pitchFamily="34" charset="0"/>
                <a:ea typeface="Consolas" pitchFamily="34" charset="-122"/>
                <a:cs typeface="Consolas" pitchFamily="34" charset="-120"/>
              </a:rPr>
              <a:t>  •  </a:t>
            </a:r>
            <a:pPr indent="0" marL="0">
              <a:buNone/>
            </a:pPr>
            <a:r>
              <a:rPr lang="en-US" sz="1200" dirty="0">
                <a:solidFill>
                  <a:srgbClr val="E6EDF3"/>
                </a:solidFill>
                <a:latin typeface="Consolas" pitchFamily="34" charset="0"/>
                <a:ea typeface="Consolas" pitchFamily="34" charset="-122"/>
                <a:cs typeface="Consolas" pitchFamily="34" charset="-120"/>
              </a:rPr>
              <a:t>Onboarding deck</a:t>
            </a:r>
            <a:pPr indent="0" marL="0">
              <a:buNone/>
            </a:pPr>
            <a:r>
              <a:rPr lang="en-US" sz="1200" dirty="0">
                <a:solidFill>
                  <a:srgbClr val="8B949E"/>
                </a:solidFill>
                <a:latin typeface="Consolas" pitchFamily="34" charset="0"/>
                <a:ea typeface="Consolas" pitchFamily="34" charset="-122"/>
                <a:cs typeface="Consolas" pitchFamily="34" charset="-120"/>
              </a:rPr>
              <a:t>  •  </a:t>
            </a:r>
            <a:pPr indent="0" marL="0">
              <a:buNone/>
            </a:pPr>
            <a:r>
              <a:rPr lang="en-US" sz="1200" dirty="0">
                <a:solidFill>
                  <a:srgbClr val="79C0FF"/>
                </a:solidFill>
                <a:latin typeface="Consolas" pitchFamily="34" charset="0"/>
                <a:ea typeface="Consolas" pitchFamily="34" charset="-122"/>
                <a:cs typeface="Consolas" pitchFamily="34" charset="-120"/>
              </a:rPr>
              <a:t>Tuan M. Pham</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365760" y="228600"/>
            <a:ext cx="8229600" cy="274320"/>
          </a:xfrm>
          <a:prstGeom prst="rect">
            <a:avLst/>
          </a:prstGeom>
          <a:noFill/>
          <a:ln/>
        </p:spPr>
        <p:txBody>
          <a:bodyPr wrap="square" lIns="0" tIns="0" rIns="0" bIns="0" rtlCol="0" anchor="ctr"/>
          <a:lstStyle/>
          <a:p>
            <a:pPr indent="0" marL="0">
              <a:buNone/>
            </a:pPr>
            <a:r>
              <a:rPr lang="en-US" sz="1100" dirty="0">
                <a:solidFill>
                  <a:srgbClr val="2EA043"/>
                </a:solidFill>
                <a:latin typeface="Consolas" pitchFamily="34" charset="0"/>
                <a:ea typeface="Consolas" pitchFamily="34" charset="-122"/>
                <a:cs typeface="Consolas" pitchFamily="34" charset="-120"/>
              </a:rPr>
              <a:t>$ </a:t>
            </a:r>
            <a:pPr indent="0" marL="0">
              <a:buNone/>
            </a:pPr>
            <a:r>
              <a:rPr lang="en-US" sz="1100" dirty="0">
                <a:solidFill>
                  <a:srgbClr val="8B949E"/>
                </a:solidFill>
                <a:latin typeface="Consolas" pitchFamily="34" charset="0"/>
                <a:ea typeface="Consolas" pitchFamily="34" charset="-122"/>
                <a:cs typeface="Consolas" pitchFamily="34" charset="-120"/>
              </a:rPr>
              <a:t>01_motivation.md</a:t>
            </a:r>
            <a:endParaRPr lang="en-US" sz="1100" dirty="0"/>
          </a:p>
        </p:txBody>
      </p:sp>
      <p:sp>
        <p:nvSpPr>
          <p:cNvPr id="3" name="Text 1"/>
          <p:cNvSpPr/>
          <p:nvPr/>
        </p:nvSpPr>
        <p:spPr>
          <a:xfrm>
            <a:off x="365760" y="548640"/>
            <a:ext cx="11430000" cy="640080"/>
          </a:xfrm>
          <a:prstGeom prst="rect">
            <a:avLst/>
          </a:prstGeom>
          <a:noFill/>
          <a:ln/>
        </p:spPr>
        <p:txBody>
          <a:bodyPr wrap="square" lIns="0" tIns="0" rIns="0" bIns="0" rtlCol="0" anchor="ctr"/>
          <a:lstStyle/>
          <a:p>
            <a:pPr indent="0" marL="0">
              <a:buNone/>
            </a:pPr>
            <a:r>
              <a:rPr lang="en-US" sz="3000" b="1" dirty="0">
                <a:solidFill>
                  <a:srgbClr val="E6EDF3"/>
                </a:solidFill>
                <a:latin typeface="Consolas" pitchFamily="34" charset="0"/>
                <a:ea typeface="Consolas" pitchFamily="34" charset="-122"/>
                <a:cs typeface="Consolas" pitchFamily="34" charset="-120"/>
              </a:rPr>
              <a:t>Tại sao multi-agent?</a:t>
            </a:r>
            <a:endParaRPr lang="en-US" sz="3000" dirty="0"/>
          </a:p>
        </p:txBody>
      </p:sp>
      <p:sp>
        <p:nvSpPr>
          <p:cNvPr id="4" name="Text 2"/>
          <p:cNvSpPr/>
          <p:nvPr/>
        </p:nvSpPr>
        <p:spPr>
          <a:xfrm>
            <a:off x="365760" y="1143000"/>
            <a:ext cx="11430000" cy="365760"/>
          </a:xfrm>
          <a:prstGeom prst="rect">
            <a:avLst/>
          </a:prstGeom>
          <a:noFill/>
          <a:ln/>
        </p:spPr>
        <p:txBody>
          <a:bodyPr wrap="square" lIns="0" tIns="0" rIns="0" bIns="0" rtlCol="0" anchor="ctr"/>
          <a:lstStyle/>
          <a:p>
            <a:pPr indent="0" marL="0">
              <a:buNone/>
            </a:pPr>
            <a:r>
              <a:rPr lang="en-US" sz="1400" i="1" dirty="0">
                <a:solidFill>
                  <a:srgbClr val="8B949E"/>
                </a:solidFill>
                <a:latin typeface="Calibri" pitchFamily="34" charset="0"/>
                <a:ea typeface="Calibri" pitchFamily="34" charset="-122"/>
                <a:cs typeface="Calibri" pitchFamily="34" charset="-120"/>
              </a:rPr>
              <a:t>Ba vấn đề mà single-model agent thường gặp phải</a:t>
            </a:r>
            <a:endParaRPr lang="en-US" sz="1400" dirty="0"/>
          </a:p>
        </p:txBody>
      </p:sp>
      <p:sp>
        <p:nvSpPr>
          <p:cNvPr id="5" name="Shape 3"/>
          <p:cNvSpPr/>
          <p:nvPr/>
        </p:nvSpPr>
        <p:spPr>
          <a:xfrm>
            <a:off x="365760" y="1828800"/>
            <a:ext cx="3657600" cy="4206240"/>
          </a:xfrm>
          <a:prstGeom prst="rect">
            <a:avLst/>
          </a:prstGeom>
          <a:solidFill>
            <a:srgbClr val="161B22"/>
          </a:solidFill>
          <a:ln w="12700">
            <a:solidFill>
              <a:srgbClr val="30363D"/>
            </a:solidFill>
            <a:prstDash val="solid"/>
          </a:ln>
        </p:spPr>
      </p:sp>
      <p:sp>
        <p:nvSpPr>
          <p:cNvPr id="6" name="Shape 4"/>
          <p:cNvSpPr/>
          <p:nvPr/>
        </p:nvSpPr>
        <p:spPr>
          <a:xfrm>
            <a:off x="365760" y="1828800"/>
            <a:ext cx="73152" cy="4206240"/>
          </a:xfrm>
          <a:prstGeom prst="rect">
            <a:avLst/>
          </a:prstGeom>
          <a:solidFill>
            <a:srgbClr val="F85149"/>
          </a:solidFill>
          <a:ln w="12700">
            <a:solidFill>
              <a:srgbClr val="F85149"/>
            </a:solidFill>
            <a:prstDash val="solid"/>
          </a:ln>
        </p:spPr>
      </p:sp>
      <p:sp>
        <p:nvSpPr>
          <p:cNvPr id="7" name="Text 5"/>
          <p:cNvSpPr/>
          <p:nvPr/>
        </p:nvSpPr>
        <p:spPr>
          <a:xfrm>
            <a:off x="640080" y="2011680"/>
            <a:ext cx="3291840" cy="548640"/>
          </a:xfrm>
          <a:prstGeom prst="rect">
            <a:avLst/>
          </a:prstGeom>
          <a:noFill/>
          <a:ln/>
        </p:spPr>
        <p:txBody>
          <a:bodyPr wrap="square" lIns="0" tIns="0" rIns="0" bIns="0" rtlCol="0" anchor="ctr"/>
          <a:lstStyle/>
          <a:p>
            <a:pPr indent="0" marL="0">
              <a:buNone/>
            </a:pPr>
            <a:r>
              <a:rPr lang="en-US" sz="2200" b="1" dirty="0">
                <a:solidFill>
                  <a:srgbClr val="F85149"/>
                </a:solidFill>
                <a:latin typeface="Consolas" pitchFamily="34" charset="0"/>
                <a:ea typeface="Consolas" pitchFamily="34" charset="-122"/>
                <a:cs typeface="Consolas" pitchFamily="34" charset="-120"/>
              </a:rPr>
              <a:t>ĐẮT 💸</a:t>
            </a:r>
            <a:endParaRPr lang="en-US" sz="2200" dirty="0"/>
          </a:p>
        </p:txBody>
      </p:sp>
      <p:sp>
        <p:nvSpPr>
          <p:cNvPr id="8" name="Text 6"/>
          <p:cNvSpPr/>
          <p:nvPr/>
        </p:nvSpPr>
        <p:spPr>
          <a:xfrm>
            <a:off x="640080" y="2697480"/>
            <a:ext cx="3291840" cy="3200400"/>
          </a:xfrm>
          <a:prstGeom prst="rect">
            <a:avLst/>
          </a:prstGeom>
          <a:noFill/>
          <a:ln/>
        </p:spPr>
        <p:txBody>
          <a:bodyPr wrap="square" lIns="0" tIns="0" rIns="0" bIns="0" rtlCol="0" anchor="t"/>
          <a:lstStyle/>
          <a:p>
            <a:pPr indent="0" marL="0">
              <a:buNone/>
            </a:pPr>
            <a:r>
              <a:rPr lang="en-US" sz="1300" dirty="0">
                <a:solidFill>
                  <a:srgbClr val="E6EDF3"/>
                </a:solidFill>
                <a:latin typeface="Calibri" pitchFamily="34" charset="0"/>
                <a:ea typeface="Calibri" pitchFamily="34" charset="-122"/>
                <a:cs typeface="Calibri" pitchFamily="34" charset="-120"/>
              </a:rPr>
              <a:t>Một model mạnh phải làm cả 9 việc. PM, BA, QA thực ra cần model rẻ; chỉ SA/BE/FE/Orchestrator mới cần model mạnh. Single-agent = trả giá strong-model cho mọi task.</a:t>
            </a:r>
            <a:endParaRPr lang="en-US" sz="1300" dirty="0"/>
          </a:p>
        </p:txBody>
      </p:sp>
      <p:sp>
        <p:nvSpPr>
          <p:cNvPr id="9" name="Shape 7"/>
          <p:cNvSpPr/>
          <p:nvPr/>
        </p:nvSpPr>
        <p:spPr>
          <a:xfrm>
            <a:off x="4297680" y="1828800"/>
            <a:ext cx="3657600" cy="4206240"/>
          </a:xfrm>
          <a:prstGeom prst="rect">
            <a:avLst/>
          </a:prstGeom>
          <a:solidFill>
            <a:srgbClr val="161B22"/>
          </a:solidFill>
          <a:ln w="12700">
            <a:solidFill>
              <a:srgbClr val="30363D"/>
            </a:solidFill>
            <a:prstDash val="solid"/>
          </a:ln>
        </p:spPr>
      </p:sp>
      <p:sp>
        <p:nvSpPr>
          <p:cNvPr id="10" name="Shape 8"/>
          <p:cNvSpPr/>
          <p:nvPr/>
        </p:nvSpPr>
        <p:spPr>
          <a:xfrm>
            <a:off x="4297680" y="1828800"/>
            <a:ext cx="73152" cy="4206240"/>
          </a:xfrm>
          <a:prstGeom prst="rect">
            <a:avLst/>
          </a:prstGeom>
          <a:solidFill>
            <a:srgbClr val="D29922"/>
          </a:solidFill>
          <a:ln w="12700">
            <a:solidFill>
              <a:srgbClr val="D29922"/>
            </a:solidFill>
            <a:prstDash val="solid"/>
          </a:ln>
        </p:spPr>
      </p:sp>
      <p:sp>
        <p:nvSpPr>
          <p:cNvPr id="11" name="Text 9"/>
          <p:cNvSpPr/>
          <p:nvPr/>
        </p:nvSpPr>
        <p:spPr>
          <a:xfrm>
            <a:off x="4572000" y="2011680"/>
            <a:ext cx="3291840" cy="548640"/>
          </a:xfrm>
          <a:prstGeom prst="rect">
            <a:avLst/>
          </a:prstGeom>
          <a:noFill/>
          <a:ln/>
        </p:spPr>
        <p:txBody>
          <a:bodyPr wrap="square" lIns="0" tIns="0" rIns="0" bIns="0" rtlCol="0" anchor="ctr"/>
          <a:lstStyle/>
          <a:p>
            <a:pPr indent="0" marL="0">
              <a:buNone/>
            </a:pPr>
            <a:r>
              <a:rPr lang="en-US" sz="2200" b="1" dirty="0">
                <a:solidFill>
                  <a:srgbClr val="D29922"/>
                </a:solidFill>
                <a:latin typeface="Consolas" pitchFamily="34" charset="0"/>
                <a:ea typeface="Consolas" pitchFamily="34" charset="-122"/>
                <a:cs typeface="Consolas" pitchFamily="34" charset="-120"/>
              </a:rPr>
              <a:t>MƠ HỒ 🌀</a:t>
            </a:r>
            <a:endParaRPr lang="en-US" sz="2200" dirty="0"/>
          </a:p>
        </p:txBody>
      </p:sp>
      <p:sp>
        <p:nvSpPr>
          <p:cNvPr id="12" name="Text 10"/>
          <p:cNvSpPr/>
          <p:nvPr/>
        </p:nvSpPr>
        <p:spPr>
          <a:xfrm>
            <a:off x="4572000" y="2697480"/>
            <a:ext cx="3291840" cy="3200400"/>
          </a:xfrm>
          <a:prstGeom prst="rect">
            <a:avLst/>
          </a:prstGeom>
          <a:noFill/>
          <a:ln/>
        </p:spPr>
        <p:txBody>
          <a:bodyPr wrap="square" lIns="0" tIns="0" rIns="0" bIns="0" rtlCol="0" anchor="t"/>
          <a:lstStyle/>
          <a:p>
            <a:pPr indent="0" marL="0">
              <a:buNone/>
            </a:pPr>
            <a:r>
              <a:rPr lang="en-US" sz="1300" dirty="0">
                <a:solidFill>
                  <a:srgbClr val="E6EDF3"/>
                </a:solidFill>
                <a:latin typeface="Calibri" pitchFamily="34" charset="0"/>
                <a:ea typeface="Calibri" pitchFamily="34" charset="-122"/>
                <a:cs typeface="Calibri" pitchFamily="34" charset="-120"/>
              </a:rPr>
              <a:t>Subagent transcript thường bị summarize trong context. Bạn không thấy worker nghĩ gì, không reproduce được, không debug được. Audit-trail rất yếu.</a:t>
            </a:r>
            <a:endParaRPr lang="en-US" sz="1300" dirty="0"/>
          </a:p>
        </p:txBody>
      </p:sp>
      <p:sp>
        <p:nvSpPr>
          <p:cNvPr id="13" name="Shape 11"/>
          <p:cNvSpPr/>
          <p:nvPr/>
        </p:nvSpPr>
        <p:spPr>
          <a:xfrm>
            <a:off x="8229600" y="1828800"/>
            <a:ext cx="3657600" cy="4206240"/>
          </a:xfrm>
          <a:prstGeom prst="rect">
            <a:avLst/>
          </a:prstGeom>
          <a:solidFill>
            <a:srgbClr val="161B22"/>
          </a:solidFill>
          <a:ln w="12700">
            <a:solidFill>
              <a:srgbClr val="30363D"/>
            </a:solidFill>
            <a:prstDash val="solid"/>
          </a:ln>
        </p:spPr>
      </p:sp>
      <p:sp>
        <p:nvSpPr>
          <p:cNvPr id="14" name="Shape 12"/>
          <p:cNvSpPr/>
          <p:nvPr/>
        </p:nvSpPr>
        <p:spPr>
          <a:xfrm>
            <a:off x="8229600" y="1828800"/>
            <a:ext cx="73152" cy="4206240"/>
          </a:xfrm>
          <a:prstGeom prst="rect">
            <a:avLst/>
          </a:prstGeom>
          <a:solidFill>
            <a:srgbClr val="D2A8FF"/>
          </a:solidFill>
          <a:ln w="12700">
            <a:solidFill>
              <a:srgbClr val="D2A8FF"/>
            </a:solidFill>
            <a:prstDash val="solid"/>
          </a:ln>
        </p:spPr>
      </p:sp>
      <p:sp>
        <p:nvSpPr>
          <p:cNvPr id="15" name="Text 13"/>
          <p:cNvSpPr/>
          <p:nvPr/>
        </p:nvSpPr>
        <p:spPr>
          <a:xfrm>
            <a:off x="8503920" y="2011680"/>
            <a:ext cx="3291840" cy="548640"/>
          </a:xfrm>
          <a:prstGeom prst="rect">
            <a:avLst/>
          </a:prstGeom>
          <a:noFill/>
          <a:ln/>
        </p:spPr>
        <p:txBody>
          <a:bodyPr wrap="square" lIns="0" tIns="0" rIns="0" bIns="0" rtlCol="0" anchor="ctr"/>
          <a:lstStyle/>
          <a:p>
            <a:pPr indent="0" marL="0">
              <a:buNone/>
            </a:pPr>
            <a:r>
              <a:rPr lang="en-US" sz="2200" b="1" dirty="0">
                <a:solidFill>
                  <a:srgbClr val="D2A8FF"/>
                </a:solidFill>
                <a:latin typeface="Consolas" pitchFamily="34" charset="0"/>
                <a:ea typeface="Consolas" pitchFamily="34" charset="-122"/>
                <a:cs typeface="Consolas" pitchFamily="34" charset="-120"/>
              </a:rPr>
              <a:t>LỆCH LANE 🚧</a:t>
            </a:r>
            <a:endParaRPr lang="en-US" sz="2200" dirty="0"/>
          </a:p>
        </p:txBody>
      </p:sp>
      <p:sp>
        <p:nvSpPr>
          <p:cNvPr id="16" name="Text 14"/>
          <p:cNvSpPr/>
          <p:nvPr/>
        </p:nvSpPr>
        <p:spPr>
          <a:xfrm>
            <a:off x="8503920" y="2697480"/>
            <a:ext cx="3291840" cy="3200400"/>
          </a:xfrm>
          <a:prstGeom prst="rect">
            <a:avLst/>
          </a:prstGeom>
          <a:noFill/>
          <a:ln/>
        </p:spPr>
        <p:txBody>
          <a:bodyPr wrap="square" lIns="0" tIns="0" rIns="0" bIns="0" rtlCol="0" anchor="t"/>
          <a:lstStyle/>
          <a:p>
            <a:pPr indent="0" marL="0">
              <a:buNone/>
            </a:pPr>
            <a:r>
              <a:rPr lang="en-US" sz="1300" dirty="0">
                <a:solidFill>
                  <a:srgbClr val="E6EDF3"/>
                </a:solidFill>
                <a:latin typeface="Calibri" pitchFamily="34" charset="0"/>
                <a:ea typeface="Calibri" pitchFamily="34" charset="-122"/>
                <a:cs typeface="Calibri" pitchFamily="34" charset="-120"/>
              </a:rPr>
              <a:t>Một 'PM subagent' được gọi từ BE thường lại đi viết code. Vai trò bị blur. Không có cơ chế chặn 'stay in your lane' — chất lượng giảm dần.</a:t>
            </a:r>
            <a:endParaRPr lang="en-US" sz="1300" dirty="0"/>
          </a:p>
        </p:txBody>
      </p:sp>
      <p:sp>
        <p:nvSpPr>
          <p:cNvPr id="17" name="Text 15"/>
          <p:cNvSpPr/>
          <p:nvPr/>
        </p:nvSpPr>
        <p:spPr>
          <a:xfrm>
            <a:off x="11338560" y="6492240"/>
            <a:ext cx="731520" cy="228600"/>
          </a:xfrm>
          <a:prstGeom prst="rect">
            <a:avLst/>
          </a:prstGeom>
          <a:noFill/>
          <a:ln/>
        </p:spPr>
        <p:txBody>
          <a:bodyPr wrap="square" lIns="0" tIns="0" rIns="0" bIns="0" rtlCol="0" anchor="ctr"/>
          <a:lstStyle/>
          <a:p>
            <a:pPr algn="r" indent="0" marL="0">
              <a:buNone/>
            </a:pPr>
            <a:r>
              <a:rPr lang="en-US" sz="900" dirty="0">
                <a:solidFill>
                  <a:srgbClr val="8B949E"/>
                </a:solidFill>
                <a:latin typeface="Consolas" pitchFamily="34" charset="0"/>
                <a:ea typeface="Consolas" pitchFamily="34" charset="-122"/>
                <a:cs typeface="Consolas" pitchFamily="34" charset="-120"/>
              </a:rPr>
              <a:t>2 / 32</a:t>
            </a:r>
            <a:endParaRPr lang="en-US" sz="900" dirty="0"/>
          </a:p>
        </p:txBody>
      </p:sp>
      <p:sp>
        <p:nvSpPr>
          <p:cNvPr id="18" name="Text 16"/>
          <p:cNvSpPr/>
          <p:nvPr/>
        </p:nvSpPr>
        <p:spPr>
          <a:xfrm>
            <a:off x="365760" y="6492240"/>
            <a:ext cx="1097280" cy="228600"/>
          </a:xfrm>
          <a:prstGeom prst="rect">
            <a:avLst/>
          </a:prstGeom>
          <a:noFill/>
          <a:ln/>
        </p:spPr>
        <p:txBody>
          <a:bodyPr wrap="square" lIns="0" tIns="0" rIns="0" bIns="0" rtlCol="0" anchor="ctr"/>
          <a:lstStyle/>
          <a:p>
            <a:pPr algn="l" indent="0" marL="0">
              <a:buNone/>
            </a:pPr>
            <a:r>
              <a:rPr lang="en-US" sz="900" dirty="0">
                <a:solidFill>
                  <a:srgbClr val="8B949E"/>
                </a:solidFill>
                <a:latin typeface="Consolas" pitchFamily="34" charset="0"/>
                <a:ea typeface="Consolas" pitchFamily="34" charset="-122"/>
                <a:cs typeface="Consolas" pitchFamily="34" charset="-120"/>
              </a:rPr>
              <a:t>v10.12</a:t>
            </a:r>
            <a:endParaRPr lang="en-US" sz="900" dirty="0"/>
          </a:p>
        </p:txBody>
      </p:sp>
      <p:sp>
        <p:nvSpPr>
          <p:cNvPr id="19" name="Text 17"/>
          <p:cNvSpPr/>
          <p:nvPr/>
        </p:nvSpPr>
        <p:spPr>
          <a:xfrm>
            <a:off x="4572000" y="6492240"/>
            <a:ext cx="6400800" cy="228600"/>
          </a:xfrm>
          <a:prstGeom prst="rect">
            <a:avLst/>
          </a:prstGeom>
          <a:noFill/>
          <a:ln/>
        </p:spPr>
        <p:txBody>
          <a:bodyPr wrap="square" lIns="0" tIns="0" rIns="0" bIns="0" rtlCol="0" anchor="ctr"/>
          <a:lstStyle/>
          <a:p>
            <a:pPr algn="ctr" indent="0" marL="0">
              <a:buNone/>
            </a:pPr>
            <a:r>
              <a:rPr lang="en-US" sz="900" dirty="0">
                <a:solidFill>
                  <a:srgbClr val="8B949E"/>
                </a:solidFill>
                <a:latin typeface="Consolas" pitchFamily="34" charset="0"/>
                <a:ea typeface="Consolas" pitchFamily="34" charset="-122"/>
                <a:cs typeface="Consolas" pitchFamily="34" charset="-120"/>
              </a:rPr>
              <a:t>Product Engineering Agent Framework</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365760" y="228600"/>
            <a:ext cx="8229600" cy="274320"/>
          </a:xfrm>
          <a:prstGeom prst="rect">
            <a:avLst/>
          </a:prstGeom>
          <a:noFill/>
          <a:ln/>
        </p:spPr>
        <p:txBody>
          <a:bodyPr wrap="square" lIns="0" tIns="0" rIns="0" bIns="0" rtlCol="0" anchor="ctr"/>
          <a:lstStyle/>
          <a:p>
            <a:pPr indent="0" marL="0">
              <a:buNone/>
            </a:pPr>
            <a:r>
              <a:rPr lang="en-US" sz="1100" dirty="0">
                <a:solidFill>
                  <a:srgbClr val="2EA043"/>
                </a:solidFill>
                <a:latin typeface="Consolas" pitchFamily="34" charset="0"/>
                <a:ea typeface="Consolas" pitchFamily="34" charset="-122"/>
                <a:cs typeface="Consolas" pitchFamily="34" charset="-120"/>
              </a:rPr>
              <a:t>$ </a:t>
            </a:r>
            <a:pPr indent="0" marL="0">
              <a:buNone/>
            </a:pPr>
            <a:r>
              <a:rPr lang="en-US" sz="1100" dirty="0">
                <a:solidFill>
                  <a:srgbClr val="8B949E"/>
                </a:solidFill>
                <a:latin typeface="Consolas" pitchFamily="34" charset="0"/>
                <a:ea typeface="Consolas" pitchFamily="34" charset="-122"/>
                <a:cs typeface="Consolas" pitchFamily="34" charset="-120"/>
              </a:rPr>
              <a:t>02_overview.md</a:t>
            </a:r>
            <a:endParaRPr lang="en-US" sz="1100" dirty="0"/>
          </a:p>
        </p:txBody>
      </p:sp>
      <p:sp>
        <p:nvSpPr>
          <p:cNvPr id="3" name="Text 1"/>
          <p:cNvSpPr/>
          <p:nvPr/>
        </p:nvSpPr>
        <p:spPr>
          <a:xfrm>
            <a:off x="365760" y="548640"/>
            <a:ext cx="11430000" cy="640080"/>
          </a:xfrm>
          <a:prstGeom prst="rect">
            <a:avLst/>
          </a:prstGeom>
          <a:noFill/>
          <a:ln/>
        </p:spPr>
        <p:txBody>
          <a:bodyPr wrap="square" lIns="0" tIns="0" rIns="0" bIns="0" rtlCol="0" anchor="ctr"/>
          <a:lstStyle/>
          <a:p>
            <a:pPr indent="0" marL="0">
              <a:buNone/>
            </a:pPr>
            <a:r>
              <a:rPr lang="en-US" sz="3000" b="1" dirty="0">
                <a:solidFill>
                  <a:srgbClr val="E6EDF3"/>
                </a:solidFill>
                <a:latin typeface="Consolas" pitchFamily="34" charset="0"/>
                <a:ea typeface="Consolas" pitchFamily="34" charset="-122"/>
                <a:cs typeface="Consolas" pitchFamily="34" charset="-120"/>
              </a:rPr>
              <a:t>Tổng quan giải pháp</a:t>
            </a:r>
            <a:endParaRPr lang="en-US" sz="3000" dirty="0"/>
          </a:p>
        </p:txBody>
      </p:sp>
      <p:sp>
        <p:nvSpPr>
          <p:cNvPr id="4" name="Text 2"/>
          <p:cNvSpPr/>
          <p:nvPr/>
        </p:nvSpPr>
        <p:spPr>
          <a:xfrm>
            <a:off x="365760" y="1143000"/>
            <a:ext cx="11430000" cy="365760"/>
          </a:xfrm>
          <a:prstGeom prst="rect">
            <a:avLst/>
          </a:prstGeom>
          <a:noFill/>
          <a:ln/>
        </p:spPr>
        <p:txBody>
          <a:bodyPr wrap="square" lIns="0" tIns="0" rIns="0" bIns="0" rtlCol="0" anchor="ctr"/>
          <a:lstStyle/>
          <a:p>
            <a:pPr indent="0" marL="0">
              <a:buNone/>
            </a:pPr>
            <a:r>
              <a:rPr lang="en-US" sz="1400" i="1" dirty="0">
                <a:solidFill>
                  <a:srgbClr val="8B949E"/>
                </a:solidFill>
                <a:latin typeface="Calibri" pitchFamily="34" charset="0"/>
                <a:ea typeface="Calibri" pitchFamily="34" charset="-122"/>
                <a:cs typeface="Calibri" pitchFamily="34" charset="-120"/>
              </a:rPr>
              <a:t>1 người dùng → 1 Orchestrator → 8 worker agent, mỗi cái 1 model riêng</a:t>
            </a:r>
            <a:endParaRPr lang="en-US" sz="1400" dirty="0"/>
          </a:p>
        </p:txBody>
      </p:sp>
      <p:sp>
        <p:nvSpPr>
          <p:cNvPr id="5" name="Text 3"/>
          <p:cNvSpPr/>
          <p:nvPr/>
        </p:nvSpPr>
        <p:spPr>
          <a:xfrm>
            <a:off x="365760" y="1828800"/>
            <a:ext cx="5029200" cy="1828800"/>
          </a:xfrm>
          <a:prstGeom prst="rect">
            <a:avLst/>
          </a:prstGeom>
          <a:noFill/>
          <a:ln/>
        </p:spPr>
        <p:txBody>
          <a:bodyPr wrap="square" lIns="0" tIns="0" rIns="0" bIns="0" rtlCol="0" anchor="ctr"/>
          <a:lstStyle/>
          <a:p>
            <a:pPr indent="0" marL="0">
              <a:buNone/>
            </a:pPr>
            <a:r>
              <a:rPr lang="en-US" sz="1400" dirty="0">
                <a:solidFill>
                  <a:srgbClr val="E6EDF3"/>
                </a:solidFill>
                <a:latin typeface="Calibri" pitchFamily="34" charset="0"/>
                <a:ea typeface="Calibri" pitchFamily="34" charset="-122"/>
                <a:cs typeface="Calibri" pitchFamily="34" charset="-120"/>
              </a:rPr>
              <a:t>Mỗi role là một tmux pane riêng, chạy engine (OpenCode hoặc Claude Code) với một model phù hợp với năng lực và chi phí. Bạn chỉ chat với Orchestrator; Orchestrator route công việc bằng shell commands thật, không dùng subagent ảo.</a:t>
            </a:r>
            <a:endParaRPr lang="en-US" sz="1400" dirty="0"/>
          </a:p>
        </p:txBody>
      </p:sp>
      <p:sp>
        <p:nvSpPr>
          <p:cNvPr id="6" name="Shape 4"/>
          <p:cNvSpPr/>
          <p:nvPr/>
        </p:nvSpPr>
        <p:spPr>
          <a:xfrm>
            <a:off x="365760" y="3840480"/>
            <a:ext cx="54864" cy="292608"/>
          </a:xfrm>
          <a:prstGeom prst="rect">
            <a:avLst/>
          </a:prstGeom>
          <a:solidFill>
            <a:srgbClr val="7CE38B"/>
          </a:solidFill>
          <a:ln w="12700">
            <a:solidFill>
              <a:srgbClr val="7CE38B"/>
            </a:solidFill>
            <a:prstDash val="solid"/>
          </a:ln>
        </p:spPr>
      </p:sp>
      <p:sp>
        <p:nvSpPr>
          <p:cNvPr id="7" name="Text 5"/>
          <p:cNvSpPr/>
          <p:nvPr/>
        </p:nvSpPr>
        <p:spPr>
          <a:xfrm>
            <a:off x="502920" y="3840480"/>
            <a:ext cx="4892040" cy="292608"/>
          </a:xfrm>
          <a:prstGeom prst="rect">
            <a:avLst/>
          </a:prstGeom>
          <a:noFill/>
          <a:ln/>
        </p:spPr>
        <p:txBody>
          <a:bodyPr wrap="square" lIns="0" tIns="0" rIns="0" bIns="0" rtlCol="0" anchor="ctr"/>
          <a:lstStyle/>
          <a:p>
            <a:pPr indent="0" marL="0">
              <a:buNone/>
            </a:pPr>
            <a:r>
              <a:rPr lang="en-US" sz="1400" b="1" dirty="0">
                <a:solidFill>
                  <a:srgbClr val="E6EDF3"/>
                </a:solidFill>
                <a:latin typeface="Consolas" pitchFamily="34" charset="0"/>
                <a:ea typeface="Consolas" pitchFamily="34" charset="-122"/>
                <a:cs typeface="Consolas" pitchFamily="34" charset="-120"/>
              </a:rPr>
              <a:t>3 tính chất cốt lõi</a:t>
            </a:r>
            <a:endParaRPr lang="en-US" sz="1400" dirty="0"/>
          </a:p>
        </p:txBody>
      </p:sp>
      <p:sp>
        <p:nvSpPr>
          <p:cNvPr id="8" name="Text 6"/>
          <p:cNvSpPr/>
          <p:nvPr/>
        </p:nvSpPr>
        <p:spPr>
          <a:xfrm>
            <a:off x="365760" y="4297680"/>
            <a:ext cx="5029200" cy="1645920"/>
          </a:xfrm>
          <a:prstGeom prst="rect">
            <a:avLst/>
          </a:prstGeom>
          <a:noFill/>
          <a:ln/>
        </p:spPr>
        <p:txBody>
          <a:bodyPr wrap="square" lIns="0" tIns="0" rIns="0" bIns="0" rtlCol="0" anchor="ctr"/>
          <a:lstStyle/>
          <a:p>
            <a:pPr indent="0" marL="0">
              <a:buNone/>
            </a:pPr>
            <a:r>
              <a:rPr lang="en-US" sz="1300" b="1" dirty="0">
                <a:solidFill>
                  <a:srgbClr val="7CE38B"/>
                </a:solidFill>
                <a:latin typeface="Consolas" pitchFamily="34" charset="0"/>
                <a:ea typeface="Consolas" pitchFamily="34" charset="-122"/>
                <a:cs typeface="Consolas" pitchFamily="34" charset="-120"/>
              </a:rPr>
              <a:t>▸ </a:t>
            </a:r>
            <a:pPr indent="0" marL="0">
              <a:buNone/>
            </a:pPr>
            <a:r>
              <a:rPr lang="en-US" sz="1300" dirty="0">
                <a:solidFill>
                  <a:srgbClr val="E6EDF3"/>
                </a:solidFill>
                <a:latin typeface="Calibri" pitchFamily="34" charset="0"/>
                <a:ea typeface="Calibri" pitchFamily="34" charset="-122"/>
                <a:cs typeface="Calibri" pitchFamily="34" charset="-120"/>
              </a:rPr>
              <a:t>Pane = execution boundary (process thật, model thật)</a:t>
            </a:r>
            <a:endParaRPr lang="en-US" sz="1300" dirty="0"/>
          </a:p>
          <a:p>
            <a:pPr indent="0" marL="0">
              <a:buNone/>
            </a:pPr>
            <a:r>
              <a:rPr lang="en-US" sz="1300" b="1" dirty="0">
                <a:solidFill>
                  <a:srgbClr val="7CE38B"/>
                </a:solidFill>
                <a:latin typeface="Consolas" pitchFamily="34" charset="0"/>
                <a:ea typeface="Consolas" pitchFamily="34" charset="-122"/>
                <a:cs typeface="Consolas" pitchFamily="34" charset="-120"/>
              </a:rPr>
              <a:t>▸ </a:t>
            </a:r>
            <a:pPr indent="0" marL="0">
              <a:buNone/>
            </a:pPr>
            <a:r>
              <a:rPr lang="en-US" sz="1300" dirty="0">
                <a:solidFill>
                  <a:srgbClr val="E6EDF3"/>
                </a:solidFill>
                <a:latin typeface="Calibri" pitchFamily="34" charset="0"/>
                <a:ea typeface="Calibri" pitchFamily="34" charset="-122"/>
                <a:cs typeface="Calibri" pitchFamily="34" charset="-120"/>
              </a:rPr>
              <a:t>Routing = bash command thật, audit-able qua .pane_logs/</a:t>
            </a:r>
            <a:endParaRPr lang="en-US" sz="1300" dirty="0"/>
          </a:p>
          <a:p>
            <a:pPr indent="0" marL="0">
              <a:buNone/>
            </a:pPr>
            <a:r>
              <a:rPr lang="en-US" sz="1300" b="1" dirty="0">
                <a:solidFill>
                  <a:srgbClr val="7CE38B"/>
                </a:solidFill>
                <a:latin typeface="Consolas" pitchFamily="34" charset="0"/>
                <a:ea typeface="Consolas" pitchFamily="34" charset="-122"/>
                <a:cs typeface="Consolas" pitchFamily="34" charset="-120"/>
              </a:rPr>
              <a:t>▸ </a:t>
            </a:r>
            <a:pPr indent="0" marL="0">
              <a:buNone/>
            </a:pPr>
            <a:r>
              <a:rPr lang="en-US" sz="1300" dirty="0">
                <a:solidFill>
                  <a:srgbClr val="E6EDF3"/>
                </a:solidFill>
                <a:latin typeface="Calibri" pitchFamily="34" charset="0"/>
                <a:ea typeface="Calibri" pitchFamily="34" charset="-122"/>
                <a:cs typeface="Calibri" pitchFamily="34" charset="-120"/>
              </a:rPr>
              <a:t>Memory = file system, cross-session, commit vào git</a:t>
            </a:r>
            <a:endParaRPr lang="en-US" sz="1300" dirty="0"/>
          </a:p>
        </p:txBody>
      </p:sp>
      <p:sp>
        <p:nvSpPr>
          <p:cNvPr id="9" name="Shape 7"/>
          <p:cNvSpPr/>
          <p:nvPr/>
        </p:nvSpPr>
        <p:spPr>
          <a:xfrm>
            <a:off x="5760720" y="1737360"/>
            <a:ext cx="6035040" cy="4389120"/>
          </a:xfrm>
          <a:prstGeom prst="rect">
            <a:avLst/>
          </a:prstGeom>
          <a:solidFill>
            <a:srgbClr val="161B22"/>
          </a:solidFill>
          <a:ln w="12700">
            <a:solidFill>
              <a:srgbClr val="30363D"/>
            </a:solidFill>
            <a:prstDash val="solid"/>
          </a:ln>
        </p:spPr>
      </p:sp>
      <p:sp>
        <p:nvSpPr>
          <p:cNvPr id="10" name="Shape 8"/>
          <p:cNvSpPr/>
          <p:nvPr/>
        </p:nvSpPr>
        <p:spPr>
          <a:xfrm>
            <a:off x="5852160" y="1828800"/>
            <a:ext cx="91440" cy="91440"/>
          </a:xfrm>
          <a:prstGeom prst="ellipse">
            <a:avLst/>
          </a:prstGeom>
          <a:solidFill>
            <a:srgbClr val="F85149"/>
          </a:solidFill>
          <a:ln w="12700">
            <a:solidFill>
              <a:srgbClr val="F85149"/>
            </a:solidFill>
            <a:prstDash val="solid"/>
          </a:ln>
        </p:spPr>
      </p:sp>
      <p:sp>
        <p:nvSpPr>
          <p:cNvPr id="11" name="Shape 9"/>
          <p:cNvSpPr/>
          <p:nvPr/>
        </p:nvSpPr>
        <p:spPr>
          <a:xfrm>
            <a:off x="5980176" y="1828800"/>
            <a:ext cx="91440" cy="91440"/>
          </a:xfrm>
          <a:prstGeom prst="ellipse">
            <a:avLst/>
          </a:prstGeom>
          <a:solidFill>
            <a:srgbClr val="D29922"/>
          </a:solidFill>
          <a:ln w="12700">
            <a:solidFill>
              <a:srgbClr val="D29922"/>
            </a:solidFill>
            <a:prstDash val="solid"/>
          </a:ln>
        </p:spPr>
      </p:sp>
      <p:sp>
        <p:nvSpPr>
          <p:cNvPr id="12" name="Shape 10"/>
          <p:cNvSpPr/>
          <p:nvPr/>
        </p:nvSpPr>
        <p:spPr>
          <a:xfrm>
            <a:off x="6108192" y="1828800"/>
            <a:ext cx="91440" cy="91440"/>
          </a:xfrm>
          <a:prstGeom prst="ellipse">
            <a:avLst/>
          </a:prstGeom>
          <a:solidFill>
            <a:srgbClr val="3FB950"/>
          </a:solidFill>
          <a:ln w="12700">
            <a:solidFill>
              <a:srgbClr val="3FB950"/>
            </a:solidFill>
            <a:prstDash val="solid"/>
          </a:ln>
        </p:spPr>
      </p:sp>
      <p:sp>
        <p:nvSpPr>
          <p:cNvPr id="13" name="Text 11"/>
          <p:cNvSpPr/>
          <p:nvPr/>
        </p:nvSpPr>
        <p:spPr>
          <a:xfrm>
            <a:off x="5897880" y="2057400"/>
            <a:ext cx="5760720" cy="4023360"/>
          </a:xfrm>
          <a:prstGeom prst="rect">
            <a:avLst/>
          </a:prstGeom>
          <a:noFill/>
          <a:ln/>
        </p:spPr>
        <p:txBody>
          <a:bodyPr wrap="square" lIns="0" tIns="0" rIns="0" bIns="0" rtlCol="0" anchor="t"/>
          <a:lstStyle/>
          <a:p>
            <a:pPr indent="0" marL="0">
              <a:buNone/>
            </a:pPr>
            <a:r>
              <a:rPr lang="en-US" sz="1200" dirty="0">
                <a:solidFill>
                  <a:srgbClr val="E6EDF3"/>
                </a:solidFill>
                <a:latin typeface="Consolas" pitchFamily="34" charset="0"/>
                <a:ea typeface="Consolas" pitchFamily="34" charset="-122"/>
                <a:cs typeface="Consolas" pitchFamily="34" charset="-120"/>
              </a:rPr>
              <a:t>        ╔══════════════╗</a:t>
            </a:r>
            <a:endParaRPr lang="en-US" sz="1200" dirty="0"/>
          </a:p>
          <a:p>
            <a:pPr indent="0" marL="0">
              <a:buNone/>
            </a:pPr>
            <a:r>
              <a:rPr lang="en-US" sz="1200" dirty="0">
                <a:solidFill>
                  <a:srgbClr val="E6EDF3"/>
                </a:solidFill>
                <a:latin typeface="Consolas" pitchFamily="34" charset="0"/>
                <a:ea typeface="Consolas" pitchFamily="34" charset="-122"/>
                <a:cs typeface="Consolas" pitchFamily="34" charset="-120"/>
              </a:rPr>
              <a:t>        ║     USER     ║</a:t>
            </a:r>
            <a:endParaRPr lang="en-US" sz="1200" dirty="0"/>
          </a:p>
          <a:p>
            <a:pPr indent="0" marL="0">
              <a:buNone/>
            </a:pPr>
            <a:r>
              <a:rPr lang="en-US" sz="1200" dirty="0">
                <a:solidFill>
                  <a:srgbClr val="E6EDF3"/>
                </a:solidFill>
                <a:latin typeface="Consolas" pitchFamily="34" charset="0"/>
                <a:ea typeface="Consolas" pitchFamily="34" charset="-122"/>
                <a:cs typeface="Consolas" pitchFamily="34" charset="-120"/>
              </a:rPr>
              <a:t>        ╚══════╤═══════╝</a:t>
            </a:r>
            <a:endParaRPr lang="en-US" sz="1200" dirty="0"/>
          </a:p>
          <a:p>
            <a:pPr indent="0" marL="0">
              <a:buNone/>
            </a:pPr>
            <a:r>
              <a:rPr lang="en-US" sz="1200" dirty="0">
                <a:solidFill>
                  <a:srgbClr val="E6EDF3"/>
                </a:solidFill>
                <a:latin typeface="Consolas" pitchFamily="34" charset="0"/>
                <a:ea typeface="Consolas" pitchFamily="34" charset="-122"/>
                <a:cs typeface="Consolas" pitchFamily="34" charset="-120"/>
              </a:rPr>
              <a:t>               │ chat</a:t>
            </a:r>
            <a:endParaRPr lang="en-US" sz="1200" dirty="0"/>
          </a:p>
          <a:p>
            <a:pPr indent="0" marL="0">
              <a:buNone/>
            </a:pPr>
            <a:r>
              <a:rPr lang="en-US" sz="1200" dirty="0">
                <a:solidFill>
                  <a:srgbClr val="E6EDF3"/>
                </a:solidFill>
                <a:latin typeface="Consolas" pitchFamily="34" charset="0"/>
                <a:ea typeface="Consolas" pitchFamily="34" charset="-122"/>
                <a:cs typeface="Consolas" pitchFamily="34" charset="-120"/>
              </a:rPr>
              <a:t>               ▼</a:t>
            </a:r>
            <a:endParaRPr lang="en-US" sz="1200" dirty="0"/>
          </a:p>
          <a:p>
            <a:pPr indent="0" marL="0">
              <a:buNone/>
            </a:pPr>
            <a:r>
              <a:rPr lang="en-US" sz="1200" dirty="0">
                <a:solidFill>
                  <a:srgbClr val="E6EDF3"/>
                </a:solidFill>
                <a:latin typeface="Consolas" pitchFamily="34" charset="0"/>
                <a:ea typeface="Consolas" pitchFamily="34" charset="-122"/>
                <a:cs typeface="Consolas" pitchFamily="34" charset="-120"/>
              </a:rPr>
              <a:t>      ╔════════════════╗</a:t>
            </a:r>
            <a:endParaRPr lang="en-US" sz="1200" dirty="0"/>
          </a:p>
          <a:p>
            <a:pPr indent="0" marL="0">
              <a:buNone/>
            </a:pPr>
            <a:r>
              <a:rPr lang="en-US" sz="1200" dirty="0">
                <a:solidFill>
                  <a:srgbClr val="E6EDF3"/>
                </a:solidFill>
                <a:latin typeface="Consolas" pitchFamily="34" charset="0"/>
                <a:ea typeface="Consolas" pitchFamily="34" charset="-122"/>
                <a:cs typeface="Consolas" pitchFamily="34" charset="-120"/>
              </a:rPr>
              <a:t>      ║  ORCHESTRATOR  ║ pane 1</a:t>
            </a:r>
            <a:endParaRPr lang="en-US" sz="1200" dirty="0"/>
          </a:p>
          <a:p>
            <a:pPr indent="0" marL="0">
              <a:buNone/>
            </a:pPr>
            <a:r>
              <a:rPr lang="en-US" sz="1200" dirty="0">
                <a:solidFill>
                  <a:srgbClr val="E6EDF3"/>
                </a:solidFill>
                <a:latin typeface="Consolas" pitchFamily="34" charset="0"/>
                <a:ea typeface="Consolas" pitchFamily="34" charset="-122"/>
                <a:cs typeface="Consolas" pitchFamily="34" charset="-120"/>
              </a:rPr>
              <a:t>      ╚════╤═══════════╝</a:t>
            </a:r>
            <a:endParaRPr lang="en-US" sz="1200" dirty="0"/>
          </a:p>
          <a:p>
            <a:pPr indent="0" marL="0">
              <a:buNone/>
            </a:pPr>
            <a:r>
              <a:rPr lang="en-US" sz="1200" dirty="0">
                <a:solidFill>
                  <a:srgbClr val="E6EDF3"/>
                </a:solidFill>
                <a:latin typeface="Consolas" pitchFamily="34" charset="0"/>
                <a:ea typeface="Consolas" pitchFamily="34" charset="-122"/>
                <a:cs typeface="Consolas" pitchFamily="34" charset="-120"/>
              </a:rPr>
              <a:t>           │ route_to_pane.sh</a:t>
            </a:r>
            <a:endParaRPr lang="en-US" sz="1200" dirty="0"/>
          </a:p>
          <a:p>
            <a:pPr indent="0" marL="0">
              <a:buNone/>
            </a:pPr>
            <a:r>
              <a:rPr lang="en-US" sz="1200" dirty="0">
                <a:solidFill>
                  <a:srgbClr val="E6EDF3"/>
                </a:solidFill>
                <a:latin typeface="Consolas" pitchFamily="34" charset="0"/>
                <a:ea typeface="Consolas" pitchFamily="34" charset="-122"/>
                <a:cs typeface="Consolas" pitchFamily="34" charset="-120"/>
              </a:rPr>
              <a:t>  ┌────────┼────────┬────────┐</a:t>
            </a:r>
            <a:endParaRPr lang="en-US" sz="1200" dirty="0"/>
          </a:p>
          <a:p>
            <a:pPr indent="0" marL="0">
              <a:buNone/>
            </a:pPr>
            <a:r>
              <a:rPr lang="en-US" sz="1200" dirty="0">
                <a:solidFill>
                  <a:srgbClr val="E6EDF3"/>
                </a:solidFill>
                <a:latin typeface="Consolas" pitchFamily="34" charset="0"/>
                <a:ea typeface="Consolas" pitchFamily="34" charset="-122"/>
                <a:cs typeface="Consolas" pitchFamily="34" charset="-120"/>
              </a:rPr>
              <a:t>  ▼        ▼        ▼        ▼</a:t>
            </a:r>
            <a:endParaRPr lang="en-US" sz="1200" dirty="0"/>
          </a:p>
          <a:p>
            <a:pPr indent="0" marL="0">
              <a:buNone/>
            </a:pPr>
            <a:r>
              <a:rPr lang="en-US" sz="1200" dirty="0">
                <a:solidFill>
                  <a:srgbClr val="E6EDF3"/>
                </a:solidFill>
                <a:latin typeface="Consolas" pitchFamily="34" charset="0"/>
                <a:ea typeface="Consolas" pitchFamily="34" charset="-122"/>
                <a:cs typeface="Consolas" pitchFamily="34" charset="-120"/>
              </a:rPr>
              <a:t> [PM]    [SA]    [BA]   ... [DEL]</a:t>
            </a:r>
            <a:endParaRPr lang="en-US" sz="1200" dirty="0"/>
          </a:p>
          <a:p>
            <a:pPr indent="0" marL="0">
              <a:buNone/>
            </a:pPr>
            <a:r>
              <a:rPr lang="en-US" sz="1200" dirty="0">
                <a:solidFill>
                  <a:srgbClr val="E6EDF3"/>
                </a:solidFill>
                <a:latin typeface="Consolas" pitchFamily="34" charset="0"/>
                <a:ea typeface="Consolas" pitchFamily="34" charset="-122"/>
                <a:cs typeface="Consolas" pitchFamily="34" charset="-120"/>
              </a:rPr>
              <a:t>  panes 2 → 9 — mỗi cái 1 model</a:t>
            </a:r>
            <a:endParaRPr lang="en-US" sz="1200" dirty="0"/>
          </a:p>
        </p:txBody>
      </p:sp>
      <p:sp>
        <p:nvSpPr>
          <p:cNvPr id="14" name="Text 12"/>
          <p:cNvSpPr/>
          <p:nvPr/>
        </p:nvSpPr>
        <p:spPr>
          <a:xfrm>
            <a:off x="11338560" y="6492240"/>
            <a:ext cx="731520" cy="228600"/>
          </a:xfrm>
          <a:prstGeom prst="rect">
            <a:avLst/>
          </a:prstGeom>
          <a:noFill/>
          <a:ln/>
        </p:spPr>
        <p:txBody>
          <a:bodyPr wrap="square" lIns="0" tIns="0" rIns="0" bIns="0" rtlCol="0" anchor="ctr"/>
          <a:lstStyle/>
          <a:p>
            <a:pPr algn="r" indent="0" marL="0">
              <a:buNone/>
            </a:pPr>
            <a:r>
              <a:rPr lang="en-US" sz="900" dirty="0">
                <a:solidFill>
                  <a:srgbClr val="8B949E"/>
                </a:solidFill>
                <a:latin typeface="Consolas" pitchFamily="34" charset="0"/>
                <a:ea typeface="Consolas" pitchFamily="34" charset="-122"/>
                <a:cs typeface="Consolas" pitchFamily="34" charset="-120"/>
              </a:rPr>
              <a:t>3 / 32</a:t>
            </a:r>
            <a:endParaRPr lang="en-US" sz="900" dirty="0"/>
          </a:p>
        </p:txBody>
      </p:sp>
      <p:sp>
        <p:nvSpPr>
          <p:cNvPr id="15" name="Text 13"/>
          <p:cNvSpPr/>
          <p:nvPr/>
        </p:nvSpPr>
        <p:spPr>
          <a:xfrm>
            <a:off x="365760" y="6492240"/>
            <a:ext cx="1097280" cy="228600"/>
          </a:xfrm>
          <a:prstGeom prst="rect">
            <a:avLst/>
          </a:prstGeom>
          <a:noFill/>
          <a:ln/>
        </p:spPr>
        <p:txBody>
          <a:bodyPr wrap="square" lIns="0" tIns="0" rIns="0" bIns="0" rtlCol="0" anchor="ctr"/>
          <a:lstStyle/>
          <a:p>
            <a:pPr algn="l" indent="0" marL="0">
              <a:buNone/>
            </a:pPr>
            <a:r>
              <a:rPr lang="en-US" sz="900" dirty="0">
                <a:solidFill>
                  <a:srgbClr val="8B949E"/>
                </a:solidFill>
                <a:latin typeface="Consolas" pitchFamily="34" charset="0"/>
                <a:ea typeface="Consolas" pitchFamily="34" charset="-122"/>
                <a:cs typeface="Consolas" pitchFamily="34" charset="-120"/>
              </a:rPr>
              <a:t>v10.12</a:t>
            </a:r>
            <a:endParaRPr lang="en-US" sz="900" dirty="0"/>
          </a:p>
        </p:txBody>
      </p:sp>
      <p:sp>
        <p:nvSpPr>
          <p:cNvPr id="16" name="Text 14"/>
          <p:cNvSpPr/>
          <p:nvPr/>
        </p:nvSpPr>
        <p:spPr>
          <a:xfrm>
            <a:off x="4572000" y="6492240"/>
            <a:ext cx="6400800" cy="228600"/>
          </a:xfrm>
          <a:prstGeom prst="rect">
            <a:avLst/>
          </a:prstGeom>
          <a:noFill/>
          <a:ln/>
        </p:spPr>
        <p:txBody>
          <a:bodyPr wrap="square" lIns="0" tIns="0" rIns="0" bIns="0" rtlCol="0" anchor="ctr"/>
          <a:lstStyle/>
          <a:p>
            <a:pPr algn="ctr" indent="0" marL="0">
              <a:buNone/>
            </a:pPr>
            <a:r>
              <a:rPr lang="en-US" sz="900" dirty="0">
                <a:solidFill>
                  <a:srgbClr val="8B949E"/>
                </a:solidFill>
                <a:latin typeface="Consolas" pitchFamily="34" charset="0"/>
                <a:ea typeface="Consolas" pitchFamily="34" charset="-122"/>
                <a:cs typeface="Consolas" pitchFamily="34" charset="-120"/>
              </a:rPr>
              <a:t>Product Engineering Agent Framework</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365760" y="228600"/>
            <a:ext cx="8229600" cy="274320"/>
          </a:xfrm>
          <a:prstGeom prst="rect">
            <a:avLst/>
          </a:prstGeom>
          <a:noFill/>
          <a:ln/>
        </p:spPr>
        <p:txBody>
          <a:bodyPr wrap="square" lIns="0" tIns="0" rIns="0" bIns="0" rtlCol="0" anchor="ctr"/>
          <a:lstStyle/>
          <a:p>
            <a:pPr indent="0" marL="0">
              <a:buNone/>
            </a:pPr>
            <a:r>
              <a:rPr lang="en-US" sz="1100" dirty="0">
                <a:solidFill>
                  <a:srgbClr val="2EA043"/>
                </a:solidFill>
                <a:latin typeface="Consolas" pitchFamily="34" charset="0"/>
                <a:ea typeface="Consolas" pitchFamily="34" charset="-122"/>
                <a:cs typeface="Consolas" pitchFamily="34" charset="-120"/>
              </a:rPr>
              <a:t>$ </a:t>
            </a:r>
            <a:pPr indent="0" marL="0">
              <a:buNone/>
            </a:pPr>
            <a:r>
              <a:rPr lang="en-US" sz="1100" dirty="0">
                <a:solidFill>
                  <a:srgbClr val="8B949E"/>
                </a:solidFill>
                <a:latin typeface="Consolas" pitchFamily="34" charset="0"/>
                <a:ea typeface="Consolas" pitchFamily="34" charset="-122"/>
                <a:cs typeface="Consolas" pitchFamily="34" charset="-120"/>
              </a:rPr>
              <a:t>03_bmad_intro.md</a:t>
            </a:r>
            <a:endParaRPr lang="en-US" sz="1100" dirty="0"/>
          </a:p>
        </p:txBody>
      </p:sp>
      <p:sp>
        <p:nvSpPr>
          <p:cNvPr id="3" name="Text 1"/>
          <p:cNvSpPr/>
          <p:nvPr/>
        </p:nvSpPr>
        <p:spPr>
          <a:xfrm>
            <a:off x="365760" y="548640"/>
            <a:ext cx="11430000" cy="640080"/>
          </a:xfrm>
          <a:prstGeom prst="rect">
            <a:avLst/>
          </a:prstGeom>
          <a:noFill/>
          <a:ln/>
        </p:spPr>
        <p:txBody>
          <a:bodyPr wrap="square" lIns="0" tIns="0" rIns="0" bIns="0" rtlCol="0" anchor="ctr"/>
          <a:lstStyle/>
          <a:p>
            <a:pPr indent="0" marL="0">
              <a:buNone/>
            </a:pPr>
            <a:r>
              <a:rPr lang="en-US" sz="3000" b="1" dirty="0">
                <a:solidFill>
                  <a:srgbClr val="E6EDF3"/>
                </a:solidFill>
                <a:latin typeface="Consolas" pitchFamily="34" charset="0"/>
                <a:ea typeface="Consolas" pitchFamily="34" charset="-122"/>
                <a:cs typeface="Consolas" pitchFamily="34" charset="-120"/>
              </a:rPr>
              <a:t>BMAD là gì?</a:t>
            </a:r>
            <a:endParaRPr lang="en-US" sz="3000" dirty="0"/>
          </a:p>
        </p:txBody>
      </p:sp>
      <p:sp>
        <p:nvSpPr>
          <p:cNvPr id="4" name="Text 2"/>
          <p:cNvSpPr/>
          <p:nvPr/>
        </p:nvSpPr>
        <p:spPr>
          <a:xfrm>
            <a:off x="365760" y="1143000"/>
            <a:ext cx="11430000" cy="365760"/>
          </a:xfrm>
          <a:prstGeom prst="rect">
            <a:avLst/>
          </a:prstGeom>
          <a:noFill/>
          <a:ln/>
        </p:spPr>
        <p:txBody>
          <a:bodyPr wrap="square" lIns="0" tIns="0" rIns="0" bIns="0" rtlCol="0" anchor="ctr"/>
          <a:lstStyle/>
          <a:p>
            <a:pPr indent="0" marL="0">
              <a:buNone/>
            </a:pPr>
            <a:r>
              <a:rPr lang="en-US" sz="1400" i="1" dirty="0">
                <a:solidFill>
                  <a:srgbClr val="8B949E"/>
                </a:solidFill>
                <a:latin typeface="Calibri" pitchFamily="34" charset="0"/>
                <a:ea typeface="Calibri" pitchFamily="34" charset="-122"/>
                <a:cs typeface="Calibri" pitchFamily="34" charset="-120"/>
              </a:rPr>
              <a:t>Breakthrough Method for Agile AI-Driven Development</a:t>
            </a:r>
            <a:endParaRPr lang="en-US" sz="1400" dirty="0"/>
          </a:p>
        </p:txBody>
      </p:sp>
      <p:sp>
        <p:nvSpPr>
          <p:cNvPr id="5" name="Shape 3"/>
          <p:cNvSpPr/>
          <p:nvPr/>
        </p:nvSpPr>
        <p:spPr>
          <a:xfrm>
            <a:off x="365760" y="1828800"/>
            <a:ext cx="11430000" cy="1371600"/>
          </a:xfrm>
          <a:prstGeom prst="rect">
            <a:avLst/>
          </a:prstGeom>
          <a:solidFill>
            <a:srgbClr val="161B22"/>
          </a:solidFill>
          <a:ln w="12700">
            <a:solidFill>
              <a:srgbClr val="30363D"/>
            </a:solidFill>
            <a:prstDash val="solid"/>
          </a:ln>
        </p:spPr>
      </p:sp>
      <p:sp>
        <p:nvSpPr>
          <p:cNvPr id="6" name="Text 4"/>
          <p:cNvSpPr/>
          <p:nvPr/>
        </p:nvSpPr>
        <p:spPr>
          <a:xfrm>
            <a:off x="365760" y="1874520"/>
            <a:ext cx="2857500" cy="822960"/>
          </a:xfrm>
          <a:prstGeom prst="rect">
            <a:avLst/>
          </a:prstGeom>
          <a:noFill/>
          <a:ln/>
        </p:spPr>
        <p:txBody>
          <a:bodyPr wrap="square" lIns="0" tIns="0" rIns="0" bIns="0" rtlCol="0" anchor="ctr"/>
          <a:lstStyle/>
          <a:p>
            <a:pPr algn="ctr" indent="0" marL="0">
              <a:buNone/>
            </a:pPr>
            <a:r>
              <a:rPr lang="en-US" sz="6400" b="1" dirty="0">
                <a:solidFill>
                  <a:srgbClr val="7CE38B"/>
                </a:solidFill>
                <a:latin typeface="Consolas" pitchFamily="34" charset="0"/>
                <a:ea typeface="Consolas" pitchFamily="34" charset="-122"/>
                <a:cs typeface="Consolas" pitchFamily="34" charset="-120"/>
              </a:rPr>
              <a:t>B</a:t>
            </a:r>
            <a:endParaRPr lang="en-US" sz="6400" dirty="0"/>
          </a:p>
        </p:txBody>
      </p:sp>
      <p:sp>
        <p:nvSpPr>
          <p:cNvPr id="7" name="Text 5"/>
          <p:cNvSpPr/>
          <p:nvPr/>
        </p:nvSpPr>
        <p:spPr>
          <a:xfrm>
            <a:off x="365760" y="2697480"/>
            <a:ext cx="2857500" cy="457200"/>
          </a:xfrm>
          <a:prstGeom prst="rect">
            <a:avLst/>
          </a:prstGeom>
          <a:noFill/>
          <a:ln/>
        </p:spPr>
        <p:txBody>
          <a:bodyPr wrap="square" lIns="0" tIns="0" rIns="0" bIns="0" rtlCol="0" anchor="ctr"/>
          <a:lstStyle/>
          <a:p>
            <a:pPr algn="ctr" indent="0" marL="0">
              <a:buNone/>
            </a:pPr>
            <a:r>
              <a:rPr lang="en-US" sz="1400" b="1" dirty="0">
                <a:solidFill>
                  <a:srgbClr val="E6EDF3"/>
                </a:solidFill>
                <a:latin typeface="Consolas" pitchFamily="34" charset="0"/>
                <a:ea typeface="Consolas" pitchFamily="34" charset="-122"/>
                <a:cs typeface="Consolas" pitchFamily="34" charset="-120"/>
              </a:rPr>
              <a:t>Breakthrough</a:t>
            </a:r>
            <a:endParaRPr lang="en-US" sz="1400" dirty="0"/>
          </a:p>
        </p:txBody>
      </p:sp>
      <p:sp>
        <p:nvSpPr>
          <p:cNvPr id="8" name="Text 6"/>
          <p:cNvSpPr/>
          <p:nvPr/>
        </p:nvSpPr>
        <p:spPr>
          <a:xfrm>
            <a:off x="3223260" y="1874520"/>
            <a:ext cx="2857500" cy="822960"/>
          </a:xfrm>
          <a:prstGeom prst="rect">
            <a:avLst/>
          </a:prstGeom>
          <a:noFill/>
          <a:ln/>
        </p:spPr>
        <p:txBody>
          <a:bodyPr wrap="square" lIns="0" tIns="0" rIns="0" bIns="0" rtlCol="0" anchor="ctr"/>
          <a:lstStyle/>
          <a:p>
            <a:pPr algn="ctr" indent="0" marL="0">
              <a:buNone/>
            </a:pPr>
            <a:r>
              <a:rPr lang="en-US" sz="6400" b="1" dirty="0">
                <a:solidFill>
                  <a:srgbClr val="7CE38B"/>
                </a:solidFill>
                <a:latin typeface="Consolas" pitchFamily="34" charset="0"/>
                <a:ea typeface="Consolas" pitchFamily="34" charset="-122"/>
                <a:cs typeface="Consolas" pitchFamily="34" charset="-120"/>
              </a:rPr>
              <a:t>M</a:t>
            </a:r>
            <a:endParaRPr lang="en-US" sz="6400" dirty="0"/>
          </a:p>
        </p:txBody>
      </p:sp>
      <p:sp>
        <p:nvSpPr>
          <p:cNvPr id="9" name="Text 7"/>
          <p:cNvSpPr/>
          <p:nvPr/>
        </p:nvSpPr>
        <p:spPr>
          <a:xfrm>
            <a:off x="3223260" y="2697480"/>
            <a:ext cx="2857500" cy="457200"/>
          </a:xfrm>
          <a:prstGeom prst="rect">
            <a:avLst/>
          </a:prstGeom>
          <a:noFill/>
          <a:ln/>
        </p:spPr>
        <p:txBody>
          <a:bodyPr wrap="square" lIns="0" tIns="0" rIns="0" bIns="0" rtlCol="0" anchor="ctr"/>
          <a:lstStyle/>
          <a:p>
            <a:pPr algn="ctr" indent="0" marL="0">
              <a:buNone/>
            </a:pPr>
            <a:r>
              <a:rPr lang="en-US" sz="1400" b="1" dirty="0">
                <a:solidFill>
                  <a:srgbClr val="E6EDF3"/>
                </a:solidFill>
                <a:latin typeface="Consolas" pitchFamily="34" charset="0"/>
                <a:ea typeface="Consolas" pitchFamily="34" charset="-122"/>
                <a:cs typeface="Consolas" pitchFamily="34" charset="-120"/>
              </a:rPr>
              <a:t>Method for Agile</a:t>
            </a:r>
            <a:endParaRPr lang="en-US" sz="1400" dirty="0"/>
          </a:p>
        </p:txBody>
      </p:sp>
      <p:sp>
        <p:nvSpPr>
          <p:cNvPr id="10" name="Text 8"/>
          <p:cNvSpPr/>
          <p:nvPr/>
        </p:nvSpPr>
        <p:spPr>
          <a:xfrm>
            <a:off x="6080760" y="1874520"/>
            <a:ext cx="2857500" cy="822960"/>
          </a:xfrm>
          <a:prstGeom prst="rect">
            <a:avLst/>
          </a:prstGeom>
          <a:noFill/>
          <a:ln/>
        </p:spPr>
        <p:txBody>
          <a:bodyPr wrap="square" lIns="0" tIns="0" rIns="0" bIns="0" rtlCol="0" anchor="ctr"/>
          <a:lstStyle/>
          <a:p>
            <a:pPr algn="ctr" indent="0" marL="0">
              <a:buNone/>
            </a:pPr>
            <a:r>
              <a:rPr lang="en-US" sz="6400" b="1" dirty="0">
                <a:solidFill>
                  <a:srgbClr val="7CE38B"/>
                </a:solidFill>
                <a:latin typeface="Consolas" pitchFamily="34" charset="0"/>
                <a:ea typeface="Consolas" pitchFamily="34" charset="-122"/>
                <a:cs typeface="Consolas" pitchFamily="34" charset="-120"/>
              </a:rPr>
              <a:t>A</a:t>
            </a:r>
            <a:endParaRPr lang="en-US" sz="6400" dirty="0"/>
          </a:p>
        </p:txBody>
      </p:sp>
      <p:sp>
        <p:nvSpPr>
          <p:cNvPr id="11" name="Text 9"/>
          <p:cNvSpPr/>
          <p:nvPr/>
        </p:nvSpPr>
        <p:spPr>
          <a:xfrm>
            <a:off x="6080760" y="2697480"/>
            <a:ext cx="2857500" cy="457200"/>
          </a:xfrm>
          <a:prstGeom prst="rect">
            <a:avLst/>
          </a:prstGeom>
          <a:noFill/>
          <a:ln/>
        </p:spPr>
        <p:txBody>
          <a:bodyPr wrap="square" lIns="0" tIns="0" rIns="0" bIns="0" rtlCol="0" anchor="ctr"/>
          <a:lstStyle/>
          <a:p>
            <a:pPr algn="ctr" indent="0" marL="0">
              <a:buNone/>
            </a:pPr>
            <a:r>
              <a:rPr lang="en-US" sz="1400" b="1" dirty="0">
                <a:solidFill>
                  <a:srgbClr val="E6EDF3"/>
                </a:solidFill>
                <a:latin typeface="Consolas" pitchFamily="34" charset="0"/>
                <a:ea typeface="Consolas" pitchFamily="34" charset="-122"/>
                <a:cs typeface="Consolas" pitchFamily="34" charset="-120"/>
              </a:rPr>
              <a:t>AI-Driven</a:t>
            </a:r>
            <a:endParaRPr lang="en-US" sz="1400" dirty="0"/>
          </a:p>
        </p:txBody>
      </p:sp>
      <p:sp>
        <p:nvSpPr>
          <p:cNvPr id="12" name="Text 10"/>
          <p:cNvSpPr/>
          <p:nvPr/>
        </p:nvSpPr>
        <p:spPr>
          <a:xfrm>
            <a:off x="8938260" y="1874520"/>
            <a:ext cx="2857500" cy="822960"/>
          </a:xfrm>
          <a:prstGeom prst="rect">
            <a:avLst/>
          </a:prstGeom>
          <a:noFill/>
          <a:ln/>
        </p:spPr>
        <p:txBody>
          <a:bodyPr wrap="square" lIns="0" tIns="0" rIns="0" bIns="0" rtlCol="0" anchor="ctr"/>
          <a:lstStyle/>
          <a:p>
            <a:pPr algn="ctr" indent="0" marL="0">
              <a:buNone/>
            </a:pPr>
            <a:r>
              <a:rPr lang="en-US" sz="6400" b="1" dirty="0">
                <a:solidFill>
                  <a:srgbClr val="7CE38B"/>
                </a:solidFill>
                <a:latin typeface="Consolas" pitchFamily="34" charset="0"/>
                <a:ea typeface="Consolas" pitchFamily="34" charset="-122"/>
                <a:cs typeface="Consolas" pitchFamily="34" charset="-120"/>
              </a:rPr>
              <a:t>D</a:t>
            </a:r>
            <a:endParaRPr lang="en-US" sz="6400" dirty="0"/>
          </a:p>
        </p:txBody>
      </p:sp>
      <p:sp>
        <p:nvSpPr>
          <p:cNvPr id="13" name="Text 11"/>
          <p:cNvSpPr/>
          <p:nvPr/>
        </p:nvSpPr>
        <p:spPr>
          <a:xfrm>
            <a:off x="8938260" y="2697480"/>
            <a:ext cx="2857500" cy="457200"/>
          </a:xfrm>
          <a:prstGeom prst="rect">
            <a:avLst/>
          </a:prstGeom>
          <a:noFill/>
          <a:ln/>
        </p:spPr>
        <p:txBody>
          <a:bodyPr wrap="square" lIns="0" tIns="0" rIns="0" bIns="0" rtlCol="0" anchor="ctr"/>
          <a:lstStyle/>
          <a:p>
            <a:pPr algn="ctr" indent="0" marL="0">
              <a:buNone/>
            </a:pPr>
            <a:r>
              <a:rPr lang="en-US" sz="1400" b="1" dirty="0">
                <a:solidFill>
                  <a:srgbClr val="E6EDF3"/>
                </a:solidFill>
                <a:latin typeface="Consolas" pitchFamily="34" charset="0"/>
                <a:ea typeface="Consolas" pitchFamily="34" charset="-122"/>
                <a:cs typeface="Consolas" pitchFamily="34" charset="-120"/>
              </a:rPr>
              <a:t>Development</a:t>
            </a:r>
            <a:endParaRPr lang="en-US" sz="1400" dirty="0"/>
          </a:p>
        </p:txBody>
      </p:sp>
      <p:sp>
        <p:nvSpPr>
          <p:cNvPr id="14" name="Text 12"/>
          <p:cNvSpPr/>
          <p:nvPr/>
        </p:nvSpPr>
        <p:spPr>
          <a:xfrm>
            <a:off x="365760" y="3200400"/>
            <a:ext cx="11430000" cy="1371600"/>
          </a:xfrm>
          <a:prstGeom prst="rect">
            <a:avLst/>
          </a:prstGeom>
          <a:noFill/>
          <a:ln/>
        </p:spPr>
        <p:txBody>
          <a:bodyPr wrap="square" lIns="0" tIns="0" rIns="0" bIns="0" rtlCol="0" anchor="ctr"/>
          <a:lstStyle/>
          <a:p>
            <a:pPr indent="0" marL="0">
              <a:buNone/>
            </a:pPr>
            <a:r>
              <a:rPr lang="en-US" sz="1400" dirty="0">
                <a:solidFill>
                  <a:srgbClr val="E6EDF3"/>
                </a:solidFill>
                <a:latin typeface="Calibri" pitchFamily="34" charset="0"/>
                <a:ea typeface="Calibri" pitchFamily="34" charset="-122"/>
                <a:cs typeface="Calibri" pitchFamily="34" charset="-120"/>
              </a:rPr>
              <a:t>Ý tưởng cốt lõi: chia một dự án phần mềm thành các vai trò chuyên biệt giống một đội Agile thật (PM, Architect, BA, Dev, QA, …), và để mỗi vai trò chạy bởi một agent AI riêng với context và prompt được thiết kế kỹ. AI không thay thế Agile — AI thực thi Agile.</a:t>
            </a:r>
            <a:endParaRPr lang="en-US" sz="1400" dirty="0"/>
          </a:p>
        </p:txBody>
      </p:sp>
      <p:sp>
        <p:nvSpPr>
          <p:cNvPr id="15" name="Shape 13"/>
          <p:cNvSpPr/>
          <p:nvPr/>
        </p:nvSpPr>
        <p:spPr>
          <a:xfrm>
            <a:off x="365760" y="4663440"/>
            <a:ext cx="3657600" cy="1463040"/>
          </a:xfrm>
          <a:prstGeom prst="rect">
            <a:avLst/>
          </a:prstGeom>
          <a:solidFill>
            <a:srgbClr val="1C2128"/>
          </a:solidFill>
          <a:ln w="12700">
            <a:solidFill>
              <a:srgbClr val="30363D"/>
            </a:solidFill>
            <a:prstDash val="solid"/>
          </a:ln>
        </p:spPr>
      </p:sp>
      <p:sp>
        <p:nvSpPr>
          <p:cNvPr id="16" name="Text 14"/>
          <p:cNvSpPr/>
          <p:nvPr/>
        </p:nvSpPr>
        <p:spPr>
          <a:xfrm>
            <a:off x="548640" y="4754880"/>
            <a:ext cx="3383280" cy="365760"/>
          </a:xfrm>
          <a:prstGeom prst="rect">
            <a:avLst/>
          </a:prstGeom>
          <a:noFill/>
          <a:ln/>
        </p:spPr>
        <p:txBody>
          <a:bodyPr wrap="square" lIns="0" tIns="0" rIns="0" bIns="0" rtlCol="0" anchor="ctr"/>
          <a:lstStyle/>
          <a:p>
            <a:pPr indent="0" marL="0">
              <a:buNone/>
            </a:pPr>
            <a:r>
              <a:rPr lang="en-US" sz="1400" b="1" dirty="0">
                <a:solidFill>
                  <a:srgbClr val="7CE38B"/>
                </a:solidFill>
                <a:latin typeface="Consolas" pitchFamily="34" charset="0"/>
                <a:ea typeface="Consolas" pitchFamily="34" charset="-122"/>
                <a:cs typeface="Consolas" pitchFamily="34" charset="-120"/>
              </a:rPr>
              <a:t>1. Agentic Planning</a:t>
            </a:r>
            <a:endParaRPr lang="en-US" sz="1400" dirty="0"/>
          </a:p>
        </p:txBody>
      </p:sp>
      <p:sp>
        <p:nvSpPr>
          <p:cNvPr id="17" name="Text 15"/>
          <p:cNvSpPr/>
          <p:nvPr/>
        </p:nvSpPr>
        <p:spPr>
          <a:xfrm>
            <a:off x="548640" y="5120640"/>
            <a:ext cx="3383280" cy="914400"/>
          </a:xfrm>
          <a:prstGeom prst="rect">
            <a:avLst/>
          </a:prstGeom>
          <a:noFill/>
          <a:ln/>
        </p:spPr>
        <p:txBody>
          <a:bodyPr wrap="square" lIns="0" tIns="0" rIns="0" bIns="0" rtlCol="0" anchor="t"/>
          <a:lstStyle/>
          <a:p>
            <a:pPr indent="0" marL="0">
              <a:buNone/>
            </a:pPr>
            <a:r>
              <a:rPr lang="en-US" sz="1100" dirty="0">
                <a:solidFill>
                  <a:srgbClr val="E6EDF3"/>
                </a:solidFill>
                <a:latin typeface="Calibri" pitchFamily="34" charset="0"/>
                <a:ea typeface="Calibri" pitchFamily="34" charset="-122"/>
                <a:cs typeface="Calibri" pitchFamily="34" charset="-120"/>
              </a:rPr>
              <a:t>Planning artifacts (PRD, Architecture, Stories) do các agent chuyên biệt sinh ra — không bắt một LLM làm tất.</a:t>
            </a:r>
            <a:endParaRPr lang="en-US" sz="1100" dirty="0"/>
          </a:p>
        </p:txBody>
      </p:sp>
      <p:sp>
        <p:nvSpPr>
          <p:cNvPr id="18" name="Shape 16"/>
          <p:cNvSpPr/>
          <p:nvPr/>
        </p:nvSpPr>
        <p:spPr>
          <a:xfrm>
            <a:off x="4297680" y="4663440"/>
            <a:ext cx="3657600" cy="1463040"/>
          </a:xfrm>
          <a:prstGeom prst="rect">
            <a:avLst/>
          </a:prstGeom>
          <a:solidFill>
            <a:srgbClr val="1C2128"/>
          </a:solidFill>
          <a:ln w="12700">
            <a:solidFill>
              <a:srgbClr val="30363D"/>
            </a:solidFill>
            <a:prstDash val="solid"/>
          </a:ln>
        </p:spPr>
      </p:sp>
      <p:sp>
        <p:nvSpPr>
          <p:cNvPr id="19" name="Text 17"/>
          <p:cNvSpPr/>
          <p:nvPr/>
        </p:nvSpPr>
        <p:spPr>
          <a:xfrm>
            <a:off x="4480560" y="4754880"/>
            <a:ext cx="3383280" cy="365760"/>
          </a:xfrm>
          <a:prstGeom prst="rect">
            <a:avLst/>
          </a:prstGeom>
          <a:noFill/>
          <a:ln/>
        </p:spPr>
        <p:txBody>
          <a:bodyPr wrap="square" lIns="0" tIns="0" rIns="0" bIns="0" rtlCol="0" anchor="ctr"/>
          <a:lstStyle/>
          <a:p>
            <a:pPr indent="0" marL="0">
              <a:buNone/>
            </a:pPr>
            <a:r>
              <a:rPr lang="en-US" sz="1400" b="1" dirty="0">
                <a:solidFill>
                  <a:srgbClr val="7CE38B"/>
                </a:solidFill>
                <a:latin typeface="Consolas" pitchFamily="34" charset="0"/>
                <a:ea typeface="Consolas" pitchFamily="34" charset="-122"/>
                <a:cs typeface="Consolas" pitchFamily="34" charset="-120"/>
              </a:rPr>
              <a:t>2. Context Engineering</a:t>
            </a:r>
            <a:endParaRPr lang="en-US" sz="1400" dirty="0"/>
          </a:p>
        </p:txBody>
      </p:sp>
      <p:sp>
        <p:nvSpPr>
          <p:cNvPr id="20" name="Text 18"/>
          <p:cNvSpPr/>
          <p:nvPr/>
        </p:nvSpPr>
        <p:spPr>
          <a:xfrm>
            <a:off x="4480560" y="5120640"/>
            <a:ext cx="3383280" cy="914400"/>
          </a:xfrm>
          <a:prstGeom prst="rect">
            <a:avLst/>
          </a:prstGeom>
          <a:noFill/>
          <a:ln/>
        </p:spPr>
        <p:txBody>
          <a:bodyPr wrap="square" lIns="0" tIns="0" rIns="0" bIns="0" rtlCol="0" anchor="t"/>
          <a:lstStyle/>
          <a:p>
            <a:pPr indent="0" marL="0">
              <a:buNone/>
            </a:pPr>
            <a:r>
              <a:rPr lang="en-US" sz="1100" dirty="0">
                <a:solidFill>
                  <a:srgbClr val="E6EDF3"/>
                </a:solidFill>
                <a:latin typeface="Calibri" pitchFamily="34" charset="0"/>
                <a:ea typeface="Calibri" pitchFamily="34" charset="-122"/>
                <a:cs typeface="Calibri" pitchFamily="34" charset="-120"/>
              </a:rPr>
              <a:t>Mỗi agent chỉ được nhận đúng context nó cần — không feed cả repo. Tiết kiệm token, tăng độ chính xác.</a:t>
            </a:r>
            <a:endParaRPr lang="en-US" sz="1100" dirty="0"/>
          </a:p>
        </p:txBody>
      </p:sp>
      <p:sp>
        <p:nvSpPr>
          <p:cNvPr id="21" name="Shape 19"/>
          <p:cNvSpPr/>
          <p:nvPr/>
        </p:nvSpPr>
        <p:spPr>
          <a:xfrm>
            <a:off x="8229600" y="4663440"/>
            <a:ext cx="3657600" cy="1463040"/>
          </a:xfrm>
          <a:prstGeom prst="rect">
            <a:avLst/>
          </a:prstGeom>
          <a:solidFill>
            <a:srgbClr val="1C2128"/>
          </a:solidFill>
          <a:ln w="12700">
            <a:solidFill>
              <a:srgbClr val="30363D"/>
            </a:solidFill>
            <a:prstDash val="solid"/>
          </a:ln>
        </p:spPr>
      </p:sp>
      <p:sp>
        <p:nvSpPr>
          <p:cNvPr id="22" name="Text 20"/>
          <p:cNvSpPr/>
          <p:nvPr/>
        </p:nvSpPr>
        <p:spPr>
          <a:xfrm>
            <a:off x="8412480" y="4754880"/>
            <a:ext cx="3383280" cy="365760"/>
          </a:xfrm>
          <a:prstGeom prst="rect">
            <a:avLst/>
          </a:prstGeom>
          <a:noFill/>
          <a:ln/>
        </p:spPr>
        <p:txBody>
          <a:bodyPr wrap="square" lIns="0" tIns="0" rIns="0" bIns="0" rtlCol="0" anchor="ctr"/>
          <a:lstStyle/>
          <a:p>
            <a:pPr indent="0" marL="0">
              <a:buNone/>
            </a:pPr>
            <a:r>
              <a:rPr lang="en-US" sz="1400" b="1" dirty="0">
                <a:solidFill>
                  <a:srgbClr val="7CE38B"/>
                </a:solidFill>
                <a:latin typeface="Consolas" pitchFamily="34" charset="0"/>
                <a:ea typeface="Consolas" pitchFamily="34" charset="-122"/>
                <a:cs typeface="Consolas" pitchFamily="34" charset="-120"/>
              </a:rPr>
              <a:t>3. Doc-as-Spec</a:t>
            </a:r>
            <a:endParaRPr lang="en-US" sz="1400" dirty="0"/>
          </a:p>
        </p:txBody>
      </p:sp>
      <p:sp>
        <p:nvSpPr>
          <p:cNvPr id="23" name="Text 21"/>
          <p:cNvSpPr/>
          <p:nvPr/>
        </p:nvSpPr>
        <p:spPr>
          <a:xfrm>
            <a:off x="8412480" y="5120640"/>
            <a:ext cx="3383280" cy="914400"/>
          </a:xfrm>
          <a:prstGeom prst="rect">
            <a:avLst/>
          </a:prstGeom>
          <a:noFill/>
          <a:ln/>
        </p:spPr>
        <p:txBody>
          <a:bodyPr wrap="square" lIns="0" tIns="0" rIns="0" bIns="0" rtlCol="0" anchor="t"/>
          <a:lstStyle/>
          <a:p>
            <a:pPr indent="0" marL="0">
              <a:buNone/>
            </a:pPr>
            <a:r>
              <a:rPr lang="en-US" sz="1100" dirty="0">
                <a:solidFill>
                  <a:srgbClr val="E6EDF3"/>
                </a:solidFill>
                <a:latin typeface="Calibri" pitchFamily="34" charset="0"/>
                <a:ea typeface="Calibri" pitchFamily="34" charset="-122"/>
                <a:cs typeface="Calibri" pitchFamily="34" charset="-120"/>
              </a:rPr>
              <a:t>Tài liệu (PRD, ADR, BACKLOG…) là source of truth giữa các agent, không phải conversation history.</a:t>
            </a:r>
            <a:endParaRPr lang="en-US" sz="1100" dirty="0"/>
          </a:p>
        </p:txBody>
      </p:sp>
      <p:sp>
        <p:nvSpPr>
          <p:cNvPr id="24" name="Text 22"/>
          <p:cNvSpPr/>
          <p:nvPr/>
        </p:nvSpPr>
        <p:spPr>
          <a:xfrm>
            <a:off x="11338560" y="6492240"/>
            <a:ext cx="731520" cy="228600"/>
          </a:xfrm>
          <a:prstGeom prst="rect">
            <a:avLst/>
          </a:prstGeom>
          <a:noFill/>
          <a:ln/>
        </p:spPr>
        <p:txBody>
          <a:bodyPr wrap="square" lIns="0" tIns="0" rIns="0" bIns="0" rtlCol="0" anchor="ctr"/>
          <a:lstStyle/>
          <a:p>
            <a:pPr algn="r" indent="0" marL="0">
              <a:buNone/>
            </a:pPr>
            <a:r>
              <a:rPr lang="en-US" sz="900" dirty="0">
                <a:solidFill>
                  <a:srgbClr val="8B949E"/>
                </a:solidFill>
                <a:latin typeface="Consolas" pitchFamily="34" charset="0"/>
                <a:ea typeface="Consolas" pitchFamily="34" charset="-122"/>
                <a:cs typeface="Consolas" pitchFamily="34" charset="-120"/>
              </a:rPr>
              <a:t>4 / 32</a:t>
            </a:r>
            <a:endParaRPr lang="en-US" sz="900" dirty="0"/>
          </a:p>
        </p:txBody>
      </p:sp>
      <p:sp>
        <p:nvSpPr>
          <p:cNvPr id="25" name="Text 23"/>
          <p:cNvSpPr/>
          <p:nvPr/>
        </p:nvSpPr>
        <p:spPr>
          <a:xfrm>
            <a:off x="365760" y="6492240"/>
            <a:ext cx="1097280" cy="228600"/>
          </a:xfrm>
          <a:prstGeom prst="rect">
            <a:avLst/>
          </a:prstGeom>
          <a:noFill/>
          <a:ln/>
        </p:spPr>
        <p:txBody>
          <a:bodyPr wrap="square" lIns="0" tIns="0" rIns="0" bIns="0" rtlCol="0" anchor="ctr"/>
          <a:lstStyle/>
          <a:p>
            <a:pPr algn="l" indent="0" marL="0">
              <a:buNone/>
            </a:pPr>
            <a:r>
              <a:rPr lang="en-US" sz="900" dirty="0">
                <a:solidFill>
                  <a:srgbClr val="8B949E"/>
                </a:solidFill>
                <a:latin typeface="Consolas" pitchFamily="34" charset="0"/>
                <a:ea typeface="Consolas" pitchFamily="34" charset="-122"/>
                <a:cs typeface="Consolas" pitchFamily="34" charset="-120"/>
              </a:rPr>
              <a:t>v10.12</a:t>
            </a:r>
            <a:endParaRPr lang="en-US" sz="900" dirty="0"/>
          </a:p>
        </p:txBody>
      </p:sp>
      <p:sp>
        <p:nvSpPr>
          <p:cNvPr id="26" name="Text 24"/>
          <p:cNvSpPr/>
          <p:nvPr/>
        </p:nvSpPr>
        <p:spPr>
          <a:xfrm>
            <a:off x="4572000" y="6492240"/>
            <a:ext cx="6400800" cy="228600"/>
          </a:xfrm>
          <a:prstGeom prst="rect">
            <a:avLst/>
          </a:prstGeom>
          <a:noFill/>
          <a:ln/>
        </p:spPr>
        <p:txBody>
          <a:bodyPr wrap="square" lIns="0" tIns="0" rIns="0" bIns="0" rtlCol="0" anchor="ctr"/>
          <a:lstStyle/>
          <a:p>
            <a:pPr algn="ctr" indent="0" marL="0">
              <a:buNone/>
            </a:pPr>
            <a:r>
              <a:rPr lang="en-US" sz="900" dirty="0">
                <a:solidFill>
                  <a:srgbClr val="8B949E"/>
                </a:solidFill>
                <a:latin typeface="Consolas" pitchFamily="34" charset="0"/>
                <a:ea typeface="Consolas" pitchFamily="34" charset="-122"/>
                <a:cs typeface="Consolas" pitchFamily="34" charset="-120"/>
              </a:rPr>
              <a:t>Product Engineering Agent Framework</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365760" y="228600"/>
            <a:ext cx="8229600" cy="274320"/>
          </a:xfrm>
          <a:prstGeom prst="rect">
            <a:avLst/>
          </a:prstGeom>
          <a:noFill/>
          <a:ln/>
        </p:spPr>
        <p:txBody>
          <a:bodyPr wrap="square" lIns="0" tIns="0" rIns="0" bIns="0" rtlCol="0" anchor="ctr"/>
          <a:lstStyle/>
          <a:p>
            <a:pPr indent="0" marL="0">
              <a:buNone/>
            </a:pPr>
            <a:r>
              <a:rPr lang="en-US" sz="1100" dirty="0">
                <a:solidFill>
                  <a:srgbClr val="2EA043"/>
                </a:solidFill>
                <a:latin typeface="Consolas" pitchFamily="34" charset="0"/>
                <a:ea typeface="Consolas" pitchFamily="34" charset="-122"/>
                <a:cs typeface="Consolas" pitchFamily="34" charset="-120"/>
              </a:rPr>
              <a:t>$ </a:t>
            </a:r>
            <a:pPr indent="0" marL="0">
              <a:buNone/>
            </a:pPr>
            <a:r>
              <a:rPr lang="en-US" sz="1100" dirty="0">
                <a:solidFill>
                  <a:srgbClr val="8B949E"/>
                </a:solidFill>
                <a:latin typeface="Consolas" pitchFamily="34" charset="0"/>
                <a:ea typeface="Consolas" pitchFamily="34" charset="-122"/>
                <a:cs typeface="Consolas" pitchFamily="34" charset="-120"/>
              </a:rPr>
              <a:t>04_three_approaches.md</a:t>
            </a:r>
            <a:endParaRPr lang="en-US" sz="1100" dirty="0"/>
          </a:p>
        </p:txBody>
      </p:sp>
      <p:sp>
        <p:nvSpPr>
          <p:cNvPr id="3" name="Text 1"/>
          <p:cNvSpPr/>
          <p:nvPr/>
        </p:nvSpPr>
        <p:spPr>
          <a:xfrm>
            <a:off x="365760" y="548640"/>
            <a:ext cx="11430000" cy="640080"/>
          </a:xfrm>
          <a:prstGeom prst="rect">
            <a:avLst/>
          </a:prstGeom>
          <a:noFill/>
          <a:ln/>
        </p:spPr>
        <p:txBody>
          <a:bodyPr wrap="square" lIns="0" tIns="0" rIns="0" bIns="0" rtlCol="0" anchor="ctr"/>
          <a:lstStyle/>
          <a:p>
            <a:pPr indent="0" marL="0">
              <a:buNone/>
            </a:pPr>
            <a:r>
              <a:rPr lang="en-US" sz="3000" b="1" dirty="0">
                <a:solidFill>
                  <a:srgbClr val="E6EDF3"/>
                </a:solidFill>
                <a:latin typeface="Consolas" pitchFamily="34" charset="0"/>
                <a:ea typeface="Consolas" pitchFamily="34" charset="-122"/>
                <a:cs typeface="Consolas" pitchFamily="34" charset="-120"/>
              </a:rPr>
              <a:t>3 cách tiếp cận — chọn cái nào?</a:t>
            </a:r>
            <a:endParaRPr lang="en-US" sz="3000" dirty="0"/>
          </a:p>
        </p:txBody>
      </p:sp>
      <p:sp>
        <p:nvSpPr>
          <p:cNvPr id="4" name="Text 2"/>
          <p:cNvSpPr/>
          <p:nvPr/>
        </p:nvSpPr>
        <p:spPr>
          <a:xfrm>
            <a:off x="365760" y="1143000"/>
            <a:ext cx="11430000" cy="365760"/>
          </a:xfrm>
          <a:prstGeom prst="rect">
            <a:avLst/>
          </a:prstGeom>
          <a:noFill/>
          <a:ln/>
        </p:spPr>
        <p:txBody>
          <a:bodyPr wrap="square" lIns="0" tIns="0" rIns="0" bIns="0" rtlCol="0" anchor="ctr"/>
          <a:lstStyle/>
          <a:p>
            <a:pPr indent="0" marL="0">
              <a:buNone/>
            </a:pPr>
            <a:r>
              <a:rPr lang="en-US" sz="1400" i="1" dirty="0">
                <a:solidFill>
                  <a:srgbClr val="8B949E"/>
                </a:solidFill>
                <a:latin typeface="Calibri" pitchFamily="34" charset="0"/>
                <a:ea typeface="Calibri" pitchFamily="34" charset="-122"/>
                <a:cs typeface="Calibri" pitchFamily="34" charset="-120"/>
              </a:rPr>
              <a:t>Single-agent vs nhiều LLM không chung context vs BMAD multi-agent</a:t>
            </a:r>
            <a:endParaRPr lang="en-US" sz="1400" dirty="0"/>
          </a:p>
        </p:txBody>
      </p:sp>
      <p:sp>
        <p:nvSpPr>
          <p:cNvPr id="5" name="Shape 3"/>
          <p:cNvSpPr/>
          <p:nvPr/>
        </p:nvSpPr>
        <p:spPr>
          <a:xfrm>
            <a:off x="365760" y="1783080"/>
            <a:ext cx="3749040" cy="4572000"/>
          </a:xfrm>
          <a:prstGeom prst="rect">
            <a:avLst/>
          </a:prstGeom>
          <a:solidFill>
            <a:srgbClr val="161B22"/>
          </a:solidFill>
          <a:ln w="12700">
            <a:solidFill>
              <a:srgbClr val="30363D"/>
            </a:solidFill>
            <a:prstDash val="solid"/>
          </a:ln>
        </p:spPr>
      </p:sp>
      <p:sp>
        <p:nvSpPr>
          <p:cNvPr id="6" name="Shape 4"/>
          <p:cNvSpPr/>
          <p:nvPr/>
        </p:nvSpPr>
        <p:spPr>
          <a:xfrm>
            <a:off x="365760" y="1783080"/>
            <a:ext cx="73152" cy="4572000"/>
          </a:xfrm>
          <a:prstGeom prst="rect">
            <a:avLst/>
          </a:prstGeom>
          <a:solidFill>
            <a:srgbClr val="F85149"/>
          </a:solidFill>
          <a:ln w="12700">
            <a:solidFill>
              <a:srgbClr val="F85149"/>
            </a:solidFill>
            <a:prstDash val="solid"/>
          </a:ln>
        </p:spPr>
      </p:sp>
      <p:sp>
        <p:nvSpPr>
          <p:cNvPr id="7" name="Text 5"/>
          <p:cNvSpPr/>
          <p:nvPr/>
        </p:nvSpPr>
        <p:spPr>
          <a:xfrm>
            <a:off x="530352" y="1874520"/>
            <a:ext cx="3520440" cy="365760"/>
          </a:xfrm>
          <a:prstGeom prst="rect">
            <a:avLst/>
          </a:prstGeom>
          <a:noFill/>
          <a:ln/>
        </p:spPr>
        <p:txBody>
          <a:bodyPr wrap="square" lIns="0" tIns="0" rIns="0" bIns="0" rtlCol="0" anchor="ctr"/>
          <a:lstStyle/>
          <a:p>
            <a:pPr indent="0" marL="0">
              <a:buNone/>
            </a:pPr>
            <a:r>
              <a:rPr lang="en-US" sz="1400" b="1" dirty="0">
                <a:solidFill>
                  <a:srgbClr val="F85149"/>
                </a:solidFill>
                <a:latin typeface="Consolas" pitchFamily="34" charset="0"/>
                <a:ea typeface="Consolas" pitchFamily="34" charset="-122"/>
                <a:cs typeface="Consolas" pitchFamily="34" charset="-120"/>
              </a:rPr>
              <a:t>SINGLE-AGENT</a:t>
            </a:r>
            <a:endParaRPr lang="en-US" sz="1400" dirty="0"/>
          </a:p>
        </p:txBody>
      </p:sp>
      <p:sp>
        <p:nvSpPr>
          <p:cNvPr id="8" name="Text 6"/>
          <p:cNvSpPr/>
          <p:nvPr/>
        </p:nvSpPr>
        <p:spPr>
          <a:xfrm>
            <a:off x="530352" y="2240280"/>
            <a:ext cx="3520440" cy="274320"/>
          </a:xfrm>
          <a:prstGeom prst="rect">
            <a:avLst/>
          </a:prstGeom>
          <a:noFill/>
          <a:ln/>
        </p:spPr>
        <p:txBody>
          <a:bodyPr wrap="square" lIns="0" tIns="0" rIns="0" bIns="0" rtlCol="0" anchor="ctr"/>
          <a:lstStyle/>
          <a:p>
            <a:pPr indent="0" marL="0">
              <a:buNone/>
            </a:pPr>
            <a:r>
              <a:rPr lang="en-US" sz="1000" i="1" dirty="0">
                <a:solidFill>
                  <a:srgbClr val="8B949E"/>
                </a:solidFill>
                <a:latin typeface="Calibri" pitchFamily="34" charset="0"/>
                <a:ea typeface="Calibri" pitchFamily="34" charset="-122"/>
                <a:cs typeface="Calibri" pitchFamily="34" charset="-120"/>
              </a:rPr>
              <a:t>1 LLM, 1 context</a:t>
            </a:r>
            <a:endParaRPr lang="en-US" sz="1000" dirty="0"/>
          </a:p>
        </p:txBody>
      </p:sp>
      <p:sp>
        <p:nvSpPr>
          <p:cNvPr id="9" name="Text 7"/>
          <p:cNvSpPr/>
          <p:nvPr/>
        </p:nvSpPr>
        <p:spPr>
          <a:xfrm>
            <a:off x="530352" y="2542032"/>
            <a:ext cx="3520440" cy="274320"/>
          </a:xfrm>
          <a:prstGeom prst="rect">
            <a:avLst/>
          </a:prstGeom>
          <a:noFill/>
          <a:ln/>
        </p:spPr>
        <p:txBody>
          <a:bodyPr wrap="square" lIns="0" tIns="0" rIns="0" bIns="0" rtlCol="0" anchor="ctr"/>
          <a:lstStyle/>
          <a:p>
            <a:pPr indent="0" marL="0">
              <a:buNone/>
            </a:pPr>
            <a:r>
              <a:rPr lang="en-US" sz="1000" dirty="0">
                <a:solidFill>
                  <a:srgbClr val="F85149"/>
                </a:solidFill>
                <a:latin typeface="Consolas" pitchFamily="34" charset="0"/>
                <a:ea typeface="Consolas" pitchFamily="34" charset="-122"/>
                <a:cs typeface="Consolas" pitchFamily="34" charset="-120"/>
              </a:rPr>
              <a:t>e.g. ChatGPT / Claude cho mọi việc</a:t>
            </a:r>
            <a:endParaRPr lang="en-US" sz="1000" dirty="0"/>
          </a:p>
        </p:txBody>
      </p:sp>
      <p:sp>
        <p:nvSpPr>
          <p:cNvPr id="10" name="Shape 8"/>
          <p:cNvSpPr/>
          <p:nvPr/>
        </p:nvSpPr>
        <p:spPr>
          <a:xfrm>
            <a:off x="548640" y="2880360"/>
            <a:ext cx="3383280" cy="0"/>
          </a:xfrm>
          <a:prstGeom prst="line">
            <a:avLst/>
          </a:prstGeom>
          <a:noFill/>
          <a:ln w="6350">
            <a:solidFill>
              <a:srgbClr val="30363D"/>
            </a:solidFill>
            <a:prstDash val="solid"/>
          </a:ln>
        </p:spPr>
      </p:sp>
      <p:sp>
        <p:nvSpPr>
          <p:cNvPr id="11" name="Text 9"/>
          <p:cNvSpPr/>
          <p:nvPr/>
        </p:nvSpPr>
        <p:spPr>
          <a:xfrm>
            <a:off x="530352" y="2971800"/>
            <a:ext cx="3520440" cy="3291840"/>
          </a:xfrm>
          <a:prstGeom prst="rect">
            <a:avLst/>
          </a:prstGeom>
          <a:noFill/>
          <a:ln/>
        </p:spPr>
        <p:txBody>
          <a:bodyPr wrap="square" lIns="0" tIns="0" rIns="0" bIns="0" rtlCol="0" anchor="t"/>
          <a:lstStyle/>
          <a:p>
            <a:pPr indent="0" marL="0">
              <a:spcAft>
                <a:spcPts val="600"/>
              </a:spcAft>
              <a:buNone/>
            </a:pPr>
            <a:r>
              <a:rPr lang="en-US" sz="1100" dirty="0">
                <a:solidFill>
                  <a:srgbClr val="E6EDF3"/>
                </a:solidFill>
                <a:latin typeface="Calibri" pitchFamily="34" charset="0"/>
                <a:ea typeface="Calibri" pitchFamily="34" charset="-122"/>
                <a:cs typeface="Calibri" pitchFamily="34" charset="-120"/>
              </a:rPr>
              <a:t>✗ 1 LLM làm cả PM, SA, BA, BE, FE, QA</a:t>
            </a:r>
            <a:endParaRPr lang="en-US" sz="1100" dirty="0"/>
          </a:p>
          <a:p>
            <a:pPr indent="0" marL="0">
              <a:spcAft>
                <a:spcPts val="600"/>
              </a:spcAft>
              <a:buNone/>
            </a:pPr>
            <a:r>
              <a:rPr lang="en-US" sz="1100" dirty="0">
                <a:solidFill>
                  <a:srgbClr val="E6EDF3"/>
                </a:solidFill>
                <a:latin typeface="Calibri" pitchFamily="34" charset="0"/>
                <a:ea typeface="Calibri" pitchFamily="34" charset="-122"/>
                <a:cs typeface="Calibri" pitchFamily="34" charset="-120"/>
              </a:rPr>
              <a:t>✗ Mọi quyết định trộn trong 1 conversation</a:t>
            </a:r>
            <a:endParaRPr lang="en-US" sz="1100" dirty="0"/>
          </a:p>
          <a:p>
            <a:pPr indent="0" marL="0">
              <a:spcAft>
                <a:spcPts val="600"/>
              </a:spcAft>
              <a:buNone/>
            </a:pPr>
            <a:r>
              <a:rPr lang="en-US" sz="1100" dirty="0">
                <a:solidFill>
                  <a:srgbClr val="E6EDF3"/>
                </a:solidFill>
                <a:latin typeface="Calibri" pitchFamily="34" charset="0"/>
                <a:ea typeface="Calibri" pitchFamily="34" charset="-122"/>
                <a:cs typeface="Calibri" pitchFamily="34" charset="-120"/>
              </a:rPr>
              <a:t>✗ Không role boundary — model tự pick lane</a:t>
            </a:r>
            <a:endParaRPr lang="en-US" sz="1100" dirty="0"/>
          </a:p>
          <a:p>
            <a:pPr indent="0" marL="0">
              <a:spcAft>
                <a:spcPts val="600"/>
              </a:spcAft>
              <a:buNone/>
            </a:pPr>
            <a:r>
              <a:rPr lang="en-US" sz="1100" dirty="0">
                <a:solidFill>
                  <a:srgbClr val="E6EDF3"/>
                </a:solidFill>
                <a:latin typeface="Calibri" pitchFamily="34" charset="0"/>
                <a:ea typeface="Calibri" pitchFamily="34" charset="-122"/>
                <a:cs typeface="Calibri" pitchFamily="34" charset="-120"/>
              </a:rPr>
              <a:t>✗ Trả giá strong-model cho mọi task</a:t>
            </a:r>
            <a:endParaRPr lang="en-US" sz="1100" dirty="0"/>
          </a:p>
          <a:p>
            <a:pPr indent="0" marL="0">
              <a:spcAft>
                <a:spcPts val="600"/>
              </a:spcAft>
              <a:buNone/>
            </a:pPr>
            <a:r>
              <a:rPr lang="en-US" sz="1100" dirty="0">
                <a:solidFill>
                  <a:srgbClr val="E6EDF3"/>
                </a:solidFill>
                <a:latin typeface="Calibri" pitchFamily="34" charset="0"/>
                <a:ea typeface="Calibri" pitchFamily="34" charset="-122"/>
                <a:cs typeface="Calibri" pitchFamily="34" charset="-120"/>
              </a:rPr>
              <a:t>✗ Context đầy nhanh → hallucination, drift</a:t>
            </a:r>
            <a:endParaRPr lang="en-US" sz="1100" dirty="0"/>
          </a:p>
          <a:p>
            <a:pPr indent="0" marL="0">
              <a:spcAft>
                <a:spcPts val="600"/>
              </a:spcAft>
              <a:buNone/>
            </a:pPr>
            <a:r>
              <a:rPr lang="en-US" sz="1100" dirty="0">
                <a:solidFill>
                  <a:srgbClr val="E6EDF3"/>
                </a:solidFill>
                <a:latin typeface="Calibri" pitchFamily="34" charset="0"/>
                <a:ea typeface="Calibri" pitchFamily="34" charset="-122"/>
                <a:cs typeface="Calibri" pitchFamily="34" charset="-120"/>
              </a:rPr>
              <a:t>✗ Subagent ảo → mất audit trail</a:t>
            </a:r>
            <a:endParaRPr lang="en-US" sz="1100" dirty="0"/>
          </a:p>
        </p:txBody>
      </p:sp>
      <p:sp>
        <p:nvSpPr>
          <p:cNvPr id="12" name="Shape 10"/>
          <p:cNvSpPr/>
          <p:nvPr/>
        </p:nvSpPr>
        <p:spPr>
          <a:xfrm>
            <a:off x="4206240" y="1783080"/>
            <a:ext cx="3749040" cy="4572000"/>
          </a:xfrm>
          <a:prstGeom prst="rect">
            <a:avLst/>
          </a:prstGeom>
          <a:solidFill>
            <a:srgbClr val="161B22"/>
          </a:solidFill>
          <a:ln w="12700">
            <a:solidFill>
              <a:srgbClr val="30363D"/>
            </a:solidFill>
            <a:prstDash val="solid"/>
          </a:ln>
        </p:spPr>
      </p:sp>
      <p:sp>
        <p:nvSpPr>
          <p:cNvPr id="13" name="Shape 11"/>
          <p:cNvSpPr/>
          <p:nvPr/>
        </p:nvSpPr>
        <p:spPr>
          <a:xfrm>
            <a:off x="4206240" y="1783080"/>
            <a:ext cx="73152" cy="4572000"/>
          </a:xfrm>
          <a:prstGeom prst="rect">
            <a:avLst/>
          </a:prstGeom>
          <a:solidFill>
            <a:srgbClr val="D29922"/>
          </a:solidFill>
          <a:ln w="12700">
            <a:solidFill>
              <a:srgbClr val="D29922"/>
            </a:solidFill>
            <a:prstDash val="solid"/>
          </a:ln>
        </p:spPr>
      </p:sp>
      <p:sp>
        <p:nvSpPr>
          <p:cNvPr id="14" name="Text 12"/>
          <p:cNvSpPr/>
          <p:nvPr/>
        </p:nvSpPr>
        <p:spPr>
          <a:xfrm>
            <a:off x="4370832" y="1874520"/>
            <a:ext cx="3520440" cy="365760"/>
          </a:xfrm>
          <a:prstGeom prst="rect">
            <a:avLst/>
          </a:prstGeom>
          <a:noFill/>
          <a:ln/>
        </p:spPr>
        <p:txBody>
          <a:bodyPr wrap="square" lIns="0" tIns="0" rIns="0" bIns="0" rtlCol="0" anchor="ctr"/>
          <a:lstStyle/>
          <a:p>
            <a:pPr indent="0" marL="0">
              <a:buNone/>
            </a:pPr>
            <a:r>
              <a:rPr lang="en-US" sz="1400" b="1" dirty="0">
                <a:solidFill>
                  <a:srgbClr val="D29922"/>
                </a:solidFill>
                <a:latin typeface="Consolas" pitchFamily="34" charset="0"/>
                <a:ea typeface="Consolas" pitchFamily="34" charset="-122"/>
                <a:cs typeface="Consolas" pitchFamily="34" charset="-120"/>
              </a:rPr>
              <a:t>MULTI-LLM, NO CONTEXT</a:t>
            </a:r>
            <a:endParaRPr lang="en-US" sz="1400" dirty="0"/>
          </a:p>
        </p:txBody>
      </p:sp>
      <p:sp>
        <p:nvSpPr>
          <p:cNvPr id="15" name="Text 13"/>
          <p:cNvSpPr/>
          <p:nvPr/>
        </p:nvSpPr>
        <p:spPr>
          <a:xfrm>
            <a:off x="4370832" y="2240280"/>
            <a:ext cx="3520440" cy="274320"/>
          </a:xfrm>
          <a:prstGeom prst="rect">
            <a:avLst/>
          </a:prstGeom>
          <a:noFill/>
          <a:ln/>
        </p:spPr>
        <p:txBody>
          <a:bodyPr wrap="square" lIns="0" tIns="0" rIns="0" bIns="0" rtlCol="0" anchor="ctr"/>
          <a:lstStyle/>
          <a:p>
            <a:pPr indent="0" marL="0">
              <a:buNone/>
            </a:pPr>
            <a:r>
              <a:rPr lang="en-US" sz="1000" i="1" dirty="0">
                <a:solidFill>
                  <a:srgbClr val="8B949E"/>
                </a:solidFill>
                <a:latin typeface="Calibri" pitchFamily="34" charset="0"/>
                <a:ea typeface="Calibri" pitchFamily="34" charset="-122"/>
                <a:cs typeface="Calibri" pitchFamily="34" charset="-120"/>
              </a:rPr>
              <a:t>Nhiều tool, user relay tay</a:t>
            </a:r>
            <a:endParaRPr lang="en-US" sz="1000" dirty="0"/>
          </a:p>
        </p:txBody>
      </p:sp>
      <p:sp>
        <p:nvSpPr>
          <p:cNvPr id="16" name="Text 14"/>
          <p:cNvSpPr/>
          <p:nvPr/>
        </p:nvSpPr>
        <p:spPr>
          <a:xfrm>
            <a:off x="4370832" y="2542032"/>
            <a:ext cx="3520440" cy="274320"/>
          </a:xfrm>
          <a:prstGeom prst="rect">
            <a:avLst/>
          </a:prstGeom>
          <a:noFill/>
          <a:ln/>
        </p:spPr>
        <p:txBody>
          <a:bodyPr wrap="square" lIns="0" tIns="0" rIns="0" bIns="0" rtlCol="0" anchor="ctr"/>
          <a:lstStyle/>
          <a:p>
            <a:pPr indent="0" marL="0">
              <a:buNone/>
            </a:pPr>
            <a:r>
              <a:rPr lang="en-US" sz="1000" dirty="0">
                <a:solidFill>
                  <a:srgbClr val="D29922"/>
                </a:solidFill>
                <a:latin typeface="Consolas" pitchFamily="34" charset="0"/>
                <a:ea typeface="Consolas" pitchFamily="34" charset="-122"/>
                <a:cs typeface="Consolas" pitchFamily="34" charset="-120"/>
              </a:rPr>
              <a:t>e.g. ChatGPT plan → Cursor code → Claude review</a:t>
            </a:r>
            <a:endParaRPr lang="en-US" sz="1000" dirty="0"/>
          </a:p>
        </p:txBody>
      </p:sp>
      <p:sp>
        <p:nvSpPr>
          <p:cNvPr id="17" name="Shape 15"/>
          <p:cNvSpPr/>
          <p:nvPr/>
        </p:nvSpPr>
        <p:spPr>
          <a:xfrm>
            <a:off x="4389120" y="2880360"/>
            <a:ext cx="3383280" cy="0"/>
          </a:xfrm>
          <a:prstGeom prst="line">
            <a:avLst/>
          </a:prstGeom>
          <a:noFill/>
          <a:ln w="6350">
            <a:solidFill>
              <a:srgbClr val="30363D"/>
            </a:solidFill>
            <a:prstDash val="solid"/>
          </a:ln>
        </p:spPr>
      </p:sp>
      <p:sp>
        <p:nvSpPr>
          <p:cNvPr id="18" name="Text 16"/>
          <p:cNvSpPr/>
          <p:nvPr/>
        </p:nvSpPr>
        <p:spPr>
          <a:xfrm>
            <a:off x="4370832" y="2971800"/>
            <a:ext cx="3520440" cy="3291840"/>
          </a:xfrm>
          <a:prstGeom prst="rect">
            <a:avLst/>
          </a:prstGeom>
          <a:noFill/>
          <a:ln/>
        </p:spPr>
        <p:txBody>
          <a:bodyPr wrap="square" lIns="0" tIns="0" rIns="0" bIns="0" rtlCol="0" anchor="t"/>
          <a:lstStyle/>
          <a:p>
            <a:pPr indent="0" marL="0">
              <a:spcAft>
                <a:spcPts val="600"/>
              </a:spcAft>
              <a:buNone/>
            </a:pPr>
            <a:r>
              <a:rPr lang="en-US" sz="1100" dirty="0">
                <a:solidFill>
                  <a:srgbClr val="E6EDF3"/>
                </a:solidFill>
                <a:latin typeface="Calibri" pitchFamily="34" charset="0"/>
                <a:ea typeface="Calibri" pitchFamily="34" charset="-122"/>
                <a:cs typeface="Calibri" pitchFamily="34" charset="-120"/>
              </a:rPr>
              <a:t>△ Mỗi tool 1 model phù hợp việc (good)</a:t>
            </a:r>
            <a:endParaRPr lang="en-US" sz="1100" dirty="0"/>
          </a:p>
          <a:p>
            <a:pPr indent="0" marL="0">
              <a:spcAft>
                <a:spcPts val="600"/>
              </a:spcAft>
              <a:buNone/>
            </a:pPr>
            <a:r>
              <a:rPr lang="en-US" sz="1100" dirty="0">
                <a:solidFill>
                  <a:srgbClr val="E6EDF3"/>
                </a:solidFill>
                <a:latin typeface="Calibri" pitchFamily="34" charset="0"/>
                <a:ea typeface="Calibri" pitchFamily="34" charset="-122"/>
                <a:cs typeface="Calibri" pitchFamily="34" charset="-120"/>
              </a:rPr>
              <a:t>✗ User phải copy/paste context giữa tool</a:t>
            </a:r>
            <a:endParaRPr lang="en-US" sz="1100" dirty="0"/>
          </a:p>
          <a:p>
            <a:pPr indent="0" marL="0">
              <a:spcAft>
                <a:spcPts val="600"/>
              </a:spcAft>
              <a:buNone/>
            </a:pPr>
            <a:r>
              <a:rPr lang="en-US" sz="1100" dirty="0">
                <a:solidFill>
                  <a:srgbClr val="E6EDF3"/>
                </a:solidFill>
                <a:latin typeface="Calibri" pitchFamily="34" charset="0"/>
                <a:ea typeface="Calibri" pitchFamily="34" charset="-122"/>
                <a:cs typeface="Calibri" pitchFamily="34" charset="-120"/>
              </a:rPr>
              <a:t>✗ Mỗi tool có context riêng, không thấy nhau</a:t>
            </a:r>
            <a:endParaRPr lang="en-US" sz="1100" dirty="0"/>
          </a:p>
          <a:p>
            <a:pPr indent="0" marL="0">
              <a:spcAft>
                <a:spcPts val="600"/>
              </a:spcAft>
              <a:buNone/>
            </a:pPr>
            <a:r>
              <a:rPr lang="en-US" sz="1100" dirty="0">
                <a:solidFill>
                  <a:srgbClr val="E6EDF3"/>
                </a:solidFill>
                <a:latin typeface="Calibri" pitchFamily="34" charset="0"/>
                <a:ea typeface="Calibri" pitchFamily="34" charset="-122"/>
                <a:cs typeface="Calibri" pitchFamily="34" charset="-120"/>
              </a:rPr>
              <a:t>✗ Không persistent memory giữa các tool</a:t>
            </a:r>
            <a:endParaRPr lang="en-US" sz="1100" dirty="0"/>
          </a:p>
          <a:p>
            <a:pPr indent="0" marL="0">
              <a:spcAft>
                <a:spcPts val="600"/>
              </a:spcAft>
              <a:buNone/>
            </a:pPr>
            <a:r>
              <a:rPr lang="en-US" sz="1100" dirty="0">
                <a:solidFill>
                  <a:srgbClr val="E6EDF3"/>
                </a:solidFill>
                <a:latin typeface="Calibri" pitchFamily="34" charset="0"/>
                <a:ea typeface="Calibri" pitchFamily="34" charset="-122"/>
                <a:cs typeface="Calibri" pitchFamily="34" charset="-120"/>
              </a:rPr>
              <a:t>✗ Resume hôm sau: re-explain từ đầu</a:t>
            </a:r>
            <a:endParaRPr lang="en-US" sz="1100" dirty="0"/>
          </a:p>
          <a:p>
            <a:pPr indent="0" marL="0">
              <a:spcAft>
                <a:spcPts val="600"/>
              </a:spcAft>
              <a:buNone/>
            </a:pPr>
            <a:r>
              <a:rPr lang="en-US" sz="1100" dirty="0">
                <a:solidFill>
                  <a:srgbClr val="E6EDF3"/>
                </a:solidFill>
                <a:latin typeface="Calibri" pitchFamily="34" charset="0"/>
                <a:ea typeface="Calibri" pitchFamily="34" charset="-122"/>
                <a:cs typeface="Calibri" pitchFamily="34" charset="-120"/>
              </a:rPr>
              <a:t>✗ Audit = chat history rời rạc, khó replay</a:t>
            </a:r>
            <a:endParaRPr lang="en-US" sz="1100" dirty="0"/>
          </a:p>
        </p:txBody>
      </p:sp>
      <p:sp>
        <p:nvSpPr>
          <p:cNvPr id="19" name="Shape 17"/>
          <p:cNvSpPr/>
          <p:nvPr/>
        </p:nvSpPr>
        <p:spPr>
          <a:xfrm>
            <a:off x="8046720" y="1783080"/>
            <a:ext cx="3749040" cy="4572000"/>
          </a:xfrm>
          <a:prstGeom prst="rect">
            <a:avLst/>
          </a:prstGeom>
          <a:solidFill>
            <a:srgbClr val="161B22"/>
          </a:solidFill>
          <a:ln w="12700">
            <a:solidFill>
              <a:srgbClr val="30363D"/>
            </a:solidFill>
            <a:prstDash val="solid"/>
          </a:ln>
        </p:spPr>
      </p:sp>
      <p:sp>
        <p:nvSpPr>
          <p:cNvPr id="20" name="Shape 18"/>
          <p:cNvSpPr/>
          <p:nvPr/>
        </p:nvSpPr>
        <p:spPr>
          <a:xfrm>
            <a:off x="8046720" y="1783080"/>
            <a:ext cx="73152" cy="4572000"/>
          </a:xfrm>
          <a:prstGeom prst="rect">
            <a:avLst/>
          </a:prstGeom>
          <a:solidFill>
            <a:srgbClr val="7CE38B"/>
          </a:solidFill>
          <a:ln w="12700">
            <a:solidFill>
              <a:srgbClr val="7CE38B"/>
            </a:solidFill>
            <a:prstDash val="solid"/>
          </a:ln>
        </p:spPr>
      </p:sp>
      <p:sp>
        <p:nvSpPr>
          <p:cNvPr id="21" name="Text 19"/>
          <p:cNvSpPr/>
          <p:nvPr/>
        </p:nvSpPr>
        <p:spPr>
          <a:xfrm>
            <a:off x="8211312" y="1874520"/>
            <a:ext cx="3520440" cy="365760"/>
          </a:xfrm>
          <a:prstGeom prst="rect">
            <a:avLst/>
          </a:prstGeom>
          <a:noFill/>
          <a:ln/>
        </p:spPr>
        <p:txBody>
          <a:bodyPr wrap="square" lIns="0" tIns="0" rIns="0" bIns="0" rtlCol="0" anchor="ctr"/>
          <a:lstStyle/>
          <a:p>
            <a:pPr indent="0" marL="0">
              <a:buNone/>
            </a:pPr>
            <a:r>
              <a:rPr lang="en-US" sz="1400" b="1" dirty="0">
                <a:solidFill>
                  <a:srgbClr val="7CE38B"/>
                </a:solidFill>
                <a:latin typeface="Consolas" pitchFamily="34" charset="0"/>
                <a:ea typeface="Consolas" pitchFamily="34" charset="-122"/>
                <a:cs typeface="Consolas" pitchFamily="34" charset="-120"/>
              </a:rPr>
              <a:t>BMAD MULTI-AGENT</a:t>
            </a:r>
            <a:endParaRPr lang="en-US" sz="1400" dirty="0"/>
          </a:p>
        </p:txBody>
      </p:sp>
      <p:sp>
        <p:nvSpPr>
          <p:cNvPr id="22" name="Text 20"/>
          <p:cNvSpPr/>
          <p:nvPr/>
        </p:nvSpPr>
        <p:spPr>
          <a:xfrm>
            <a:off x="8211312" y="2240280"/>
            <a:ext cx="3520440" cy="274320"/>
          </a:xfrm>
          <a:prstGeom prst="rect">
            <a:avLst/>
          </a:prstGeom>
          <a:noFill/>
          <a:ln/>
        </p:spPr>
        <p:txBody>
          <a:bodyPr wrap="square" lIns="0" tIns="0" rIns="0" bIns="0" rtlCol="0" anchor="ctr"/>
          <a:lstStyle/>
          <a:p>
            <a:pPr indent="0" marL="0">
              <a:buNone/>
            </a:pPr>
            <a:r>
              <a:rPr lang="en-US" sz="1000" i="1" dirty="0">
                <a:solidFill>
                  <a:srgbClr val="8B949E"/>
                </a:solidFill>
                <a:latin typeface="Calibri" pitchFamily="34" charset="0"/>
                <a:ea typeface="Calibri" pitchFamily="34" charset="-122"/>
                <a:cs typeface="Calibri" pitchFamily="34" charset="-120"/>
              </a:rPr>
              <a:t>9 role × 9 model, file-based handoff</a:t>
            </a:r>
            <a:endParaRPr lang="en-US" sz="1000" dirty="0"/>
          </a:p>
        </p:txBody>
      </p:sp>
      <p:sp>
        <p:nvSpPr>
          <p:cNvPr id="23" name="Text 21"/>
          <p:cNvSpPr/>
          <p:nvPr/>
        </p:nvSpPr>
        <p:spPr>
          <a:xfrm>
            <a:off x="8211312" y="2542032"/>
            <a:ext cx="3520440" cy="274320"/>
          </a:xfrm>
          <a:prstGeom prst="rect">
            <a:avLst/>
          </a:prstGeom>
          <a:noFill/>
          <a:ln/>
        </p:spPr>
        <p:txBody>
          <a:bodyPr wrap="square" lIns="0" tIns="0" rIns="0" bIns="0" rtlCol="0" anchor="ctr"/>
          <a:lstStyle/>
          <a:p>
            <a:pPr indent="0" marL="0">
              <a:buNone/>
            </a:pPr>
            <a:r>
              <a:rPr lang="en-US" sz="1000" dirty="0">
                <a:solidFill>
                  <a:srgbClr val="7CE38B"/>
                </a:solidFill>
                <a:latin typeface="Consolas" pitchFamily="34" charset="0"/>
                <a:ea typeface="Consolas" pitchFamily="34" charset="-122"/>
                <a:cs typeface="Consolas" pitchFamily="34" charset="-120"/>
              </a:rPr>
              <a:t>e.g. Framework này (v10.12)</a:t>
            </a:r>
            <a:endParaRPr lang="en-US" sz="1000" dirty="0"/>
          </a:p>
        </p:txBody>
      </p:sp>
      <p:sp>
        <p:nvSpPr>
          <p:cNvPr id="24" name="Shape 22"/>
          <p:cNvSpPr/>
          <p:nvPr/>
        </p:nvSpPr>
        <p:spPr>
          <a:xfrm>
            <a:off x="8229600" y="2880360"/>
            <a:ext cx="3383280" cy="0"/>
          </a:xfrm>
          <a:prstGeom prst="line">
            <a:avLst/>
          </a:prstGeom>
          <a:noFill/>
          <a:ln w="6350">
            <a:solidFill>
              <a:srgbClr val="30363D"/>
            </a:solidFill>
            <a:prstDash val="solid"/>
          </a:ln>
        </p:spPr>
      </p:sp>
      <p:sp>
        <p:nvSpPr>
          <p:cNvPr id="25" name="Text 23"/>
          <p:cNvSpPr/>
          <p:nvPr/>
        </p:nvSpPr>
        <p:spPr>
          <a:xfrm>
            <a:off x="8211312" y="2971800"/>
            <a:ext cx="3520440" cy="3291840"/>
          </a:xfrm>
          <a:prstGeom prst="rect">
            <a:avLst/>
          </a:prstGeom>
          <a:noFill/>
          <a:ln/>
        </p:spPr>
        <p:txBody>
          <a:bodyPr wrap="square" lIns="0" tIns="0" rIns="0" bIns="0" rtlCol="0" anchor="t"/>
          <a:lstStyle/>
          <a:p>
            <a:pPr indent="0" marL="0">
              <a:spcAft>
                <a:spcPts val="600"/>
              </a:spcAft>
              <a:buNone/>
            </a:pPr>
            <a:r>
              <a:rPr lang="en-US" sz="1100" dirty="0">
                <a:solidFill>
                  <a:srgbClr val="E6EDF3"/>
                </a:solidFill>
                <a:latin typeface="Calibri" pitchFamily="34" charset="0"/>
                <a:ea typeface="Calibri" pitchFamily="34" charset="-122"/>
                <a:cs typeface="Calibri" pitchFamily="34" charset="-120"/>
              </a:rPr>
              <a:t>✓ 1 agent / role, prompt + model riêng</a:t>
            </a:r>
            <a:endParaRPr lang="en-US" sz="1100" dirty="0"/>
          </a:p>
          <a:p>
            <a:pPr indent="0" marL="0">
              <a:spcAft>
                <a:spcPts val="600"/>
              </a:spcAft>
              <a:buNone/>
            </a:pPr>
            <a:r>
              <a:rPr lang="en-US" sz="1100" dirty="0">
                <a:solidFill>
                  <a:srgbClr val="E6EDF3"/>
                </a:solidFill>
                <a:latin typeface="Calibri" pitchFamily="34" charset="0"/>
                <a:ea typeface="Calibri" pitchFamily="34" charset="-122"/>
                <a:cs typeface="Calibri" pitchFamily="34" charset="-120"/>
              </a:rPr>
              <a:t>✓ Handoff qua file system (PRD, ADR…)</a:t>
            </a:r>
            <a:endParaRPr lang="en-US" sz="1100" dirty="0"/>
          </a:p>
          <a:p>
            <a:pPr indent="0" marL="0">
              <a:spcAft>
                <a:spcPts val="600"/>
              </a:spcAft>
              <a:buNone/>
            </a:pPr>
            <a:r>
              <a:rPr lang="en-US" sz="1100" dirty="0">
                <a:solidFill>
                  <a:srgbClr val="E6EDF3"/>
                </a:solidFill>
                <a:latin typeface="Calibri" pitchFamily="34" charset="0"/>
                <a:ea typeface="Calibri" pitchFamily="34" charset="-122"/>
                <a:cs typeface="Calibri" pitchFamily="34" charset="-120"/>
              </a:rPr>
              <a:t>✓ Routing là shell command — replay-able</a:t>
            </a:r>
            <a:endParaRPr lang="en-US" sz="1100" dirty="0"/>
          </a:p>
          <a:p>
            <a:pPr indent="0" marL="0">
              <a:spcAft>
                <a:spcPts val="600"/>
              </a:spcAft>
              <a:buNone/>
            </a:pPr>
            <a:r>
              <a:rPr lang="en-US" sz="1100" dirty="0">
                <a:solidFill>
                  <a:srgbClr val="E6EDF3"/>
                </a:solidFill>
                <a:latin typeface="Calibri" pitchFamily="34" charset="0"/>
                <a:ea typeface="Calibri" pitchFamily="34" charset="-122"/>
                <a:cs typeface="Calibri" pitchFamily="34" charset="-120"/>
              </a:rPr>
              <a:t>✓ Memory cross-session, commit git</a:t>
            </a:r>
            <a:endParaRPr lang="en-US" sz="1100" dirty="0"/>
          </a:p>
          <a:p>
            <a:pPr indent="0" marL="0">
              <a:spcAft>
                <a:spcPts val="600"/>
              </a:spcAft>
              <a:buNone/>
            </a:pPr>
            <a:r>
              <a:rPr lang="en-US" sz="1100" dirty="0">
                <a:solidFill>
                  <a:srgbClr val="E6EDF3"/>
                </a:solidFill>
                <a:latin typeface="Calibri" pitchFamily="34" charset="0"/>
                <a:ea typeface="Calibri" pitchFamily="34" charset="-122"/>
                <a:cs typeface="Calibri" pitchFamily="34" charset="-120"/>
              </a:rPr>
              <a:t>✓ Role boundary cứng (Stay in your lane)</a:t>
            </a:r>
            <a:endParaRPr lang="en-US" sz="1100" dirty="0"/>
          </a:p>
          <a:p>
            <a:pPr indent="0" marL="0">
              <a:spcAft>
                <a:spcPts val="600"/>
              </a:spcAft>
              <a:buNone/>
            </a:pPr>
            <a:r>
              <a:rPr lang="en-US" sz="1100" dirty="0">
                <a:solidFill>
                  <a:srgbClr val="E6EDF3"/>
                </a:solidFill>
                <a:latin typeface="Calibri" pitchFamily="34" charset="0"/>
                <a:ea typeface="Calibri" pitchFamily="34" charset="-122"/>
                <a:cs typeface="Calibri" pitchFamily="34" charset="-120"/>
              </a:rPr>
              <a:t>✓ Phase gate + quality gate enforce</a:t>
            </a:r>
            <a:endParaRPr lang="en-US" sz="1100" dirty="0"/>
          </a:p>
        </p:txBody>
      </p:sp>
      <p:sp>
        <p:nvSpPr>
          <p:cNvPr id="26" name="Text 24"/>
          <p:cNvSpPr/>
          <p:nvPr/>
        </p:nvSpPr>
        <p:spPr>
          <a:xfrm>
            <a:off x="11338560" y="6492240"/>
            <a:ext cx="731520" cy="228600"/>
          </a:xfrm>
          <a:prstGeom prst="rect">
            <a:avLst/>
          </a:prstGeom>
          <a:noFill/>
          <a:ln/>
        </p:spPr>
        <p:txBody>
          <a:bodyPr wrap="square" lIns="0" tIns="0" rIns="0" bIns="0" rtlCol="0" anchor="ctr"/>
          <a:lstStyle/>
          <a:p>
            <a:pPr algn="r" indent="0" marL="0">
              <a:buNone/>
            </a:pPr>
            <a:r>
              <a:rPr lang="en-US" sz="900" dirty="0">
                <a:solidFill>
                  <a:srgbClr val="8B949E"/>
                </a:solidFill>
                <a:latin typeface="Consolas" pitchFamily="34" charset="0"/>
                <a:ea typeface="Consolas" pitchFamily="34" charset="-122"/>
                <a:cs typeface="Consolas" pitchFamily="34" charset="-120"/>
              </a:rPr>
              <a:t>5 / 32</a:t>
            </a:r>
            <a:endParaRPr lang="en-US" sz="900" dirty="0"/>
          </a:p>
        </p:txBody>
      </p:sp>
      <p:sp>
        <p:nvSpPr>
          <p:cNvPr id="27" name="Text 25"/>
          <p:cNvSpPr/>
          <p:nvPr/>
        </p:nvSpPr>
        <p:spPr>
          <a:xfrm>
            <a:off x="365760" y="6492240"/>
            <a:ext cx="1097280" cy="228600"/>
          </a:xfrm>
          <a:prstGeom prst="rect">
            <a:avLst/>
          </a:prstGeom>
          <a:noFill/>
          <a:ln/>
        </p:spPr>
        <p:txBody>
          <a:bodyPr wrap="square" lIns="0" tIns="0" rIns="0" bIns="0" rtlCol="0" anchor="ctr"/>
          <a:lstStyle/>
          <a:p>
            <a:pPr algn="l" indent="0" marL="0">
              <a:buNone/>
            </a:pPr>
            <a:r>
              <a:rPr lang="en-US" sz="900" dirty="0">
                <a:solidFill>
                  <a:srgbClr val="8B949E"/>
                </a:solidFill>
                <a:latin typeface="Consolas" pitchFamily="34" charset="0"/>
                <a:ea typeface="Consolas" pitchFamily="34" charset="-122"/>
                <a:cs typeface="Consolas" pitchFamily="34" charset="-120"/>
              </a:rPr>
              <a:t>v10.12</a:t>
            </a:r>
            <a:endParaRPr lang="en-US" sz="900" dirty="0"/>
          </a:p>
        </p:txBody>
      </p:sp>
      <p:sp>
        <p:nvSpPr>
          <p:cNvPr id="28" name="Text 26"/>
          <p:cNvSpPr/>
          <p:nvPr/>
        </p:nvSpPr>
        <p:spPr>
          <a:xfrm>
            <a:off x="4572000" y="6492240"/>
            <a:ext cx="6400800" cy="228600"/>
          </a:xfrm>
          <a:prstGeom prst="rect">
            <a:avLst/>
          </a:prstGeom>
          <a:noFill/>
          <a:ln/>
        </p:spPr>
        <p:txBody>
          <a:bodyPr wrap="square" lIns="0" tIns="0" rIns="0" bIns="0" rtlCol="0" anchor="ctr"/>
          <a:lstStyle/>
          <a:p>
            <a:pPr algn="ctr" indent="0" marL="0">
              <a:buNone/>
            </a:pPr>
            <a:r>
              <a:rPr lang="en-US" sz="900" dirty="0">
                <a:solidFill>
                  <a:srgbClr val="8B949E"/>
                </a:solidFill>
                <a:latin typeface="Consolas" pitchFamily="34" charset="0"/>
                <a:ea typeface="Consolas" pitchFamily="34" charset="-122"/>
                <a:cs typeface="Consolas" pitchFamily="34" charset="-120"/>
              </a:rPr>
              <a:t>Product Engineering Agent Framework</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365760" y="228600"/>
            <a:ext cx="8229600" cy="274320"/>
          </a:xfrm>
          <a:prstGeom prst="rect">
            <a:avLst/>
          </a:prstGeom>
          <a:noFill/>
          <a:ln/>
        </p:spPr>
        <p:txBody>
          <a:bodyPr wrap="square" lIns="0" tIns="0" rIns="0" bIns="0" rtlCol="0" anchor="ctr"/>
          <a:lstStyle/>
          <a:p>
            <a:pPr indent="0" marL="0">
              <a:buNone/>
            </a:pPr>
            <a:r>
              <a:rPr lang="en-US" sz="1100" dirty="0">
                <a:solidFill>
                  <a:srgbClr val="2EA043"/>
                </a:solidFill>
                <a:latin typeface="Consolas" pitchFamily="34" charset="0"/>
                <a:ea typeface="Consolas" pitchFamily="34" charset="-122"/>
                <a:cs typeface="Consolas" pitchFamily="34" charset="-120"/>
              </a:rPr>
              <a:t>$ </a:t>
            </a:r>
            <a:pPr indent="0" marL="0">
              <a:buNone/>
            </a:pPr>
            <a:r>
              <a:rPr lang="en-US" sz="1100" dirty="0">
                <a:solidFill>
                  <a:srgbClr val="8B949E"/>
                </a:solidFill>
                <a:latin typeface="Consolas" pitchFamily="34" charset="0"/>
                <a:ea typeface="Consolas" pitchFamily="34" charset="-122"/>
                <a:cs typeface="Consolas" pitchFamily="34" charset="-120"/>
              </a:rPr>
              <a:t>05_how_we_implement_bmad.md</a:t>
            </a:r>
            <a:endParaRPr lang="en-US" sz="1100" dirty="0"/>
          </a:p>
        </p:txBody>
      </p:sp>
      <p:sp>
        <p:nvSpPr>
          <p:cNvPr id="3" name="Text 1"/>
          <p:cNvSpPr/>
          <p:nvPr/>
        </p:nvSpPr>
        <p:spPr>
          <a:xfrm>
            <a:off x="365760" y="548640"/>
            <a:ext cx="11430000" cy="640080"/>
          </a:xfrm>
          <a:prstGeom prst="rect">
            <a:avLst/>
          </a:prstGeom>
          <a:noFill/>
          <a:ln/>
        </p:spPr>
        <p:txBody>
          <a:bodyPr wrap="square" lIns="0" tIns="0" rIns="0" bIns="0" rtlCol="0" anchor="ctr"/>
          <a:lstStyle/>
          <a:p>
            <a:pPr indent="0" marL="0">
              <a:buNone/>
            </a:pPr>
            <a:r>
              <a:rPr lang="en-US" sz="3000" b="1" dirty="0">
                <a:solidFill>
                  <a:srgbClr val="E6EDF3"/>
                </a:solidFill>
                <a:latin typeface="Consolas" pitchFamily="34" charset="0"/>
                <a:ea typeface="Consolas" pitchFamily="34" charset="-122"/>
                <a:cs typeface="Consolas" pitchFamily="34" charset="-120"/>
              </a:rPr>
              <a:t>Framework hiện thực BMAD như thế nào?</a:t>
            </a:r>
            <a:endParaRPr lang="en-US" sz="3000" dirty="0"/>
          </a:p>
        </p:txBody>
      </p:sp>
      <p:sp>
        <p:nvSpPr>
          <p:cNvPr id="4" name="Text 2"/>
          <p:cNvSpPr/>
          <p:nvPr/>
        </p:nvSpPr>
        <p:spPr>
          <a:xfrm>
            <a:off x="365760" y="1143000"/>
            <a:ext cx="11430000" cy="365760"/>
          </a:xfrm>
          <a:prstGeom prst="rect">
            <a:avLst/>
          </a:prstGeom>
          <a:noFill/>
          <a:ln/>
        </p:spPr>
        <p:txBody>
          <a:bodyPr wrap="square" lIns="0" tIns="0" rIns="0" bIns="0" rtlCol="0" anchor="ctr"/>
          <a:lstStyle/>
          <a:p>
            <a:pPr indent="0" marL="0">
              <a:buNone/>
            </a:pPr>
            <a:r>
              <a:rPr lang="en-US" sz="1400" i="1" dirty="0">
                <a:solidFill>
                  <a:srgbClr val="8B949E"/>
                </a:solidFill>
                <a:latin typeface="Calibri" pitchFamily="34" charset="0"/>
                <a:ea typeface="Calibri" pitchFamily="34" charset="-122"/>
                <a:cs typeface="Calibri" pitchFamily="34" charset="-120"/>
              </a:rPr>
              <a:t>Mỗi nguyên lý BMAD ánh xạ vào một cơ chế cụ thể</a:t>
            </a:r>
            <a:endParaRPr lang="en-US" sz="1400" dirty="0"/>
          </a:p>
        </p:txBody>
      </p:sp>
      <p:sp>
        <p:nvSpPr>
          <p:cNvPr id="5" name="Shape 3"/>
          <p:cNvSpPr/>
          <p:nvPr/>
        </p:nvSpPr>
        <p:spPr>
          <a:xfrm>
            <a:off x="365760" y="1828800"/>
            <a:ext cx="11430000" cy="640080"/>
          </a:xfrm>
          <a:prstGeom prst="rect">
            <a:avLst/>
          </a:prstGeom>
          <a:solidFill>
            <a:srgbClr val="161B22"/>
          </a:solidFill>
          <a:ln w="12700">
            <a:solidFill>
              <a:srgbClr val="30363D"/>
            </a:solidFill>
            <a:prstDash val="solid"/>
          </a:ln>
        </p:spPr>
      </p:sp>
      <p:sp>
        <p:nvSpPr>
          <p:cNvPr id="6" name="Shape 4"/>
          <p:cNvSpPr/>
          <p:nvPr/>
        </p:nvSpPr>
        <p:spPr>
          <a:xfrm>
            <a:off x="365760" y="1828800"/>
            <a:ext cx="73152" cy="640080"/>
          </a:xfrm>
          <a:prstGeom prst="rect">
            <a:avLst/>
          </a:prstGeom>
          <a:solidFill>
            <a:srgbClr val="7CE38B"/>
          </a:solidFill>
          <a:ln w="12700">
            <a:solidFill>
              <a:srgbClr val="7CE38B"/>
            </a:solidFill>
            <a:prstDash val="solid"/>
          </a:ln>
        </p:spPr>
      </p:sp>
      <p:sp>
        <p:nvSpPr>
          <p:cNvPr id="7" name="Text 5"/>
          <p:cNvSpPr/>
          <p:nvPr/>
        </p:nvSpPr>
        <p:spPr>
          <a:xfrm>
            <a:off x="548640" y="1828800"/>
            <a:ext cx="3200400" cy="640080"/>
          </a:xfrm>
          <a:prstGeom prst="rect">
            <a:avLst/>
          </a:prstGeom>
          <a:noFill/>
          <a:ln/>
        </p:spPr>
        <p:txBody>
          <a:bodyPr wrap="square" lIns="0" tIns="0" rIns="0" bIns="0" rtlCol="0" anchor="ctr"/>
          <a:lstStyle/>
          <a:p>
            <a:pPr indent="0" marL="0">
              <a:buNone/>
            </a:pPr>
            <a:r>
              <a:rPr lang="en-US" sz="1300" b="1" dirty="0">
                <a:solidFill>
                  <a:srgbClr val="7CE38B"/>
                </a:solidFill>
                <a:latin typeface="Consolas" pitchFamily="34" charset="0"/>
                <a:ea typeface="Consolas" pitchFamily="34" charset="-122"/>
                <a:cs typeface="Consolas" pitchFamily="34" charset="-120"/>
              </a:rPr>
              <a:t>Agentic Planning</a:t>
            </a:r>
            <a:endParaRPr lang="en-US" sz="1300" dirty="0"/>
          </a:p>
        </p:txBody>
      </p:sp>
      <p:sp>
        <p:nvSpPr>
          <p:cNvPr id="8" name="Text 6"/>
          <p:cNvSpPr/>
          <p:nvPr/>
        </p:nvSpPr>
        <p:spPr>
          <a:xfrm>
            <a:off x="3840480" y="1828800"/>
            <a:ext cx="7863840" cy="640080"/>
          </a:xfrm>
          <a:prstGeom prst="rect">
            <a:avLst/>
          </a:prstGeom>
          <a:noFill/>
          <a:ln/>
        </p:spPr>
        <p:txBody>
          <a:bodyPr wrap="square" lIns="0" tIns="0" rIns="0" bIns="0" rtlCol="0" anchor="ctr"/>
          <a:lstStyle/>
          <a:p>
            <a:pPr indent="0" marL="0">
              <a:buNone/>
            </a:pPr>
            <a:r>
              <a:rPr lang="en-US" sz="1200" dirty="0">
                <a:solidFill>
                  <a:srgbClr val="E6EDF3"/>
                </a:solidFill>
                <a:latin typeface="Calibri" pitchFamily="34" charset="0"/>
                <a:ea typeface="Calibri" pitchFamily="34" charset="-122"/>
                <a:cs typeface="Calibri" pitchFamily="34" charset="-120"/>
              </a:rPr>
              <a:t>9 tmux pane × 9 prompt × 9 model — mỗi role có file prompts/agents/&lt;ROLE&gt;.md riêng</a:t>
            </a:r>
            <a:endParaRPr lang="en-US" sz="1200" dirty="0"/>
          </a:p>
        </p:txBody>
      </p:sp>
      <p:sp>
        <p:nvSpPr>
          <p:cNvPr id="9" name="Shape 7"/>
          <p:cNvSpPr/>
          <p:nvPr/>
        </p:nvSpPr>
        <p:spPr>
          <a:xfrm>
            <a:off x="365760" y="2542032"/>
            <a:ext cx="11430000" cy="640080"/>
          </a:xfrm>
          <a:prstGeom prst="rect">
            <a:avLst/>
          </a:prstGeom>
          <a:solidFill>
            <a:srgbClr val="1C2128"/>
          </a:solidFill>
          <a:ln w="12700">
            <a:solidFill>
              <a:srgbClr val="30363D"/>
            </a:solidFill>
            <a:prstDash val="solid"/>
          </a:ln>
        </p:spPr>
      </p:sp>
      <p:sp>
        <p:nvSpPr>
          <p:cNvPr id="10" name="Shape 8"/>
          <p:cNvSpPr/>
          <p:nvPr/>
        </p:nvSpPr>
        <p:spPr>
          <a:xfrm>
            <a:off x="365760" y="2542032"/>
            <a:ext cx="73152" cy="640080"/>
          </a:xfrm>
          <a:prstGeom prst="rect">
            <a:avLst/>
          </a:prstGeom>
          <a:solidFill>
            <a:srgbClr val="7CE38B"/>
          </a:solidFill>
          <a:ln w="12700">
            <a:solidFill>
              <a:srgbClr val="7CE38B"/>
            </a:solidFill>
            <a:prstDash val="solid"/>
          </a:ln>
        </p:spPr>
      </p:sp>
      <p:sp>
        <p:nvSpPr>
          <p:cNvPr id="11" name="Text 9"/>
          <p:cNvSpPr/>
          <p:nvPr/>
        </p:nvSpPr>
        <p:spPr>
          <a:xfrm>
            <a:off x="548640" y="2542032"/>
            <a:ext cx="3200400" cy="640080"/>
          </a:xfrm>
          <a:prstGeom prst="rect">
            <a:avLst/>
          </a:prstGeom>
          <a:noFill/>
          <a:ln/>
        </p:spPr>
        <p:txBody>
          <a:bodyPr wrap="square" lIns="0" tIns="0" rIns="0" bIns="0" rtlCol="0" anchor="ctr"/>
          <a:lstStyle/>
          <a:p>
            <a:pPr indent="0" marL="0">
              <a:buNone/>
            </a:pPr>
            <a:r>
              <a:rPr lang="en-US" sz="1300" b="1" dirty="0">
                <a:solidFill>
                  <a:srgbClr val="7CE38B"/>
                </a:solidFill>
                <a:latin typeface="Consolas" pitchFamily="34" charset="0"/>
                <a:ea typeface="Consolas" pitchFamily="34" charset="-122"/>
                <a:cs typeface="Consolas" pitchFamily="34" charset="-120"/>
              </a:rPr>
              <a:t>Context Engineering</a:t>
            </a:r>
            <a:endParaRPr lang="en-US" sz="1300" dirty="0"/>
          </a:p>
        </p:txBody>
      </p:sp>
      <p:sp>
        <p:nvSpPr>
          <p:cNvPr id="12" name="Text 10"/>
          <p:cNvSpPr/>
          <p:nvPr/>
        </p:nvSpPr>
        <p:spPr>
          <a:xfrm>
            <a:off x="3840480" y="2542032"/>
            <a:ext cx="7863840" cy="640080"/>
          </a:xfrm>
          <a:prstGeom prst="rect">
            <a:avLst/>
          </a:prstGeom>
          <a:noFill/>
          <a:ln/>
        </p:spPr>
        <p:txBody>
          <a:bodyPr wrap="square" lIns="0" tIns="0" rIns="0" bIns="0" rtlCol="0" anchor="ctr"/>
          <a:lstStyle/>
          <a:p>
            <a:pPr indent="0" marL="0">
              <a:buNone/>
            </a:pPr>
            <a:r>
              <a:rPr lang="en-US" sz="1200" dirty="0">
                <a:solidFill>
                  <a:srgbClr val="E6EDF3"/>
                </a:solidFill>
                <a:latin typeface="Calibri" pitchFamily="34" charset="0"/>
                <a:ea typeface="Calibri" pitchFamily="34" charset="-122"/>
                <a:cs typeface="Calibri" pitchFamily="34" charset="-120"/>
              </a:rPr>
              <a:t>Lean role-specific read list (v10.6) + memory/&lt;ROLE&gt;.md (v10.5) — đọc đúng cái cần</a:t>
            </a:r>
            <a:endParaRPr lang="en-US" sz="1200" dirty="0"/>
          </a:p>
        </p:txBody>
      </p:sp>
      <p:sp>
        <p:nvSpPr>
          <p:cNvPr id="13" name="Shape 11"/>
          <p:cNvSpPr/>
          <p:nvPr/>
        </p:nvSpPr>
        <p:spPr>
          <a:xfrm>
            <a:off x="365760" y="3255264"/>
            <a:ext cx="11430000" cy="640080"/>
          </a:xfrm>
          <a:prstGeom prst="rect">
            <a:avLst/>
          </a:prstGeom>
          <a:solidFill>
            <a:srgbClr val="161B22"/>
          </a:solidFill>
          <a:ln w="12700">
            <a:solidFill>
              <a:srgbClr val="30363D"/>
            </a:solidFill>
            <a:prstDash val="solid"/>
          </a:ln>
        </p:spPr>
      </p:sp>
      <p:sp>
        <p:nvSpPr>
          <p:cNvPr id="14" name="Shape 12"/>
          <p:cNvSpPr/>
          <p:nvPr/>
        </p:nvSpPr>
        <p:spPr>
          <a:xfrm>
            <a:off x="365760" y="3255264"/>
            <a:ext cx="73152" cy="640080"/>
          </a:xfrm>
          <a:prstGeom prst="rect">
            <a:avLst/>
          </a:prstGeom>
          <a:solidFill>
            <a:srgbClr val="7CE38B"/>
          </a:solidFill>
          <a:ln w="12700">
            <a:solidFill>
              <a:srgbClr val="7CE38B"/>
            </a:solidFill>
            <a:prstDash val="solid"/>
          </a:ln>
        </p:spPr>
      </p:sp>
      <p:sp>
        <p:nvSpPr>
          <p:cNvPr id="15" name="Text 13"/>
          <p:cNvSpPr/>
          <p:nvPr/>
        </p:nvSpPr>
        <p:spPr>
          <a:xfrm>
            <a:off x="548640" y="3255264"/>
            <a:ext cx="3200400" cy="640080"/>
          </a:xfrm>
          <a:prstGeom prst="rect">
            <a:avLst/>
          </a:prstGeom>
          <a:noFill/>
          <a:ln/>
        </p:spPr>
        <p:txBody>
          <a:bodyPr wrap="square" lIns="0" tIns="0" rIns="0" bIns="0" rtlCol="0" anchor="ctr"/>
          <a:lstStyle/>
          <a:p>
            <a:pPr indent="0" marL="0">
              <a:buNone/>
            </a:pPr>
            <a:r>
              <a:rPr lang="en-US" sz="1300" b="1" dirty="0">
                <a:solidFill>
                  <a:srgbClr val="7CE38B"/>
                </a:solidFill>
                <a:latin typeface="Consolas" pitchFamily="34" charset="0"/>
                <a:ea typeface="Consolas" pitchFamily="34" charset="-122"/>
                <a:cs typeface="Consolas" pitchFamily="34" charset="-120"/>
              </a:rPr>
              <a:t>Doc-as-Spec</a:t>
            </a:r>
            <a:endParaRPr lang="en-US" sz="1300" dirty="0"/>
          </a:p>
        </p:txBody>
      </p:sp>
      <p:sp>
        <p:nvSpPr>
          <p:cNvPr id="16" name="Text 14"/>
          <p:cNvSpPr/>
          <p:nvPr/>
        </p:nvSpPr>
        <p:spPr>
          <a:xfrm>
            <a:off x="3840480" y="3255264"/>
            <a:ext cx="7863840" cy="640080"/>
          </a:xfrm>
          <a:prstGeom prst="rect">
            <a:avLst/>
          </a:prstGeom>
          <a:noFill/>
          <a:ln/>
        </p:spPr>
        <p:txBody>
          <a:bodyPr wrap="square" lIns="0" tIns="0" rIns="0" bIns="0" rtlCol="0" anchor="ctr"/>
          <a:lstStyle/>
          <a:p>
            <a:pPr indent="0" marL="0">
              <a:buNone/>
            </a:pPr>
            <a:r>
              <a:rPr lang="en-US" sz="1200" dirty="0">
                <a:solidFill>
                  <a:srgbClr val="E6EDF3"/>
                </a:solidFill>
                <a:latin typeface="Calibri" pitchFamily="34" charset="0"/>
                <a:ea typeface="Calibri" pitchFamily="34" charset="-122"/>
                <a:cs typeface="Calibri" pitchFamily="34" charset="-120"/>
              </a:rPr>
              <a:t>PRD, ADR, USER_STORIES, TEST_REPORT là source of truth — workers handoff qua file, không qua chat history</a:t>
            </a:r>
            <a:endParaRPr lang="en-US" sz="1200" dirty="0"/>
          </a:p>
        </p:txBody>
      </p:sp>
      <p:sp>
        <p:nvSpPr>
          <p:cNvPr id="17" name="Shape 15"/>
          <p:cNvSpPr/>
          <p:nvPr/>
        </p:nvSpPr>
        <p:spPr>
          <a:xfrm>
            <a:off x="365760" y="3968496"/>
            <a:ext cx="11430000" cy="640080"/>
          </a:xfrm>
          <a:prstGeom prst="rect">
            <a:avLst/>
          </a:prstGeom>
          <a:solidFill>
            <a:srgbClr val="1C2128"/>
          </a:solidFill>
          <a:ln w="12700">
            <a:solidFill>
              <a:srgbClr val="30363D"/>
            </a:solidFill>
            <a:prstDash val="solid"/>
          </a:ln>
        </p:spPr>
      </p:sp>
      <p:sp>
        <p:nvSpPr>
          <p:cNvPr id="18" name="Shape 16"/>
          <p:cNvSpPr/>
          <p:nvPr/>
        </p:nvSpPr>
        <p:spPr>
          <a:xfrm>
            <a:off x="365760" y="3968496"/>
            <a:ext cx="73152" cy="640080"/>
          </a:xfrm>
          <a:prstGeom prst="rect">
            <a:avLst/>
          </a:prstGeom>
          <a:solidFill>
            <a:srgbClr val="7CE38B"/>
          </a:solidFill>
          <a:ln w="12700">
            <a:solidFill>
              <a:srgbClr val="7CE38B"/>
            </a:solidFill>
            <a:prstDash val="solid"/>
          </a:ln>
        </p:spPr>
      </p:sp>
      <p:sp>
        <p:nvSpPr>
          <p:cNvPr id="19" name="Text 17"/>
          <p:cNvSpPr/>
          <p:nvPr/>
        </p:nvSpPr>
        <p:spPr>
          <a:xfrm>
            <a:off x="548640" y="3968496"/>
            <a:ext cx="3200400" cy="640080"/>
          </a:xfrm>
          <a:prstGeom prst="rect">
            <a:avLst/>
          </a:prstGeom>
          <a:noFill/>
          <a:ln/>
        </p:spPr>
        <p:txBody>
          <a:bodyPr wrap="square" lIns="0" tIns="0" rIns="0" bIns="0" rtlCol="0" anchor="ctr"/>
          <a:lstStyle/>
          <a:p>
            <a:pPr indent="0" marL="0">
              <a:buNone/>
            </a:pPr>
            <a:r>
              <a:rPr lang="en-US" sz="1300" b="1" dirty="0">
                <a:solidFill>
                  <a:srgbClr val="7CE38B"/>
                </a:solidFill>
                <a:latin typeface="Consolas" pitchFamily="34" charset="0"/>
                <a:ea typeface="Consolas" pitchFamily="34" charset="-122"/>
                <a:cs typeface="Consolas" pitchFamily="34" charset="-120"/>
              </a:rPr>
              <a:t>Process discipline</a:t>
            </a:r>
            <a:endParaRPr lang="en-US" sz="1300" dirty="0"/>
          </a:p>
        </p:txBody>
      </p:sp>
      <p:sp>
        <p:nvSpPr>
          <p:cNvPr id="20" name="Text 18"/>
          <p:cNvSpPr/>
          <p:nvPr/>
        </p:nvSpPr>
        <p:spPr>
          <a:xfrm>
            <a:off x="3840480" y="3968496"/>
            <a:ext cx="7863840" cy="640080"/>
          </a:xfrm>
          <a:prstGeom prst="rect">
            <a:avLst/>
          </a:prstGeom>
          <a:noFill/>
          <a:ln/>
        </p:spPr>
        <p:txBody>
          <a:bodyPr wrap="square" lIns="0" tIns="0" rIns="0" bIns="0" rtlCol="0" anchor="ctr"/>
          <a:lstStyle/>
          <a:p>
            <a:pPr indent="0" marL="0">
              <a:buNone/>
            </a:pPr>
            <a:r>
              <a:rPr lang="en-US" sz="1200" dirty="0">
                <a:solidFill>
                  <a:srgbClr val="E6EDF3"/>
                </a:solidFill>
                <a:latin typeface="Calibri" pitchFamily="34" charset="0"/>
                <a:ea typeface="Calibri" pitchFamily="34" charset="-122"/>
                <a:cs typeface="Calibri" pitchFamily="34" charset="-120"/>
              </a:rPr>
              <a:t>Phase gates v10.9, Stay-in-lane v10.10, Tech Stack Protocol v10.7</a:t>
            </a:r>
            <a:endParaRPr lang="en-US" sz="1200" dirty="0"/>
          </a:p>
        </p:txBody>
      </p:sp>
      <p:sp>
        <p:nvSpPr>
          <p:cNvPr id="21" name="Shape 19"/>
          <p:cNvSpPr/>
          <p:nvPr/>
        </p:nvSpPr>
        <p:spPr>
          <a:xfrm>
            <a:off x="365760" y="4681728"/>
            <a:ext cx="11430000" cy="640080"/>
          </a:xfrm>
          <a:prstGeom prst="rect">
            <a:avLst/>
          </a:prstGeom>
          <a:solidFill>
            <a:srgbClr val="161B22"/>
          </a:solidFill>
          <a:ln w="12700">
            <a:solidFill>
              <a:srgbClr val="30363D"/>
            </a:solidFill>
            <a:prstDash val="solid"/>
          </a:ln>
        </p:spPr>
      </p:sp>
      <p:sp>
        <p:nvSpPr>
          <p:cNvPr id="22" name="Shape 20"/>
          <p:cNvSpPr/>
          <p:nvPr/>
        </p:nvSpPr>
        <p:spPr>
          <a:xfrm>
            <a:off x="365760" y="4681728"/>
            <a:ext cx="73152" cy="640080"/>
          </a:xfrm>
          <a:prstGeom prst="rect">
            <a:avLst/>
          </a:prstGeom>
          <a:solidFill>
            <a:srgbClr val="7CE38B"/>
          </a:solidFill>
          <a:ln w="12700">
            <a:solidFill>
              <a:srgbClr val="7CE38B"/>
            </a:solidFill>
            <a:prstDash val="solid"/>
          </a:ln>
        </p:spPr>
      </p:sp>
      <p:sp>
        <p:nvSpPr>
          <p:cNvPr id="23" name="Text 21"/>
          <p:cNvSpPr/>
          <p:nvPr/>
        </p:nvSpPr>
        <p:spPr>
          <a:xfrm>
            <a:off x="548640" y="4681728"/>
            <a:ext cx="3200400" cy="640080"/>
          </a:xfrm>
          <a:prstGeom prst="rect">
            <a:avLst/>
          </a:prstGeom>
          <a:noFill/>
          <a:ln/>
        </p:spPr>
        <p:txBody>
          <a:bodyPr wrap="square" lIns="0" tIns="0" rIns="0" bIns="0" rtlCol="0" anchor="ctr"/>
          <a:lstStyle/>
          <a:p>
            <a:pPr indent="0" marL="0">
              <a:buNone/>
            </a:pPr>
            <a:r>
              <a:rPr lang="en-US" sz="1300" b="1" dirty="0">
                <a:solidFill>
                  <a:srgbClr val="7CE38B"/>
                </a:solidFill>
                <a:latin typeface="Consolas" pitchFamily="34" charset="0"/>
                <a:ea typeface="Consolas" pitchFamily="34" charset="-122"/>
                <a:cs typeface="Consolas" pitchFamily="34" charset="-120"/>
              </a:rPr>
              <a:t>Bug-free release</a:t>
            </a:r>
            <a:endParaRPr lang="en-US" sz="1300" dirty="0"/>
          </a:p>
        </p:txBody>
      </p:sp>
      <p:sp>
        <p:nvSpPr>
          <p:cNvPr id="24" name="Text 22"/>
          <p:cNvSpPr/>
          <p:nvPr/>
        </p:nvSpPr>
        <p:spPr>
          <a:xfrm>
            <a:off x="3840480" y="4681728"/>
            <a:ext cx="7863840" cy="640080"/>
          </a:xfrm>
          <a:prstGeom prst="rect">
            <a:avLst/>
          </a:prstGeom>
          <a:noFill/>
          <a:ln/>
        </p:spPr>
        <p:txBody>
          <a:bodyPr wrap="square" lIns="0" tIns="0" rIns="0" bIns="0" rtlCol="0" anchor="ctr"/>
          <a:lstStyle/>
          <a:p>
            <a:pPr indent="0" marL="0">
              <a:buNone/>
            </a:pPr>
            <a:r>
              <a:rPr lang="en-US" sz="1200" dirty="0">
                <a:solidFill>
                  <a:srgbClr val="E6EDF3"/>
                </a:solidFill>
                <a:latin typeface="Calibri" pitchFamily="34" charset="0"/>
                <a:ea typeface="Calibri" pitchFamily="34" charset="-122"/>
                <a:cs typeface="Calibri" pitchFamily="34" charset="-120"/>
              </a:rPr>
              <a:t>VERDICT: PASS gate v10.3, BUG_REPORT.md status convention, prerequisite check v10.8</a:t>
            </a:r>
            <a:endParaRPr lang="en-US" sz="1200" dirty="0"/>
          </a:p>
        </p:txBody>
      </p:sp>
      <p:sp>
        <p:nvSpPr>
          <p:cNvPr id="25" name="Shape 23"/>
          <p:cNvSpPr/>
          <p:nvPr/>
        </p:nvSpPr>
        <p:spPr>
          <a:xfrm>
            <a:off x="365760" y="5394960"/>
            <a:ext cx="11430000" cy="640080"/>
          </a:xfrm>
          <a:prstGeom prst="rect">
            <a:avLst/>
          </a:prstGeom>
          <a:solidFill>
            <a:srgbClr val="1C2128"/>
          </a:solidFill>
          <a:ln w="12700">
            <a:solidFill>
              <a:srgbClr val="30363D"/>
            </a:solidFill>
            <a:prstDash val="solid"/>
          </a:ln>
        </p:spPr>
      </p:sp>
      <p:sp>
        <p:nvSpPr>
          <p:cNvPr id="26" name="Shape 24"/>
          <p:cNvSpPr/>
          <p:nvPr/>
        </p:nvSpPr>
        <p:spPr>
          <a:xfrm>
            <a:off x="365760" y="5394960"/>
            <a:ext cx="73152" cy="640080"/>
          </a:xfrm>
          <a:prstGeom prst="rect">
            <a:avLst/>
          </a:prstGeom>
          <a:solidFill>
            <a:srgbClr val="7CE38B"/>
          </a:solidFill>
          <a:ln w="12700">
            <a:solidFill>
              <a:srgbClr val="7CE38B"/>
            </a:solidFill>
            <a:prstDash val="solid"/>
          </a:ln>
        </p:spPr>
      </p:sp>
      <p:sp>
        <p:nvSpPr>
          <p:cNvPr id="27" name="Text 25"/>
          <p:cNvSpPr/>
          <p:nvPr/>
        </p:nvSpPr>
        <p:spPr>
          <a:xfrm>
            <a:off x="548640" y="5394960"/>
            <a:ext cx="3200400" cy="640080"/>
          </a:xfrm>
          <a:prstGeom prst="rect">
            <a:avLst/>
          </a:prstGeom>
          <a:noFill/>
          <a:ln/>
        </p:spPr>
        <p:txBody>
          <a:bodyPr wrap="square" lIns="0" tIns="0" rIns="0" bIns="0" rtlCol="0" anchor="ctr"/>
          <a:lstStyle/>
          <a:p>
            <a:pPr indent="0" marL="0">
              <a:buNone/>
            </a:pPr>
            <a:r>
              <a:rPr lang="en-US" sz="1300" b="1" dirty="0">
                <a:solidFill>
                  <a:srgbClr val="7CE38B"/>
                </a:solidFill>
                <a:latin typeface="Consolas" pitchFamily="34" charset="0"/>
                <a:ea typeface="Consolas" pitchFamily="34" charset="-122"/>
                <a:cs typeface="Consolas" pitchFamily="34" charset="-120"/>
              </a:rPr>
              <a:t>Continuity</a:t>
            </a:r>
            <a:endParaRPr lang="en-US" sz="1300" dirty="0"/>
          </a:p>
        </p:txBody>
      </p:sp>
      <p:sp>
        <p:nvSpPr>
          <p:cNvPr id="28" name="Text 26"/>
          <p:cNvSpPr/>
          <p:nvPr/>
        </p:nvSpPr>
        <p:spPr>
          <a:xfrm>
            <a:off x="3840480" y="5394960"/>
            <a:ext cx="7863840" cy="640080"/>
          </a:xfrm>
          <a:prstGeom prst="rect">
            <a:avLst/>
          </a:prstGeom>
          <a:noFill/>
          <a:ln/>
        </p:spPr>
        <p:txBody>
          <a:bodyPr wrap="square" lIns="0" tIns="0" rIns="0" bIns="0" rtlCol="0" anchor="ctr"/>
          <a:lstStyle/>
          <a:p>
            <a:pPr indent="0" marL="0">
              <a:buNone/>
            </a:pPr>
            <a:r>
              <a:rPr lang="en-US" sz="1200" dirty="0">
                <a:solidFill>
                  <a:srgbClr val="E6EDF3"/>
                </a:solidFill>
                <a:latin typeface="Calibri" pitchFamily="34" charset="0"/>
                <a:ea typeface="Calibri" pitchFamily="34" charset="-122"/>
                <a:cs typeface="Calibri" pitchFamily="34" charset="-120"/>
              </a:rPr>
              <a:t>memory/_PROJECT_STATE.md + session resume + rescan_project.sh (v10.5)</a:t>
            </a:r>
            <a:endParaRPr lang="en-US" sz="1200" dirty="0"/>
          </a:p>
        </p:txBody>
      </p:sp>
      <p:sp>
        <p:nvSpPr>
          <p:cNvPr id="29" name="Text 27"/>
          <p:cNvSpPr/>
          <p:nvPr/>
        </p:nvSpPr>
        <p:spPr>
          <a:xfrm>
            <a:off x="11338560" y="6492240"/>
            <a:ext cx="731520" cy="228600"/>
          </a:xfrm>
          <a:prstGeom prst="rect">
            <a:avLst/>
          </a:prstGeom>
          <a:noFill/>
          <a:ln/>
        </p:spPr>
        <p:txBody>
          <a:bodyPr wrap="square" lIns="0" tIns="0" rIns="0" bIns="0" rtlCol="0" anchor="ctr"/>
          <a:lstStyle/>
          <a:p>
            <a:pPr algn="r" indent="0" marL="0">
              <a:buNone/>
            </a:pPr>
            <a:r>
              <a:rPr lang="en-US" sz="900" dirty="0">
                <a:solidFill>
                  <a:srgbClr val="8B949E"/>
                </a:solidFill>
                <a:latin typeface="Consolas" pitchFamily="34" charset="0"/>
                <a:ea typeface="Consolas" pitchFamily="34" charset="-122"/>
                <a:cs typeface="Consolas" pitchFamily="34" charset="-120"/>
              </a:rPr>
              <a:t>6 / 32</a:t>
            </a:r>
            <a:endParaRPr lang="en-US" sz="900" dirty="0"/>
          </a:p>
        </p:txBody>
      </p:sp>
      <p:sp>
        <p:nvSpPr>
          <p:cNvPr id="30" name="Text 28"/>
          <p:cNvSpPr/>
          <p:nvPr/>
        </p:nvSpPr>
        <p:spPr>
          <a:xfrm>
            <a:off x="365760" y="6492240"/>
            <a:ext cx="1097280" cy="228600"/>
          </a:xfrm>
          <a:prstGeom prst="rect">
            <a:avLst/>
          </a:prstGeom>
          <a:noFill/>
          <a:ln/>
        </p:spPr>
        <p:txBody>
          <a:bodyPr wrap="square" lIns="0" tIns="0" rIns="0" bIns="0" rtlCol="0" anchor="ctr"/>
          <a:lstStyle/>
          <a:p>
            <a:pPr algn="l" indent="0" marL="0">
              <a:buNone/>
            </a:pPr>
            <a:r>
              <a:rPr lang="en-US" sz="900" dirty="0">
                <a:solidFill>
                  <a:srgbClr val="8B949E"/>
                </a:solidFill>
                <a:latin typeface="Consolas" pitchFamily="34" charset="0"/>
                <a:ea typeface="Consolas" pitchFamily="34" charset="-122"/>
                <a:cs typeface="Consolas" pitchFamily="34" charset="-120"/>
              </a:rPr>
              <a:t>v10.12</a:t>
            </a:r>
            <a:endParaRPr lang="en-US" sz="900" dirty="0"/>
          </a:p>
        </p:txBody>
      </p:sp>
      <p:sp>
        <p:nvSpPr>
          <p:cNvPr id="31" name="Text 29"/>
          <p:cNvSpPr/>
          <p:nvPr/>
        </p:nvSpPr>
        <p:spPr>
          <a:xfrm>
            <a:off x="4572000" y="6492240"/>
            <a:ext cx="6400800" cy="228600"/>
          </a:xfrm>
          <a:prstGeom prst="rect">
            <a:avLst/>
          </a:prstGeom>
          <a:noFill/>
          <a:ln/>
        </p:spPr>
        <p:txBody>
          <a:bodyPr wrap="square" lIns="0" tIns="0" rIns="0" bIns="0" rtlCol="0" anchor="ctr"/>
          <a:lstStyle/>
          <a:p>
            <a:pPr algn="ctr" indent="0" marL="0">
              <a:buNone/>
            </a:pPr>
            <a:r>
              <a:rPr lang="en-US" sz="900" dirty="0">
                <a:solidFill>
                  <a:srgbClr val="8B949E"/>
                </a:solidFill>
                <a:latin typeface="Consolas" pitchFamily="34" charset="0"/>
                <a:ea typeface="Consolas" pitchFamily="34" charset="-122"/>
                <a:cs typeface="Consolas" pitchFamily="34" charset="-120"/>
              </a:rPr>
              <a:t>Product Engineering Agent Framework</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365760" y="228600"/>
            <a:ext cx="8229600" cy="274320"/>
          </a:xfrm>
          <a:prstGeom prst="rect">
            <a:avLst/>
          </a:prstGeom>
          <a:noFill/>
          <a:ln/>
        </p:spPr>
        <p:txBody>
          <a:bodyPr wrap="square" lIns="0" tIns="0" rIns="0" bIns="0" rtlCol="0" anchor="ctr"/>
          <a:lstStyle/>
          <a:p>
            <a:pPr indent="0" marL="0">
              <a:buNone/>
            </a:pPr>
            <a:r>
              <a:rPr lang="en-US" sz="1100" dirty="0">
                <a:solidFill>
                  <a:srgbClr val="2EA043"/>
                </a:solidFill>
                <a:latin typeface="Consolas" pitchFamily="34" charset="0"/>
                <a:ea typeface="Consolas" pitchFamily="34" charset="-122"/>
                <a:cs typeface="Consolas" pitchFamily="34" charset="-120"/>
              </a:rPr>
              <a:t>$ </a:t>
            </a:r>
            <a:pPr indent="0" marL="0">
              <a:buNone/>
            </a:pPr>
            <a:r>
              <a:rPr lang="en-US" sz="1100" dirty="0">
                <a:solidFill>
                  <a:srgbClr val="8B949E"/>
                </a:solidFill>
                <a:latin typeface="Consolas" pitchFamily="34" charset="0"/>
                <a:ea typeface="Consolas" pitchFamily="34" charset="-122"/>
                <a:cs typeface="Consolas" pitchFamily="34" charset="-120"/>
              </a:rPr>
              <a:t>06_architecture.md</a:t>
            </a:r>
            <a:endParaRPr lang="en-US" sz="1100" dirty="0"/>
          </a:p>
        </p:txBody>
      </p:sp>
      <p:sp>
        <p:nvSpPr>
          <p:cNvPr id="3" name="Text 1"/>
          <p:cNvSpPr/>
          <p:nvPr/>
        </p:nvSpPr>
        <p:spPr>
          <a:xfrm>
            <a:off x="365760" y="548640"/>
            <a:ext cx="11430000" cy="640080"/>
          </a:xfrm>
          <a:prstGeom prst="rect">
            <a:avLst/>
          </a:prstGeom>
          <a:noFill/>
          <a:ln/>
        </p:spPr>
        <p:txBody>
          <a:bodyPr wrap="square" lIns="0" tIns="0" rIns="0" bIns="0" rtlCol="0" anchor="ctr"/>
          <a:lstStyle/>
          <a:p>
            <a:pPr indent="0" marL="0">
              <a:buNone/>
            </a:pPr>
            <a:r>
              <a:rPr lang="en-US" sz="3000" b="1" dirty="0">
                <a:solidFill>
                  <a:srgbClr val="E6EDF3"/>
                </a:solidFill>
                <a:latin typeface="Consolas" pitchFamily="34" charset="0"/>
                <a:ea typeface="Consolas" pitchFamily="34" charset="-122"/>
                <a:cs typeface="Consolas" pitchFamily="34" charset="-120"/>
              </a:rPr>
              <a:t>Kiến trúc tmux 9 pane</a:t>
            </a:r>
            <a:endParaRPr lang="en-US" sz="3000" dirty="0"/>
          </a:p>
        </p:txBody>
      </p:sp>
      <p:sp>
        <p:nvSpPr>
          <p:cNvPr id="4" name="Text 2"/>
          <p:cNvSpPr/>
          <p:nvPr/>
        </p:nvSpPr>
        <p:spPr>
          <a:xfrm>
            <a:off x="365760" y="1143000"/>
            <a:ext cx="11430000" cy="365760"/>
          </a:xfrm>
          <a:prstGeom prst="rect">
            <a:avLst/>
          </a:prstGeom>
          <a:noFill/>
          <a:ln/>
        </p:spPr>
        <p:txBody>
          <a:bodyPr wrap="square" lIns="0" tIns="0" rIns="0" bIns="0" rtlCol="0" anchor="ctr"/>
          <a:lstStyle/>
          <a:p>
            <a:pPr indent="0" marL="0">
              <a:buNone/>
            </a:pPr>
            <a:r>
              <a:rPr lang="en-US" sz="1400" i="1" dirty="0">
                <a:solidFill>
                  <a:srgbClr val="8B949E"/>
                </a:solidFill>
                <a:latin typeface="Calibri" pitchFamily="34" charset="0"/>
                <a:ea typeface="Calibri" pitchFamily="34" charset="-122"/>
                <a:cs typeface="Calibri" pitchFamily="34" charset="-120"/>
              </a:rPr>
              <a:t>Pane 1 chat với bạn, pane 2-9 chờ được route việc</a:t>
            </a:r>
            <a:endParaRPr lang="en-US" sz="1400" dirty="0"/>
          </a:p>
        </p:txBody>
      </p:sp>
      <p:sp>
        <p:nvSpPr>
          <p:cNvPr id="5" name="Shape 3"/>
          <p:cNvSpPr/>
          <p:nvPr/>
        </p:nvSpPr>
        <p:spPr>
          <a:xfrm>
            <a:off x="365760" y="1783080"/>
            <a:ext cx="11430000" cy="4572000"/>
          </a:xfrm>
          <a:prstGeom prst="rect">
            <a:avLst/>
          </a:prstGeom>
          <a:solidFill>
            <a:srgbClr val="161B22"/>
          </a:solidFill>
          <a:ln w="12700">
            <a:solidFill>
              <a:srgbClr val="30363D"/>
            </a:solidFill>
            <a:prstDash val="solid"/>
          </a:ln>
        </p:spPr>
      </p:sp>
      <p:sp>
        <p:nvSpPr>
          <p:cNvPr id="6" name="Shape 4"/>
          <p:cNvSpPr/>
          <p:nvPr/>
        </p:nvSpPr>
        <p:spPr>
          <a:xfrm>
            <a:off x="457200" y="1874520"/>
            <a:ext cx="91440" cy="91440"/>
          </a:xfrm>
          <a:prstGeom prst="ellipse">
            <a:avLst/>
          </a:prstGeom>
          <a:solidFill>
            <a:srgbClr val="F85149"/>
          </a:solidFill>
          <a:ln w="12700">
            <a:solidFill>
              <a:srgbClr val="F85149"/>
            </a:solidFill>
            <a:prstDash val="solid"/>
          </a:ln>
        </p:spPr>
      </p:sp>
      <p:sp>
        <p:nvSpPr>
          <p:cNvPr id="7" name="Shape 5"/>
          <p:cNvSpPr/>
          <p:nvPr/>
        </p:nvSpPr>
        <p:spPr>
          <a:xfrm>
            <a:off x="585216" y="1874520"/>
            <a:ext cx="91440" cy="91440"/>
          </a:xfrm>
          <a:prstGeom prst="ellipse">
            <a:avLst/>
          </a:prstGeom>
          <a:solidFill>
            <a:srgbClr val="D29922"/>
          </a:solidFill>
          <a:ln w="12700">
            <a:solidFill>
              <a:srgbClr val="D29922"/>
            </a:solidFill>
            <a:prstDash val="solid"/>
          </a:ln>
        </p:spPr>
      </p:sp>
      <p:sp>
        <p:nvSpPr>
          <p:cNvPr id="8" name="Shape 6"/>
          <p:cNvSpPr/>
          <p:nvPr/>
        </p:nvSpPr>
        <p:spPr>
          <a:xfrm>
            <a:off x="713232" y="1874520"/>
            <a:ext cx="91440" cy="91440"/>
          </a:xfrm>
          <a:prstGeom prst="ellipse">
            <a:avLst/>
          </a:prstGeom>
          <a:solidFill>
            <a:srgbClr val="3FB950"/>
          </a:solidFill>
          <a:ln w="12700">
            <a:solidFill>
              <a:srgbClr val="3FB950"/>
            </a:solidFill>
            <a:prstDash val="solid"/>
          </a:ln>
        </p:spPr>
      </p:sp>
      <p:sp>
        <p:nvSpPr>
          <p:cNvPr id="9" name="Text 7"/>
          <p:cNvSpPr/>
          <p:nvPr/>
        </p:nvSpPr>
        <p:spPr>
          <a:xfrm>
            <a:off x="502920" y="2103120"/>
            <a:ext cx="11155680" cy="4206240"/>
          </a:xfrm>
          <a:prstGeom prst="rect">
            <a:avLst/>
          </a:prstGeom>
          <a:noFill/>
          <a:ln/>
        </p:spPr>
        <p:txBody>
          <a:bodyPr wrap="square" lIns="0" tIns="0" rIns="0" bIns="0" rtlCol="0" anchor="t"/>
          <a:lstStyle/>
          <a:p>
            <a:pPr indent="0" marL="0">
              <a:buNone/>
            </a:pPr>
            <a:r>
              <a:rPr lang="en-US" sz="1200" dirty="0">
                <a:solidFill>
                  <a:srgbClr val="E6EDF3"/>
                </a:solidFill>
                <a:latin typeface="Consolas" pitchFamily="34" charset="0"/>
                <a:ea typeface="Consolas" pitchFamily="34" charset="-122"/>
                <a:cs typeface="Consolas" pitchFamily="34" charset="-120"/>
              </a:rPr>
              <a:t>                        ╔════════════════╗</a:t>
            </a:r>
            <a:endParaRPr lang="en-US" sz="1200" dirty="0"/>
          </a:p>
          <a:p>
            <a:pPr indent="0" marL="0">
              <a:buNone/>
            </a:pPr>
            <a:r>
              <a:rPr lang="en-US" sz="1200" dirty="0">
                <a:solidFill>
                  <a:srgbClr val="E6EDF3"/>
                </a:solidFill>
                <a:latin typeface="Consolas" pitchFamily="34" charset="0"/>
                <a:ea typeface="Consolas" pitchFamily="34" charset="-122"/>
                <a:cs typeface="Consolas" pitchFamily="34" charset="-120"/>
              </a:rPr>
              <a:t>                        ║      USER      ║   bạn chỉ nói với pane 1</a:t>
            </a:r>
            <a:endParaRPr lang="en-US" sz="1200" dirty="0"/>
          </a:p>
          <a:p>
            <a:pPr indent="0" marL="0">
              <a:buNone/>
            </a:pPr>
            <a:r>
              <a:rPr lang="en-US" sz="1200" dirty="0">
                <a:solidFill>
                  <a:srgbClr val="E6EDF3"/>
                </a:solidFill>
                <a:latin typeface="Consolas" pitchFamily="34" charset="0"/>
                <a:ea typeface="Consolas" pitchFamily="34" charset="-122"/>
                <a:cs typeface="Consolas" pitchFamily="34" charset="-120"/>
              </a:rPr>
              <a:t>                        ╚════════╤═══════╝</a:t>
            </a:r>
            <a:endParaRPr lang="en-US" sz="1200" dirty="0"/>
          </a:p>
          <a:p>
            <a:pPr indent="0" marL="0">
              <a:buNone/>
            </a:pPr>
            <a:r>
              <a:rPr lang="en-US" sz="1200" dirty="0">
                <a:solidFill>
                  <a:srgbClr val="E6EDF3"/>
                </a:solidFill>
                <a:latin typeface="Consolas" pitchFamily="34" charset="0"/>
                <a:ea typeface="Consolas" pitchFamily="34" charset="-122"/>
                <a:cs typeface="Consolas" pitchFamily="34" charset="-120"/>
              </a:rPr>
              <a:t>                                 │  chat</a:t>
            </a:r>
            <a:endParaRPr lang="en-US" sz="1200" dirty="0"/>
          </a:p>
          <a:p>
            <a:pPr indent="0" marL="0">
              <a:buNone/>
            </a:pPr>
            <a:r>
              <a:rPr lang="en-US" sz="1200" dirty="0">
                <a:solidFill>
                  <a:srgbClr val="E6EDF3"/>
                </a:solidFill>
                <a:latin typeface="Consolas" pitchFamily="34" charset="0"/>
                <a:ea typeface="Consolas" pitchFamily="34" charset="-122"/>
                <a:cs typeface="Consolas" pitchFamily="34" charset="-120"/>
              </a:rPr>
              <a:t>                                 ▼</a:t>
            </a:r>
            <a:endParaRPr lang="en-US" sz="1200" dirty="0"/>
          </a:p>
          <a:p>
            <a:pPr indent="0" marL="0">
              <a:buNone/>
            </a:pPr>
            <a:r>
              <a:rPr lang="en-US" sz="1200" dirty="0">
                <a:solidFill>
                  <a:srgbClr val="E6EDF3"/>
                </a:solidFill>
                <a:latin typeface="Consolas" pitchFamily="34" charset="0"/>
                <a:ea typeface="Consolas" pitchFamily="34" charset="-122"/>
                <a:cs typeface="Consolas" pitchFamily="34" charset="-120"/>
              </a:rPr>
              <a:t>                        ╔════════════════╗</a:t>
            </a:r>
            <a:endParaRPr lang="en-US" sz="1200" dirty="0"/>
          </a:p>
          <a:p>
            <a:pPr indent="0" marL="0">
              <a:buNone/>
            </a:pPr>
            <a:r>
              <a:rPr lang="en-US" sz="1200" dirty="0">
                <a:solidFill>
                  <a:srgbClr val="E6EDF3"/>
                </a:solidFill>
                <a:latin typeface="Consolas" pitchFamily="34" charset="0"/>
                <a:ea typeface="Consolas" pitchFamily="34" charset="-122"/>
                <a:cs typeface="Consolas" pitchFamily="34" charset="-120"/>
              </a:rPr>
              <a:t>                        ║  ORCHESTRATOR  ║   pane 1   &lt;engine&gt;/&lt;orch_model&gt;</a:t>
            </a:r>
            <a:endParaRPr lang="en-US" sz="1200" dirty="0"/>
          </a:p>
          <a:p>
            <a:pPr indent="0" marL="0">
              <a:buNone/>
            </a:pPr>
            <a:r>
              <a:rPr lang="en-US" sz="1200" dirty="0">
                <a:solidFill>
                  <a:srgbClr val="E6EDF3"/>
                </a:solidFill>
                <a:latin typeface="Consolas" pitchFamily="34" charset="0"/>
                <a:ea typeface="Consolas" pitchFamily="34" charset="-122"/>
                <a:cs typeface="Consolas" pitchFamily="34" charset="-120"/>
              </a:rPr>
              <a:t>                        ╚════════╤═══════╝</a:t>
            </a:r>
            <a:endParaRPr lang="en-US" sz="1200" dirty="0"/>
          </a:p>
          <a:p>
            <a:pPr indent="0" marL="0">
              <a:buNone/>
            </a:pPr>
            <a:r>
              <a:rPr lang="en-US" sz="1200" dirty="0">
                <a:solidFill>
                  <a:srgbClr val="E6EDF3"/>
                </a:solidFill>
                <a:latin typeface="Consolas" pitchFamily="34" charset="0"/>
                <a:ea typeface="Consolas" pitchFamily="34" charset="-122"/>
                <a:cs typeface="Consolas" pitchFamily="34" charset="-120"/>
              </a:rPr>
              <a:t>                                 │  bash scripts/route_to_pane.sh</a:t>
            </a:r>
            <a:endParaRPr lang="en-US" sz="1200" dirty="0"/>
          </a:p>
          <a:p>
            <a:pPr indent="0" marL="0">
              <a:buNone/>
            </a:pPr>
            <a:r>
              <a:rPr lang="en-US" sz="1200" dirty="0">
                <a:solidFill>
                  <a:srgbClr val="E6EDF3"/>
                </a:solidFill>
                <a:latin typeface="Consolas" pitchFamily="34" charset="0"/>
                <a:ea typeface="Consolas" pitchFamily="34" charset="-122"/>
                <a:cs typeface="Consolas" pitchFamily="34" charset="-120"/>
              </a:rPr>
              <a:t>      ┌─────┬─────┬─────┬────────┼────────┬─────┬─────┬─────┐</a:t>
            </a:r>
            <a:endParaRPr lang="en-US" sz="1200" dirty="0"/>
          </a:p>
          <a:p>
            <a:pPr indent="0" marL="0">
              <a:buNone/>
            </a:pPr>
            <a:r>
              <a:rPr lang="en-US" sz="1200" dirty="0">
                <a:solidFill>
                  <a:srgbClr val="E6EDF3"/>
                </a:solidFill>
                <a:latin typeface="Consolas" pitchFamily="34" charset="0"/>
                <a:ea typeface="Consolas" pitchFamily="34" charset="-122"/>
                <a:cs typeface="Consolas" pitchFamily="34" charset="-120"/>
              </a:rPr>
              <a:t>      ▼     ▼     ▼     ▼        ▼        ▼     ▼     ▼     ▼</a:t>
            </a:r>
            <a:endParaRPr lang="en-US" sz="1200" dirty="0"/>
          </a:p>
          <a:p>
            <a:pPr indent="0" marL="0">
              <a:buNone/>
            </a:pPr>
            <a:r>
              <a:rPr lang="en-US" sz="1200" dirty="0">
                <a:solidFill>
                  <a:srgbClr val="E6EDF3"/>
                </a:solidFill>
                <a:latin typeface="Consolas" pitchFamily="34" charset="0"/>
                <a:ea typeface="Consolas" pitchFamily="34" charset="-122"/>
                <a:cs typeface="Consolas" pitchFamily="34" charset="-120"/>
              </a:rPr>
              <a:t>    [PM]  [SA]  [BA]  [UX]    [BE]      [FE]  [QA]  [DEL] (idle)</a:t>
            </a:r>
            <a:endParaRPr lang="en-US" sz="1200" dirty="0"/>
          </a:p>
          <a:p>
            <a:pPr indent="0" marL="0">
              <a:buNone/>
            </a:pPr>
            <a:r>
              <a:rPr lang="en-US" sz="1200" dirty="0">
                <a:solidFill>
                  <a:srgbClr val="E6EDF3"/>
                </a:solidFill>
                <a:latin typeface="Consolas" pitchFamily="34" charset="0"/>
                <a:ea typeface="Consolas" pitchFamily="34" charset="-122"/>
                <a:cs typeface="Consolas" pitchFamily="34" charset="-120"/>
              </a:rPr>
              <a:t>     2    3     4     5         6        7     8     9</a:t>
            </a:r>
            <a:endParaRPr lang="en-US" sz="1200" dirty="0"/>
          </a:p>
          <a:p>
            <a:pPr indent="0" marL="0">
              <a:buNone/>
            </a:pPr>
            <a:r>
              <a:rPr lang="en-US" sz="1200" dirty="0">
                <a:solidFill>
                  <a:srgbClr val="E6EDF3"/>
                </a:solidFill>
                <a:latin typeface="Consolas" pitchFamily="34" charset="0"/>
                <a:ea typeface="Consolas" pitchFamily="34" charset="-122"/>
                <a:cs typeface="Consolas" pitchFamily="34" charset="-120"/>
              </a:rPr>
              <a:t>     OpenCode: 7-tier mix  |  Claude Code: haiku/sonnet/opus</a:t>
            </a:r>
            <a:endParaRPr lang="en-US" sz="1200" dirty="0"/>
          </a:p>
          <a:p>
            <a:pPr indent="0" marL="0">
              <a:buNone/>
            </a:pPr>
            <a:r>
              <a:rPr lang="en-US" sz="1200" dirty="0">
                <a:solidFill>
                  <a:srgbClr val="E6EDF3"/>
                </a:solidFill>
                <a:latin typeface="Consolas" pitchFamily="34" charset="0"/>
                <a:ea typeface="Consolas" pitchFamily="34" charset="-122"/>
                <a:cs typeface="Consolas" pitchFamily="34" charset="-120"/>
              </a:rPr>
              <a:t>     mỗi pane chỉ 'wake up' khi nhận routed task; xong → exit</a:t>
            </a:r>
            <a:endParaRPr lang="en-US" sz="1200" dirty="0"/>
          </a:p>
        </p:txBody>
      </p:sp>
      <p:sp>
        <p:nvSpPr>
          <p:cNvPr id="10" name="Text 8"/>
          <p:cNvSpPr/>
          <p:nvPr/>
        </p:nvSpPr>
        <p:spPr>
          <a:xfrm>
            <a:off x="11338560" y="6492240"/>
            <a:ext cx="731520" cy="228600"/>
          </a:xfrm>
          <a:prstGeom prst="rect">
            <a:avLst/>
          </a:prstGeom>
          <a:noFill/>
          <a:ln/>
        </p:spPr>
        <p:txBody>
          <a:bodyPr wrap="square" lIns="0" tIns="0" rIns="0" bIns="0" rtlCol="0" anchor="ctr"/>
          <a:lstStyle/>
          <a:p>
            <a:pPr algn="r" indent="0" marL="0">
              <a:buNone/>
            </a:pPr>
            <a:r>
              <a:rPr lang="en-US" sz="900" dirty="0">
                <a:solidFill>
                  <a:srgbClr val="8B949E"/>
                </a:solidFill>
                <a:latin typeface="Consolas" pitchFamily="34" charset="0"/>
                <a:ea typeface="Consolas" pitchFamily="34" charset="-122"/>
                <a:cs typeface="Consolas" pitchFamily="34" charset="-120"/>
              </a:rPr>
              <a:t>7 / 32</a:t>
            </a:r>
            <a:endParaRPr lang="en-US" sz="900" dirty="0"/>
          </a:p>
        </p:txBody>
      </p:sp>
      <p:sp>
        <p:nvSpPr>
          <p:cNvPr id="11" name="Text 9"/>
          <p:cNvSpPr/>
          <p:nvPr/>
        </p:nvSpPr>
        <p:spPr>
          <a:xfrm>
            <a:off x="365760" y="6492240"/>
            <a:ext cx="1097280" cy="228600"/>
          </a:xfrm>
          <a:prstGeom prst="rect">
            <a:avLst/>
          </a:prstGeom>
          <a:noFill/>
          <a:ln/>
        </p:spPr>
        <p:txBody>
          <a:bodyPr wrap="square" lIns="0" tIns="0" rIns="0" bIns="0" rtlCol="0" anchor="ctr"/>
          <a:lstStyle/>
          <a:p>
            <a:pPr algn="l" indent="0" marL="0">
              <a:buNone/>
            </a:pPr>
            <a:r>
              <a:rPr lang="en-US" sz="900" dirty="0">
                <a:solidFill>
                  <a:srgbClr val="8B949E"/>
                </a:solidFill>
                <a:latin typeface="Consolas" pitchFamily="34" charset="0"/>
                <a:ea typeface="Consolas" pitchFamily="34" charset="-122"/>
                <a:cs typeface="Consolas" pitchFamily="34" charset="-120"/>
              </a:rPr>
              <a:t>v10.12</a:t>
            </a:r>
            <a:endParaRPr lang="en-US" sz="900" dirty="0"/>
          </a:p>
        </p:txBody>
      </p:sp>
      <p:sp>
        <p:nvSpPr>
          <p:cNvPr id="12" name="Text 10"/>
          <p:cNvSpPr/>
          <p:nvPr/>
        </p:nvSpPr>
        <p:spPr>
          <a:xfrm>
            <a:off x="4572000" y="6492240"/>
            <a:ext cx="6400800" cy="228600"/>
          </a:xfrm>
          <a:prstGeom prst="rect">
            <a:avLst/>
          </a:prstGeom>
          <a:noFill/>
          <a:ln/>
        </p:spPr>
        <p:txBody>
          <a:bodyPr wrap="square" lIns="0" tIns="0" rIns="0" bIns="0" rtlCol="0" anchor="ctr"/>
          <a:lstStyle/>
          <a:p>
            <a:pPr algn="ctr" indent="0" marL="0">
              <a:buNone/>
            </a:pPr>
            <a:r>
              <a:rPr lang="en-US" sz="900" dirty="0">
                <a:solidFill>
                  <a:srgbClr val="8B949E"/>
                </a:solidFill>
                <a:latin typeface="Consolas" pitchFamily="34" charset="0"/>
                <a:ea typeface="Consolas" pitchFamily="34" charset="-122"/>
                <a:cs typeface="Consolas" pitchFamily="34" charset="-120"/>
              </a:rPr>
              <a:t>Product Engineering Agent Framework</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365760" y="228600"/>
            <a:ext cx="8229600" cy="274320"/>
          </a:xfrm>
          <a:prstGeom prst="rect">
            <a:avLst/>
          </a:prstGeom>
          <a:noFill/>
          <a:ln/>
        </p:spPr>
        <p:txBody>
          <a:bodyPr wrap="square" lIns="0" tIns="0" rIns="0" bIns="0" rtlCol="0" anchor="ctr"/>
          <a:lstStyle/>
          <a:p>
            <a:pPr indent="0" marL="0">
              <a:buNone/>
            </a:pPr>
            <a:r>
              <a:rPr lang="en-US" sz="1100" dirty="0">
                <a:solidFill>
                  <a:srgbClr val="2EA043"/>
                </a:solidFill>
                <a:latin typeface="Consolas" pitchFamily="34" charset="0"/>
                <a:ea typeface="Consolas" pitchFamily="34" charset="-122"/>
                <a:cs typeface="Consolas" pitchFamily="34" charset="-120"/>
              </a:rPr>
              <a:t>$ </a:t>
            </a:r>
            <a:pPr indent="0" marL="0">
              <a:buNone/>
            </a:pPr>
            <a:r>
              <a:rPr lang="en-US" sz="1100" dirty="0">
                <a:solidFill>
                  <a:srgbClr val="8B949E"/>
                </a:solidFill>
                <a:latin typeface="Consolas" pitchFamily="34" charset="0"/>
                <a:ea typeface="Consolas" pitchFamily="34" charset="-122"/>
                <a:cs typeface="Consolas" pitchFamily="34" charset="-120"/>
              </a:rPr>
              <a:t>07_tmux_layout.md</a:t>
            </a:r>
            <a:endParaRPr lang="en-US" sz="1100" dirty="0"/>
          </a:p>
        </p:txBody>
      </p:sp>
      <p:sp>
        <p:nvSpPr>
          <p:cNvPr id="3" name="Text 1"/>
          <p:cNvSpPr/>
          <p:nvPr/>
        </p:nvSpPr>
        <p:spPr>
          <a:xfrm>
            <a:off x="365760" y="548640"/>
            <a:ext cx="11430000" cy="640080"/>
          </a:xfrm>
          <a:prstGeom prst="rect">
            <a:avLst/>
          </a:prstGeom>
          <a:noFill/>
          <a:ln/>
        </p:spPr>
        <p:txBody>
          <a:bodyPr wrap="square" lIns="0" tIns="0" rIns="0" bIns="0" rtlCol="0" anchor="ctr"/>
          <a:lstStyle/>
          <a:p>
            <a:pPr indent="0" marL="0">
              <a:buNone/>
            </a:pPr>
            <a:r>
              <a:rPr lang="en-US" sz="3000" b="1" dirty="0">
                <a:solidFill>
                  <a:srgbClr val="E6EDF3"/>
                </a:solidFill>
                <a:latin typeface="Consolas" pitchFamily="34" charset="0"/>
                <a:ea typeface="Consolas" pitchFamily="34" charset="-122"/>
                <a:cs typeface="Consolas" pitchFamily="34" charset="-120"/>
              </a:rPr>
              <a:t>Tmux 3-window layout (v10.12)</a:t>
            </a:r>
            <a:endParaRPr lang="en-US" sz="3000" dirty="0"/>
          </a:p>
        </p:txBody>
      </p:sp>
      <p:sp>
        <p:nvSpPr>
          <p:cNvPr id="4" name="Text 2"/>
          <p:cNvSpPr/>
          <p:nvPr/>
        </p:nvSpPr>
        <p:spPr>
          <a:xfrm>
            <a:off x="365760" y="1143000"/>
            <a:ext cx="11430000" cy="365760"/>
          </a:xfrm>
          <a:prstGeom prst="rect">
            <a:avLst/>
          </a:prstGeom>
          <a:noFill/>
          <a:ln/>
        </p:spPr>
        <p:txBody>
          <a:bodyPr wrap="square" lIns="0" tIns="0" rIns="0" bIns="0" rtlCol="0" anchor="ctr"/>
          <a:lstStyle/>
          <a:p>
            <a:pPr indent="0" marL="0">
              <a:buNone/>
            </a:pPr>
            <a:r>
              <a:rPr lang="en-US" sz="1400" i="1" dirty="0">
                <a:solidFill>
                  <a:srgbClr val="8B949E"/>
                </a:solidFill>
                <a:latin typeface="Calibri" pitchFamily="34" charset="0"/>
                <a:ea typeface="Calibri" pitchFamily="34" charset="-122"/>
                <a:cs typeface="Calibri" pitchFamily="34" charset="-120"/>
              </a:rPr>
              <a:t>Window 0 OC · Window 1 DESIGN · Window 2 DEV — switch bằng Ctrl+B 0/1/2</a:t>
            </a:r>
            <a:endParaRPr lang="en-US" sz="1400" dirty="0"/>
          </a:p>
        </p:txBody>
      </p:sp>
      <p:sp>
        <p:nvSpPr>
          <p:cNvPr id="5" name="Shape 3"/>
          <p:cNvSpPr/>
          <p:nvPr/>
        </p:nvSpPr>
        <p:spPr>
          <a:xfrm>
            <a:off x="365760" y="1783080"/>
            <a:ext cx="3657600" cy="4114800"/>
          </a:xfrm>
          <a:prstGeom prst="rect">
            <a:avLst/>
          </a:prstGeom>
          <a:solidFill>
            <a:srgbClr val="161B22"/>
          </a:solidFill>
          <a:ln w="12700">
            <a:solidFill>
              <a:srgbClr val="30363D"/>
            </a:solidFill>
            <a:prstDash val="solid"/>
          </a:ln>
        </p:spPr>
      </p:sp>
      <p:sp>
        <p:nvSpPr>
          <p:cNvPr id="6" name="Text 4"/>
          <p:cNvSpPr/>
          <p:nvPr/>
        </p:nvSpPr>
        <p:spPr>
          <a:xfrm>
            <a:off x="548640" y="1874520"/>
            <a:ext cx="3383280" cy="365760"/>
          </a:xfrm>
          <a:prstGeom prst="rect">
            <a:avLst/>
          </a:prstGeom>
          <a:noFill/>
          <a:ln/>
        </p:spPr>
        <p:txBody>
          <a:bodyPr wrap="square" lIns="0" tIns="0" rIns="0" bIns="0" rtlCol="0" anchor="ctr"/>
          <a:lstStyle/>
          <a:p>
            <a:pPr indent="0" marL="0">
              <a:buNone/>
            </a:pPr>
            <a:r>
              <a:rPr lang="en-US" sz="1400" b="1" dirty="0">
                <a:solidFill>
                  <a:srgbClr val="7CE38B"/>
                </a:solidFill>
                <a:latin typeface="Consolas" pitchFamily="34" charset="0"/>
                <a:ea typeface="Consolas" pitchFamily="34" charset="-122"/>
                <a:cs typeface="Consolas" pitchFamily="34" charset="-120"/>
              </a:rPr>
              <a:t>Window 0 — OC</a:t>
            </a:r>
            <a:endParaRPr lang="en-US" sz="1400" dirty="0"/>
          </a:p>
        </p:txBody>
      </p:sp>
      <p:sp>
        <p:nvSpPr>
          <p:cNvPr id="7" name="Shape 5"/>
          <p:cNvSpPr/>
          <p:nvPr/>
        </p:nvSpPr>
        <p:spPr>
          <a:xfrm>
            <a:off x="594360" y="2331720"/>
            <a:ext cx="3200400" cy="3291840"/>
          </a:xfrm>
          <a:prstGeom prst="rect">
            <a:avLst/>
          </a:prstGeom>
          <a:solidFill>
            <a:srgbClr val="1C2128"/>
          </a:solidFill>
          <a:ln w="12700">
            <a:solidFill>
              <a:srgbClr val="30363D"/>
            </a:solidFill>
            <a:prstDash val="solid"/>
          </a:ln>
        </p:spPr>
      </p:sp>
      <p:sp>
        <p:nvSpPr>
          <p:cNvPr id="8" name="Text 6"/>
          <p:cNvSpPr/>
          <p:nvPr/>
        </p:nvSpPr>
        <p:spPr>
          <a:xfrm>
            <a:off x="594360" y="3017520"/>
            <a:ext cx="3200400" cy="457200"/>
          </a:xfrm>
          <a:prstGeom prst="rect">
            <a:avLst/>
          </a:prstGeom>
          <a:noFill/>
          <a:ln/>
        </p:spPr>
        <p:txBody>
          <a:bodyPr wrap="square" lIns="0" tIns="0" rIns="0" bIns="0" rtlCol="0" anchor="ctr"/>
          <a:lstStyle/>
          <a:p>
            <a:pPr algn="ctr" indent="0" marL="0">
              <a:buNone/>
            </a:pPr>
            <a:r>
              <a:rPr lang="en-US" sz="1800" b="1" dirty="0">
                <a:solidFill>
                  <a:srgbClr val="7CE38B"/>
                </a:solidFill>
                <a:latin typeface="Consolas" pitchFamily="34" charset="0"/>
                <a:ea typeface="Consolas" pitchFamily="34" charset="-122"/>
                <a:cs typeface="Consolas" pitchFamily="34" charset="-120"/>
              </a:rPr>
              <a:t>ORCHESTRATOR</a:t>
            </a:r>
            <a:endParaRPr lang="en-US" sz="1800" dirty="0"/>
          </a:p>
        </p:txBody>
      </p:sp>
      <p:sp>
        <p:nvSpPr>
          <p:cNvPr id="9" name="Text 7"/>
          <p:cNvSpPr/>
          <p:nvPr/>
        </p:nvSpPr>
        <p:spPr>
          <a:xfrm>
            <a:off x="594360" y="3520440"/>
            <a:ext cx="3200400" cy="365760"/>
          </a:xfrm>
          <a:prstGeom prst="rect">
            <a:avLst/>
          </a:prstGeom>
          <a:noFill/>
          <a:ln/>
        </p:spPr>
        <p:txBody>
          <a:bodyPr wrap="square" lIns="0" tIns="0" rIns="0" bIns="0" rtlCol="0" anchor="ctr"/>
          <a:lstStyle/>
          <a:p>
            <a:pPr algn="ctr" indent="0" marL="0">
              <a:buNone/>
            </a:pPr>
            <a:r>
              <a:rPr lang="en-US" sz="1100" i="1" dirty="0">
                <a:solidFill>
                  <a:srgbClr val="8B949E"/>
                </a:solidFill>
                <a:latin typeface="Calibri" pitchFamily="34" charset="0"/>
                <a:ea typeface="Calibri" pitchFamily="34" charset="-122"/>
                <a:cs typeface="Calibri" pitchFamily="34" charset="-120"/>
              </a:rPr>
              <a:t>(1 pane — full size, đọc/gõ thoải mái)</a:t>
            </a:r>
            <a:endParaRPr lang="en-US" sz="1100" dirty="0"/>
          </a:p>
        </p:txBody>
      </p:sp>
      <p:sp>
        <p:nvSpPr>
          <p:cNvPr id="10" name="Shape 8"/>
          <p:cNvSpPr/>
          <p:nvPr/>
        </p:nvSpPr>
        <p:spPr>
          <a:xfrm>
            <a:off x="4297680" y="1783080"/>
            <a:ext cx="3657600" cy="4114800"/>
          </a:xfrm>
          <a:prstGeom prst="rect">
            <a:avLst/>
          </a:prstGeom>
          <a:solidFill>
            <a:srgbClr val="161B22"/>
          </a:solidFill>
          <a:ln w="12700">
            <a:solidFill>
              <a:srgbClr val="30363D"/>
            </a:solidFill>
            <a:prstDash val="solid"/>
          </a:ln>
        </p:spPr>
      </p:sp>
      <p:sp>
        <p:nvSpPr>
          <p:cNvPr id="11" name="Text 9"/>
          <p:cNvSpPr/>
          <p:nvPr/>
        </p:nvSpPr>
        <p:spPr>
          <a:xfrm>
            <a:off x="4480560" y="1874520"/>
            <a:ext cx="3383280" cy="365760"/>
          </a:xfrm>
          <a:prstGeom prst="rect">
            <a:avLst/>
          </a:prstGeom>
          <a:noFill/>
          <a:ln/>
        </p:spPr>
        <p:txBody>
          <a:bodyPr wrap="square" lIns="0" tIns="0" rIns="0" bIns="0" rtlCol="0" anchor="ctr"/>
          <a:lstStyle/>
          <a:p>
            <a:pPr indent="0" marL="0">
              <a:buNone/>
            </a:pPr>
            <a:r>
              <a:rPr lang="en-US" sz="1400" b="1" dirty="0">
                <a:solidFill>
                  <a:srgbClr val="79C0FF"/>
                </a:solidFill>
                <a:latin typeface="Consolas" pitchFamily="34" charset="0"/>
                <a:ea typeface="Consolas" pitchFamily="34" charset="-122"/>
                <a:cs typeface="Consolas" pitchFamily="34" charset="-120"/>
              </a:rPr>
              <a:t>Window 1 — DESIGN</a:t>
            </a:r>
            <a:endParaRPr lang="en-US" sz="1400" dirty="0"/>
          </a:p>
        </p:txBody>
      </p:sp>
      <p:sp>
        <p:nvSpPr>
          <p:cNvPr id="12" name="Shape 10"/>
          <p:cNvSpPr/>
          <p:nvPr/>
        </p:nvSpPr>
        <p:spPr>
          <a:xfrm>
            <a:off x="4526280" y="2331720"/>
            <a:ext cx="1554480" cy="1600200"/>
          </a:xfrm>
          <a:prstGeom prst="rect">
            <a:avLst/>
          </a:prstGeom>
          <a:solidFill>
            <a:srgbClr val="1C2128"/>
          </a:solidFill>
          <a:ln w="12700">
            <a:solidFill>
              <a:srgbClr val="30363D"/>
            </a:solidFill>
            <a:prstDash val="solid"/>
          </a:ln>
        </p:spPr>
      </p:sp>
      <p:sp>
        <p:nvSpPr>
          <p:cNvPr id="13" name="Text 11"/>
          <p:cNvSpPr/>
          <p:nvPr/>
        </p:nvSpPr>
        <p:spPr>
          <a:xfrm>
            <a:off x="4526280" y="2331720"/>
            <a:ext cx="1554480" cy="1600200"/>
          </a:xfrm>
          <a:prstGeom prst="rect">
            <a:avLst/>
          </a:prstGeom>
          <a:noFill/>
          <a:ln/>
        </p:spPr>
        <p:txBody>
          <a:bodyPr wrap="square" lIns="0" tIns="0" rIns="0" bIns="0" rtlCol="0" anchor="ctr"/>
          <a:lstStyle/>
          <a:p>
            <a:pPr algn="ctr" indent="0" marL="0">
              <a:buNone/>
            </a:pPr>
            <a:r>
              <a:rPr lang="en-US" sz="1800" b="1" dirty="0">
                <a:solidFill>
                  <a:srgbClr val="79C0FF"/>
                </a:solidFill>
                <a:latin typeface="Consolas" pitchFamily="34" charset="0"/>
                <a:ea typeface="Consolas" pitchFamily="34" charset="-122"/>
                <a:cs typeface="Consolas" pitchFamily="34" charset="-120"/>
              </a:rPr>
              <a:t>PM</a:t>
            </a:r>
            <a:endParaRPr lang="en-US" sz="1800" dirty="0"/>
          </a:p>
        </p:txBody>
      </p:sp>
      <p:sp>
        <p:nvSpPr>
          <p:cNvPr id="14" name="Shape 12"/>
          <p:cNvSpPr/>
          <p:nvPr/>
        </p:nvSpPr>
        <p:spPr>
          <a:xfrm>
            <a:off x="6172200" y="2331720"/>
            <a:ext cx="1554480" cy="1600200"/>
          </a:xfrm>
          <a:prstGeom prst="rect">
            <a:avLst/>
          </a:prstGeom>
          <a:solidFill>
            <a:srgbClr val="1C2128"/>
          </a:solidFill>
          <a:ln w="12700">
            <a:solidFill>
              <a:srgbClr val="30363D"/>
            </a:solidFill>
            <a:prstDash val="solid"/>
          </a:ln>
        </p:spPr>
      </p:sp>
      <p:sp>
        <p:nvSpPr>
          <p:cNvPr id="15" name="Text 13"/>
          <p:cNvSpPr/>
          <p:nvPr/>
        </p:nvSpPr>
        <p:spPr>
          <a:xfrm>
            <a:off x="6172200" y="2331720"/>
            <a:ext cx="1554480" cy="1600200"/>
          </a:xfrm>
          <a:prstGeom prst="rect">
            <a:avLst/>
          </a:prstGeom>
          <a:noFill/>
          <a:ln/>
        </p:spPr>
        <p:txBody>
          <a:bodyPr wrap="square" lIns="0" tIns="0" rIns="0" bIns="0" rtlCol="0" anchor="ctr"/>
          <a:lstStyle/>
          <a:p>
            <a:pPr algn="ctr" indent="0" marL="0">
              <a:buNone/>
            </a:pPr>
            <a:r>
              <a:rPr lang="en-US" sz="1800" b="1" dirty="0">
                <a:solidFill>
                  <a:srgbClr val="79C0FF"/>
                </a:solidFill>
                <a:latin typeface="Consolas" pitchFamily="34" charset="0"/>
                <a:ea typeface="Consolas" pitchFamily="34" charset="-122"/>
                <a:cs typeface="Consolas" pitchFamily="34" charset="-120"/>
              </a:rPr>
              <a:t>SA</a:t>
            </a:r>
            <a:endParaRPr lang="en-US" sz="1800" dirty="0"/>
          </a:p>
        </p:txBody>
      </p:sp>
      <p:sp>
        <p:nvSpPr>
          <p:cNvPr id="16" name="Shape 14"/>
          <p:cNvSpPr/>
          <p:nvPr/>
        </p:nvSpPr>
        <p:spPr>
          <a:xfrm>
            <a:off x="4526280" y="4023360"/>
            <a:ext cx="1554480" cy="1600200"/>
          </a:xfrm>
          <a:prstGeom prst="rect">
            <a:avLst/>
          </a:prstGeom>
          <a:solidFill>
            <a:srgbClr val="1C2128"/>
          </a:solidFill>
          <a:ln w="12700">
            <a:solidFill>
              <a:srgbClr val="30363D"/>
            </a:solidFill>
            <a:prstDash val="solid"/>
          </a:ln>
        </p:spPr>
      </p:sp>
      <p:sp>
        <p:nvSpPr>
          <p:cNvPr id="17" name="Text 15"/>
          <p:cNvSpPr/>
          <p:nvPr/>
        </p:nvSpPr>
        <p:spPr>
          <a:xfrm>
            <a:off x="4526280" y="4023360"/>
            <a:ext cx="1554480" cy="1600200"/>
          </a:xfrm>
          <a:prstGeom prst="rect">
            <a:avLst/>
          </a:prstGeom>
          <a:noFill/>
          <a:ln/>
        </p:spPr>
        <p:txBody>
          <a:bodyPr wrap="square" lIns="0" tIns="0" rIns="0" bIns="0" rtlCol="0" anchor="ctr"/>
          <a:lstStyle/>
          <a:p>
            <a:pPr algn="ctr" indent="0" marL="0">
              <a:buNone/>
            </a:pPr>
            <a:r>
              <a:rPr lang="en-US" sz="1800" b="1" dirty="0">
                <a:solidFill>
                  <a:srgbClr val="79C0FF"/>
                </a:solidFill>
                <a:latin typeface="Consolas" pitchFamily="34" charset="0"/>
                <a:ea typeface="Consolas" pitchFamily="34" charset="-122"/>
                <a:cs typeface="Consolas" pitchFamily="34" charset="-120"/>
              </a:rPr>
              <a:t>BA</a:t>
            </a:r>
            <a:endParaRPr lang="en-US" sz="1800" dirty="0"/>
          </a:p>
        </p:txBody>
      </p:sp>
      <p:sp>
        <p:nvSpPr>
          <p:cNvPr id="18" name="Shape 16"/>
          <p:cNvSpPr/>
          <p:nvPr/>
        </p:nvSpPr>
        <p:spPr>
          <a:xfrm>
            <a:off x="6172200" y="4023360"/>
            <a:ext cx="1554480" cy="1600200"/>
          </a:xfrm>
          <a:prstGeom prst="rect">
            <a:avLst/>
          </a:prstGeom>
          <a:solidFill>
            <a:srgbClr val="1C2128"/>
          </a:solidFill>
          <a:ln w="12700">
            <a:solidFill>
              <a:srgbClr val="30363D"/>
            </a:solidFill>
            <a:prstDash val="solid"/>
          </a:ln>
        </p:spPr>
      </p:sp>
      <p:sp>
        <p:nvSpPr>
          <p:cNvPr id="19" name="Text 17"/>
          <p:cNvSpPr/>
          <p:nvPr/>
        </p:nvSpPr>
        <p:spPr>
          <a:xfrm>
            <a:off x="6172200" y="4023360"/>
            <a:ext cx="1554480" cy="1600200"/>
          </a:xfrm>
          <a:prstGeom prst="rect">
            <a:avLst/>
          </a:prstGeom>
          <a:noFill/>
          <a:ln/>
        </p:spPr>
        <p:txBody>
          <a:bodyPr wrap="square" lIns="0" tIns="0" rIns="0" bIns="0" rtlCol="0" anchor="ctr"/>
          <a:lstStyle/>
          <a:p>
            <a:pPr algn="ctr" indent="0" marL="0">
              <a:buNone/>
            </a:pPr>
            <a:r>
              <a:rPr lang="en-US" sz="1800" b="1" dirty="0">
                <a:solidFill>
                  <a:srgbClr val="79C0FF"/>
                </a:solidFill>
                <a:latin typeface="Consolas" pitchFamily="34" charset="0"/>
                <a:ea typeface="Consolas" pitchFamily="34" charset="-122"/>
                <a:cs typeface="Consolas" pitchFamily="34" charset="-120"/>
              </a:rPr>
              <a:t>UX</a:t>
            </a:r>
            <a:endParaRPr lang="en-US" sz="1800" dirty="0"/>
          </a:p>
        </p:txBody>
      </p:sp>
      <p:sp>
        <p:nvSpPr>
          <p:cNvPr id="20" name="Shape 18"/>
          <p:cNvSpPr/>
          <p:nvPr/>
        </p:nvSpPr>
        <p:spPr>
          <a:xfrm>
            <a:off x="8229600" y="1783080"/>
            <a:ext cx="3657600" cy="4114800"/>
          </a:xfrm>
          <a:prstGeom prst="rect">
            <a:avLst/>
          </a:prstGeom>
          <a:solidFill>
            <a:srgbClr val="161B22"/>
          </a:solidFill>
          <a:ln w="12700">
            <a:solidFill>
              <a:srgbClr val="30363D"/>
            </a:solidFill>
            <a:prstDash val="solid"/>
          </a:ln>
        </p:spPr>
      </p:sp>
      <p:sp>
        <p:nvSpPr>
          <p:cNvPr id="21" name="Text 19"/>
          <p:cNvSpPr/>
          <p:nvPr/>
        </p:nvSpPr>
        <p:spPr>
          <a:xfrm>
            <a:off x="8412480" y="1874520"/>
            <a:ext cx="3383280" cy="365760"/>
          </a:xfrm>
          <a:prstGeom prst="rect">
            <a:avLst/>
          </a:prstGeom>
          <a:noFill/>
          <a:ln/>
        </p:spPr>
        <p:txBody>
          <a:bodyPr wrap="square" lIns="0" tIns="0" rIns="0" bIns="0" rtlCol="0" anchor="ctr"/>
          <a:lstStyle/>
          <a:p>
            <a:pPr indent="0" marL="0">
              <a:buNone/>
            </a:pPr>
            <a:r>
              <a:rPr lang="en-US" sz="1400" b="1" dirty="0">
                <a:solidFill>
                  <a:srgbClr val="D29922"/>
                </a:solidFill>
                <a:latin typeface="Consolas" pitchFamily="34" charset="0"/>
                <a:ea typeface="Consolas" pitchFamily="34" charset="-122"/>
                <a:cs typeface="Consolas" pitchFamily="34" charset="-120"/>
              </a:rPr>
              <a:t>Window 2 — DEV</a:t>
            </a:r>
            <a:endParaRPr lang="en-US" sz="1400" dirty="0"/>
          </a:p>
        </p:txBody>
      </p:sp>
      <p:sp>
        <p:nvSpPr>
          <p:cNvPr id="22" name="Shape 20"/>
          <p:cNvSpPr/>
          <p:nvPr/>
        </p:nvSpPr>
        <p:spPr>
          <a:xfrm>
            <a:off x="8458200" y="2331720"/>
            <a:ext cx="1554480" cy="1600200"/>
          </a:xfrm>
          <a:prstGeom prst="rect">
            <a:avLst/>
          </a:prstGeom>
          <a:solidFill>
            <a:srgbClr val="1C2128"/>
          </a:solidFill>
          <a:ln w="12700">
            <a:solidFill>
              <a:srgbClr val="30363D"/>
            </a:solidFill>
            <a:prstDash val="solid"/>
          </a:ln>
        </p:spPr>
      </p:sp>
      <p:sp>
        <p:nvSpPr>
          <p:cNvPr id="23" name="Text 21"/>
          <p:cNvSpPr/>
          <p:nvPr/>
        </p:nvSpPr>
        <p:spPr>
          <a:xfrm>
            <a:off x="8458200" y="2331720"/>
            <a:ext cx="1554480" cy="1600200"/>
          </a:xfrm>
          <a:prstGeom prst="rect">
            <a:avLst/>
          </a:prstGeom>
          <a:noFill/>
          <a:ln/>
        </p:spPr>
        <p:txBody>
          <a:bodyPr wrap="square" lIns="0" tIns="0" rIns="0" bIns="0" rtlCol="0" anchor="ctr"/>
          <a:lstStyle/>
          <a:p>
            <a:pPr algn="ctr" indent="0" marL="0">
              <a:buNone/>
            </a:pPr>
            <a:r>
              <a:rPr lang="en-US" sz="1800" b="1" dirty="0">
                <a:solidFill>
                  <a:srgbClr val="D29922"/>
                </a:solidFill>
                <a:latin typeface="Consolas" pitchFamily="34" charset="0"/>
                <a:ea typeface="Consolas" pitchFamily="34" charset="-122"/>
                <a:cs typeface="Consolas" pitchFamily="34" charset="-120"/>
              </a:rPr>
              <a:t>BE</a:t>
            </a:r>
            <a:endParaRPr lang="en-US" sz="1800" dirty="0"/>
          </a:p>
        </p:txBody>
      </p:sp>
      <p:sp>
        <p:nvSpPr>
          <p:cNvPr id="24" name="Shape 22"/>
          <p:cNvSpPr/>
          <p:nvPr/>
        </p:nvSpPr>
        <p:spPr>
          <a:xfrm>
            <a:off x="10104120" y="2331720"/>
            <a:ext cx="1554480" cy="1600200"/>
          </a:xfrm>
          <a:prstGeom prst="rect">
            <a:avLst/>
          </a:prstGeom>
          <a:solidFill>
            <a:srgbClr val="1C2128"/>
          </a:solidFill>
          <a:ln w="12700">
            <a:solidFill>
              <a:srgbClr val="30363D"/>
            </a:solidFill>
            <a:prstDash val="solid"/>
          </a:ln>
        </p:spPr>
      </p:sp>
      <p:sp>
        <p:nvSpPr>
          <p:cNvPr id="25" name="Text 23"/>
          <p:cNvSpPr/>
          <p:nvPr/>
        </p:nvSpPr>
        <p:spPr>
          <a:xfrm>
            <a:off x="10104120" y="2331720"/>
            <a:ext cx="1554480" cy="1600200"/>
          </a:xfrm>
          <a:prstGeom prst="rect">
            <a:avLst/>
          </a:prstGeom>
          <a:noFill/>
          <a:ln/>
        </p:spPr>
        <p:txBody>
          <a:bodyPr wrap="square" lIns="0" tIns="0" rIns="0" bIns="0" rtlCol="0" anchor="ctr"/>
          <a:lstStyle/>
          <a:p>
            <a:pPr algn="ctr" indent="0" marL="0">
              <a:buNone/>
            </a:pPr>
            <a:r>
              <a:rPr lang="en-US" sz="1800" b="1" dirty="0">
                <a:solidFill>
                  <a:srgbClr val="D29922"/>
                </a:solidFill>
                <a:latin typeface="Consolas" pitchFamily="34" charset="0"/>
                <a:ea typeface="Consolas" pitchFamily="34" charset="-122"/>
                <a:cs typeface="Consolas" pitchFamily="34" charset="-120"/>
              </a:rPr>
              <a:t>FE</a:t>
            </a:r>
            <a:endParaRPr lang="en-US" sz="1800" dirty="0"/>
          </a:p>
        </p:txBody>
      </p:sp>
      <p:sp>
        <p:nvSpPr>
          <p:cNvPr id="26" name="Shape 24"/>
          <p:cNvSpPr/>
          <p:nvPr/>
        </p:nvSpPr>
        <p:spPr>
          <a:xfrm>
            <a:off x="8458200" y="4023360"/>
            <a:ext cx="1554480" cy="1600200"/>
          </a:xfrm>
          <a:prstGeom prst="rect">
            <a:avLst/>
          </a:prstGeom>
          <a:solidFill>
            <a:srgbClr val="1C2128"/>
          </a:solidFill>
          <a:ln w="12700">
            <a:solidFill>
              <a:srgbClr val="30363D"/>
            </a:solidFill>
            <a:prstDash val="solid"/>
          </a:ln>
        </p:spPr>
      </p:sp>
      <p:sp>
        <p:nvSpPr>
          <p:cNvPr id="27" name="Text 25"/>
          <p:cNvSpPr/>
          <p:nvPr/>
        </p:nvSpPr>
        <p:spPr>
          <a:xfrm>
            <a:off x="8458200" y="4023360"/>
            <a:ext cx="1554480" cy="1600200"/>
          </a:xfrm>
          <a:prstGeom prst="rect">
            <a:avLst/>
          </a:prstGeom>
          <a:noFill/>
          <a:ln/>
        </p:spPr>
        <p:txBody>
          <a:bodyPr wrap="square" lIns="0" tIns="0" rIns="0" bIns="0" rtlCol="0" anchor="ctr"/>
          <a:lstStyle/>
          <a:p>
            <a:pPr algn="ctr" indent="0" marL="0">
              <a:buNone/>
            </a:pPr>
            <a:r>
              <a:rPr lang="en-US" sz="1800" b="1" dirty="0">
                <a:solidFill>
                  <a:srgbClr val="D29922"/>
                </a:solidFill>
                <a:latin typeface="Consolas" pitchFamily="34" charset="0"/>
                <a:ea typeface="Consolas" pitchFamily="34" charset="-122"/>
                <a:cs typeface="Consolas" pitchFamily="34" charset="-120"/>
              </a:rPr>
              <a:t>QA</a:t>
            </a:r>
            <a:endParaRPr lang="en-US" sz="1800" dirty="0"/>
          </a:p>
        </p:txBody>
      </p:sp>
      <p:sp>
        <p:nvSpPr>
          <p:cNvPr id="28" name="Shape 26"/>
          <p:cNvSpPr/>
          <p:nvPr/>
        </p:nvSpPr>
        <p:spPr>
          <a:xfrm>
            <a:off x="10104120" y="4023360"/>
            <a:ext cx="1554480" cy="1600200"/>
          </a:xfrm>
          <a:prstGeom prst="rect">
            <a:avLst/>
          </a:prstGeom>
          <a:solidFill>
            <a:srgbClr val="1C2128"/>
          </a:solidFill>
          <a:ln w="12700">
            <a:solidFill>
              <a:srgbClr val="30363D"/>
            </a:solidFill>
            <a:prstDash val="solid"/>
          </a:ln>
        </p:spPr>
      </p:sp>
      <p:sp>
        <p:nvSpPr>
          <p:cNvPr id="29" name="Text 27"/>
          <p:cNvSpPr/>
          <p:nvPr/>
        </p:nvSpPr>
        <p:spPr>
          <a:xfrm>
            <a:off x="10104120" y="4023360"/>
            <a:ext cx="1554480" cy="1600200"/>
          </a:xfrm>
          <a:prstGeom prst="rect">
            <a:avLst/>
          </a:prstGeom>
          <a:noFill/>
          <a:ln/>
        </p:spPr>
        <p:txBody>
          <a:bodyPr wrap="square" lIns="0" tIns="0" rIns="0" bIns="0" rtlCol="0" anchor="ctr"/>
          <a:lstStyle/>
          <a:p>
            <a:pPr algn="ctr" indent="0" marL="0">
              <a:buNone/>
            </a:pPr>
            <a:r>
              <a:rPr lang="en-US" sz="1800" b="1" dirty="0">
                <a:solidFill>
                  <a:srgbClr val="D29922"/>
                </a:solidFill>
                <a:latin typeface="Consolas" pitchFamily="34" charset="0"/>
                <a:ea typeface="Consolas" pitchFamily="34" charset="-122"/>
                <a:cs typeface="Consolas" pitchFamily="34" charset="-120"/>
              </a:rPr>
              <a:t>DEL</a:t>
            </a:r>
            <a:endParaRPr lang="en-US" sz="1800" dirty="0"/>
          </a:p>
        </p:txBody>
      </p:sp>
      <p:sp>
        <p:nvSpPr>
          <p:cNvPr id="30" name="Text 28"/>
          <p:cNvSpPr/>
          <p:nvPr/>
        </p:nvSpPr>
        <p:spPr>
          <a:xfrm>
            <a:off x="365760" y="6126480"/>
            <a:ext cx="11430000" cy="320040"/>
          </a:xfrm>
          <a:prstGeom prst="rect">
            <a:avLst/>
          </a:prstGeom>
          <a:noFill/>
          <a:ln/>
        </p:spPr>
        <p:txBody>
          <a:bodyPr wrap="square" lIns="0" tIns="0" rIns="0" bIns="0" rtlCol="0" anchor="ctr"/>
          <a:lstStyle/>
          <a:p>
            <a:pPr algn="ctr" indent="0" marL="0">
              <a:buNone/>
            </a:pPr>
            <a:r>
              <a:rPr lang="en-US" sz="1100" i="1" dirty="0">
                <a:solidFill>
                  <a:srgbClr val="8B949E"/>
                </a:solidFill>
                <a:latin typeface="Calibri" pitchFamily="34" charset="0"/>
                <a:ea typeface="Calibri" pitchFamily="34" charset="-122"/>
                <a:cs typeface="Calibri" pitchFamily="34" charset="-120"/>
              </a:rPr>
              <a:t>Lợi: Orchestrator full size cho chat. DESIGN/DEV tách rõ — bạn theo dõi đúng role group cần ở mỗi phase.</a:t>
            </a:r>
            <a:endParaRPr lang="en-US" sz="1100" dirty="0"/>
          </a:p>
        </p:txBody>
      </p:sp>
      <p:sp>
        <p:nvSpPr>
          <p:cNvPr id="31" name="Text 29"/>
          <p:cNvSpPr/>
          <p:nvPr/>
        </p:nvSpPr>
        <p:spPr>
          <a:xfrm>
            <a:off x="11338560" y="6492240"/>
            <a:ext cx="731520" cy="228600"/>
          </a:xfrm>
          <a:prstGeom prst="rect">
            <a:avLst/>
          </a:prstGeom>
          <a:noFill/>
          <a:ln/>
        </p:spPr>
        <p:txBody>
          <a:bodyPr wrap="square" lIns="0" tIns="0" rIns="0" bIns="0" rtlCol="0" anchor="ctr"/>
          <a:lstStyle/>
          <a:p>
            <a:pPr algn="r" indent="0" marL="0">
              <a:buNone/>
            </a:pPr>
            <a:r>
              <a:rPr lang="en-US" sz="900" dirty="0">
                <a:solidFill>
                  <a:srgbClr val="8B949E"/>
                </a:solidFill>
                <a:latin typeface="Consolas" pitchFamily="34" charset="0"/>
                <a:ea typeface="Consolas" pitchFamily="34" charset="-122"/>
                <a:cs typeface="Consolas" pitchFamily="34" charset="-120"/>
              </a:rPr>
              <a:t>8 / 32</a:t>
            </a:r>
            <a:endParaRPr lang="en-US" sz="900" dirty="0"/>
          </a:p>
        </p:txBody>
      </p:sp>
      <p:sp>
        <p:nvSpPr>
          <p:cNvPr id="32" name="Text 30"/>
          <p:cNvSpPr/>
          <p:nvPr/>
        </p:nvSpPr>
        <p:spPr>
          <a:xfrm>
            <a:off x="365760" y="6492240"/>
            <a:ext cx="1097280" cy="228600"/>
          </a:xfrm>
          <a:prstGeom prst="rect">
            <a:avLst/>
          </a:prstGeom>
          <a:noFill/>
          <a:ln/>
        </p:spPr>
        <p:txBody>
          <a:bodyPr wrap="square" lIns="0" tIns="0" rIns="0" bIns="0" rtlCol="0" anchor="ctr"/>
          <a:lstStyle/>
          <a:p>
            <a:pPr algn="l" indent="0" marL="0">
              <a:buNone/>
            </a:pPr>
            <a:r>
              <a:rPr lang="en-US" sz="900" dirty="0">
                <a:solidFill>
                  <a:srgbClr val="8B949E"/>
                </a:solidFill>
                <a:latin typeface="Consolas" pitchFamily="34" charset="0"/>
                <a:ea typeface="Consolas" pitchFamily="34" charset="-122"/>
                <a:cs typeface="Consolas" pitchFamily="34" charset="-120"/>
              </a:rPr>
              <a:t>v10.12</a:t>
            </a:r>
            <a:endParaRPr lang="en-US" sz="900" dirty="0"/>
          </a:p>
        </p:txBody>
      </p:sp>
      <p:sp>
        <p:nvSpPr>
          <p:cNvPr id="33" name="Text 31"/>
          <p:cNvSpPr/>
          <p:nvPr/>
        </p:nvSpPr>
        <p:spPr>
          <a:xfrm>
            <a:off x="4572000" y="6492240"/>
            <a:ext cx="6400800" cy="228600"/>
          </a:xfrm>
          <a:prstGeom prst="rect">
            <a:avLst/>
          </a:prstGeom>
          <a:noFill/>
          <a:ln/>
        </p:spPr>
        <p:txBody>
          <a:bodyPr wrap="square" lIns="0" tIns="0" rIns="0" bIns="0" rtlCol="0" anchor="ctr"/>
          <a:lstStyle/>
          <a:p>
            <a:pPr algn="ctr" indent="0" marL="0">
              <a:buNone/>
            </a:pPr>
            <a:r>
              <a:rPr lang="en-US" sz="900" dirty="0">
                <a:solidFill>
                  <a:srgbClr val="8B949E"/>
                </a:solidFill>
                <a:latin typeface="Consolas" pitchFamily="34" charset="0"/>
                <a:ea typeface="Consolas" pitchFamily="34" charset="-122"/>
                <a:cs typeface="Consolas" pitchFamily="34" charset="-120"/>
              </a:rPr>
              <a:t>Product Engineering Agent Framework</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365760" y="228600"/>
            <a:ext cx="8229600" cy="274320"/>
          </a:xfrm>
          <a:prstGeom prst="rect">
            <a:avLst/>
          </a:prstGeom>
          <a:noFill/>
          <a:ln/>
        </p:spPr>
        <p:txBody>
          <a:bodyPr wrap="square" lIns="0" tIns="0" rIns="0" bIns="0" rtlCol="0" anchor="ctr"/>
          <a:lstStyle/>
          <a:p>
            <a:pPr indent="0" marL="0">
              <a:buNone/>
            </a:pPr>
            <a:r>
              <a:rPr lang="en-US" sz="1100" dirty="0">
                <a:solidFill>
                  <a:srgbClr val="2EA043"/>
                </a:solidFill>
                <a:latin typeface="Consolas" pitchFamily="34" charset="0"/>
                <a:ea typeface="Consolas" pitchFamily="34" charset="-122"/>
                <a:cs typeface="Consolas" pitchFamily="34" charset="-120"/>
              </a:rPr>
              <a:t>$ </a:t>
            </a:r>
            <a:pPr indent="0" marL="0">
              <a:buNone/>
            </a:pPr>
            <a:r>
              <a:rPr lang="en-US" sz="1100" dirty="0">
                <a:solidFill>
                  <a:srgbClr val="8B949E"/>
                </a:solidFill>
                <a:latin typeface="Consolas" pitchFamily="34" charset="0"/>
                <a:ea typeface="Consolas" pitchFamily="34" charset="-122"/>
                <a:cs typeface="Consolas" pitchFamily="34" charset="-120"/>
              </a:rPr>
              <a:t>07_roles.md</a:t>
            </a:r>
            <a:endParaRPr lang="en-US" sz="1100" dirty="0"/>
          </a:p>
        </p:txBody>
      </p:sp>
      <p:sp>
        <p:nvSpPr>
          <p:cNvPr id="3" name="Text 1"/>
          <p:cNvSpPr/>
          <p:nvPr/>
        </p:nvSpPr>
        <p:spPr>
          <a:xfrm>
            <a:off x="365760" y="548640"/>
            <a:ext cx="11430000" cy="640080"/>
          </a:xfrm>
          <a:prstGeom prst="rect">
            <a:avLst/>
          </a:prstGeom>
          <a:noFill/>
          <a:ln/>
        </p:spPr>
        <p:txBody>
          <a:bodyPr wrap="square" lIns="0" tIns="0" rIns="0" bIns="0" rtlCol="0" anchor="ctr"/>
          <a:lstStyle/>
          <a:p>
            <a:pPr indent="0" marL="0">
              <a:buNone/>
            </a:pPr>
            <a:r>
              <a:rPr lang="en-US" sz="3000" b="1" dirty="0">
                <a:solidFill>
                  <a:srgbClr val="E6EDF3"/>
                </a:solidFill>
                <a:latin typeface="Consolas" pitchFamily="34" charset="0"/>
                <a:ea typeface="Consolas" pitchFamily="34" charset="-122"/>
                <a:cs typeface="Consolas" pitchFamily="34" charset="-120"/>
              </a:rPr>
              <a:t>9 vai trò trong đội</a:t>
            </a:r>
            <a:endParaRPr lang="en-US" sz="3000" dirty="0"/>
          </a:p>
        </p:txBody>
      </p:sp>
      <p:sp>
        <p:nvSpPr>
          <p:cNvPr id="4" name="Text 2"/>
          <p:cNvSpPr/>
          <p:nvPr/>
        </p:nvSpPr>
        <p:spPr>
          <a:xfrm>
            <a:off x="365760" y="1143000"/>
            <a:ext cx="11430000" cy="365760"/>
          </a:xfrm>
          <a:prstGeom prst="rect">
            <a:avLst/>
          </a:prstGeom>
          <a:noFill/>
          <a:ln/>
        </p:spPr>
        <p:txBody>
          <a:bodyPr wrap="square" lIns="0" tIns="0" rIns="0" bIns="0" rtlCol="0" anchor="ctr"/>
          <a:lstStyle/>
          <a:p>
            <a:pPr indent="0" marL="0">
              <a:buNone/>
            </a:pPr>
            <a:r>
              <a:rPr lang="en-US" sz="1400" i="1" dirty="0">
                <a:solidFill>
                  <a:srgbClr val="8B949E"/>
                </a:solidFill>
                <a:latin typeface="Calibri" pitchFamily="34" charset="0"/>
                <a:ea typeface="Calibri" pitchFamily="34" charset="-122"/>
                <a:cs typeface="Calibri" pitchFamily="34" charset="-120"/>
              </a:rPr>
              <a:t>Mỗi role có prompt + model + write boundary riêng</a:t>
            </a:r>
            <a:endParaRPr lang="en-US" sz="1400" dirty="0"/>
          </a:p>
        </p:txBody>
      </p:sp>
      <p:sp>
        <p:nvSpPr>
          <p:cNvPr id="5" name="Shape 3"/>
          <p:cNvSpPr/>
          <p:nvPr/>
        </p:nvSpPr>
        <p:spPr>
          <a:xfrm>
            <a:off x="365760" y="1783080"/>
            <a:ext cx="1874520" cy="384048"/>
          </a:xfrm>
          <a:prstGeom prst="rect">
            <a:avLst/>
          </a:prstGeom>
          <a:solidFill>
            <a:srgbClr val="2EA043"/>
          </a:solidFill>
          <a:ln w="12700">
            <a:solidFill>
              <a:srgbClr val="2EA043"/>
            </a:solidFill>
            <a:prstDash val="solid"/>
          </a:ln>
        </p:spPr>
      </p:sp>
      <p:sp>
        <p:nvSpPr>
          <p:cNvPr id="6" name="Text 4"/>
          <p:cNvSpPr/>
          <p:nvPr/>
        </p:nvSpPr>
        <p:spPr>
          <a:xfrm>
            <a:off x="457200" y="1783080"/>
            <a:ext cx="1783080" cy="384048"/>
          </a:xfrm>
          <a:prstGeom prst="rect">
            <a:avLst/>
          </a:prstGeom>
          <a:noFill/>
          <a:ln/>
        </p:spPr>
        <p:txBody>
          <a:bodyPr wrap="square" lIns="0" tIns="0" rIns="0" bIns="0" rtlCol="0" anchor="ctr"/>
          <a:lstStyle/>
          <a:p>
            <a:pPr indent="0" marL="0">
              <a:buNone/>
            </a:pPr>
            <a:r>
              <a:rPr lang="en-US" sz="1100" b="1" dirty="0">
                <a:solidFill>
                  <a:srgbClr val="0D1117"/>
                </a:solidFill>
                <a:latin typeface="Consolas" pitchFamily="34" charset="0"/>
                <a:ea typeface="Consolas" pitchFamily="34" charset="-122"/>
                <a:cs typeface="Consolas" pitchFamily="34" charset="-120"/>
              </a:rPr>
              <a:t>ROLE</a:t>
            </a:r>
            <a:endParaRPr lang="en-US" sz="1100" dirty="0"/>
          </a:p>
        </p:txBody>
      </p:sp>
      <p:sp>
        <p:nvSpPr>
          <p:cNvPr id="7" name="Shape 5"/>
          <p:cNvSpPr/>
          <p:nvPr/>
        </p:nvSpPr>
        <p:spPr>
          <a:xfrm>
            <a:off x="2286000" y="1783080"/>
            <a:ext cx="3337560" cy="384048"/>
          </a:xfrm>
          <a:prstGeom prst="rect">
            <a:avLst/>
          </a:prstGeom>
          <a:solidFill>
            <a:srgbClr val="2EA043"/>
          </a:solidFill>
          <a:ln w="12700">
            <a:solidFill>
              <a:srgbClr val="2EA043"/>
            </a:solidFill>
            <a:prstDash val="solid"/>
          </a:ln>
        </p:spPr>
      </p:sp>
      <p:sp>
        <p:nvSpPr>
          <p:cNvPr id="8" name="Text 6"/>
          <p:cNvSpPr/>
          <p:nvPr/>
        </p:nvSpPr>
        <p:spPr>
          <a:xfrm>
            <a:off x="2377440" y="1783080"/>
            <a:ext cx="3246120" cy="384048"/>
          </a:xfrm>
          <a:prstGeom prst="rect">
            <a:avLst/>
          </a:prstGeom>
          <a:noFill/>
          <a:ln/>
        </p:spPr>
        <p:txBody>
          <a:bodyPr wrap="square" lIns="0" tIns="0" rIns="0" bIns="0" rtlCol="0" anchor="ctr"/>
          <a:lstStyle/>
          <a:p>
            <a:pPr indent="0" marL="0">
              <a:buNone/>
            </a:pPr>
            <a:r>
              <a:rPr lang="en-US" sz="1100" b="1" dirty="0">
                <a:solidFill>
                  <a:srgbClr val="0D1117"/>
                </a:solidFill>
                <a:latin typeface="Consolas" pitchFamily="34" charset="0"/>
                <a:ea typeface="Consolas" pitchFamily="34" charset="-122"/>
                <a:cs typeface="Consolas" pitchFamily="34" charset="-120"/>
              </a:rPr>
              <a:t>TRÁCH NHIỆM CHÍNH</a:t>
            </a:r>
            <a:endParaRPr lang="en-US" sz="1100" dirty="0"/>
          </a:p>
        </p:txBody>
      </p:sp>
      <p:sp>
        <p:nvSpPr>
          <p:cNvPr id="9" name="Shape 7"/>
          <p:cNvSpPr/>
          <p:nvPr/>
        </p:nvSpPr>
        <p:spPr>
          <a:xfrm>
            <a:off x="5669280" y="1783080"/>
            <a:ext cx="2240280" cy="384048"/>
          </a:xfrm>
          <a:prstGeom prst="rect">
            <a:avLst/>
          </a:prstGeom>
          <a:solidFill>
            <a:srgbClr val="2EA043"/>
          </a:solidFill>
          <a:ln w="12700">
            <a:solidFill>
              <a:srgbClr val="2EA043"/>
            </a:solidFill>
            <a:prstDash val="solid"/>
          </a:ln>
        </p:spPr>
      </p:sp>
      <p:sp>
        <p:nvSpPr>
          <p:cNvPr id="10" name="Text 8"/>
          <p:cNvSpPr/>
          <p:nvPr/>
        </p:nvSpPr>
        <p:spPr>
          <a:xfrm>
            <a:off x="5760720" y="1783080"/>
            <a:ext cx="2148840" cy="384048"/>
          </a:xfrm>
          <a:prstGeom prst="rect">
            <a:avLst/>
          </a:prstGeom>
          <a:noFill/>
          <a:ln/>
        </p:spPr>
        <p:txBody>
          <a:bodyPr wrap="square" lIns="0" tIns="0" rIns="0" bIns="0" rtlCol="0" anchor="ctr"/>
          <a:lstStyle/>
          <a:p>
            <a:pPr indent="0" marL="0">
              <a:buNone/>
            </a:pPr>
            <a:r>
              <a:rPr lang="en-US" sz="1100" b="1" dirty="0">
                <a:solidFill>
                  <a:srgbClr val="0D1117"/>
                </a:solidFill>
                <a:latin typeface="Consolas" pitchFamily="34" charset="0"/>
                <a:ea typeface="Consolas" pitchFamily="34" charset="-122"/>
                <a:cs typeface="Consolas" pitchFamily="34" charset="-120"/>
              </a:rPr>
              <a:t>DEFAULT MODEL (opencode)</a:t>
            </a:r>
            <a:endParaRPr lang="en-US" sz="1100" dirty="0"/>
          </a:p>
        </p:txBody>
      </p:sp>
      <p:sp>
        <p:nvSpPr>
          <p:cNvPr id="11" name="Shape 9"/>
          <p:cNvSpPr/>
          <p:nvPr/>
        </p:nvSpPr>
        <p:spPr>
          <a:xfrm>
            <a:off x="7955280" y="1783080"/>
            <a:ext cx="4160520" cy="384048"/>
          </a:xfrm>
          <a:prstGeom prst="rect">
            <a:avLst/>
          </a:prstGeom>
          <a:solidFill>
            <a:srgbClr val="2EA043"/>
          </a:solidFill>
          <a:ln w="12700">
            <a:solidFill>
              <a:srgbClr val="2EA043"/>
            </a:solidFill>
            <a:prstDash val="solid"/>
          </a:ln>
        </p:spPr>
      </p:sp>
      <p:sp>
        <p:nvSpPr>
          <p:cNvPr id="12" name="Text 10"/>
          <p:cNvSpPr/>
          <p:nvPr/>
        </p:nvSpPr>
        <p:spPr>
          <a:xfrm>
            <a:off x="8046720" y="1783080"/>
            <a:ext cx="4069080" cy="384048"/>
          </a:xfrm>
          <a:prstGeom prst="rect">
            <a:avLst/>
          </a:prstGeom>
          <a:noFill/>
          <a:ln/>
        </p:spPr>
        <p:txBody>
          <a:bodyPr wrap="square" lIns="0" tIns="0" rIns="0" bIns="0" rtlCol="0" anchor="ctr"/>
          <a:lstStyle/>
          <a:p>
            <a:pPr indent="0" marL="0">
              <a:buNone/>
            </a:pPr>
            <a:r>
              <a:rPr lang="en-US" sz="1100" b="1" dirty="0">
                <a:solidFill>
                  <a:srgbClr val="0D1117"/>
                </a:solidFill>
                <a:latin typeface="Consolas" pitchFamily="34" charset="0"/>
                <a:ea typeface="Consolas" pitchFamily="34" charset="-122"/>
                <a:cs typeface="Consolas" pitchFamily="34" charset="-120"/>
              </a:rPr>
              <a:t>WRITE BOUNDARY</a:t>
            </a:r>
            <a:endParaRPr lang="en-US" sz="1100" dirty="0"/>
          </a:p>
        </p:txBody>
      </p:sp>
      <p:sp>
        <p:nvSpPr>
          <p:cNvPr id="13" name="Shape 11"/>
          <p:cNvSpPr/>
          <p:nvPr/>
        </p:nvSpPr>
        <p:spPr>
          <a:xfrm>
            <a:off x="365760" y="2194560"/>
            <a:ext cx="1874520" cy="411480"/>
          </a:xfrm>
          <a:prstGeom prst="rect">
            <a:avLst/>
          </a:prstGeom>
          <a:solidFill>
            <a:srgbClr val="161B22"/>
          </a:solidFill>
          <a:ln w="6350">
            <a:solidFill>
              <a:srgbClr val="30363D"/>
            </a:solidFill>
            <a:prstDash val="solid"/>
          </a:ln>
        </p:spPr>
      </p:sp>
      <p:sp>
        <p:nvSpPr>
          <p:cNvPr id="14" name="Text 12"/>
          <p:cNvSpPr/>
          <p:nvPr/>
        </p:nvSpPr>
        <p:spPr>
          <a:xfrm>
            <a:off x="457200" y="2194560"/>
            <a:ext cx="1737360" cy="411480"/>
          </a:xfrm>
          <a:prstGeom prst="rect">
            <a:avLst/>
          </a:prstGeom>
          <a:noFill/>
          <a:ln/>
        </p:spPr>
        <p:txBody>
          <a:bodyPr wrap="square" lIns="0" tIns="0" rIns="0" bIns="0" rtlCol="0" anchor="ctr"/>
          <a:lstStyle/>
          <a:p>
            <a:pPr indent="0" marL="0">
              <a:buNone/>
            </a:pPr>
            <a:r>
              <a:rPr lang="en-US" sz="1000" b="1" dirty="0">
                <a:solidFill>
                  <a:srgbClr val="7CE38B"/>
                </a:solidFill>
                <a:latin typeface="Calibri" pitchFamily="34" charset="0"/>
                <a:ea typeface="Calibri" pitchFamily="34" charset="-122"/>
                <a:cs typeface="Calibri" pitchFamily="34" charset="-120"/>
              </a:rPr>
              <a:t>ORCHESTRATOR</a:t>
            </a:r>
            <a:endParaRPr lang="en-US" sz="1000" dirty="0"/>
          </a:p>
        </p:txBody>
      </p:sp>
      <p:sp>
        <p:nvSpPr>
          <p:cNvPr id="15" name="Shape 13"/>
          <p:cNvSpPr/>
          <p:nvPr/>
        </p:nvSpPr>
        <p:spPr>
          <a:xfrm>
            <a:off x="2286000" y="2194560"/>
            <a:ext cx="3337560" cy="411480"/>
          </a:xfrm>
          <a:prstGeom prst="rect">
            <a:avLst/>
          </a:prstGeom>
          <a:solidFill>
            <a:srgbClr val="161B22"/>
          </a:solidFill>
          <a:ln w="6350">
            <a:solidFill>
              <a:srgbClr val="30363D"/>
            </a:solidFill>
            <a:prstDash val="solid"/>
          </a:ln>
        </p:spPr>
      </p:sp>
      <p:sp>
        <p:nvSpPr>
          <p:cNvPr id="16" name="Text 14"/>
          <p:cNvSpPr/>
          <p:nvPr/>
        </p:nvSpPr>
        <p:spPr>
          <a:xfrm>
            <a:off x="2377440" y="2194560"/>
            <a:ext cx="3200400" cy="411480"/>
          </a:xfrm>
          <a:prstGeom prst="rect">
            <a:avLst/>
          </a:prstGeom>
          <a:noFill/>
          <a:ln/>
        </p:spPr>
        <p:txBody>
          <a:bodyPr wrap="square" lIns="0" tIns="0" rIns="0" bIns="0" rtlCol="0" anchor="ctr"/>
          <a:lstStyle/>
          <a:p>
            <a:pPr indent="0" marL="0">
              <a:buNone/>
            </a:pPr>
            <a:r>
              <a:rPr lang="en-US" sz="1000" dirty="0">
                <a:solidFill>
                  <a:srgbClr val="E6EDF3"/>
                </a:solidFill>
                <a:latin typeface="Calibri" pitchFamily="34" charset="0"/>
                <a:ea typeface="Calibri" pitchFamily="34" charset="-122"/>
                <a:cs typeface="Calibri" pitchFamily="34" charset="-120"/>
              </a:rPr>
              <a:t>Routing + phase gates</a:t>
            </a:r>
            <a:endParaRPr lang="en-US" sz="1000" dirty="0"/>
          </a:p>
        </p:txBody>
      </p:sp>
      <p:sp>
        <p:nvSpPr>
          <p:cNvPr id="17" name="Shape 15"/>
          <p:cNvSpPr/>
          <p:nvPr/>
        </p:nvSpPr>
        <p:spPr>
          <a:xfrm>
            <a:off x="5669280" y="2194560"/>
            <a:ext cx="2240280" cy="411480"/>
          </a:xfrm>
          <a:prstGeom prst="rect">
            <a:avLst/>
          </a:prstGeom>
          <a:solidFill>
            <a:srgbClr val="161B22"/>
          </a:solidFill>
          <a:ln w="6350">
            <a:solidFill>
              <a:srgbClr val="30363D"/>
            </a:solidFill>
            <a:prstDash val="solid"/>
          </a:ln>
        </p:spPr>
      </p:sp>
      <p:sp>
        <p:nvSpPr>
          <p:cNvPr id="18" name="Text 16"/>
          <p:cNvSpPr/>
          <p:nvPr/>
        </p:nvSpPr>
        <p:spPr>
          <a:xfrm>
            <a:off x="5760720" y="2194560"/>
            <a:ext cx="2103120" cy="411480"/>
          </a:xfrm>
          <a:prstGeom prst="rect">
            <a:avLst/>
          </a:prstGeom>
          <a:noFill/>
          <a:ln/>
        </p:spPr>
        <p:txBody>
          <a:bodyPr wrap="square" lIns="0" tIns="0" rIns="0" bIns="0" rtlCol="0" anchor="ctr"/>
          <a:lstStyle/>
          <a:p>
            <a:pPr indent="0" marL="0">
              <a:buNone/>
            </a:pPr>
            <a:r>
              <a:rPr lang="en-US" sz="1000" dirty="0">
                <a:solidFill>
                  <a:srgbClr val="79C0FF"/>
                </a:solidFill>
                <a:latin typeface="Consolas" pitchFamily="34" charset="0"/>
                <a:ea typeface="Consolas" pitchFamily="34" charset="-122"/>
                <a:cs typeface="Consolas" pitchFamily="34" charset="-120"/>
              </a:rPr>
              <a:t>glm-5.1</a:t>
            </a:r>
            <a:endParaRPr lang="en-US" sz="1000" dirty="0"/>
          </a:p>
        </p:txBody>
      </p:sp>
      <p:sp>
        <p:nvSpPr>
          <p:cNvPr id="19" name="Shape 17"/>
          <p:cNvSpPr/>
          <p:nvPr/>
        </p:nvSpPr>
        <p:spPr>
          <a:xfrm>
            <a:off x="7955280" y="2194560"/>
            <a:ext cx="4160520" cy="411480"/>
          </a:xfrm>
          <a:prstGeom prst="rect">
            <a:avLst/>
          </a:prstGeom>
          <a:solidFill>
            <a:srgbClr val="161B22"/>
          </a:solidFill>
          <a:ln w="6350">
            <a:solidFill>
              <a:srgbClr val="30363D"/>
            </a:solidFill>
            <a:prstDash val="solid"/>
          </a:ln>
        </p:spPr>
      </p:sp>
      <p:sp>
        <p:nvSpPr>
          <p:cNvPr id="20" name="Text 18"/>
          <p:cNvSpPr/>
          <p:nvPr/>
        </p:nvSpPr>
        <p:spPr>
          <a:xfrm>
            <a:off x="8046720" y="2194560"/>
            <a:ext cx="4023360" cy="411480"/>
          </a:xfrm>
          <a:prstGeom prst="rect">
            <a:avLst/>
          </a:prstGeom>
          <a:noFill/>
          <a:ln/>
        </p:spPr>
        <p:txBody>
          <a:bodyPr wrap="square" lIns="0" tIns="0" rIns="0" bIns="0" rtlCol="0" anchor="ctr"/>
          <a:lstStyle/>
          <a:p>
            <a:pPr indent="0" marL="0">
              <a:buNone/>
            </a:pPr>
            <a:r>
              <a:rPr lang="en-US" sz="1000" dirty="0">
                <a:solidFill>
                  <a:srgbClr val="E6EDF3"/>
                </a:solidFill>
                <a:latin typeface="Calibri" pitchFamily="34" charset="0"/>
                <a:ea typeface="Calibri" pitchFamily="34" charset="-122"/>
                <a:cs typeface="Calibri" pitchFamily="34" charset="-120"/>
              </a:rPr>
              <a:t>TASK.md, _PROJECT_STATE.md</a:t>
            </a:r>
            <a:endParaRPr lang="en-US" sz="1000" dirty="0"/>
          </a:p>
        </p:txBody>
      </p:sp>
      <p:sp>
        <p:nvSpPr>
          <p:cNvPr id="21" name="Shape 19"/>
          <p:cNvSpPr/>
          <p:nvPr/>
        </p:nvSpPr>
        <p:spPr>
          <a:xfrm>
            <a:off x="365760" y="2633472"/>
            <a:ext cx="1874520" cy="411480"/>
          </a:xfrm>
          <a:prstGeom prst="rect">
            <a:avLst/>
          </a:prstGeom>
          <a:solidFill>
            <a:srgbClr val="1C2128"/>
          </a:solidFill>
          <a:ln w="6350">
            <a:solidFill>
              <a:srgbClr val="30363D"/>
            </a:solidFill>
            <a:prstDash val="solid"/>
          </a:ln>
        </p:spPr>
      </p:sp>
      <p:sp>
        <p:nvSpPr>
          <p:cNvPr id="22" name="Text 20"/>
          <p:cNvSpPr/>
          <p:nvPr/>
        </p:nvSpPr>
        <p:spPr>
          <a:xfrm>
            <a:off x="457200" y="2633472"/>
            <a:ext cx="1737360" cy="411480"/>
          </a:xfrm>
          <a:prstGeom prst="rect">
            <a:avLst/>
          </a:prstGeom>
          <a:noFill/>
          <a:ln/>
        </p:spPr>
        <p:txBody>
          <a:bodyPr wrap="square" lIns="0" tIns="0" rIns="0" bIns="0" rtlCol="0" anchor="ctr"/>
          <a:lstStyle/>
          <a:p>
            <a:pPr indent="0" marL="0">
              <a:buNone/>
            </a:pPr>
            <a:r>
              <a:rPr lang="en-US" sz="1000" b="1" dirty="0">
                <a:solidFill>
                  <a:srgbClr val="7CE38B"/>
                </a:solidFill>
                <a:latin typeface="Calibri" pitchFamily="34" charset="0"/>
                <a:ea typeface="Calibri" pitchFamily="34" charset="-122"/>
                <a:cs typeface="Calibri" pitchFamily="34" charset="-120"/>
              </a:rPr>
              <a:t>PM</a:t>
            </a:r>
            <a:endParaRPr lang="en-US" sz="1000" dirty="0"/>
          </a:p>
        </p:txBody>
      </p:sp>
      <p:sp>
        <p:nvSpPr>
          <p:cNvPr id="23" name="Shape 21"/>
          <p:cNvSpPr/>
          <p:nvPr/>
        </p:nvSpPr>
        <p:spPr>
          <a:xfrm>
            <a:off x="2286000" y="2633472"/>
            <a:ext cx="3337560" cy="411480"/>
          </a:xfrm>
          <a:prstGeom prst="rect">
            <a:avLst/>
          </a:prstGeom>
          <a:solidFill>
            <a:srgbClr val="1C2128"/>
          </a:solidFill>
          <a:ln w="6350">
            <a:solidFill>
              <a:srgbClr val="30363D"/>
            </a:solidFill>
            <a:prstDash val="solid"/>
          </a:ln>
        </p:spPr>
      </p:sp>
      <p:sp>
        <p:nvSpPr>
          <p:cNvPr id="24" name="Text 22"/>
          <p:cNvSpPr/>
          <p:nvPr/>
        </p:nvSpPr>
        <p:spPr>
          <a:xfrm>
            <a:off x="2377440" y="2633472"/>
            <a:ext cx="3200400" cy="411480"/>
          </a:xfrm>
          <a:prstGeom prst="rect">
            <a:avLst/>
          </a:prstGeom>
          <a:noFill/>
          <a:ln/>
        </p:spPr>
        <p:txBody>
          <a:bodyPr wrap="square" lIns="0" tIns="0" rIns="0" bIns="0" rtlCol="0" anchor="ctr"/>
          <a:lstStyle/>
          <a:p>
            <a:pPr indent="0" marL="0">
              <a:buNone/>
            </a:pPr>
            <a:r>
              <a:rPr lang="en-US" sz="1000" dirty="0">
                <a:solidFill>
                  <a:srgbClr val="E6EDF3"/>
                </a:solidFill>
                <a:latin typeface="Calibri" pitchFamily="34" charset="0"/>
                <a:ea typeface="Calibri" pitchFamily="34" charset="-122"/>
                <a:cs typeface="Calibri" pitchFamily="34" charset="-120"/>
              </a:rPr>
              <a:t>Scope, PRD, MVP</a:t>
            </a:r>
            <a:endParaRPr lang="en-US" sz="1000" dirty="0"/>
          </a:p>
        </p:txBody>
      </p:sp>
      <p:sp>
        <p:nvSpPr>
          <p:cNvPr id="25" name="Shape 23"/>
          <p:cNvSpPr/>
          <p:nvPr/>
        </p:nvSpPr>
        <p:spPr>
          <a:xfrm>
            <a:off x="5669280" y="2633472"/>
            <a:ext cx="2240280" cy="411480"/>
          </a:xfrm>
          <a:prstGeom prst="rect">
            <a:avLst/>
          </a:prstGeom>
          <a:solidFill>
            <a:srgbClr val="1C2128"/>
          </a:solidFill>
          <a:ln w="6350">
            <a:solidFill>
              <a:srgbClr val="30363D"/>
            </a:solidFill>
            <a:prstDash val="solid"/>
          </a:ln>
        </p:spPr>
      </p:sp>
      <p:sp>
        <p:nvSpPr>
          <p:cNvPr id="26" name="Text 24"/>
          <p:cNvSpPr/>
          <p:nvPr/>
        </p:nvSpPr>
        <p:spPr>
          <a:xfrm>
            <a:off x="5760720" y="2633472"/>
            <a:ext cx="2103120" cy="411480"/>
          </a:xfrm>
          <a:prstGeom prst="rect">
            <a:avLst/>
          </a:prstGeom>
          <a:noFill/>
          <a:ln/>
        </p:spPr>
        <p:txBody>
          <a:bodyPr wrap="square" lIns="0" tIns="0" rIns="0" bIns="0" rtlCol="0" anchor="ctr"/>
          <a:lstStyle/>
          <a:p>
            <a:pPr indent="0" marL="0">
              <a:buNone/>
            </a:pPr>
            <a:r>
              <a:rPr lang="en-US" sz="1000" dirty="0">
                <a:solidFill>
                  <a:srgbClr val="79C0FF"/>
                </a:solidFill>
                <a:latin typeface="Consolas" pitchFamily="34" charset="0"/>
                <a:ea typeface="Consolas" pitchFamily="34" charset="-122"/>
                <a:cs typeface="Consolas" pitchFamily="34" charset="-120"/>
              </a:rPr>
              <a:t>deepseek-v4-flash</a:t>
            </a:r>
            <a:endParaRPr lang="en-US" sz="1000" dirty="0"/>
          </a:p>
        </p:txBody>
      </p:sp>
      <p:sp>
        <p:nvSpPr>
          <p:cNvPr id="27" name="Shape 25"/>
          <p:cNvSpPr/>
          <p:nvPr/>
        </p:nvSpPr>
        <p:spPr>
          <a:xfrm>
            <a:off x="7955280" y="2633472"/>
            <a:ext cx="4160520" cy="411480"/>
          </a:xfrm>
          <a:prstGeom prst="rect">
            <a:avLst/>
          </a:prstGeom>
          <a:solidFill>
            <a:srgbClr val="1C2128"/>
          </a:solidFill>
          <a:ln w="6350">
            <a:solidFill>
              <a:srgbClr val="30363D"/>
            </a:solidFill>
            <a:prstDash val="solid"/>
          </a:ln>
        </p:spPr>
      </p:sp>
      <p:sp>
        <p:nvSpPr>
          <p:cNvPr id="28" name="Text 26"/>
          <p:cNvSpPr/>
          <p:nvPr/>
        </p:nvSpPr>
        <p:spPr>
          <a:xfrm>
            <a:off x="8046720" y="2633472"/>
            <a:ext cx="4023360" cy="411480"/>
          </a:xfrm>
          <a:prstGeom prst="rect">
            <a:avLst/>
          </a:prstGeom>
          <a:noFill/>
          <a:ln/>
        </p:spPr>
        <p:txBody>
          <a:bodyPr wrap="square" lIns="0" tIns="0" rIns="0" bIns="0" rtlCol="0" anchor="ctr"/>
          <a:lstStyle/>
          <a:p>
            <a:pPr indent="0" marL="0">
              <a:buNone/>
            </a:pPr>
            <a:r>
              <a:rPr lang="en-US" sz="1000" dirty="0">
                <a:solidFill>
                  <a:srgbClr val="E6EDF3"/>
                </a:solidFill>
                <a:latin typeface="Calibri" pitchFamily="34" charset="0"/>
                <a:ea typeface="Calibri" pitchFamily="34" charset="-122"/>
                <a:cs typeface="Calibri" pitchFamily="34" charset="-120"/>
              </a:rPr>
              <a:t>docs/product/PRD,ROADMAP, planning/BACKLOG</a:t>
            </a:r>
            <a:endParaRPr lang="en-US" sz="1000" dirty="0"/>
          </a:p>
        </p:txBody>
      </p:sp>
      <p:sp>
        <p:nvSpPr>
          <p:cNvPr id="29" name="Shape 27"/>
          <p:cNvSpPr/>
          <p:nvPr/>
        </p:nvSpPr>
        <p:spPr>
          <a:xfrm>
            <a:off x="365760" y="3072384"/>
            <a:ext cx="1874520" cy="411480"/>
          </a:xfrm>
          <a:prstGeom prst="rect">
            <a:avLst/>
          </a:prstGeom>
          <a:solidFill>
            <a:srgbClr val="161B22"/>
          </a:solidFill>
          <a:ln w="6350">
            <a:solidFill>
              <a:srgbClr val="30363D"/>
            </a:solidFill>
            <a:prstDash val="solid"/>
          </a:ln>
        </p:spPr>
      </p:sp>
      <p:sp>
        <p:nvSpPr>
          <p:cNvPr id="30" name="Text 28"/>
          <p:cNvSpPr/>
          <p:nvPr/>
        </p:nvSpPr>
        <p:spPr>
          <a:xfrm>
            <a:off x="457200" y="3072384"/>
            <a:ext cx="1737360" cy="411480"/>
          </a:xfrm>
          <a:prstGeom prst="rect">
            <a:avLst/>
          </a:prstGeom>
          <a:noFill/>
          <a:ln/>
        </p:spPr>
        <p:txBody>
          <a:bodyPr wrap="square" lIns="0" tIns="0" rIns="0" bIns="0" rtlCol="0" anchor="ctr"/>
          <a:lstStyle/>
          <a:p>
            <a:pPr indent="0" marL="0">
              <a:buNone/>
            </a:pPr>
            <a:r>
              <a:rPr lang="en-US" sz="1000" b="1" dirty="0">
                <a:solidFill>
                  <a:srgbClr val="7CE38B"/>
                </a:solidFill>
                <a:latin typeface="Calibri" pitchFamily="34" charset="0"/>
                <a:ea typeface="Calibri" pitchFamily="34" charset="-122"/>
                <a:cs typeface="Calibri" pitchFamily="34" charset="-120"/>
              </a:rPr>
              <a:t>SA</a:t>
            </a:r>
            <a:endParaRPr lang="en-US" sz="1000" dirty="0"/>
          </a:p>
        </p:txBody>
      </p:sp>
      <p:sp>
        <p:nvSpPr>
          <p:cNvPr id="31" name="Shape 29"/>
          <p:cNvSpPr/>
          <p:nvPr/>
        </p:nvSpPr>
        <p:spPr>
          <a:xfrm>
            <a:off x="2286000" y="3072384"/>
            <a:ext cx="3337560" cy="411480"/>
          </a:xfrm>
          <a:prstGeom prst="rect">
            <a:avLst/>
          </a:prstGeom>
          <a:solidFill>
            <a:srgbClr val="161B22"/>
          </a:solidFill>
          <a:ln w="6350">
            <a:solidFill>
              <a:srgbClr val="30363D"/>
            </a:solidFill>
            <a:prstDash val="solid"/>
          </a:ln>
        </p:spPr>
      </p:sp>
      <p:sp>
        <p:nvSpPr>
          <p:cNvPr id="32" name="Text 30"/>
          <p:cNvSpPr/>
          <p:nvPr/>
        </p:nvSpPr>
        <p:spPr>
          <a:xfrm>
            <a:off x="2377440" y="3072384"/>
            <a:ext cx="3200400" cy="411480"/>
          </a:xfrm>
          <a:prstGeom prst="rect">
            <a:avLst/>
          </a:prstGeom>
          <a:noFill/>
          <a:ln/>
        </p:spPr>
        <p:txBody>
          <a:bodyPr wrap="square" lIns="0" tIns="0" rIns="0" bIns="0" rtlCol="0" anchor="ctr"/>
          <a:lstStyle/>
          <a:p>
            <a:pPr indent="0" marL="0">
              <a:buNone/>
            </a:pPr>
            <a:r>
              <a:rPr lang="en-US" sz="1000" dirty="0">
                <a:solidFill>
                  <a:srgbClr val="E6EDF3"/>
                </a:solidFill>
                <a:latin typeface="Calibri" pitchFamily="34" charset="0"/>
                <a:ea typeface="Calibri" pitchFamily="34" charset="-122"/>
                <a:cs typeface="Calibri" pitchFamily="34" charset="-120"/>
              </a:rPr>
              <a:t>Architecture, stack</a:t>
            </a:r>
            <a:endParaRPr lang="en-US" sz="1000" dirty="0"/>
          </a:p>
        </p:txBody>
      </p:sp>
      <p:sp>
        <p:nvSpPr>
          <p:cNvPr id="33" name="Shape 31"/>
          <p:cNvSpPr/>
          <p:nvPr/>
        </p:nvSpPr>
        <p:spPr>
          <a:xfrm>
            <a:off x="5669280" y="3072384"/>
            <a:ext cx="2240280" cy="411480"/>
          </a:xfrm>
          <a:prstGeom prst="rect">
            <a:avLst/>
          </a:prstGeom>
          <a:solidFill>
            <a:srgbClr val="161B22"/>
          </a:solidFill>
          <a:ln w="6350">
            <a:solidFill>
              <a:srgbClr val="30363D"/>
            </a:solidFill>
            <a:prstDash val="solid"/>
          </a:ln>
        </p:spPr>
      </p:sp>
      <p:sp>
        <p:nvSpPr>
          <p:cNvPr id="34" name="Text 32"/>
          <p:cNvSpPr/>
          <p:nvPr/>
        </p:nvSpPr>
        <p:spPr>
          <a:xfrm>
            <a:off x="5760720" y="3072384"/>
            <a:ext cx="2103120" cy="411480"/>
          </a:xfrm>
          <a:prstGeom prst="rect">
            <a:avLst/>
          </a:prstGeom>
          <a:noFill/>
          <a:ln/>
        </p:spPr>
        <p:txBody>
          <a:bodyPr wrap="square" lIns="0" tIns="0" rIns="0" bIns="0" rtlCol="0" anchor="ctr"/>
          <a:lstStyle/>
          <a:p>
            <a:pPr indent="0" marL="0">
              <a:buNone/>
            </a:pPr>
            <a:r>
              <a:rPr lang="en-US" sz="1000" dirty="0">
                <a:solidFill>
                  <a:srgbClr val="79C0FF"/>
                </a:solidFill>
                <a:latin typeface="Consolas" pitchFamily="34" charset="0"/>
                <a:ea typeface="Consolas" pitchFamily="34" charset="-122"/>
                <a:cs typeface="Consolas" pitchFamily="34" charset="-120"/>
              </a:rPr>
              <a:t>deepseek-v4-pro</a:t>
            </a:r>
            <a:endParaRPr lang="en-US" sz="1000" dirty="0"/>
          </a:p>
        </p:txBody>
      </p:sp>
      <p:sp>
        <p:nvSpPr>
          <p:cNvPr id="35" name="Shape 33"/>
          <p:cNvSpPr/>
          <p:nvPr/>
        </p:nvSpPr>
        <p:spPr>
          <a:xfrm>
            <a:off x="7955280" y="3072384"/>
            <a:ext cx="4160520" cy="411480"/>
          </a:xfrm>
          <a:prstGeom prst="rect">
            <a:avLst/>
          </a:prstGeom>
          <a:solidFill>
            <a:srgbClr val="161B22"/>
          </a:solidFill>
          <a:ln w="6350">
            <a:solidFill>
              <a:srgbClr val="30363D"/>
            </a:solidFill>
            <a:prstDash val="solid"/>
          </a:ln>
        </p:spPr>
      </p:sp>
      <p:sp>
        <p:nvSpPr>
          <p:cNvPr id="36" name="Text 34"/>
          <p:cNvSpPr/>
          <p:nvPr/>
        </p:nvSpPr>
        <p:spPr>
          <a:xfrm>
            <a:off x="8046720" y="3072384"/>
            <a:ext cx="4023360" cy="411480"/>
          </a:xfrm>
          <a:prstGeom prst="rect">
            <a:avLst/>
          </a:prstGeom>
          <a:noFill/>
          <a:ln/>
        </p:spPr>
        <p:txBody>
          <a:bodyPr wrap="square" lIns="0" tIns="0" rIns="0" bIns="0" rtlCol="0" anchor="ctr"/>
          <a:lstStyle/>
          <a:p>
            <a:pPr indent="0" marL="0">
              <a:buNone/>
            </a:pPr>
            <a:r>
              <a:rPr lang="en-US" sz="1000" dirty="0">
                <a:solidFill>
                  <a:srgbClr val="E6EDF3"/>
                </a:solidFill>
                <a:latin typeface="Calibri" pitchFamily="34" charset="0"/>
                <a:ea typeface="Calibri" pitchFamily="34" charset="-122"/>
                <a:cs typeface="Calibri" pitchFamily="34" charset="-120"/>
              </a:rPr>
              <a:t>docs/architecture/*</a:t>
            </a:r>
            <a:endParaRPr lang="en-US" sz="1000" dirty="0"/>
          </a:p>
        </p:txBody>
      </p:sp>
      <p:sp>
        <p:nvSpPr>
          <p:cNvPr id="37" name="Shape 35"/>
          <p:cNvSpPr/>
          <p:nvPr/>
        </p:nvSpPr>
        <p:spPr>
          <a:xfrm>
            <a:off x="365760" y="3511296"/>
            <a:ext cx="1874520" cy="411480"/>
          </a:xfrm>
          <a:prstGeom prst="rect">
            <a:avLst/>
          </a:prstGeom>
          <a:solidFill>
            <a:srgbClr val="1C2128"/>
          </a:solidFill>
          <a:ln w="6350">
            <a:solidFill>
              <a:srgbClr val="30363D"/>
            </a:solidFill>
            <a:prstDash val="solid"/>
          </a:ln>
        </p:spPr>
      </p:sp>
      <p:sp>
        <p:nvSpPr>
          <p:cNvPr id="38" name="Text 36"/>
          <p:cNvSpPr/>
          <p:nvPr/>
        </p:nvSpPr>
        <p:spPr>
          <a:xfrm>
            <a:off x="457200" y="3511296"/>
            <a:ext cx="1737360" cy="411480"/>
          </a:xfrm>
          <a:prstGeom prst="rect">
            <a:avLst/>
          </a:prstGeom>
          <a:noFill/>
          <a:ln/>
        </p:spPr>
        <p:txBody>
          <a:bodyPr wrap="square" lIns="0" tIns="0" rIns="0" bIns="0" rtlCol="0" anchor="ctr"/>
          <a:lstStyle/>
          <a:p>
            <a:pPr indent="0" marL="0">
              <a:buNone/>
            </a:pPr>
            <a:r>
              <a:rPr lang="en-US" sz="1000" b="1" dirty="0">
                <a:solidFill>
                  <a:srgbClr val="7CE38B"/>
                </a:solidFill>
                <a:latin typeface="Calibri" pitchFamily="34" charset="0"/>
                <a:ea typeface="Calibri" pitchFamily="34" charset="-122"/>
                <a:cs typeface="Calibri" pitchFamily="34" charset="-120"/>
              </a:rPr>
              <a:t>BA</a:t>
            </a:r>
            <a:endParaRPr lang="en-US" sz="1000" dirty="0"/>
          </a:p>
        </p:txBody>
      </p:sp>
      <p:sp>
        <p:nvSpPr>
          <p:cNvPr id="39" name="Shape 37"/>
          <p:cNvSpPr/>
          <p:nvPr/>
        </p:nvSpPr>
        <p:spPr>
          <a:xfrm>
            <a:off x="2286000" y="3511296"/>
            <a:ext cx="3337560" cy="411480"/>
          </a:xfrm>
          <a:prstGeom prst="rect">
            <a:avLst/>
          </a:prstGeom>
          <a:solidFill>
            <a:srgbClr val="1C2128"/>
          </a:solidFill>
          <a:ln w="6350">
            <a:solidFill>
              <a:srgbClr val="30363D"/>
            </a:solidFill>
            <a:prstDash val="solid"/>
          </a:ln>
        </p:spPr>
      </p:sp>
      <p:sp>
        <p:nvSpPr>
          <p:cNvPr id="40" name="Text 38"/>
          <p:cNvSpPr/>
          <p:nvPr/>
        </p:nvSpPr>
        <p:spPr>
          <a:xfrm>
            <a:off x="2377440" y="3511296"/>
            <a:ext cx="3200400" cy="411480"/>
          </a:xfrm>
          <a:prstGeom prst="rect">
            <a:avLst/>
          </a:prstGeom>
          <a:noFill/>
          <a:ln/>
        </p:spPr>
        <p:txBody>
          <a:bodyPr wrap="square" lIns="0" tIns="0" rIns="0" bIns="0" rtlCol="0" anchor="ctr"/>
          <a:lstStyle/>
          <a:p>
            <a:pPr indent="0" marL="0">
              <a:buNone/>
            </a:pPr>
            <a:r>
              <a:rPr lang="en-US" sz="1000" dirty="0">
                <a:solidFill>
                  <a:srgbClr val="E6EDF3"/>
                </a:solidFill>
                <a:latin typeface="Calibri" pitchFamily="34" charset="0"/>
                <a:ea typeface="Calibri" pitchFamily="34" charset="-122"/>
                <a:cs typeface="Calibri" pitchFamily="34" charset="-120"/>
              </a:rPr>
              <a:t>Business rules, stories</a:t>
            </a:r>
            <a:endParaRPr lang="en-US" sz="1000" dirty="0"/>
          </a:p>
        </p:txBody>
      </p:sp>
      <p:sp>
        <p:nvSpPr>
          <p:cNvPr id="41" name="Shape 39"/>
          <p:cNvSpPr/>
          <p:nvPr/>
        </p:nvSpPr>
        <p:spPr>
          <a:xfrm>
            <a:off x="5669280" y="3511296"/>
            <a:ext cx="2240280" cy="411480"/>
          </a:xfrm>
          <a:prstGeom prst="rect">
            <a:avLst/>
          </a:prstGeom>
          <a:solidFill>
            <a:srgbClr val="1C2128"/>
          </a:solidFill>
          <a:ln w="6350">
            <a:solidFill>
              <a:srgbClr val="30363D"/>
            </a:solidFill>
            <a:prstDash val="solid"/>
          </a:ln>
        </p:spPr>
      </p:sp>
      <p:sp>
        <p:nvSpPr>
          <p:cNvPr id="42" name="Text 40"/>
          <p:cNvSpPr/>
          <p:nvPr/>
        </p:nvSpPr>
        <p:spPr>
          <a:xfrm>
            <a:off x="5760720" y="3511296"/>
            <a:ext cx="2103120" cy="411480"/>
          </a:xfrm>
          <a:prstGeom prst="rect">
            <a:avLst/>
          </a:prstGeom>
          <a:noFill/>
          <a:ln/>
        </p:spPr>
        <p:txBody>
          <a:bodyPr wrap="square" lIns="0" tIns="0" rIns="0" bIns="0" rtlCol="0" anchor="ctr"/>
          <a:lstStyle/>
          <a:p>
            <a:pPr indent="0" marL="0">
              <a:buNone/>
            </a:pPr>
            <a:r>
              <a:rPr lang="en-US" sz="1000" dirty="0">
                <a:solidFill>
                  <a:srgbClr val="79C0FF"/>
                </a:solidFill>
                <a:latin typeface="Consolas" pitchFamily="34" charset="0"/>
                <a:ea typeface="Consolas" pitchFamily="34" charset="-122"/>
                <a:cs typeface="Consolas" pitchFamily="34" charset="-120"/>
              </a:rPr>
              <a:t>qwen3.6-plus</a:t>
            </a:r>
            <a:endParaRPr lang="en-US" sz="1000" dirty="0"/>
          </a:p>
        </p:txBody>
      </p:sp>
      <p:sp>
        <p:nvSpPr>
          <p:cNvPr id="43" name="Shape 41"/>
          <p:cNvSpPr/>
          <p:nvPr/>
        </p:nvSpPr>
        <p:spPr>
          <a:xfrm>
            <a:off x="7955280" y="3511296"/>
            <a:ext cx="4160520" cy="411480"/>
          </a:xfrm>
          <a:prstGeom prst="rect">
            <a:avLst/>
          </a:prstGeom>
          <a:solidFill>
            <a:srgbClr val="1C2128"/>
          </a:solidFill>
          <a:ln w="6350">
            <a:solidFill>
              <a:srgbClr val="30363D"/>
            </a:solidFill>
            <a:prstDash val="solid"/>
          </a:ln>
        </p:spPr>
      </p:sp>
      <p:sp>
        <p:nvSpPr>
          <p:cNvPr id="44" name="Text 42"/>
          <p:cNvSpPr/>
          <p:nvPr/>
        </p:nvSpPr>
        <p:spPr>
          <a:xfrm>
            <a:off x="8046720" y="3511296"/>
            <a:ext cx="4023360" cy="411480"/>
          </a:xfrm>
          <a:prstGeom prst="rect">
            <a:avLst/>
          </a:prstGeom>
          <a:noFill/>
          <a:ln/>
        </p:spPr>
        <p:txBody>
          <a:bodyPr wrap="square" lIns="0" tIns="0" rIns="0" bIns="0" rtlCol="0" anchor="ctr"/>
          <a:lstStyle/>
          <a:p>
            <a:pPr indent="0" marL="0">
              <a:buNone/>
            </a:pPr>
            <a:r>
              <a:rPr lang="en-US" sz="1000" dirty="0">
                <a:solidFill>
                  <a:srgbClr val="E6EDF3"/>
                </a:solidFill>
                <a:latin typeface="Calibri" pitchFamily="34" charset="0"/>
                <a:ea typeface="Calibri" pitchFamily="34" charset="-122"/>
                <a:cs typeface="Calibri" pitchFamily="34" charset="-120"/>
              </a:rPr>
              <a:t>docs/business/*</a:t>
            </a:r>
            <a:endParaRPr lang="en-US" sz="1000" dirty="0"/>
          </a:p>
        </p:txBody>
      </p:sp>
      <p:sp>
        <p:nvSpPr>
          <p:cNvPr id="45" name="Shape 43"/>
          <p:cNvSpPr/>
          <p:nvPr/>
        </p:nvSpPr>
        <p:spPr>
          <a:xfrm>
            <a:off x="365760" y="3950208"/>
            <a:ext cx="1874520" cy="411480"/>
          </a:xfrm>
          <a:prstGeom prst="rect">
            <a:avLst/>
          </a:prstGeom>
          <a:solidFill>
            <a:srgbClr val="161B22"/>
          </a:solidFill>
          <a:ln w="6350">
            <a:solidFill>
              <a:srgbClr val="30363D"/>
            </a:solidFill>
            <a:prstDash val="solid"/>
          </a:ln>
        </p:spPr>
      </p:sp>
      <p:sp>
        <p:nvSpPr>
          <p:cNvPr id="46" name="Text 44"/>
          <p:cNvSpPr/>
          <p:nvPr/>
        </p:nvSpPr>
        <p:spPr>
          <a:xfrm>
            <a:off x="457200" y="3950208"/>
            <a:ext cx="1737360" cy="411480"/>
          </a:xfrm>
          <a:prstGeom prst="rect">
            <a:avLst/>
          </a:prstGeom>
          <a:noFill/>
          <a:ln/>
        </p:spPr>
        <p:txBody>
          <a:bodyPr wrap="square" lIns="0" tIns="0" rIns="0" bIns="0" rtlCol="0" anchor="ctr"/>
          <a:lstStyle/>
          <a:p>
            <a:pPr indent="0" marL="0">
              <a:buNone/>
            </a:pPr>
            <a:r>
              <a:rPr lang="en-US" sz="1000" b="1" dirty="0">
                <a:solidFill>
                  <a:srgbClr val="7CE38B"/>
                </a:solidFill>
                <a:latin typeface="Calibri" pitchFamily="34" charset="0"/>
                <a:ea typeface="Calibri" pitchFamily="34" charset="-122"/>
                <a:cs typeface="Calibri" pitchFamily="34" charset="-120"/>
              </a:rPr>
              <a:t>UX</a:t>
            </a:r>
            <a:endParaRPr lang="en-US" sz="1000" dirty="0"/>
          </a:p>
        </p:txBody>
      </p:sp>
      <p:sp>
        <p:nvSpPr>
          <p:cNvPr id="47" name="Shape 45"/>
          <p:cNvSpPr/>
          <p:nvPr/>
        </p:nvSpPr>
        <p:spPr>
          <a:xfrm>
            <a:off x="2286000" y="3950208"/>
            <a:ext cx="3337560" cy="411480"/>
          </a:xfrm>
          <a:prstGeom prst="rect">
            <a:avLst/>
          </a:prstGeom>
          <a:solidFill>
            <a:srgbClr val="161B22"/>
          </a:solidFill>
          <a:ln w="6350">
            <a:solidFill>
              <a:srgbClr val="30363D"/>
            </a:solidFill>
            <a:prstDash val="solid"/>
          </a:ln>
        </p:spPr>
      </p:sp>
      <p:sp>
        <p:nvSpPr>
          <p:cNvPr id="48" name="Text 46"/>
          <p:cNvSpPr/>
          <p:nvPr/>
        </p:nvSpPr>
        <p:spPr>
          <a:xfrm>
            <a:off x="2377440" y="3950208"/>
            <a:ext cx="3200400" cy="411480"/>
          </a:xfrm>
          <a:prstGeom prst="rect">
            <a:avLst/>
          </a:prstGeom>
          <a:noFill/>
          <a:ln/>
        </p:spPr>
        <p:txBody>
          <a:bodyPr wrap="square" lIns="0" tIns="0" rIns="0" bIns="0" rtlCol="0" anchor="ctr"/>
          <a:lstStyle/>
          <a:p>
            <a:pPr indent="0" marL="0">
              <a:buNone/>
            </a:pPr>
            <a:r>
              <a:rPr lang="en-US" sz="1000" dirty="0">
                <a:solidFill>
                  <a:srgbClr val="E6EDF3"/>
                </a:solidFill>
                <a:latin typeface="Calibri" pitchFamily="34" charset="0"/>
                <a:ea typeface="Calibri" pitchFamily="34" charset="-122"/>
                <a:cs typeface="Calibri" pitchFamily="34" charset="-120"/>
              </a:rPr>
              <a:t>User flow, wireframes</a:t>
            </a:r>
            <a:endParaRPr lang="en-US" sz="1000" dirty="0"/>
          </a:p>
        </p:txBody>
      </p:sp>
      <p:sp>
        <p:nvSpPr>
          <p:cNvPr id="49" name="Shape 47"/>
          <p:cNvSpPr/>
          <p:nvPr/>
        </p:nvSpPr>
        <p:spPr>
          <a:xfrm>
            <a:off x="5669280" y="3950208"/>
            <a:ext cx="2240280" cy="411480"/>
          </a:xfrm>
          <a:prstGeom prst="rect">
            <a:avLst/>
          </a:prstGeom>
          <a:solidFill>
            <a:srgbClr val="161B22"/>
          </a:solidFill>
          <a:ln w="6350">
            <a:solidFill>
              <a:srgbClr val="30363D"/>
            </a:solidFill>
            <a:prstDash val="solid"/>
          </a:ln>
        </p:spPr>
      </p:sp>
      <p:sp>
        <p:nvSpPr>
          <p:cNvPr id="50" name="Text 48"/>
          <p:cNvSpPr/>
          <p:nvPr/>
        </p:nvSpPr>
        <p:spPr>
          <a:xfrm>
            <a:off x="5760720" y="3950208"/>
            <a:ext cx="2103120" cy="411480"/>
          </a:xfrm>
          <a:prstGeom prst="rect">
            <a:avLst/>
          </a:prstGeom>
          <a:noFill/>
          <a:ln/>
        </p:spPr>
        <p:txBody>
          <a:bodyPr wrap="square" lIns="0" tIns="0" rIns="0" bIns="0" rtlCol="0" anchor="ctr"/>
          <a:lstStyle/>
          <a:p>
            <a:pPr indent="0" marL="0">
              <a:buNone/>
            </a:pPr>
            <a:r>
              <a:rPr lang="en-US" sz="1000" dirty="0">
                <a:solidFill>
                  <a:srgbClr val="79C0FF"/>
                </a:solidFill>
                <a:latin typeface="Consolas" pitchFamily="34" charset="0"/>
                <a:ea typeface="Consolas" pitchFamily="34" charset="-122"/>
                <a:cs typeface="Consolas" pitchFamily="34" charset="-120"/>
              </a:rPr>
              <a:t>mimo-v2.5</a:t>
            </a:r>
            <a:endParaRPr lang="en-US" sz="1000" dirty="0"/>
          </a:p>
        </p:txBody>
      </p:sp>
      <p:sp>
        <p:nvSpPr>
          <p:cNvPr id="51" name="Shape 49"/>
          <p:cNvSpPr/>
          <p:nvPr/>
        </p:nvSpPr>
        <p:spPr>
          <a:xfrm>
            <a:off x="7955280" y="3950208"/>
            <a:ext cx="4160520" cy="411480"/>
          </a:xfrm>
          <a:prstGeom prst="rect">
            <a:avLst/>
          </a:prstGeom>
          <a:solidFill>
            <a:srgbClr val="161B22"/>
          </a:solidFill>
          <a:ln w="6350">
            <a:solidFill>
              <a:srgbClr val="30363D"/>
            </a:solidFill>
            <a:prstDash val="solid"/>
          </a:ln>
        </p:spPr>
      </p:sp>
      <p:sp>
        <p:nvSpPr>
          <p:cNvPr id="52" name="Text 50"/>
          <p:cNvSpPr/>
          <p:nvPr/>
        </p:nvSpPr>
        <p:spPr>
          <a:xfrm>
            <a:off x="8046720" y="3950208"/>
            <a:ext cx="4023360" cy="411480"/>
          </a:xfrm>
          <a:prstGeom prst="rect">
            <a:avLst/>
          </a:prstGeom>
          <a:noFill/>
          <a:ln/>
        </p:spPr>
        <p:txBody>
          <a:bodyPr wrap="square" lIns="0" tIns="0" rIns="0" bIns="0" rtlCol="0" anchor="ctr"/>
          <a:lstStyle/>
          <a:p>
            <a:pPr indent="0" marL="0">
              <a:buNone/>
            </a:pPr>
            <a:r>
              <a:rPr lang="en-US" sz="1000" dirty="0">
                <a:solidFill>
                  <a:srgbClr val="E6EDF3"/>
                </a:solidFill>
                <a:latin typeface="Calibri" pitchFamily="34" charset="0"/>
                <a:ea typeface="Calibri" pitchFamily="34" charset="-122"/>
                <a:cs typeface="Calibri" pitchFamily="34" charset="-120"/>
              </a:rPr>
              <a:t>docs/product/UX_FLOW, WIREFRAMES</a:t>
            </a:r>
            <a:endParaRPr lang="en-US" sz="1000" dirty="0"/>
          </a:p>
        </p:txBody>
      </p:sp>
      <p:sp>
        <p:nvSpPr>
          <p:cNvPr id="53" name="Shape 51"/>
          <p:cNvSpPr/>
          <p:nvPr/>
        </p:nvSpPr>
        <p:spPr>
          <a:xfrm>
            <a:off x="365760" y="4389120"/>
            <a:ext cx="1874520" cy="411480"/>
          </a:xfrm>
          <a:prstGeom prst="rect">
            <a:avLst/>
          </a:prstGeom>
          <a:solidFill>
            <a:srgbClr val="1C2128"/>
          </a:solidFill>
          <a:ln w="6350">
            <a:solidFill>
              <a:srgbClr val="30363D"/>
            </a:solidFill>
            <a:prstDash val="solid"/>
          </a:ln>
        </p:spPr>
      </p:sp>
      <p:sp>
        <p:nvSpPr>
          <p:cNvPr id="54" name="Text 52"/>
          <p:cNvSpPr/>
          <p:nvPr/>
        </p:nvSpPr>
        <p:spPr>
          <a:xfrm>
            <a:off x="457200" y="4389120"/>
            <a:ext cx="1737360" cy="411480"/>
          </a:xfrm>
          <a:prstGeom prst="rect">
            <a:avLst/>
          </a:prstGeom>
          <a:noFill/>
          <a:ln/>
        </p:spPr>
        <p:txBody>
          <a:bodyPr wrap="square" lIns="0" tIns="0" rIns="0" bIns="0" rtlCol="0" anchor="ctr"/>
          <a:lstStyle/>
          <a:p>
            <a:pPr indent="0" marL="0">
              <a:buNone/>
            </a:pPr>
            <a:r>
              <a:rPr lang="en-US" sz="1000" b="1" dirty="0">
                <a:solidFill>
                  <a:srgbClr val="7CE38B"/>
                </a:solidFill>
                <a:latin typeface="Calibri" pitchFamily="34" charset="0"/>
                <a:ea typeface="Calibri" pitchFamily="34" charset="-122"/>
                <a:cs typeface="Calibri" pitchFamily="34" charset="-120"/>
              </a:rPr>
              <a:t>BE</a:t>
            </a:r>
            <a:endParaRPr lang="en-US" sz="1000" dirty="0"/>
          </a:p>
        </p:txBody>
      </p:sp>
      <p:sp>
        <p:nvSpPr>
          <p:cNvPr id="55" name="Shape 53"/>
          <p:cNvSpPr/>
          <p:nvPr/>
        </p:nvSpPr>
        <p:spPr>
          <a:xfrm>
            <a:off x="2286000" y="4389120"/>
            <a:ext cx="3337560" cy="411480"/>
          </a:xfrm>
          <a:prstGeom prst="rect">
            <a:avLst/>
          </a:prstGeom>
          <a:solidFill>
            <a:srgbClr val="1C2128"/>
          </a:solidFill>
          <a:ln w="6350">
            <a:solidFill>
              <a:srgbClr val="30363D"/>
            </a:solidFill>
            <a:prstDash val="solid"/>
          </a:ln>
        </p:spPr>
      </p:sp>
      <p:sp>
        <p:nvSpPr>
          <p:cNvPr id="56" name="Text 54"/>
          <p:cNvSpPr/>
          <p:nvPr/>
        </p:nvSpPr>
        <p:spPr>
          <a:xfrm>
            <a:off x="2377440" y="4389120"/>
            <a:ext cx="3200400" cy="411480"/>
          </a:xfrm>
          <a:prstGeom prst="rect">
            <a:avLst/>
          </a:prstGeom>
          <a:noFill/>
          <a:ln/>
        </p:spPr>
        <p:txBody>
          <a:bodyPr wrap="square" lIns="0" tIns="0" rIns="0" bIns="0" rtlCol="0" anchor="ctr"/>
          <a:lstStyle/>
          <a:p>
            <a:pPr indent="0" marL="0">
              <a:buNone/>
            </a:pPr>
            <a:r>
              <a:rPr lang="en-US" sz="1000" dirty="0">
                <a:solidFill>
                  <a:srgbClr val="E6EDF3"/>
                </a:solidFill>
                <a:latin typeface="Calibri" pitchFamily="34" charset="0"/>
                <a:ea typeface="Calibri" pitchFamily="34" charset="-122"/>
                <a:cs typeface="Calibri" pitchFamily="34" charset="-120"/>
              </a:rPr>
              <a:t>Backend code + tests</a:t>
            </a:r>
            <a:endParaRPr lang="en-US" sz="1000" dirty="0"/>
          </a:p>
        </p:txBody>
      </p:sp>
      <p:sp>
        <p:nvSpPr>
          <p:cNvPr id="57" name="Shape 55"/>
          <p:cNvSpPr/>
          <p:nvPr/>
        </p:nvSpPr>
        <p:spPr>
          <a:xfrm>
            <a:off x="5669280" y="4389120"/>
            <a:ext cx="2240280" cy="411480"/>
          </a:xfrm>
          <a:prstGeom prst="rect">
            <a:avLst/>
          </a:prstGeom>
          <a:solidFill>
            <a:srgbClr val="1C2128"/>
          </a:solidFill>
          <a:ln w="6350">
            <a:solidFill>
              <a:srgbClr val="30363D"/>
            </a:solidFill>
            <a:prstDash val="solid"/>
          </a:ln>
        </p:spPr>
      </p:sp>
      <p:sp>
        <p:nvSpPr>
          <p:cNvPr id="58" name="Text 56"/>
          <p:cNvSpPr/>
          <p:nvPr/>
        </p:nvSpPr>
        <p:spPr>
          <a:xfrm>
            <a:off x="5760720" y="4389120"/>
            <a:ext cx="2103120" cy="411480"/>
          </a:xfrm>
          <a:prstGeom prst="rect">
            <a:avLst/>
          </a:prstGeom>
          <a:noFill/>
          <a:ln/>
        </p:spPr>
        <p:txBody>
          <a:bodyPr wrap="square" lIns="0" tIns="0" rIns="0" bIns="0" rtlCol="0" anchor="ctr"/>
          <a:lstStyle/>
          <a:p>
            <a:pPr indent="0" marL="0">
              <a:buNone/>
            </a:pPr>
            <a:r>
              <a:rPr lang="en-US" sz="1000" dirty="0">
                <a:solidFill>
                  <a:srgbClr val="79C0FF"/>
                </a:solidFill>
                <a:latin typeface="Consolas" pitchFamily="34" charset="0"/>
                <a:ea typeface="Consolas" pitchFamily="34" charset="-122"/>
                <a:cs typeface="Consolas" pitchFamily="34" charset="-120"/>
              </a:rPr>
              <a:t>deepseek-v4-pro</a:t>
            </a:r>
            <a:endParaRPr lang="en-US" sz="1000" dirty="0"/>
          </a:p>
        </p:txBody>
      </p:sp>
      <p:sp>
        <p:nvSpPr>
          <p:cNvPr id="59" name="Shape 57"/>
          <p:cNvSpPr/>
          <p:nvPr/>
        </p:nvSpPr>
        <p:spPr>
          <a:xfrm>
            <a:off x="7955280" y="4389120"/>
            <a:ext cx="4160520" cy="411480"/>
          </a:xfrm>
          <a:prstGeom prst="rect">
            <a:avLst/>
          </a:prstGeom>
          <a:solidFill>
            <a:srgbClr val="1C2128"/>
          </a:solidFill>
          <a:ln w="6350">
            <a:solidFill>
              <a:srgbClr val="30363D"/>
            </a:solidFill>
            <a:prstDash val="solid"/>
          </a:ln>
        </p:spPr>
      </p:sp>
      <p:sp>
        <p:nvSpPr>
          <p:cNvPr id="60" name="Text 58"/>
          <p:cNvSpPr/>
          <p:nvPr/>
        </p:nvSpPr>
        <p:spPr>
          <a:xfrm>
            <a:off x="8046720" y="4389120"/>
            <a:ext cx="4023360" cy="411480"/>
          </a:xfrm>
          <a:prstGeom prst="rect">
            <a:avLst/>
          </a:prstGeom>
          <a:noFill/>
          <a:ln/>
        </p:spPr>
        <p:txBody>
          <a:bodyPr wrap="square" lIns="0" tIns="0" rIns="0" bIns="0" rtlCol="0" anchor="ctr"/>
          <a:lstStyle/>
          <a:p>
            <a:pPr indent="0" marL="0">
              <a:buNone/>
            </a:pPr>
            <a:r>
              <a:rPr lang="en-US" sz="1000" dirty="0">
                <a:solidFill>
                  <a:srgbClr val="E6EDF3"/>
                </a:solidFill>
                <a:latin typeface="Calibri" pitchFamily="34" charset="0"/>
                <a:ea typeface="Calibri" pitchFamily="34" charset="-122"/>
                <a:cs typeface="Calibri" pitchFamily="34" charset="-120"/>
              </a:rPr>
              <a:t>backend/*, planning/BE_PLAN</a:t>
            </a:r>
            <a:endParaRPr lang="en-US" sz="1000" dirty="0"/>
          </a:p>
        </p:txBody>
      </p:sp>
      <p:sp>
        <p:nvSpPr>
          <p:cNvPr id="61" name="Shape 59"/>
          <p:cNvSpPr/>
          <p:nvPr/>
        </p:nvSpPr>
        <p:spPr>
          <a:xfrm>
            <a:off x="365760" y="4828032"/>
            <a:ext cx="1874520" cy="411480"/>
          </a:xfrm>
          <a:prstGeom prst="rect">
            <a:avLst/>
          </a:prstGeom>
          <a:solidFill>
            <a:srgbClr val="161B22"/>
          </a:solidFill>
          <a:ln w="6350">
            <a:solidFill>
              <a:srgbClr val="30363D"/>
            </a:solidFill>
            <a:prstDash val="solid"/>
          </a:ln>
        </p:spPr>
      </p:sp>
      <p:sp>
        <p:nvSpPr>
          <p:cNvPr id="62" name="Text 60"/>
          <p:cNvSpPr/>
          <p:nvPr/>
        </p:nvSpPr>
        <p:spPr>
          <a:xfrm>
            <a:off x="457200" y="4828032"/>
            <a:ext cx="1737360" cy="411480"/>
          </a:xfrm>
          <a:prstGeom prst="rect">
            <a:avLst/>
          </a:prstGeom>
          <a:noFill/>
          <a:ln/>
        </p:spPr>
        <p:txBody>
          <a:bodyPr wrap="square" lIns="0" tIns="0" rIns="0" bIns="0" rtlCol="0" anchor="ctr"/>
          <a:lstStyle/>
          <a:p>
            <a:pPr indent="0" marL="0">
              <a:buNone/>
            </a:pPr>
            <a:r>
              <a:rPr lang="en-US" sz="1000" b="1" dirty="0">
                <a:solidFill>
                  <a:srgbClr val="7CE38B"/>
                </a:solidFill>
                <a:latin typeface="Calibri" pitchFamily="34" charset="0"/>
                <a:ea typeface="Calibri" pitchFamily="34" charset="-122"/>
                <a:cs typeface="Calibri" pitchFamily="34" charset="-120"/>
              </a:rPr>
              <a:t>FE</a:t>
            </a:r>
            <a:endParaRPr lang="en-US" sz="1000" dirty="0"/>
          </a:p>
        </p:txBody>
      </p:sp>
      <p:sp>
        <p:nvSpPr>
          <p:cNvPr id="63" name="Shape 61"/>
          <p:cNvSpPr/>
          <p:nvPr/>
        </p:nvSpPr>
        <p:spPr>
          <a:xfrm>
            <a:off x="2286000" y="4828032"/>
            <a:ext cx="3337560" cy="411480"/>
          </a:xfrm>
          <a:prstGeom prst="rect">
            <a:avLst/>
          </a:prstGeom>
          <a:solidFill>
            <a:srgbClr val="161B22"/>
          </a:solidFill>
          <a:ln w="6350">
            <a:solidFill>
              <a:srgbClr val="30363D"/>
            </a:solidFill>
            <a:prstDash val="solid"/>
          </a:ln>
        </p:spPr>
      </p:sp>
      <p:sp>
        <p:nvSpPr>
          <p:cNvPr id="64" name="Text 62"/>
          <p:cNvSpPr/>
          <p:nvPr/>
        </p:nvSpPr>
        <p:spPr>
          <a:xfrm>
            <a:off x="2377440" y="4828032"/>
            <a:ext cx="3200400" cy="411480"/>
          </a:xfrm>
          <a:prstGeom prst="rect">
            <a:avLst/>
          </a:prstGeom>
          <a:noFill/>
          <a:ln/>
        </p:spPr>
        <p:txBody>
          <a:bodyPr wrap="square" lIns="0" tIns="0" rIns="0" bIns="0" rtlCol="0" anchor="ctr"/>
          <a:lstStyle/>
          <a:p>
            <a:pPr indent="0" marL="0">
              <a:buNone/>
            </a:pPr>
            <a:r>
              <a:rPr lang="en-US" sz="1000" dirty="0">
                <a:solidFill>
                  <a:srgbClr val="E6EDF3"/>
                </a:solidFill>
                <a:latin typeface="Calibri" pitchFamily="34" charset="0"/>
                <a:ea typeface="Calibri" pitchFamily="34" charset="-122"/>
                <a:cs typeface="Calibri" pitchFamily="34" charset="-120"/>
              </a:rPr>
              <a:t>Frontend code + tests</a:t>
            </a:r>
            <a:endParaRPr lang="en-US" sz="1000" dirty="0"/>
          </a:p>
        </p:txBody>
      </p:sp>
      <p:sp>
        <p:nvSpPr>
          <p:cNvPr id="65" name="Shape 63"/>
          <p:cNvSpPr/>
          <p:nvPr/>
        </p:nvSpPr>
        <p:spPr>
          <a:xfrm>
            <a:off x="5669280" y="4828032"/>
            <a:ext cx="2240280" cy="411480"/>
          </a:xfrm>
          <a:prstGeom prst="rect">
            <a:avLst/>
          </a:prstGeom>
          <a:solidFill>
            <a:srgbClr val="161B22"/>
          </a:solidFill>
          <a:ln w="6350">
            <a:solidFill>
              <a:srgbClr val="30363D"/>
            </a:solidFill>
            <a:prstDash val="solid"/>
          </a:ln>
        </p:spPr>
      </p:sp>
      <p:sp>
        <p:nvSpPr>
          <p:cNvPr id="66" name="Text 64"/>
          <p:cNvSpPr/>
          <p:nvPr/>
        </p:nvSpPr>
        <p:spPr>
          <a:xfrm>
            <a:off x="5760720" y="4828032"/>
            <a:ext cx="2103120" cy="411480"/>
          </a:xfrm>
          <a:prstGeom prst="rect">
            <a:avLst/>
          </a:prstGeom>
          <a:noFill/>
          <a:ln/>
        </p:spPr>
        <p:txBody>
          <a:bodyPr wrap="square" lIns="0" tIns="0" rIns="0" bIns="0" rtlCol="0" anchor="ctr"/>
          <a:lstStyle/>
          <a:p>
            <a:pPr indent="0" marL="0">
              <a:buNone/>
            </a:pPr>
            <a:r>
              <a:rPr lang="en-US" sz="1000" dirty="0">
                <a:solidFill>
                  <a:srgbClr val="79C0FF"/>
                </a:solidFill>
                <a:latin typeface="Consolas" pitchFamily="34" charset="0"/>
                <a:ea typeface="Consolas" pitchFamily="34" charset="-122"/>
                <a:cs typeface="Consolas" pitchFamily="34" charset="-120"/>
              </a:rPr>
              <a:t>kimi-k2.6</a:t>
            </a:r>
            <a:endParaRPr lang="en-US" sz="1000" dirty="0"/>
          </a:p>
        </p:txBody>
      </p:sp>
      <p:sp>
        <p:nvSpPr>
          <p:cNvPr id="67" name="Shape 65"/>
          <p:cNvSpPr/>
          <p:nvPr/>
        </p:nvSpPr>
        <p:spPr>
          <a:xfrm>
            <a:off x="7955280" y="4828032"/>
            <a:ext cx="4160520" cy="411480"/>
          </a:xfrm>
          <a:prstGeom prst="rect">
            <a:avLst/>
          </a:prstGeom>
          <a:solidFill>
            <a:srgbClr val="161B22"/>
          </a:solidFill>
          <a:ln w="6350">
            <a:solidFill>
              <a:srgbClr val="30363D"/>
            </a:solidFill>
            <a:prstDash val="solid"/>
          </a:ln>
        </p:spPr>
      </p:sp>
      <p:sp>
        <p:nvSpPr>
          <p:cNvPr id="68" name="Text 66"/>
          <p:cNvSpPr/>
          <p:nvPr/>
        </p:nvSpPr>
        <p:spPr>
          <a:xfrm>
            <a:off x="8046720" y="4828032"/>
            <a:ext cx="4023360" cy="411480"/>
          </a:xfrm>
          <a:prstGeom prst="rect">
            <a:avLst/>
          </a:prstGeom>
          <a:noFill/>
          <a:ln/>
        </p:spPr>
        <p:txBody>
          <a:bodyPr wrap="square" lIns="0" tIns="0" rIns="0" bIns="0" rtlCol="0" anchor="ctr"/>
          <a:lstStyle/>
          <a:p>
            <a:pPr indent="0" marL="0">
              <a:buNone/>
            </a:pPr>
            <a:r>
              <a:rPr lang="en-US" sz="1000" dirty="0">
                <a:solidFill>
                  <a:srgbClr val="E6EDF3"/>
                </a:solidFill>
                <a:latin typeface="Calibri" pitchFamily="34" charset="0"/>
                <a:ea typeface="Calibri" pitchFamily="34" charset="-122"/>
                <a:cs typeface="Calibri" pitchFamily="34" charset="-120"/>
              </a:rPr>
              <a:t>frontend/*, planning/FE_PLAN</a:t>
            </a:r>
            <a:endParaRPr lang="en-US" sz="1000" dirty="0"/>
          </a:p>
        </p:txBody>
      </p:sp>
      <p:sp>
        <p:nvSpPr>
          <p:cNvPr id="69" name="Shape 67"/>
          <p:cNvSpPr/>
          <p:nvPr/>
        </p:nvSpPr>
        <p:spPr>
          <a:xfrm>
            <a:off x="365760" y="5266944"/>
            <a:ext cx="1874520" cy="411480"/>
          </a:xfrm>
          <a:prstGeom prst="rect">
            <a:avLst/>
          </a:prstGeom>
          <a:solidFill>
            <a:srgbClr val="1C2128"/>
          </a:solidFill>
          <a:ln w="6350">
            <a:solidFill>
              <a:srgbClr val="30363D"/>
            </a:solidFill>
            <a:prstDash val="solid"/>
          </a:ln>
        </p:spPr>
      </p:sp>
      <p:sp>
        <p:nvSpPr>
          <p:cNvPr id="70" name="Text 68"/>
          <p:cNvSpPr/>
          <p:nvPr/>
        </p:nvSpPr>
        <p:spPr>
          <a:xfrm>
            <a:off x="457200" y="5266944"/>
            <a:ext cx="1737360" cy="411480"/>
          </a:xfrm>
          <a:prstGeom prst="rect">
            <a:avLst/>
          </a:prstGeom>
          <a:noFill/>
          <a:ln/>
        </p:spPr>
        <p:txBody>
          <a:bodyPr wrap="square" lIns="0" tIns="0" rIns="0" bIns="0" rtlCol="0" anchor="ctr"/>
          <a:lstStyle/>
          <a:p>
            <a:pPr indent="0" marL="0">
              <a:buNone/>
            </a:pPr>
            <a:r>
              <a:rPr lang="en-US" sz="1000" b="1" dirty="0">
                <a:solidFill>
                  <a:srgbClr val="7CE38B"/>
                </a:solidFill>
                <a:latin typeface="Calibri" pitchFamily="34" charset="0"/>
                <a:ea typeface="Calibri" pitchFamily="34" charset="-122"/>
                <a:cs typeface="Calibri" pitchFamily="34" charset="-120"/>
              </a:rPr>
              <a:t>QA</a:t>
            </a:r>
            <a:endParaRPr lang="en-US" sz="1000" dirty="0"/>
          </a:p>
        </p:txBody>
      </p:sp>
      <p:sp>
        <p:nvSpPr>
          <p:cNvPr id="71" name="Shape 69"/>
          <p:cNvSpPr/>
          <p:nvPr/>
        </p:nvSpPr>
        <p:spPr>
          <a:xfrm>
            <a:off x="2286000" y="5266944"/>
            <a:ext cx="3337560" cy="411480"/>
          </a:xfrm>
          <a:prstGeom prst="rect">
            <a:avLst/>
          </a:prstGeom>
          <a:solidFill>
            <a:srgbClr val="1C2128"/>
          </a:solidFill>
          <a:ln w="6350">
            <a:solidFill>
              <a:srgbClr val="30363D"/>
            </a:solidFill>
            <a:prstDash val="solid"/>
          </a:ln>
        </p:spPr>
      </p:sp>
      <p:sp>
        <p:nvSpPr>
          <p:cNvPr id="72" name="Text 70"/>
          <p:cNvSpPr/>
          <p:nvPr/>
        </p:nvSpPr>
        <p:spPr>
          <a:xfrm>
            <a:off x="2377440" y="5266944"/>
            <a:ext cx="3200400" cy="411480"/>
          </a:xfrm>
          <a:prstGeom prst="rect">
            <a:avLst/>
          </a:prstGeom>
          <a:noFill/>
          <a:ln/>
        </p:spPr>
        <p:txBody>
          <a:bodyPr wrap="square" lIns="0" tIns="0" rIns="0" bIns="0" rtlCol="0" anchor="ctr"/>
          <a:lstStyle/>
          <a:p>
            <a:pPr indent="0" marL="0">
              <a:buNone/>
            </a:pPr>
            <a:r>
              <a:rPr lang="en-US" sz="1000" dirty="0">
                <a:solidFill>
                  <a:srgbClr val="E6EDF3"/>
                </a:solidFill>
                <a:latin typeface="Calibri" pitchFamily="34" charset="0"/>
                <a:ea typeface="Calibri" pitchFamily="34" charset="-122"/>
                <a:cs typeface="Calibri" pitchFamily="34" charset="-120"/>
              </a:rPr>
              <a:t>Test plan + verdict</a:t>
            </a:r>
            <a:endParaRPr lang="en-US" sz="1000" dirty="0"/>
          </a:p>
        </p:txBody>
      </p:sp>
      <p:sp>
        <p:nvSpPr>
          <p:cNvPr id="73" name="Shape 71"/>
          <p:cNvSpPr/>
          <p:nvPr/>
        </p:nvSpPr>
        <p:spPr>
          <a:xfrm>
            <a:off x="5669280" y="5266944"/>
            <a:ext cx="2240280" cy="411480"/>
          </a:xfrm>
          <a:prstGeom prst="rect">
            <a:avLst/>
          </a:prstGeom>
          <a:solidFill>
            <a:srgbClr val="1C2128"/>
          </a:solidFill>
          <a:ln w="6350">
            <a:solidFill>
              <a:srgbClr val="30363D"/>
            </a:solidFill>
            <a:prstDash val="solid"/>
          </a:ln>
        </p:spPr>
      </p:sp>
      <p:sp>
        <p:nvSpPr>
          <p:cNvPr id="74" name="Text 72"/>
          <p:cNvSpPr/>
          <p:nvPr/>
        </p:nvSpPr>
        <p:spPr>
          <a:xfrm>
            <a:off x="5760720" y="5266944"/>
            <a:ext cx="2103120" cy="411480"/>
          </a:xfrm>
          <a:prstGeom prst="rect">
            <a:avLst/>
          </a:prstGeom>
          <a:noFill/>
          <a:ln/>
        </p:spPr>
        <p:txBody>
          <a:bodyPr wrap="square" lIns="0" tIns="0" rIns="0" bIns="0" rtlCol="0" anchor="ctr"/>
          <a:lstStyle/>
          <a:p>
            <a:pPr indent="0" marL="0">
              <a:buNone/>
            </a:pPr>
            <a:r>
              <a:rPr lang="en-US" sz="1000" dirty="0">
                <a:solidFill>
                  <a:srgbClr val="79C0FF"/>
                </a:solidFill>
                <a:latin typeface="Consolas" pitchFamily="34" charset="0"/>
                <a:ea typeface="Consolas" pitchFamily="34" charset="-122"/>
                <a:cs typeface="Consolas" pitchFamily="34" charset="-120"/>
              </a:rPr>
              <a:t>qwen3.5-plus</a:t>
            </a:r>
            <a:endParaRPr lang="en-US" sz="1000" dirty="0"/>
          </a:p>
        </p:txBody>
      </p:sp>
      <p:sp>
        <p:nvSpPr>
          <p:cNvPr id="75" name="Shape 73"/>
          <p:cNvSpPr/>
          <p:nvPr/>
        </p:nvSpPr>
        <p:spPr>
          <a:xfrm>
            <a:off x="7955280" y="5266944"/>
            <a:ext cx="4160520" cy="411480"/>
          </a:xfrm>
          <a:prstGeom prst="rect">
            <a:avLst/>
          </a:prstGeom>
          <a:solidFill>
            <a:srgbClr val="1C2128"/>
          </a:solidFill>
          <a:ln w="6350">
            <a:solidFill>
              <a:srgbClr val="30363D"/>
            </a:solidFill>
            <a:prstDash val="solid"/>
          </a:ln>
        </p:spPr>
      </p:sp>
      <p:sp>
        <p:nvSpPr>
          <p:cNvPr id="76" name="Text 74"/>
          <p:cNvSpPr/>
          <p:nvPr/>
        </p:nvSpPr>
        <p:spPr>
          <a:xfrm>
            <a:off x="8046720" y="5266944"/>
            <a:ext cx="4023360" cy="411480"/>
          </a:xfrm>
          <a:prstGeom prst="rect">
            <a:avLst/>
          </a:prstGeom>
          <a:noFill/>
          <a:ln/>
        </p:spPr>
        <p:txBody>
          <a:bodyPr wrap="square" lIns="0" tIns="0" rIns="0" bIns="0" rtlCol="0" anchor="ctr"/>
          <a:lstStyle/>
          <a:p>
            <a:pPr indent="0" marL="0">
              <a:buNone/>
            </a:pPr>
            <a:r>
              <a:rPr lang="en-US" sz="1000" dirty="0">
                <a:solidFill>
                  <a:srgbClr val="E6EDF3"/>
                </a:solidFill>
                <a:latin typeface="Calibri" pitchFamily="34" charset="0"/>
                <a:ea typeface="Calibri" pitchFamily="34" charset="-122"/>
                <a:cs typeface="Calibri" pitchFamily="34" charset="-120"/>
              </a:rPr>
              <a:t>docs/qa/*, reports/*</a:t>
            </a:r>
            <a:endParaRPr lang="en-US" sz="1000" dirty="0"/>
          </a:p>
        </p:txBody>
      </p:sp>
      <p:sp>
        <p:nvSpPr>
          <p:cNvPr id="77" name="Shape 75"/>
          <p:cNvSpPr/>
          <p:nvPr/>
        </p:nvSpPr>
        <p:spPr>
          <a:xfrm>
            <a:off x="365760" y="5705856"/>
            <a:ext cx="1874520" cy="411480"/>
          </a:xfrm>
          <a:prstGeom prst="rect">
            <a:avLst/>
          </a:prstGeom>
          <a:solidFill>
            <a:srgbClr val="161B22"/>
          </a:solidFill>
          <a:ln w="6350">
            <a:solidFill>
              <a:srgbClr val="30363D"/>
            </a:solidFill>
            <a:prstDash val="solid"/>
          </a:ln>
        </p:spPr>
      </p:sp>
      <p:sp>
        <p:nvSpPr>
          <p:cNvPr id="78" name="Text 76"/>
          <p:cNvSpPr/>
          <p:nvPr/>
        </p:nvSpPr>
        <p:spPr>
          <a:xfrm>
            <a:off x="457200" y="5705856"/>
            <a:ext cx="1737360" cy="411480"/>
          </a:xfrm>
          <a:prstGeom prst="rect">
            <a:avLst/>
          </a:prstGeom>
          <a:noFill/>
          <a:ln/>
        </p:spPr>
        <p:txBody>
          <a:bodyPr wrap="square" lIns="0" tIns="0" rIns="0" bIns="0" rtlCol="0" anchor="ctr"/>
          <a:lstStyle/>
          <a:p>
            <a:pPr indent="0" marL="0">
              <a:buNone/>
            </a:pPr>
            <a:r>
              <a:rPr lang="en-US" sz="1000" b="1" dirty="0">
                <a:solidFill>
                  <a:srgbClr val="7CE38B"/>
                </a:solidFill>
                <a:latin typeface="Calibri" pitchFamily="34" charset="0"/>
                <a:ea typeface="Calibri" pitchFamily="34" charset="-122"/>
                <a:cs typeface="Calibri" pitchFamily="34" charset="-120"/>
              </a:rPr>
              <a:t>DELIVERY</a:t>
            </a:r>
            <a:endParaRPr lang="en-US" sz="1000" dirty="0"/>
          </a:p>
        </p:txBody>
      </p:sp>
      <p:sp>
        <p:nvSpPr>
          <p:cNvPr id="79" name="Shape 77"/>
          <p:cNvSpPr/>
          <p:nvPr/>
        </p:nvSpPr>
        <p:spPr>
          <a:xfrm>
            <a:off x="2286000" y="5705856"/>
            <a:ext cx="3337560" cy="411480"/>
          </a:xfrm>
          <a:prstGeom prst="rect">
            <a:avLst/>
          </a:prstGeom>
          <a:solidFill>
            <a:srgbClr val="161B22"/>
          </a:solidFill>
          <a:ln w="6350">
            <a:solidFill>
              <a:srgbClr val="30363D"/>
            </a:solidFill>
            <a:prstDash val="solid"/>
          </a:ln>
        </p:spPr>
      </p:sp>
      <p:sp>
        <p:nvSpPr>
          <p:cNvPr id="80" name="Text 78"/>
          <p:cNvSpPr/>
          <p:nvPr/>
        </p:nvSpPr>
        <p:spPr>
          <a:xfrm>
            <a:off x="2377440" y="5705856"/>
            <a:ext cx="3200400" cy="411480"/>
          </a:xfrm>
          <a:prstGeom prst="rect">
            <a:avLst/>
          </a:prstGeom>
          <a:noFill/>
          <a:ln/>
        </p:spPr>
        <p:txBody>
          <a:bodyPr wrap="square" lIns="0" tIns="0" rIns="0" bIns="0" rtlCol="0" anchor="ctr"/>
          <a:lstStyle/>
          <a:p>
            <a:pPr indent="0" marL="0">
              <a:buNone/>
            </a:pPr>
            <a:r>
              <a:rPr lang="en-US" sz="1000" dirty="0">
                <a:solidFill>
                  <a:srgbClr val="E6EDF3"/>
                </a:solidFill>
                <a:latin typeface="Calibri" pitchFamily="34" charset="0"/>
                <a:ea typeface="Calibri" pitchFamily="34" charset="-122"/>
                <a:cs typeface="Calibri" pitchFamily="34" charset="-120"/>
              </a:rPr>
              <a:t>Docker, deploy, URL</a:t>
            </a:r>
            <a:endParaRPr lang="en-US" sz="1000" dirty="0"/>
          </a:p>
        </p:txBody>
      </p:sp>
      <p:sp>
        <p:nvSpPr>
          <p:cNvPr id="81" name="Shape 79"/>
          <p:cNvSpPr/>
          <p:nvPr/>
        </p:nvSpPr>
        <p:spPr>
          <a:xfrm>
            <a:off x="5669280" y="5705856"/>
            <a:ext cx="2240280" cy="411480"/>
          </a:xfrm>
          <a:prstGeom prst="rect">
            <a:avLst/>
          </a:prstGeom>
          <a:solidFill>
            <a:srgbClr val="161B22"/>
          </a:solidFill>
          <a:ln w="6350">
            <a:solidFill>
              <a:srgbClr val="30363D"/>
            </a:solidFill>
            <a:prstDash val="solid"/>
          </a:ln>
        </p:spPr>
      </p:sp>
      <p:sp>
        <p:nvSpPr>
          <p:cNvPr id="82" name="Text 80"/>
          <p:cNvSpPr/>
          <p:nvPr/>
        </p:nvSpPr>
        <p:spPr>
          <a:xfrm>
            <a:off x="5760720" y="5705856"/>
            <a:ext cx="2103120" cy="411480"/>
          </a:xfrm>
          <a:prstGeom prst="rect">
            <a:avLst/>
          </a:prstGeom>
          <a:noFill/>
          <a:ln/>
        </p:spPr>
        <p:txBody>
          <a:bodyPr wrap="square" lIns="0" tIns="0" rIns="0" bIns="0" rtlCol="0" anchor="ctr"/>
          <a:lstStyle/>
          <a:p>
            <a:pPr indent="0" marL="0">
              <a:buNone/>
            </a:pPr>
            <a:r>
              <a:rPr lang="en-US" sz="1000" dirty="0">
                <a:solidFill>
                  <a:srgbClr val="79C0FF"/>
                </a:solidFill>
                <a:latin typeface="Consolas" pitchFamily="34" charset="0"/>
                <a:ea typeface="Consolas" pitchFamily="34" charset="-122"/>
                <a:cs typeface="Consolas" pitchFamily="34" charset="-120"/>
              </a:rPr>
              <a:t>glm-5</a:t>
            </a:r>
            <a:endParaRPr lang="en-US" sz="1000" dirty="0"/>
          </a:p>
        </p:txBody>
      </p:sp>
      <p:sp>
        <p:nvSpPr>
          <p:cNvPr id="83" name="Shape 81"/>
          <p:cNvSpPr/>
          <p:nvPr/>
        </p:nvSpPr>
        <p:spPr>
          <a:xfrm>
            <a:off x="7955280" y="5705856"/>
            <a:ext cx="4160520" cy="411480"/>
          </a:xfrm>
          <a:prstGeom prst="rect">
            <a:avLst/>
          </a:prstGeom>
          <a:solidFill>
            <a:srgbClr val="161B22"/>
          </a:solidFill>
          <a:ln w="6350">
            <a:solidFill>
              <a:srgbClr val="30363D"/>
            </a:solidFill>
            <a:prstDash val="solid"/>
          </a:ln>
        </p:spPr>
      </p:sp>
      <p:sp>
        <p:nvSpPr>
          <p:cNvPr id="84" name="Text 82"/>
          <p:cNvSpPr/>
          <p:nvPr/>
        </p:nvSpPr>
        <p:spPr>
          <a:xfrm>
            <a:off x="8046720" y="5705856"/>
            <a:ext cx="4023360" cy="411480"/>
          </a:xfrm>
          <a:prstGeom prst="rect">
            <a:avLst/>
          </a:prstGeom>
          <a:noFill/>
          <a:ln/>
        </p:spPr>
        <p:txBody>
          <a:bodyPr wrap="square" lIns="0" tIns="0" rIns="0" bIns="0" rtlCol="0" anchor="ctr"/>
          <a:lstStyle/>
          <a:p>
            <a:pPr indent="0" marL="0">
              <a:buNone/>
            </a:pPr>
            <a:r>
              <a:rPr lang="en-US" sz="1000" dirty="0">
                <a:solidFill>
                  <a:srgbClr val="E6EDF3"/>
                </a:solidFill>
                <a:latin typeface="Calibri" pitchFamily="34" charset="0"/>
                <a:ea typeface="Calibri" pitchFamily="34" charset="-122"/>
                <a:cs typeface="Calibri" pitchFamily="34" charset="-120"/>
              </a:rPr>
              <a:t>Dockerfile, compose, docs/delivery/*</a:t>
            </a:r>
            <a:endParaRPr lang="en-US" sz="1000" dirty="0"/>
          </a:p>
        </p:txBody>
      </p:sp>
      <p:sp>
        <p:nvSpPr>
          <p:cNvPr id="85" name="Text 83"/>
          <p:cNvSpPr/>
          <p:nvPr/>
        </p:nvSpPr>
        <p:spPr>
          <a:xfrm>
            <a:off x="11338560" y="6492240"/>
            <a:ext cx="731520" cy="228600"/>
          </a:xfrm>
          <a:prstGeom prst="rect">
            <a:avLst/>
          </a:prstGeom>
          <a:noFill/>
          <a:ln/>
        </p:spPr>
        <p:txBody>
          <a:bodyPr wrap="square" lIns="0" tIns="0" rIns="0" bIns="0" rtlCol="0" anchor="ctr"/>
          <a:lstStyle/>
          <a:p>
            <a:pPr algn="r" indent="0" marL="0">
              <a:buNone/>
            </a:pPr>
            <a:r>
              <a:rPr lang="en-US" sz="900" dirty="0">
                <a:solidFill>
                  <a:srgbClr val="8B949E"/>
                </a:solidFill>
                <a:latin typeface="Consolas" pitchFamily="34" charset="0"/>
                <a:ea typeface="Consolas" pitchFamily="34" charset="-122"/>
                <a:cs typeface="Consolas" pitchFamily="34" charset="-120"/>
              </a:rPr>
              <a:t>9 / 32</a:t>
            </a:r>
            <a:endParaRPr lang="en-US" sz="900" dirty="0"/>
          </a:p>
        </p:txBody>
      </p:sp>
      <p:sp>
        <p:nvSpPr>
          <p:cNvPr id="86" name="Text 84"/>
          <p:cNvSpPr/>
          <p:nvPr/>
        </p:nvSpPr>
        <p:spPr>
          <a:xfrm>
            <a:off x="365760" y="6492240"/>
            <a:ext cx="1097280" cy="228600"/>
          </a:xfrm>
          <a:prstGeom prst="rect">
            <a:avLst/>
          </a:prstGeom>
          <a:noFill/>
          <a:ln/>
        </p:spPr>
        <p:txBody>
          <a:bodyPr wrap="square" lIns="0" tIns="0" rIns="0" bIns="0" rtlCol="0" anchor="ctr"/>
          <a:lstStyle/>
          <a:p>
            <a:pPr algn="l" indent="0" marL="0">
              <a:buNone/>
            </a:pPr>
            <a:r>
              <a:rPr lang="en-US" sz="900" dirty="0">
                <a:solidFill>
                  <a:srgbClr val="8B949E"/>
                </a:solidFill>
                <a:latin typeface="Consolas" pitchFamily="34" charset="0"/>
                <a:ea typeface="Consolas" pitchFamily="34" charset="-122"/>
                <a:cs typeface="Consolas" pitchFamily="34" charset="-120"/>
              </a:rPr>
              <a:t>v10.12</a:t>
            </a:r>
            <a:endParaRPr lang="en-US" sz="900" dirty="0"/>
          </a:p>
        </p:txBody>
      </p:sp>
      <p:sp>
        <p:nvSpPr>
          <p:cNvPr id="87" name="Text 85"/>
          <p:cNvSpPr/>
          <p:nvPr/>
        </p:nvSpPr>
        <p:spPr>
          <a:xfrm>
            <a:off x="4572000" y="6492240"/>
            <a:ext cx="6400800" cy="228600"/>
          </a:xfrm>
          <a:prstGeom prst="rect">
            <a:avLst/>
          </a:prstGeom>
          <a:noFill/>
          <a:ln/>
        </p:spPr>
        <p:txBody>
          <a:bodyPr wrap="square" lIns="0" tIns="0" rIns="0" bIns="0" rtlCol="0" anchor="ctr"/>
          <a:lstStyle/>
          <a:p>
            <a:pPr algn="ctr" indent="0" marL="0">
              <a:buNone/>
            </a:pPr>
            <a:r>
              <a:rPr lang="en-US" sz="900" dirty="0">
                <a:solidFill>
                  <a:srgbClr val="8B949E"/>
                </a:solidFill>
                <a:latin typeface="Consolas" pitchFamily="34" charset="0"/>
                <a:ea typeface="Consolas" pitchFamily="34" charset="-122"/>
                <a:cs typeface="Consolas" pitchFamily="34" charset="-120"/>
              </a:rPr>
              <a:t>Product Engineering Agent Framework</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365760" y="228600"/>
            <a:ext cx="8229600" cy="274320"/>
          </a:xfrm>
          <a:prstGeom prst="rect">
            <a:avLst/>
          </a:prstGeom>
          <a:noFill/>
          <a:ln/>
        </p:spPr>
        <p:txBody>
          <a:bodyPr wrap="square" lIns="0" tIns="0" rIns="0" bIns="0" rtlCol="0" anchor="ctr"/>
          <a:lstStyle/>
          <a:p>
            <a:pPr indent="0" marL="0">
              <a:buNone/>
            </a:pPr>
            <a:r>
              <a:rPr lang="en-US" sz="1100" dirty="0">
                <a:solidFill>
                  <a:srgbClr val="2EA043"/>
                </a:solidFill>
                <a:latin typeface="Consolas" pitchFamily="34" charset="0"/>
                <a:ea typeface="Consolas" pitchFamily="34" charset="-122"/>
                <a:cs typeface="Consolas" pitchFamily="34" charset="-120"/>
              </a:rPr>
              <a:t>$ </a:t>
            </a:r>
            <a:pPr indent="0" marL="0">
              <a:buNone/>
            </a:pPr>
            <a:r>
              <a:rPr lang="en-US" sz="1100" dirty="0">
                <a:solidFill>
                  <a:srgbClr val="8B949E"/>
                </a:solidFill>
                <a:latin typeface="Consolas" pitchFamily="34" charset="0"/>
                <a:ea typeface="Consolas" pitchFamily="34" charset="-122"/>
                <a:cs typeface="Consolas" pitchFamily="34" charset="-120"/>
              </a:rPr>
              <a:t>08_model_per_role.md</a:t>
            </a:r>
            <a:endParaRPr lang="en-US" sz="1100" dirty="0"/>
          </a:p>
        </p:txBody>
      </p:sp>
      <p:sp>
        <p:nvSpPr>
          <p:cNvPr id="3" name="Text 1"/>
          <p:cNvSpPr/>
          <p:nvPr/>
        </p:nvSpPr>
        <p:spPr>
          <a:xfrm>
            <a:off x="365760" y="548640"/>
            <a:ext cx="11430000" cy="640080"/>
          </a:xfrm>
          <a:prstGeom prst="rect">
            <a:avLst/>
          </a:prstGeom>
          <a:noFill/>
          <a:ln/>
        </p:spPr>
        <p:txBody>
          <a:bodyPr wrap="square" lIns="0" tIns="0" rIns="0" bIns="0" rtlCol="0" anchor="ctr"/>
          <a:lstStyle/>
          <a:p>
            <a:pPr indent="0" marL="0">
              <a:buNone/>
            </a:pPr>
            <a:r>
              <a:rPr lang="en-US" sz="3000" b="1" dirty="0">
                <a:solidFill>
                  <a:srgbClr val="E6EDF3"/>
                </a:solidFill>
                <a:latin typeface="Consolas" pitchFamily="34" charset="0"/>
                <a:ea typeface="Consolas" pitchFamily="34" charset="-122"/>
                <a:cs typeface="Consolas" pitchFamily="34" charset="-120"/>
              </a:rPr>
              <a:t>Tại sao mix model = tiết kiệm?</a:t>
            </a:r>
            <a:endParaRPr lang="en-US" sz="3000" dirty="0"/>
          </a:p>
        </p:txBody>
      </p:sp>
      <p:sp>
        <p:nvSpPr>
          <p:cNvPr id="4" name="Text 2"/>
          <p:cNvSpPr/>
          <p:nvPr/>
        </p:nvSpPr>
        <p:spPr>
          <a:xfrm>
            <a:off x="365760" y="1143000"/>
            <a:ext cx="11430000" cy="365760"/>
          </a:xfrm>
          <a:prstGeom prst="rect">
            <a:avLst/>
          </a:prstGeom>
          <a:noFill/>
          <a:ln/>
        </p:spPr>
        <p:txBody>
          <a:bodyPr wrap="square" lIns="0" tIns="0" rIns="0" bIns="0" rtlCol="0" anchor="ctr"/>
          <a:lstStyle/>
          <a:p>
            <a:pPr indent="0" marL="0">
              <a:buNone/>
            </a:pPr>
            <a:r>
              <a:rPr lang="en-US" sz="1400" i="1" dirty="0">
                <a:solidFill>
                  <a:srgbClr val="8B949E"/>
                </a:solidFill>
                <a:latin typeface="Calibri" pitchFamily="34" charset="0"/>
                <a:ea typeface="Calibri" pitchFamily="34" charset="-122"/>
                <a:cs typeface="Calibri" pitchFamily="34" charset="-120"/>
              </a:rPr>
              <a:t>PM/BA không cần model mạnh; SA/BE/FE cần. Một mô hình ≠ một mức giá hợp lý cho mọi việc.</a:t>
            </a:r>
            <a:endParaRPr lang="en-US" sz="1400" dirty="0"/>
          </a:p>
        </p:txBody>
      </p:sp>
      <p:sp>
        <p:nvSpPr>
          <p:cNvPr id="5" name="Shape 3"/>
          <p:cNvSpPr/>
          <p:nvPr/>
        </p:nvSpPr>
        <p:spPr>
          <a:xfrm>
            <a:off x="365760" y="1783080"/>
            <a:ext cx="3657600" cy="3657600"/>
          </a:xfrm>
          <a:prstGeom prst="rect">
            <a:avLst/>
          </a:prstGeom>
          <a:solidFill>
            <a:srgbClr val="161B22"/>
          </a:solidFill>
          <a:ln w="12700">
            <a:solidFill>
              <a:srgbClr val="30363D"/>
            </a:solidFill>
            <a:prstDash val="solid"/>
          </a:ln>
        </p:spPr>
      </p:sp>
      <p:sp>
        <p:nvSpPr>
          <p:cNvPr id="6" name="Shape 4"/>
          <p:cNvSpPr/>
          <p:nvPr/>
        </p:nvSpPr>
        <p:spPr>
          <a:xfrm>
            <a:off x="365760" y="1783080"/>
            <a:ext cx="3657600" cy="384048"/>
          </a:xfrm>
          <a:prstGeom prst="rect">
            <a:avLst/>
          </a:prstGeom>
          <a:solidFill>
            <a:srgbClr val="2EA043"/>
          </a:solidFill>
          <a:ln w="12700">
            <a:solidFill>
              <a:srgbClr val="2EA043"/>
            </a:solidFill>
            <a:prstDash val="solid"/>
          </a:ln>
        </p:spPr>
      </p:sp>
      <p:sp>
        <p:nvSpPr>
          <p:cNvPr id="7" name="Text 5"/>
          <p:cNvSpPr/>
          <p:nvPr/>
        </p:nvSpPr>
        <p:spPr>
          <a:xfrm>
            <a:off x="502920" y="1783080"/>
            <a:ext cx="3383280" cy="384048"/>
          </a:xfrm>
          <a:prstGeom prst="rect">
            <a:avLst/>
          </a:prstGeom>
          <a:noFill/>
          <a:ln/>
        </p:spPr>
        <p:txBody>
          <a:bodyPr wrap="square" lIns="0" tIns="0" rIns="0" bIns="0" rtlCol="0" anchor="ctr"/>
          <a:lstStyle/>
          <a:p>
            <a:pPr indent="0" marL="0">
              <a:buNone/>
            </a:pPr>
            <a:r>
              <a:rPr lang="en-US" sz="1300" b="1" dirty="0">
                <a:solidFill>
                  <a:srgbClr val="0D1117"/>
                </a:solidFill>
                <a:latin typeface="Consolas" pitchFamily="34" charset="0"/>
                <a:ea typeface="Consolas" pitchFamily="34" charset="-122"/>
                <a:cs typeface="Consolas" pitchFamily="34" charset="-120"/>
              </a:rPr>
              <a:t>FREE / CHEAP</a:t>
            </a:r>
            <a:endParaRPr lang="en-US" sz="1300" dirty="0"/>
          </a:p>
        </p:txBody>
      </p:sp>
      <p:sp>
        <p:nvSpPr>
          <p:cNvPr id="8" name="Text 6"/>
          <p:cNvSpPr/>
          <p:nvPr/>
        </p:nvSpPr>
        <p:spPr>
          <a:xfrm>
            <a:off x="548640" y="2331720"/>
            <a:ext cx="3291840" cy="1188720"/>
          </a:xfrm>
          <a:prstGeom prst="rect">
            <a:avLst/>
          </a:prstGeom>
          <a:noFill/>
          <a:ln/>
        </p:spPr>
        <p:txBody>
          <a:bodyPr wrap="square" lIns="0" tIns="0" rIns="0" bIns="0" rtlCol="0" anchor="t"/>
          <a:lstStyle/>
          <a:p>
            <a:pPr indent="0" marL="0">
              <a:buNone/>
            </a:pPr>
            <a:r>
              <a:rPr lang="en-US" sz="1600" b="1" dirty="0">
                <a:solidFill>
                  <a:srgbClr val="2EA043"/>
                </a:solidFill>
                <a:latin typeface="Consolas" pitchFamily="34" charset="0"/>
                <a:ea typeface="Consolas" pitchFamily="34" charset="-122"/>
                <a:cs typeface="Consolas" pitchFamily="34" charset="-120"/>
              </a:rPr>
              <a:t>mimo-v2.5</a:t>
            </a:r>
            <a:endParaRPr lang="en-US" sz="1600" dirty="0"/>
          </a:p>
          <a:p>
            <a:pPr indent="0" marL="0">
              <a:buNone/>
            </a:pPr>
            <a:r>
              <a:rPr lang="en-US" sz="1600" b="1" dirty="0">
                <a:solidFill>
                  <a:srgbClr val="2EA043"/>
                </a:solidFill>
                <a:latin typeface="Consolas" pitchFamily="34" charset="0"/>
                <a:ea typeface="Consolas" pitchFamily="34" charset="-122"/>
                <a:cs typeface="Consolas" pitchFamily="34" charset="-120"/>
              </a:rPr>
              <a:t>glm-5</a:t>
            </a:r>
            <a:endParaRPr lang="en-US" sz="1600" dirty="0"/>
          </a:p>
        </p:txBody>
      </p:sp>
      <p:sp>
        <p:nvSpPr>
          <p:cNvPr id="9" name="Text 7"/>
          <p:cNvSpPr/>
          <p:nvPr/>
        </p:nvSpPr>
        <p:spPr>
          <a:xfrm>
            <a:off x="548640" y="3657600"/>
            <a:ext cx="3291840" cy="274320"/>
          </a:xfrm>
          <a:prstGeom prst="rect">
            <a:avLst/>
          </a:prstGeom>
          <a:noFill/>
          <a:ln/>
        </p:spPr>
        <p:txBody>
          <a:bodyPr wrap="square" lIns="0" tIns="0" rIns="0" bIns="0" rtlCol="0" anchor="ctr"/>
          <a:lstStyle/>
          <a:p>
            <a:pPr indent="0" marL="0">
              <a:buNone/>
            </a:pPr>
            <a:r>
              <a:rPr lang="en-US" sz="1100" dirty="0">
                <a:solidFill>
                  <a:srgbClr val="8B949E"/>
                </a:solidFill>
                <a:latin typeface="Calibri" pitchFamily="34" charset="0"/>
                <a:ea typeface="Calibri" pitchFamily="34" charset="-122"/>
                <a:cs typeface="Calibri" pitchFamily="34" charset="-120"/>
              </a:rPr>
              <a:t>Vai trò:</a:t>
            </a:r>
            <a:endParaRPr lang="en-US" sz="1100" dirty="0"/>
          </a:p>
        </p:txBody>
      </p:sp>
      <p:sp>
        <p:nvSpPr>
          <p:cNvPr id="10" name="Text 8"/>
          <p:cNvSpPr/>
          <p:nvPr/>
        </p:nvSpPr>
        <p:spPr>
          <a:xfrm>
            <a:off x="548640" y="3931920"/>
            <a:ext cx="3291840" cy="1280160"/>
          </a:xfrm>
          <a:prstGeom prst="rect">
            <a:avLst/>
          </a:prstGeom>
          <a:noFill/>
          <a:ln/>
        </p:spPr>
        <p:txBody>
          <a:bodyPr wrap="square" lIns="0" tIns="0" rIns="0" bIns="0" rtlCol="0" anchor="t"/>
          <a:lstStyle/>
          <a:p>
            <a:pPr indent="0" marL="0">
              <a:buNone/>
            </a:pPr>
            <a:r>
              <a:rPr lang="en-US" sz="1400" b="1" dirty="0">
                <a:solidFill>
                  <a:srgbClr val="E6EDF3"/>
                </a:solidFill>
                <a:latin typeface="Calibri" pitchFamily="34" charset="0"/>
                <a:ea typeface="Calibri" pitchFamily="34" charset="-122"/>
                <a:cs typeface="Calibri" pitchFamily="34" charset="-120"/>
              </a:rPr>
              <a:t>UX, DELIVERY</a:t>
            </a:r>
            <a:endParaRPr lang="en-US" sz="1400" dirty="0"/>
          </a:p>
        </p:txBody>
      </p:sp>
      <p:sp>
        <p:nvSpPr>
          <p:cNvPr id="11" name="Shape 9"/>
          <p:cNvSpPr/>
          <p:nvPr/>
        </p:nvSpPr>
        <p:spPr>
          <a:xfrm>
            <a:off x="4297680" y="1783080"/>
            <a:ext cx="3657600" cy="3657600"/>
          </a:xfrm>
          <a:prstGeom prst="rect">
            <a:avLst/>
          </a:prstGeom>
          <a:solidFill>
            <a:srgbClr val="161B22"/>
          </a:solidFill>
          <a:ln w="12700">
            <a:solidFill>
              <a:srgbClr val="30363D"/>
            </a:solidFill>
            <a:prstDash val="solid"/>
          </a:ln>
        </p:spPr>
      </p:sp>
      <p:sp>
        <p:nvSpPr>
          <p:cNvPr id="12" name="Shape 10"/>
          <p:cNvSpPr/>
          <p:nvPr/>
        </p:nvSpPr>
        <p:spPr>
          <a:xfrm>
            <a:off x="4297680" y="1783080"/>
            <a:ext cx="3657600" cy="384048"/>
          </a:xfrm>
          <a:prstGeom prst="rect">
            <a:avLst/>
          </a:prstGeom>
          <a:solidFill>
            <a:srgbClr val="79C0FF"/>
          </a:solidFill>
          <a:ln w="12700">
            <a:solidFill>
              <a:srgbClr val="79C0FF"/>
            </a:solidFill>
            <a:prstDash val="solid"/>
          </a:ln>
        </p:spPr>
      </p:sp>
      <p:sp>
        <p:nvSpPr>
          <p:cNvPr id="13" name="Text 11"/>
          <p:cNvSpPr/>
          <p:nvPr/>
        </p:nvSpPr>
        <p:spPr>
          <a:xfrm>
            <a:off x="4434840" y="1783080"/>
            <a:ext cx="3383280" cy="384048"/>
          </a:xfrm>
          <a:prstGeom prst="rect">
            <a:avLst/>
          </a:prstGeom>
          <a:noFill/>
          <a:ln/>
        </p:spPr>
        <p:txBody>
          <a:bodyPr wrap="square" lIns="0" tIns="0" rIns="0" bIns="0" rtlCol="0" anchor="ctr"/>
          <a:lstStyle/>
          <a:p>
            <a:pPr indent="0" marL="0">
              <a:buNone/>
            </a:pPr>
            <a:r>
              <a:rPr lang="en-US" sz="1300" b="1" dirty="0">
                <a:solidFill>
                  <a:srgbClr val="0D1117"/>
                </a:solidFill>
                <a:latin typeface="Consolas" pitchFamily="34" charset="0"/>
                <a:ea typeface="Consolas" pitchFamily="34" charset="-122"/>
                <a:cs typeface="Consolas" pitchFamily="34" charset="-120"/>
              </a:rPr>
              <a:t>MEDIUM</a:t>
            </a:r>
            <a:endParaRPr lang="en-US" sz="1300" dirty="0"/>
          </a:p>
        </p:txBody>
      </p:sp>
      <p:sp>
        <p:nvSpPr>
          <p:cNvPr id="14" name="Text 12"/>
          <p:cNvSpPr/>
          <p:nvPr/>
        </p:nvSpPr>
        <p:spPr>
          <a:xfrm>
            <a:off x="4480560" y="2331720"/>
            <a:ext cx="3291840" cy="1188720"/>
          </a:xfrm>
          <a:prstGeom prst="rect">
            <a:avLst/>
          </a:prstGeom>
          <a:noFill/>
          <a:ln/>
        </p:spPr>
        <p:txBody>
          <a:bodyPr wrap="square" lIns="0" tIns="0" rIns="0" bIns="0" rtlCol="0" anchor="t"/>
          <a:lstStyle/>
          <a:p>
            <a:pPr indent="0" marL="0">
              <a:buNone/>
            </a:pPr>
            <a:r>
              <a:rPr lang="en-US" sz="1600" b="1" dirty="0">
                <a:solidFill>
                  <a:srgbClr val="79C0FF"/>
                </a:solidFill>
                <a:latin typeface="Consolas" pitchFamily="34" charset="0"/>
                <a:ea typeface="Consolas" pitchFamily="34" charset="-122"/>
                <a:cs typeface="Consolas" pitchFamily="34" charset="-120"/>
              </a:rPr>
              <a:t>deepseek-flash</a:t>
            </a:r>
            <a:endParaRPr lang="en-US" sz="1600" dirty="0"/>
          </a:p>
          <a:p>
            <a:pPr indent="0" marL="0">
              <a:buNone/>
            </a:pPr>
            <a:r>
              <a:rPr lang="en-US" sz="1600" b="1" dirty="0">
                <a:solidFill>
                  <a:srgbClr val="79C0FF"/>
                </a:solidFill>
                <a:latin typeface="Consolas" pitchFamily="34" charset="0"/>
                <a:ea typeface="Consolas" pitchFamily="34" charset="-122"/>
                <a:cs typeface="Consolas" pitchFamily="34" charset="-120"/>
              </a:rPr>
              <a:t>qwen3.6</a:t>
            </a:r>
            <a:endParaRPr lang="en-US" sz="1600" dirty="0"/>
          </a:p>
        </p:txBody>
      </p:sp>
      <p:sp>
        <p:nvSpPr>
          <p:cNvPr id="15" name="Text 13"/>
          <p:cNvSpPr/>
          <p:nvPr/>
        </p:nvSpPr>
        <p:spPr>
          <a:xfrm>
            <a:off x="4480560" y="3657600"/>
            <a:ext cx="3291840" cy="274320"/>
          </a:xfrm>
          <a:prstGeom prst="rect">
            <a:avLst/>
          </a:prstGeom>
          <a:noFill/>
          <a:ln/>
        </p:spPr>
        <p:txBody>
          <a:bodyPr wrap="square" lIns="0" tIns="0" rIns="0" bIns="0" rtlCol="0" anchor="ctr"/>
          <a:lstStyle/>
          <a:p>
            <a:pPr indent="0" marL="0">
              <a:buNone/>
            </a:pPr>
            <a:r>
              <a:rPr lang="en-US" sz="1100" dirty="0">
                <a:solidFill>
                  <a:srgbClr val="8B949E"/>
                </a:solidFill>
                <a:latin typeface="Calibri" pitchFamily="34" charset="0"/>
                <a:ea typeface="Calibri" pitchFamily="34" charset="-122"/>
                <a:cs typeface="Calibri" pitchFamily="34" charset="-120"/>
              </a:rPr>
              <a:t>Vai trò:</a:t>
            </a:r>
            <a:endParaRPr lang="en-US" sz="1100" dirty="0"/>
          </a:p>
        </p:txBody>
      </p:sp>
      <p:sp>
        <p:nvSpPr>
          <p:cNvPr id="16" name="Text 14"/>
          <p:cNvSpPr/>
          <p:nvPr/>
        </p:nvSpPr>
        <p:spPr>
          <a:xfrm>
            <a:off x="4480560" y="3931920"/>
            <a:ext cx="3291840" cy="1280160"/>
          </a:xfrm>
          <a:prstGeom prst="rect">
            <a:avLst/>
          </a:prstGeom>
          <a:noFill/>
          <a:ln/>
        </p:spPr>
        <p:txBody>
          <a:bodyPr wrap="square" lIns="0" tIns="0" rIns="0" bIns="0" rtlCol="0" anchor="t"/>
          <a:lstStyle/>
          <a:p>
            <a:pPr indent="0" marL="0">
              <a:buNone/>
            </a:pPr>
            <a:r>
              <a:rPr lang="en-US" sz="1400" b="1" dirty="0">
                <a:solidFill>
                  <a:srgbClr val="E6EDF3"/>
                </a:solidFill>
                <a:latin typeface="Calibri" pitchFamily="34" charset="0"/>
                <a:ea typeface="Calibri" pitchFamily="34" charset="-122"/>
                <a:cs typeface="Calibri" pitchFamily="34" charset="-120"/>
              </a:rPr>
              <a:t>PM, BA, QA</a:t>
            </a:r>
            <a:endParaRPr lang="en-US" sz="1400" dirty="0"/>
          </a:p>
        </p:txBody>
      </p:sp>
      <p:sp>
        <p:nvSpPr>
          <p:cNvPr id="17" name="Shape 15"/>
          <p:cNvSpPr/>
          <p:nvPr/>
        </p:nvSpPr>
        <p:spPr>
          <a:xfrm>
            <a:off x="8229600" y="1783080"/>
            <a:ext cx="3657600" cy="3657600"/>
          </a:xfrm>
          <a:prstGeom prst="rect">
            <a:avLst/>
          </a:prstGeom>
          <a:solidFill>
            <a:srgbClr val="161B22"/>
          </a:solidFill>
          <a:ln w="12700">
            <a:solidFill>
              <a:srgbClr val="30363D"/>
            </a:solidFill>
            <a:prstDash val="solid"/>
          </a:ln>
        </p:spPr>
      </p:sp>
      <p:sp>
        <p:nvSpPr>
          <p:cNvPr id="18" name="Shape 16"/>
          <p:cNvSpPr/>
          <p:nvPr/>
        </p:nvSpPr>
        <p:spPr>
          <a:xfrm>
            <a:off x="8229600" y="1783080"/>
            <a:ext cx="3657600" cy="384048"/>
          </a:xfrm>
          <a:prstGeom prst="rect">
            <a:avLst/>
          </a:prstGeom>
          <a:solidFill>
            <a:srgbClr val="D29922"/>
          </a:solidFill>
          <a:ln w="12700">
            <a:solidFill>
              <a:srgbClr val="D29922"/>
            </a:solidFill>
            <a:prstDash val="solid"/>
          </a:ln>
        </p:spPr>
      </p:sp>
      <p:sp>
        <p:nvSpPr>
          <p:cNvPr id="19" name="Text 17"/>
          <p:cNvSpPr/>
          <p:nvPr/>
        </p:nvSpPr>
        <p:spPr>
          <a:xfrm>
            <a:off x="8366760" y="1783080"/>
            <a:ext cx="3383280" cy="384048"/>
          </a:xfrm>
          <a:prstGeom prst="rect">
            <a:avLst/>
          </a:prstGeom>
          <a:noFill/>
          <a:ln/>
        </p:spPr>
        <p:txBody>
          <a:bodyPr wrap="square" lIns="0" tIns="0" rIns="0" bIns="0" rtlCol="0" anchor="ctr"/>
          <a:lstStyle/>
          <a:p>
            <a:pPr indent="0" marL="0">
              <a:buNone/>
            </a:pPr>
            <a:r>
              <a:rPr lang="en-US" sz="1300" b="1" dirty="0">
                <a:solidFill>
                  <a:srgbClr val="0D1117"/>
                </a:solidFill>
                <a:latin typeface="Consolas" pitchFamily="34" charset="0"/>
                <a:ea typeface="Consolas" pitchFamily="34" charset="-122"/>
                <a:cs typeface="Consolas" pitchFamily="34" charset="-120"/>
              </a:rPr>
              <a:t>STRONG</a:t>
            </a:r>
            <a:endParaRPr lang="en-US" sz="1300" dirty="0"/>
          </a:p>
        </p:txBody>
      </p:sp>
      <p:sp>
        <p:nvSpPr>
          <p:cNvPr id="20" name="Text 18"/>
          <p:cNvSpPr/>
          <p:nvPr/>
        </p:nvSpPr>
        <p:spPr>
          <a:xfrm>
            <a:off x="8412480" y="2331720"/>
            <a:ext cx="3291840" cy="1188720"/>
          </a:xfrm>
          <a:prstGeom prst="rect">
            <a:avLst/>
          </a:prstGeom>
          <a:noFill/>
          <a:ln/>
        </p:spPr>
        <p:txBody>
          <a:bodyPr wrap="square" lIns="0" tIns="0" rIns="0" bIns="0" rtlCol="0" anchor="t"/>
          <a:lstStyle/>
          <a:p>
            <a:pPr indent="0" marL="0">
              <a:buNone/>
            </a:pPr>
            <a:r>
              <a:rPr lang="en-US" sz="1600" b="1" dirty="0">
                <a:solidFill>
                  <a:srgbClr val="D29922"/>
                </a:solidFill>
                <a:latin typeface="Consolas" pitchFamily="34" charset="0"/>
                <a:ea typeface="Consolas" pitchFamily="34" charset="-122"/>
                <a:cs typeface="Consolas" pitchFamily="34" charset="-120"/>
              </a:rPr>
              <a:t>deepseek-v4-pro</a:t>
            </a:r>
            <a:endParaRPr lang="en-US" sz="1600" dirty="0"/>
          </a:p>
          <a:p>
            <a:pPr indent="0" marL="0">
              <a:buNone/>
            </a:pPr>
            <a:r>
              <a:rPr lang="en-US" sz="1600" b="1" dirty="0">
                <a:solidFill>
                  <a:srgbClr val="D29922"/>
                </a:solidFill>
                <a:latin typeface="Consolas" pitchFamily="34" charset="0"/>
                <a:ea typeface="Consolas" pitchFamily="34" charset="-122"/>
                <a:cs typeface="Consolas" pitchFamily="34" charset="-120"/>
              </a:rPr>
              <a:t>kimi-k2.6</a:t>
            </a:r>
            <a:endParaRPr lang="en-US" sz="1600" dirty="0"/>
          </a:p>
        </p:txBody>
      </p:sp>
      <p:sp>
        <p:nvSpPr>
          <p:cNvPr id="21" name="Text 19"/>
          <p:cNvSpPr/>
          <p:nvPr/>
        </p:nvSpPr>
        <p:spPr>
          <a:xfrm>
            <a:off x="8412480" y="3657600"/>
            <a:ext cx="3291840" cy="274320"/>
          </a:xfrm>
          <a:prstGeom prst="rect">
            <a:avLst/>
          </a:prstGeom>
          <a:noFill/>
          <a:ln/>
        </p:spPr>
        <p:txBody>
          <a:bodyPr wrap="square" lIns="0" tIns="0" rIns="0" bIns="0" rtlCol="0" anchor="ctr"/>
          <a:lstStyle/>
          <a:p>
            <a:pPr indent="0" marL="0">
              <a:buNone/>
            </a:pPr>
            <a:r>
              <a:rPr lang="en-US" sz="1100" dirty="0">
                <a:solidFill>
                  <a:srgbClr val="8B949E"/>
                </a:solidFill>
                <a:latin typeface="Calibri" pitchFamily="34" charset="0"/>
                <a:ea typeface="Calibri" pitchFamily="34" charset="-122"/>
                <a:cs typeface="Calibri" pitchFamily="34" charset="-120"/>
              </a:rPr>
              <a:t>Vai trò:</a:t>
            </a:r>
            <a:endParaRPr lang="en-US" sz="1100" dirty="0"/>
          </a:p>
        </p:txBody>
      </p:sp>
      <p:sp>
        <p:nvSpPr>
          <p:cNvPr id="22" name="Text 20"/>
          <p:cNvSpPr/>
          <p:nvPr/>
        </p:nvSpPr>
        <p:spPr>
          <a:xfrm>
            <a:off x="8412480" y="3931920"/>
            <a:ext cx="3291840" cy="1280160"/>
          </a:xfrm>
          <a:prstGeom prst="rect">
            <a:avLst/>
          </a:prstGeom>
          <a:noFill/>
          <a:ln/>
        </p:spPr>
        <p:txBody>
          <a:bodyPr wrap="square" lIns="0" tIns="0" rIns="0" bIns="0" rtlCol="0" anchor="t"/>
          <a:lstStyle/>
          <a:p>
            <a:pPr indent="0" marL="0">
              <a:buNone/>
            </a:pPr>
            <a:r>
              <a:rPr lang="en-US" sz="1400" b="1" dirty="0">
                <a:solidFill>
                  <a:srgbClr val="E6EDF3"/>
                </a:solidFill>
                <a:latin typeface="Calibri" pitchFamily="34" charset="0"/>
                <a:ea typeface="Calibri" pitchFamily="34" charset="-122"/>
                <a:cs typeface="Calibri" pitchFamily="34" charset="-120"/>
              </a:rPr>
              <a:t>SA, BE, FE</a:t>
            </a:r>
            <a:endParaRPr lang="en-US" sz="1400" dirty="0"/>
          </a:p>
        </p:txBody>
      </p:sp>
      <p:sp>
        <p:nvSpPr>
          <p:cNvPr id="23" name="Text 21"/>
          <p:cNvSpPr/>
          <p:nvPr/>
        </p:nvSpPr>
        <p:spPr>
          <a:xfrm>
            <a:off x="365760" y="5669280"/>
            <a:ext cx="11430000" cy="365760"/>
          </a:xfrm>
          <a:prstGeom prst="rect">
            <a:avLst/>
          </a:prstGeom>
          <a:noFill/>
          <a:ln/>
        </p:spPr>
        <p:txBody>
          <a:bodyPr wrap="square" lIns="0" tIns="0" rIns="0" bIns="0" rtlCol="0" anchor="ctr"/>
          <a:lstStyle/>
          <a:p>
            <a:pPr algn="ctr" indent="0" marL="0">
              <a:buNone/>
            </a:pPr>
            <a:r>
              <a:rPr lang="en-US" sz="1300" i="1" dirty="0">
                <a:solidFill>
                  <a:srgbClr val="8B949E"/>
                </a:solidFill>
                <a:latin typeface="Calibri" pitchFamily="34" charset="0"/>
                <a:ea typeface="Calibri" pitchFamily="34" charset="-122"/>
                <a:cs typeface="Calibri" pitchFamily="34" charset="-120"/>
              </a:rPr>
              <a:t>Cấu hình tại config/agent_models.env — đổi model bất cứ lúc nào không sửa code.</a:t>
            </a:r>
            <a:endParaRPr lang="en-US" sz="1300" dirty="0"/>
          </a:p>
        </p:txBody>
      </p:sp>
      <p:sp>
        <p:nvSpPr>
          <p:cNvPr id="24" name="Text 22"/>
          <p:cNvSpPr/>
          <p:nvPr/>
        </p:nvSpPr>
        <p:spPr>
          <a:xfrm>
            <a:off x="11338560" y="6492240"/>
            <a:ext cx="731520" cy="228600"/>
          </a:xfrm>
          <a:prstGeom prst="rect">
            <a:avLst/>
          </a:prstGeom>
          <a:noFill/>
          <a:ln/>
        </p:spPr>
        <p:txBody>
          <a:bodyPr wrap="square" lIns="0" tIns="0" rIns="0" bIns="0" rtlCol="0" anchor="ctr"/>
          <a:lstStyle/>
          <a:p>
            <a:pPr algn="r" indent="0" marL="0">
              <a:buNone/>
            </a:pPr>
            <a:r>
              <a:rPr lang="en-US" sz="900" dirty="0">
                <a:solidFill>
                  <a:srgbClr val="8B949E"/>
                </a:solidFill>
                <a:latin typeface="Consolas" pitchFamily="34" charset="0"/>
                <a:ea typeface="Consolas" pitchFamily="34" charset="-122"/>
                <a:cs typeface="Consolas" pitchFamily="34" charset="-120"/>
              </a:rPr>
              <a:t>10 / 32</a:t>
            </a:r>
            <a:endParaRPr lang="en-US" sz="900" dirty="0"/>
          </a:p>
        </p:txBody>
      </p:sp>
      <p:sp>
        <p:nvSpPr>
          <p:cNvPr id="25" name="Text 23"/>
          <p:cNvSpPr/>
          <p:nvPr/>
        </p:nvSpPr>
        <p:spPr>
          <a:xfrm>
            <a:off x="365760" y="6492240"/>
            <a:ext cx="1097280" cy="228600"/>
          </a:xfrm>
          <a:prstGeom prst="rect">
            <a:avLst/>
          </a:prstGeom>
          <a:noFill/>
          <a:ln/>
        </p:spPr>
        <p:txBody>
          <a:bodyPr wrap="square" lIns="0" tIns="0" rIns="0" bIns="0" rtlCol="0" anchor="ctr"/>
          <a:lstStyle/>
          <a:p>
            <a:pPr algn="l" indent="0" marL="0">
              <a:buNone/>
            </a:pPr>
            <a:r>
              <a:rPr lang="en-US" sz="900" dirty="0">
                <a:solidFill>
                  <a:srgbClr val="8B949E"/>
                </a:solidFill>
                <a:latin typeface="Consolas" pitchFamily="34" charset="0"/>
                <a:ea typeface="Consolas" pitchFamily="34" charset="-122"/>
                <a:cs typeface="Consolas" pitchFamily="34" charset="-120"/>
              </a:rPr>
              <a:t>v10.12</a:t>
            </a:r>
            <a:endParaRPr lang="en-US" sz="900" dirty="0"/>
          </a:p>
        </p:txBody>
      </p:sp>
      <p:sp>
        <p:nvSpPr>
          <p:cNvPr id="26" name="Text 24"/>
          <p:cNvSpPr/>
          <p:nvPr/>
        </p:nvSpPr>
        <p:spPr>
          <a:xfrm>
            <a:off x="4572000" y="6492240"/>
            <a:ext cx="6400800" cy="228600"/>
          </a:xfrm>
          <a:prstGeom prst="rect">
            <a:avLst/>
          </a:prstGeom>
          <a:noFill/>
          <a:ln/>
        </p:spPr>
        <p:txBody>
          <a:bodyPr wrap="square" lIns="0" tIns="0" rIns="0" bIns="0" rtlCol="0" anchor="ctr"/>
          <a:lstStyle/>
          <a:p>
            <a:pPr algn="ctr" indent="0" marL="0">
              <a:buNone/>
            </a:pPr>
            <a:r>
              <a:rPr lang="en-US" sz="900" dirty="0">
                <a:solidFill>
                  <a:srgbClr val="8B949E"/>
                </a:solidFill>
                <a:latin typeface="Consolas" pitchFamily="34" charset="0"/>
                <a:ea typeface="Consolas" pitchFamily="34" charset="-122"/>
                <a:cs typeface="Consolas" pitchFamily="34" charset="-120"/>
              </a:rPr>
              <a:t>Product Engineering Agent Framework</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365760" y="228600"/>
            <a:ext cx="8229600" cy="274320"/>
          </a:xfrm>
          <a:prstGeom prst="rect">
            <a:avLst/>
          </a:prstGeom>
          <a:noFill/>
          <a:ln/>
        </p:spPr>
        <p:txBody>
          <a:bodyPr wrap="square" lIns="0" tIns="0" rIns="0" bIns="0" rtlCol="0" anchor="ctr"/>
          <a:lstStyle/>
          <a:p>
            <a:pPr indent="0" marL="0">
              <a:buNone/>
            </a:pPr>
            <a:r>
              <a:rPr lang="en-US" sz="1100" dirty="0">
                <a:solidFill>
                  <a:srgbClr val="2EA043"/>
                </a:solidFill>
                <a:latin typeface="Consolas" pitchFamily="34" charset="0"/>
                <a:ea typeface="Consolas" pitchFamily="34" charset="-122"/>
                <a:cs typeface="Consolas" pitchFamily="34" charset="-120"/>
              </a:rPr>
              <a:t>$ </a:t>
            </a:r>
            <a:pPr indent="0" marL="0">
              <a:buNone/>
            </a:pPr>
            <a:r>
              <a:rPr lang="en-US" sz="1100" dirty="0">
                <a:solidFill>
                  <a:srgbClr val="8B949E"/>
                </a:solidFill>
                <a:latin typeface="Consolas" pitchFamily="34" charset="0"/>
                <a:ea typeface="Consolas" pitchFamily="34" charset="-122"/>
                <a:cs typeface="Consolas" pitchFamily="34" charset="-120"/>
              </a:rPr>
              <a:t>09_routing.md</a:t>
            </a:r>
            <a:endParaRPr lang="en-US" sz="1100" dirty="0"/>
          </a:p>
        </p:txBody>
      </p:sp>
      <p:sp>
        <p:nvSpPr>
          <p:cNvPr id="3" name="Text 1"/>
          <p:cNvSpPr/>
          <p:nvPr/>
        </p:nvSpPr>
        <p:spPr>
          <a:xfrm>
            <a:off x="365760" y="548640"/>
            <a:ext cx="11430000" cy="640080"/>
          </a:xfrm>
          <a:prstGeom prst="rect">
            <a:avLst/>
          </a:prstGeom>
          <a:noFill/>
          <a:ln/>
        </p:spPr>
        <p:txBody>
          <a:bodyPr wrap="square" lIns="0" tIns="0" rIns="0" bIns="0" rtlCol="0" anchor="ctr"/>
          <a:lstStyle/>
          <a:p>
            <a:pPr indent="0" marL="0">
              <a:buNone/>
            </a:pPr>
            <a:r>
              <a:rPr lang="en-US" sz="3000" b="1" dirty="0">
                <a:solidFill>
                  <a:srgbClr val="E6EDF3"/>
                </a:solidFill>
                <a:latin typeface="Consolas" pitchFamily="34" charset="0"/>
                <a:ea typeface="Consolas" pitchFamily="34" charset="-122"/>
                <a:cs typeface="Consolas" pitchFamily="34" charset="-120"/>
              </a:rPr>
              <a:t>Cơ chế routing</a:t>
            </a:r>
            <a:endParaRPr lang="en-US" sz="3000" dirty="0"/>
          </a:p>
        </p:txBody>
      </p:sp>
      <p:sp>
        <p:nvSpPr>
          <p:cNvPr id="4" name="Text 2"/>
          <p:cNvSpPr/>
          <p:nvPr/>
        </p:nvSpPr>
        <p:spPr>
          <a:xfrm>
            <a:off x="365760" y="1143000"/>
            <a:ext cx="11430000" cy="365760"/>
          </a:xfrm>
          <a:prstGeom prst="rect">
            <a:avLst/>
          </a:prstGeom>
          <a:noFill/>
          <a:ln/>
        </p:spPr>
        <p:txBody>
          <a:bodyPr wrap="square" lIns="0" tIns="0" rIns="0" bIns="0" rtlCol="0" anchor="ctr"/>
          <a:lstStyle/>
          <a:p>
            <a:pPr indent="0" marL="0">
              <a:buNone/>
            </a:pPr>
            <a:r>
              <a:rPr lang="en-US" sz="1400" i="1" dirty="0">
                <a:solidFill>
                  <a:srgbClr val="8B949E"/>
                </a:solidFill>
                <a:latin typeface="Calibri" pitchFamily="34" charset="0"/>
                <a:ea typeface="Calibri" pitchFamily="34" charset="-122"/>
                <a:cs typeface="Calibri" pitchFamily="34" charset="-120"/>
              </a:rPr>
              <a:t>Orchestrator giao việc cho worker bằng bash thật, không subagent ảo</a:t>
            </a:r>
            <a:endParaRPr lang="en-US" sz="1400" dirty="0"/>
          </a:p>
        </p:txBody>
      </p:sp>
      <p:sp>
        <p:nvSpPr>
          <p:cNvPr id="5" name="Text 3"/>
          <p:cNvSpPr/>
          <p:nvPr/>
        </p:nvSpPr>
        <p:spPr>
          <a:xfrm>
            <a:off x="365760" y="1783080"/>
            <a:ext cx="5760720" cy="365760"/>
          </a:xfrm>
          <a:prstGeom prst="rect">
            <a:avLst/>
          </a:prstGeom>
          <a:noFill/>
          <a:ln/>
        </p:spPr>
        <p:txBody>
          <a:bodyPr wrap="square" lIns="0" tIns="0" rIns="0" bIns="0" rtlCol="0" anchor="ctr"/>
          <a:lstStyle/>
          <a:p>
            <a:pPr indent="0" marL="0">
              <a:buNone/>
            </a:pPr>
            <a:r>
              <a:rPr lang="en-US" sz="1300" dirty="0">
                <a:solidFill>
                  <a:srgbClr val="8B949E"/>
                </a:solidFill>
                <a:latin typeface="Calibri" pitchFamily="34" charset="0"/>
                <a:ea typeface="Calibri" pitchFamily="34" charset="-122"/>
                <a:cs typeface="Calibri" pitchFamily="34" charset="-120"/>
              </a:rPr>
              <a:t>Mỗi lần Orchestrator gọi route_to_pane.sh:</a:t>
            </a:r>
            <a:endParaRPr lang="en-US" sz="1300" dirty="0"/>
          </a:p>
        </p:txBody>
      </p:sp>
      <p:sp>
        <p:nvSpPr>
          <p:cNvPr id="6" name="Shape 4"/>
          <p:cNvSpPr/>
          <p:nvPr/>
        </p:nvSpPr>
        <p:spPr>
          <a:xfrm>
            <a:off x="365760" y="2231136"/>
            <a:ext cx="292608" cy="292608"/>
          </a:xfrm>
          <a:prstGeom prst="ellipse">
            <a:avLst/>
          </a:prstGeom>
          <a:solidFill>
            <a:srgbClr val="7CE38B"/>
          </a:solidFill>
          <a:ln w="12700">
            <a:solidFill>
              <a:srgbClr val="7CE38B"/>
            </a:solidFill>
            <a:prstDash val="solid"/>
          </a:ln>
        </p:spPr>
      </p:sp>
      <p:sp>
        <p:nvSpPr>
          <p:cNvPr id="7" name="Text 5"/>
          <p:cNvSpPr/>
          <p:nvPr/>
        </p:nvSpPr>
        <p:spPr>
          <a:xfrm>
            <a:off x="365760" y="2231136"/>
            <a:ext cx="292608" cy="292608"/>
          </a:xfrm>
          <a:prstGeom prst="rect">
            <a:avLst/>
          </a:prstGeom>
          <a:noFill/>
          <a:ln/>
        </p:spPr>
        <p:txBody>
          <a:bodyPr wrap="square" lIns="0" tIns="0" rIns="0" bIns="0" rtlCol="0" anchor="ctr"/>
          <a:lstStyle/>
          <a:p>
            <a:pPr algn="ctr" indent="0" marL="0">
              <a:buNone/>
            </a:pPr>
            <a:r>
              <a:rPr lang="en-US" sz="1100" b="1" dirty="0">
                <a:solidFill>
                  <a:srgbClr val="0D1117"/>
                </a:solidFill>
                <a:latin typeface="Consolas" pitchFamily="34" charset="0"/>
                <a:ea typeface="Consolas" pitchFamily="34" charset="-122"/>
                <a:cs typeface="Consolas" pitchFamily="34" charset="-120"/>
              </a:rPr>
              <a:t>1</a:t>
            </a:r>
            <a:endParaRPr lang="en-US" sz="1100" dirty="0"/>
          </a:p>
        </p:txBody>
      </p:sp>
      <p:sp>
        <p:nvSpPr>
          <p:cNvPr id="8" name="Text 6"/>
          <p:cNvSpPr/>
          <p:nvPr/>
        </p:nvSpPr>
        <p:spPr>
          <a:xfrm>
            <a:off x="777240" y="2194560"/>
            <a:ext cx="5212080" cy="365760"/>
          </a:xfrm>
          <a:prstGeom prst="rect">
            <a:avLst/>
          </a:prstGeom>
          <a:noFill/>
          <a:ln/>
        </p:spPr>
        <p:txBody>
          <a:bodyPr wrap="square" lIns="0" tIns="0" rIns="0" bIns="0" rtlCol="0" anchor="ctr"/>
          <a:lstStyle/>
          <a:p>
            <a:pPr indent="0" marL="0">
              <a:buNone/>
            </a:pPr>
            <a:r>
              <a:rPr lang="en-US" sz="1200" dirty="0">
                <a:solidFill>
                  <a:srgbClr val="E6EDF3"/>
                </a:solidFill>
                <a:latin typeface="Calibri" pitchFamily="34" charset="0"/>
                <a:ea typeface="Calibri" pitchFamily="34" charset="-122"/>
                <a:cs typeface="Calibri" pitchFamily="34" charset="-120"/>
              </a:rPr>
              <a:t>Validate role + tìm pane id trong .agent_panes</a:t>
            </a:r>
            <a:endParaRPr lang="en-US" sz="1200" dirty="0"/>
          </a:p>
        </p:txBody>
      </p:sp>
      <p:sp>
        <p:nvSpPr>
          <p:cNvPr id="9" name="Shape 7"/>
          <p:cNvSpPr/>
          <p:nvPr/>
        </p:nvSpPr>
        <p:spPr>
          <a:xfrm>
            <a:off x="365760" y="2734056"/>
            <a:ext cx="292608" cy="292608"/>
          </a:xfrm>
          <a:prstGeom prst="ellipse">
            <a:avLst/>
          </a:prstGeom>
          <a:solidFill>
            <a:srgbClr val="7CE38B"/>
          </a:solidFill>
          <a:ln w="12700">
            <a:solidFill>
              <a:srgbClr val="7CE38B"/>
            </a:solidFill>
            <a:prstDash val="solid"/>
          </a:ln>
        </p:spPr>
      </p:sp>
      <p:sp>
        <p:nvSpPr>
          <p:cNvPr id="10" name="Text 8"/>
          <p:cNvSpPr/>
          <p:nvPr/>
        </p:nvSpPr>
        <p:spPr>
          <a:xfrm>
            <a:off x="365760" y="2734056"/>
            <a:ext cx="292608" cy="292608"/>
          </a:xfrm>
          <a:prstGeom prst="rect">
            <a:avLst/>
          </a:prstGeom>
          <a:noFill/>
          <a:ln/>
        </p:spPr>
        <p:txBody>
          <a:bodyPr wrap="square" lIns="0" tIns="0" rIns="0" bIns="0" rtlCol="0" anchor="ctr"/>
          <a:lstStyle/>
          <a:p>
            <a:pPr algn="ctr" indent="0" marL="0">
              <a:buNone/>
            </a:pPr>
            <a:r>
              <a:rPr lang="en-US" sz="1100" b="1" dirty="0">
                <a:solidFill>
                  <a:srgbClr val="0D1117"/>
                </a:solidFill>
                <a:latin typeface="Consolas" pitchFamily="34" charset="0"/>
                <a:ea typeface="Consolas" pitchFamily="34" charset="-122"/>
                <a:cs typeface="Consolas" pitchFamily="34" charset="-120"/>
              </a:rPr>
              <a:t>2</a:t>
            </a:r>
            <a:endParaRPr lang="en-US" sz="1100" dirty="0"/>
          </a:p>
        </p:txBody>
      </p:sp>
      <p:sp>
        <p:nvSpPr>
          <p:cNvPr id="11" name="Text 9"/>
          <p:cNvSpPr/>
          <p:nvPr/>
        </p:nvSpPr>
        <p:spPr>
          <a:xfrm>
            <a:off x="777240" y="2697480"/>
            <a:ext cx="5212080" cy="365760"/>
          </a:xfrm>
          <a:prstGeom prst="rect">
            <a:avLst/>
          </a:prstGeom>
          <a:noFill/>
          <a:ln/>
        </p:spPr>
        <p:txBody>
          <a:bodyPr wrap="square" lIns="0" tIns="0" rIns="0" bIns="0" rtlCol="0" anchor="ctr"/>
          <a:lstStyle/>
          <a:p>
            <a:pPr indent="0" marL="0">
              <a:buNone/>
            </a:pPr>
            <a:r>
              <a:rPr lang="en-US" sz="1200" dirty="0">
                <a:solidFill>
                  <a:srgbClr val="E6EDF3"/>
                </a:solidFill>
                <a:latin typeface="Calibri" pitchFamily="34" charset="0"/>
                <a:ea typeface="Calibri" pitchFamily="34" charset="-122"/>
                <a:cs typeface="Calibri" pitchFamily="34" charset="-120"/>
              </a:rPr>
              <a:t>Sinh task file .pane_tasks/&lt;ROLE&gt;_&lt;ts&gt;.md</a:t>
            </a:r>
            <a:endParaRPr lang="en-US" sz="1200" dirty="0"/>
          </a:p>
        </p:txBody>
      </p:sp>
      <p:sp>
        <p:nvSpPr>
          <p:cNvPr id="12" name="Shape 10"/>
          <p:cNvSpPr/>
          <p:nvPr/>
        </p:nvSpPr>
        <p:spPr>
          <a:xfrm>
            <a:off x="365760" y="3236976"/>
            <a:ext cx="292608" cy="292608"/>
          </a:xfrm>
          <a:prstGeom prst="ellipse">
            <a:avLst/>
          </a:prstGeom>
          <a:solidFill>
            <a:srgbClr val="7CE38B"/>
          </a:solidFill>
          <a:ln w="12700">
            <a:solidFill>
              <a:srgbClr val="7CE38B"/>
            </a:solidFill>
            <a:prstDash val="solid"/>
          </a:ln>
        </p:spPr>
      </p:sp>
      <p:sp>
        <p:nvSpPr>
          <p:cNvPr id="13" name="Text 11"/>
          <p:cNvSpPr/>
          <p:nvPr/>
        </p:nvSpPr>
        <p:spPr>
          <a:xfrm>
            <a:off x="365760" y="3236976"/>
            <a:ext cx="292608" cy="292608"/>
          </a:xfrm>
          <a:prstGeom prst="rect">
            <a:avLst/>
          </a:prstGeom>
          <a:noFill/>
          <a:ln/>
        </p:spPr>
        <p:txBody>
          <a:bodyPr wrap="square" lIns="0" tIns="0" rIns="0" bIns="0" rtlCol="0" anchor="ctr"/>
          <a:lstStyle/>
          <a:p>
            <a:pPr algn="ctr" indent="0" marL="0">
              <a:buNone/>
            </a:pPr>
            <a:r>
              <a:rPr lang="en-US" sz="1100" b="1" dirty="0">
                <a:solidFill>
                  <a:srgbClr val="0D1117"/>
                </a:solidFill>
                <a:latin typeface="Consolas" pitchFamily="34" charset="0"/>
                <a:ea typeface="Consolas" pitchFamily="34" charset="-122"/>
                <a:cs typeface="Consolas" pitchFamily="34" charset="-120"/>
              </a:rPr>
              <a:t>3</a:t>
            </a:r>
            <a:endParaRPr lang="en-US" sz="1100" dirty="0"/>
          </a:p>
        </p:txBody>
      </p:sp>
      <p:sp>
        <p:nvSpPr>
          <p:cNvPr id="14" name="Text 12"/>
          <p:cNvSpPr/>
          <p:nvPr/>
        </p:nvSpPr>
        <p:spPr>
          <a:xfrm>
            <a:off x="777240" y="3200400"/>
            <a:ext cx="5212080" cy="365760"/>
          </a:xfrm>
          <a:prstGeom prst="rect">
            <a:avLst/>
          </a:prstGeom>
          <a:noFill/>
          <a:ln/>
        </p:spPr>
        <p:txBody>
          <a:bodyPr wrap="square" lIns="0" tIns="0" rIns="0" bIns="0" rtlCol="0" anchor="ctr"/>
          <a:lstStyle/>
          <a:p>
            <a:pPr indent="0" marL="0">
              <a:buNone/>
            </a:pPr>
            <a:r>
              <a:rPr lang="en-US" sz="1200" dirty="0">
                <a:solidFill>
                  <a:srgbClr val="E6EDF3"/>
                </a:solidFill>
                <a:latin typeface="Calibri" pitchFamily="34" charset="0"/>
                <a:ea typeface="Calibri" pitchFamily="34" charset="-122"/>
                <a:cs typeface="Calibri" pitchFamily="34" charset="-120"/>
              </a:rPr>
              <a:t>Ghi receipt vào .pane_logs/_routing_receipts.log</a:t>
            </a:r>
            <a:endParaRPr lang="en-US" sz="1200" dirty="0"/>
          </a:p>
        </p:txBody>
      </p:sp>
      <p:sp>
        <p:nvSpPr>
          <p:cNvPr id="15" name="Shape 13"/>
          <p:cNvSpPr/>
          <p:nvPr/>
        </p:nvSpPr>
        <p:spPr>
          <a:xfrm>
            <a:off x="365760" y="3739896"/>
            <a:ext cx="292608" cy="292608"/>
          </a:xfrm>
          <a:prstGeom prst="ellipse">
            <a:avLst/>
          </a:prstGeom>
          <a:solidFill>
            <a:srgbClr val="7CE38B"/>
          </a:solidFill>
          <a:ln w="12700">
            <a:solidFill>
              <a:srgbClr val="7CE38B"/>
            </a:solidFill>
            <a:prstDash val="solid"/>
          </a:ln>
        </p:spPr>
      </p:sp>
      <p:sp>
        <p:nvSpPr>
          <p:cNvPr id="16" name="Text 14"/>
          <p:cNvSpPr/>
          <p:nvPr/>
        </p:nvSpPr>
        <p:spPr>
          <a:xfrm>
            <a:off x="365760" y="3739896"/>
            <a:ext cx="292608" cy="292608"/>
          </a:xfrm>
          <a:prstGeom prst="rect">
            <a:avLst/>
          </a:prstGeom>
          <a:noFill/>
          <a:ln/>
        </p:spPr>
        <p:txBody>
          <a:bodyPr wrap="square" lIns="0" tIns="0" rIns="0" bIns="0" rtlCol="0" anchor="ctr"/>
          <a:lstStyle/>
          <a:p>
            <a:pPr algn="ctr" indent="0" marL="0">
              <a:buNone/>
            </a:pPr>
            <a:r>
              <a:rPr lang="en-US" sz="1100" b="1" dirty="0">
                <a:solidFill>
                  <a:srgbClr val="0D1117"/>
                </a:solidFill>
                <a:latin typeface="Consolas" pitchFamily="34" charset="0"/>
                <a:ea typeface="Consolas" pitchFamily="34" charset="-122"/>
                <a:cs typeface="Consolas" pitchFamily="34" charset="-120"/>
              </a:rPr>
              <a:t>4</a:t>
            </a:r>
            <a:endParaRPr lang="en-US" sz="1100" dirty="0"/>
          </a:p>
        </p:txBody>
      </p:sp>
      <p:sp>
        <p:nvSpPr>
          <p:cNvPr id="17" name="Text 15"/>
          <p:cNvSpPr/>
          <p:nvPr/>
        </p:nvSpPr>
        <p:spPr>
          <a:xfrm>
            <a:off x="777240" y="3703320"/>
            <a:ext cx="5212080" cy="365760"/>
          </a:xfrm>
          <a:prstGeom prst="rect">
            <a:avLst/>
          </a:prstGeom>
          <a:noFill/>
          <a:ln/>
        </p:spPr>
        <p:txBody>
          <a:bodyPr wrap="square" lIns="0" tIns="0" rIns="0" bIns="0" rtlCol="0" anchor="ctr"/>
          <a:lstStyle/>
          <a:p>
            <a:pPr indent="0" marL="0">
              <a:buNone/>
            </a:pPr>
            <a:r>
              <a:rPr lang="en-US" sz="1200" dirty="0">
                <a:solidFill>
                  <a:srgbClr val="E6EDF3"/>
                </a:solidFill>
                <a:latin typeface="Calibri" pitchFamily="34" charset="0"/>
                <a:ea typeface="Calibri" pitchFamily="34" charset="-122"/>
                <a:cs typeface="Calibri" pitchFamily="34" charset="-120"/>
              </a:rPr>
              <a:t>tmux send-keys vào pane đích: `&lt;engine&gt; run --model &lt;X&gt; "&lt;task&gt;"` (theo .agent_session)</a:t>
            </a:r>
            <a:endParaRPr lang="en-US" sz="1200" dirty="0"/>
          </a:p>
        </p:txBody>
      </p:sp>
      <p:sp>
        <p:nvSpPr>
          <p:cNvPr id="18" name="Shape 16"/>
          <p:cNvSpPr/>
          <p:nvPr/>
        </p:nvSpPr>
        <p:spPr>
          <a:xfrm>
            <a:off x="365760" y="4242816"/>
            <a:ext cx="292608" cy="292608"/>
          </a:xfrm>
          <a:prstGeom prst="ellipse">
            <a:avLst/>
          </a:prstGeom>
          <a:solidFill>
            <a:srgbClr val="7CE38B"/>
          </a:solidFill>
          <a:ln w="12700">
            <a:solidFill>
              <a:srgbClr val="7CE38B"/>
            </a:solidFill>
            <a:prstDash val="solid"/>
          </a:ln>
        </p:spPr>
      </p:sp>
      <p:sp>
        <p:nvSpPr>
          <p:cNvPr id="19" name="Text 17"/>
          <p:cNvSpPr/>
          <p:nvPr/>
        </p:nvSpPr>
        <p:spPr>
          <a:xfrm>
            <a:off x="365760" y="4242816"/>
            <a:ext cx="292608" cy="292608"/>
          </a:xfrm>
          <a:prstGeom prst="rect">
            <a:avLst/>
          </a:prstGeom>
          <a:noFill/>
          <a:ln/>
        </p:spPr>
        <p:txBody>
          <a:bodyPr wrap="square" lIns="0" tIns="0" rIns="0" bIns="0" rtlCol="0" anchor="ctr"/>
          <a:lstStyle/>
          <a:p>
            <a:pPr algn="ctr" indent="0" marL="0">
              <a:buNone/>
            </a:pPr>
            <a:r>
              <a:rPr lang="en-US" sz="1100" b="1" dirty="0">
                <a:solidFill>
                  <a:srgbClr val="0D1117"/>
                </a:solidFill>
                <a:latin typeface="Consolas" pitchFamily="34" charset="0"/>
                <a:ea typeface="Consolas" pitchFamily="34" charset="-122"/>
                <a:cs typeface="Consolas" pitchFamily="34" charset="-120"/>
              </a:rPr>
              <a:t>5</a:t>
            </a:r>
            <a:endParaRPr lang="en-US" sz="1100" dirty="0"/>
          </a:p>
        </p:txBody>
      </p:sp>
      <p:sp>
        <p:nvSpPr>
          <p:cNvPr id="20" name="Text 18"/>
          <p:cNvSpPr/>
          <p:nvPr/>
        </p:nvSpPr>
        <p:spPr>
          <a:xfrm>
            <a:off x="777240" y="4206240"/>
            <a:ext cx="5212080" cy="365760"/>
          </a:xfrm>
          <a:prstGeom prst="rect">
            <a:avLst/>
          </a:prstGeom>
          <a:noFill/>
          <a:ln/>
        </p:spPr>
        <p:txBody>
          <a:bodyPr wrap="square" lIns="0" tIns="0" rIns="0" bIns="0" rtlCol="0" anchor="ctr"/>
          <a:lstStyle/>
          <a:p>
            <a:pPr indent="0" marL="0">
              <a:buNone/>
            </a:pPr>
            <a:r>
              <a:rPr lang="en-US" sz="1200" dirty="0">
                <a:solidFill>
                  <a:srgbClr val="E6EDF3"/>
                </a:solidFill>
                <a:latin typeface="Calibri" pitchFamily="34" charset="0"/>
                <a:ea typeface="Calibri" pitchFamily="34" charset="-122"/>
                <a:cs typeface="Calibri" pitchFamily="34" charset="-120"/>
              </a:rPr>
              <a:t>Pane đích spawn engine, đọc context, làm việc, exit</a:t>
            </a:r>
            <a:endParaRPr lang="en-US" sz="1200" dirty="0"/>
          </a:p>
        </p:txBody>
      </p:sp>
      <p:sp>
        <p:nvSpPr>
          <p:cNvPr id="21" name="Shape 19"/>
          <p:cNvSpPr/>
          <p:nvPr/>
        </p:nvSpPr>
        <p:spPr>
          <a:xfrm>
            <a:off x="6309360" y="1783080"/>
            <a:ext cx="5486400" cy="4389120"/>
          </a:xfrm>
          <a:prstGeom prst="rect">
            <a:avLst/>
          </a:prstGeom>
          <a:solidFill>
            <a:srgbClr val="161B22"/>
          </a:solidFill>
          <a:ln w="12700">
            <a:solidFill>
              <a:srgbClr val="30363D"/>
            </a:solidFill>
            <a:prstDash val="solid"/>
          </a:ln>
        </p:spPr>
      </p:sp>
      <p:sp>
        <p:nvSpPr>
          <p:cNvPr id="22" name="Shape 20"/>
          <p:cNvSpPr/>
          <p:nvPr/>
        </p:nvSpPr>
        <p:spPr>
          <a:xfrm>
            <a:off x="6400800" y="1874520"/>
            <a:ext cx="91440" cy="91440"/>
          </a:xfrm>
          <a:prstGeom prst="ellipse">
            <a:avLst/>
          </a:prstGeom>
          <a:solidFill>
            <a:srgbClr val="F85149"/>
          </a:solidFill>
          <a:ln w="12700">
            <a:solidFill>
              <a:srgbClr val="F85149"/>
            </a:solidFill>
            <a:prstDash val="solid"/>
          </a:ln>
        </p:spPr>
      </p:sp>
      <p:sp>
        <p:nvSpPr>
          <p:cNvPr id="23" name="Shape 21"/>
          <p:cNvSpPr/>
          <p:nvPr/>
        </p:nvSpPr>
        <p:spPr>
          <a:xfrm>
            <a:off x="6528816" y="1874520"/>
            <a:ext cx="91440" cy="91440"/>
          </a:xfrm>
          <a:prstGeom prst="ellipse">
            <a:avLst/>
          </a:prstGeom>
          <a:solidFill>
            <a:srgbClr val="D29922"/>
          </a:solidFill>
          <a:ln w="12700">
            <a:solidFill>
              <a:srgbClr val="D29922"/>
            </a:solidFill>
            <a:prstDash val="solid"/>
          </a:ln>
        </p:spPr>
      </p:sp>
      <p:sp>
        <p:nvSpPr>
          <p:cNvPr id="24" name="Shape 22"/>
          <p:cNvSpPr/>
          <p:nvPr/>
        </p:nvSpPr>
        <p:spPr>
          <a:xfrm>
            <a:off x="6656832" y="1874520"/>
            <a:ext cx="91440" cy="91440"/>
          </a:xfrm>
          <a:prstGeom prst="ellipse">
            <a:avLst/>
          </a:prstGeom>
          <a:solidFill>
            <a:srgbClr val="3FB950"/>
          </a:solidFill>
          <a:ln w="12700">
            <a:solidFill>
              <a:srgbClr val="3FB950"/>
            </a:solidFill>
            <a:prstDash val="solid"/>
          </a:ln>
        </p:spPr>
      </p:sp>
      <p:sp>
        <p:nvSpPr>
          <p:cNvPr id="25" name="Text 23"/>
          <p:cNvSpPr/>
          <p:nvPr/>
        </p:nvSpPr>
        <p:spPr>
          <a:xfrm>
            <a:off x="6446520" y="2103120"/>
            <a:ext cx="5212080" cy="4023360"/>
          </a:xfrm>
          <a:prstGeom prst="rect">
            <a:avLst/>
          </a:prstGeom>
          <a:noFill/>
          <a:ln/>
        </p:spPr>
        <p:txBody>
          <a:bodyPr wrap="square" lIns="0" tIns="0" rIns="0" bIns="0" rtlCol="0" anchor="t"/>
          <a:lstStyle/>
          <a:p>
            <a:pPr indent="0" marL="0">
              <a:buNone/>
            </a:pPr>
            <a:r>
              <a:rPr lang="en-US" sz="1200" dirty="0">
                <a:solidFill>
                  <a:srgbClr val="8B949E"/>
                </a:solidFill>
                <a:latin typeface="Consolas" pitchFamily="34" charset="0"/>
                <a:ea typeface="Consolas" pitchFamily="34" charset="-122"/>
                <a:cs typeface="Consolas" pitchFamily="34" charset="-120"/>
              </a:rPr>
              <a:t># Bạn nói với Orchestrator:</a:t>
            </a:r>
            <a:endParaRPr lang="en-US" sz="1200" dirty="0"/>
          </a:p>
          <a:p>
            <a:pPr indent="0" marL="0">
              <a:buNone/>
            </a:pPr>
            <a:r>
              <a:rPr lang="en-US" sz="1200" dirty="0">
                <a:solidFill>
                  <a:srgbClr val="8B949E"/>
                </a:solidFill>
                <a:latin typeface="Consolas" pitchFamily="34" charset="0"/>
                <a:ea typeface="Consolas" pitchFamily="34" charset="-122"/>
                <a:cs typeface="Consolas" pitchFamily="34" charset="-120"/>
              </a:rPr>
              <a:t># "Bắt đầu phase discovery"</a:t>
            </a:r>
            <a:endParaRPr lang="en-US" sz="1200" dirty="0"/>
          </a:p>
          <a:p>
            <a:pPr indent="0" marL="0">
              <a:buNone/>
            </a:pPr>
            <a:endParaRPr lang="en-US" sz="1200" dirty="0"/>
          </a:p>
          <a:p>
            <a:pPr indent="0" marL="0">
              <a:buNone/>
            </a:pPr>
            <a:r>
              <a:rPr lang="en-US" sz="1200" dirty="0">
                <a:solidFill>
                  <a:srgbClr val="7CE38B"/>
                </a:solidFill>
                <a:latin typeface="Consolas" pitchFamily="34" charset="0"/>
                <a:ea typeface="Consolas" pitchFamily="34" charset="-122"/>
                <a:cs typeface="Consolas" pitchFamily="34" charset="-120"/>
              </a:rPr>
              <a:t>$ bash scripts/delegate_phase.sh \</a:t>
            </a:r>
            <a:endParaRPr lang="en-US" sz="1200" dirty="0"/>
          </a:p>
          <a:p>
            <a:pPr indent="0" marL="0">
              <a:buNone/>
            </a:pPr>
            <a:r>
              <a:rPr lang="en-US" sz="1200" dirty="0">
                <a:solidFill>
                  <a:srgbClr val="E6EDF3"/>
                </a:solidFill>
                <a:latin typeface="Consolas" pitchFamily="34" charset="0"/>
                <a:ea typeface="Consolas" pitchFamily="34" charset="-122"/>
                <a:cs typeface="Consolas" pitchFamily="34" charset="-120"/>
              </a:rPr>
              <a:t>      discovery</a:t>
            </a:r>
            <a:endParaRPr lang="en-US" sz="1200" dirty="0"/>
          </a:p>
          <a:p>
            <a:pPr indent="0" marL="0">
              <a:buNone/>
            </a:pPr>
            <a:endParaRPr lang="en-US" sz="1200" dirty="0"/>
          </a:p>
          <a:p>
            <a:pPr indent="0" marL="0">
              <a:buNone/>
            </a:pPr>
            <a:r>
              <a:rPr lang="en-US" sz="1200" dirty="0">
                <a:solidFill>
                  <a:srgbClr val="E6EDF3"/>
                </a:solidFill>
                <a:latin typeface="Consolas" pitchFamily="34" charset="0"/>
                <a:ea typeface="Consolas" pitchFamily="34" charset="-122"/>
                <a:cs typeface="Consolas" pitchFamily="34" charset="-120"/>
              </a:rPr>
              <a:t>[Orch] routes PM, BA, UX in parallel</a:t>
            </a:r>
            <a:endParaRPr lang="en-US" sz="1200" dirty="0"/>
          </a:p>
          <a:p>
            <a:pPr indent="0" marL="0">
              <a:buNone/>
            </a:pPr>
            <a:r>
              <a:rPr lang="en-US" sz="1200" dirty="0">
                <a:solidFill>
                  <a:srgbClr val="E6EDF3"/>
                </a:solidFill>
                <a:latin typeface="Consolas" pitchFamily="34" charset="0"/>
                <a:ea typeface="Consolas" pitchFamily="34" charset="-122"/>
                <a:cs typeface="Consolas" pitchFamily="34" charset="-120"/>
              </a:rPr>
              <a:t>[Orch] writes 3 task files</a:t>
            </a:r>
            <a:endParaRPr lang="en-US" sz="1200" dirty="0"/>
          </a:p>
          <a:p>
            <a:pPr indent="0" marL="0">
              <a:buNone/>
            </a:pPr>
            <a:r>
              <a:rPr lang="en-US" sz="1200" dirty="0">
                <a:solidFill>
                  <a:srgbClr val="E6EDF3"/>
                </a:solidFill>
                <a:latin typeface="Consolas" pitchFamily="34" charset="0"/>
                <a:ea typeface="Consolas" pitchFamily="34" charset="-122"/>
                <a:cs typeface="Consolas" pitchFamily="34" charset="-120"/>
              </a:rPr>
              <a:t>[Orch] tmux send-keys to panes 2,4,5</a:t>
            </a:r>
            <a:endParaRPr lang="en-US" sz="1200" dirty="0"/>
          </a:p>
          <a:p>
            <a:pPr indent="0" marL="0">
              <a:buNone/>
            </a:pPr>
            <a:endParaRPr lang="en-US" sz="1200" dirty="0"/>
          </a:p>
          <a:p>
            <a:pPr indent="0" marL="0">
              <a:buNone/>
            </a:pPr>
            <a:r>
              <a:rPr lang="en-US" sz="1200" dirty="0">
                <a:solidFill>
                  <a:srgbClr val="8B949E"/>
                </a:solidFill>
                <a:latin typeface="Consolas" pitchFamily="34" charset="0"/>
                <a:ea typeface="Consolas" pitchFamily="34" charset="-122"/>
                <a:cs typeface="Consolas" pitchFamily="34" charset="-120"/>
              </a:rPr>
              <a:t># Verify routing thật sự đã chạy:</a:t>
            </a:r>
            <a:endParaRPr lang="en-US" sz="1200" dirty="0"/>
          </a:p>
          <a:p>
            <a:pPr indent="0" marL="0">
              <a:buNone/>
            </a:pPr>
            <a:r>
              <a:rPr lang="en-US" sz="1200" dirty="0">
                <a:solidFill>
                  <a:srgbClr val="7CE38B"/>
                </a:solidFill>
                <a:latin typeface="Consolas" pitchFamily="34" charset="0"/>
                <a:ea typeface="Consolas" pitchFamily="34" charset="-122"/>
                <a:cs typeface="Consolas" pitchFamily="34" charset="-120"/>
              </a:rPr>
              <a:t>$ bash scripts/verify_routing.sh</a:t>
            </a:r>
            <a:endParaRPr lang="en-US" sz="1200" dirty="0"/>
          </a:p>
        </p:txBody>
      </p:sp>
      <p:sp>
        <p:nvSpPr>
          <p:cNvPr id="26" name="Text 24"/>
          <p:cNvSpPr/>
          <p:nvPr/>
        </p:nvSpPr>
        <p:spPr>
          <a:xfrm>
            <a:off x="365760" y="6035040"/>
            <a:ext cx="11430000" cy="320040"/>
          </a:xfrm>
          <a:prstGeom prst="rect">
            <a:avLst/>
          </a:prstGeom>
          <a:noFill/>
          <a:ln/>
        </p:spPr>
        <p:txBody>
          <a:bodyPr wrap="square" lIns="0" tIns="0" rIns="0" bIns="0" rtlCol="0" anchor="ctr"/>
          <a:lstStyle/>
          <a:p>
            <a:pPr indent="0" marL="0">
              <a:buNone/>
            </a:pPr>
            <a:r>
              <a:rPr lang="en-US" sz="1100" i="1" dirty="0">
                <a:solidFill>
                  <a:srgbClr val="D29922"/>
                </a:solidFill>
                <a:latin typeface="Calibri" pitchFamily="34" charset="0"/>
                <a:ea typeface="Calibri" pitchFamily="34" charset="-122"/>
                <a:cs typeface="Calibri" pitchFamily="34" charset="-120"/>
              </a:rPr>
              <a:t>→ route_to_pane.sh REFUSES target=ORCHESTRATOR (v10.0) để tránh self-kill TUI.</a:t>
            </a:r>
            <a:endParaRPr lang="en-US" sz="1100" dirty="0"/>
          </a:p>
        </p:txBody>
      </p:sp>
      <p:sp>
        <p:nvSpPr>
          <p:cNvPr id="27" name="Text 25"/>
          <p:cNvSpPr/>
          <p:nvPr/>
        </p:nvSpPr>
        <p:spPr>
          <a:xfrm>
            <a:off x="11338560" y="6492240"/>
            <a:ext cx="731520" cy="228600"/>
          </a:xfrm>
          <a:prstGeom prst="rect">
            <a:avLst/>
          </a:prstGeom>
          <a:noFill/>
          <a:ln/>
        </p:spPr>
        <p:txBody>
          <a:bodyPr wrap="square" lIns="0" tIns="0" rIns="0" bIns="0" rtlCol="0" anchor="ctr"/>
          <a:lstStyle/>
          <a:p>
            <a:pPr algn="r" indent="0" marL="0">
              <a:buNone/>
            </a:pPr>
            <a:r>
              <a:rPr lang="en-US" sz="900" dirty="0">
                <a:solidFill>
                  <a:srgbClr val="8B949E"/>
                </a:solidFill>
                <a:latin typeface="Consolas" pitchFamily="34" charset="0"/>
                <a:ea typeface="Consolas" pitchFamily="34" charset="-122"/>
                <a:cs typeface="Consolas" pitchFamily="34" charset="-120"/>
              </a:rPr>
              <a:t>11 / 32</a:t>
            </a:r>
            <a:endParaRPr lang="en-US" sz="900" dirty="0"/>
          </a:p>
        </p:txBody>
      </p:sp>
      <p:sp>
        <p:nvSpPr>
          <p:cNvPr id="28" name="Text 26"/>
          <p:cNvSpPr/>
          <p:nvPr/>
        </p:nvSpPr>
        <p:spPr>
          <a:xfrm>
            <a:off x="365760" y="6492240"/>
            <a:ext cx="1097280" cy="228600"/>
          </a:xfrm>
          <a:prstGeom prst="rect">
            <a:avLst/>
          </a:prstGeom>
          <a:noFill/>
          <a:ln/>
        </p:spPr>
        <p:txBody>
          <a:bodyPr wrap="square" lIns="0" tIns="0" rIns="0" bIns="0" rtlCol="0" anchor="ctr"/>
          <a:lstStyle/>
          <a:p>
            <a:pPr algn="l" indent="0" marL="0">
              <a:buNone/>
            </a:pPr>
            <a:r>
              <a:rPr lang="en-US" sz="900" dirty="0">
                <a:solidFill>
                  <a:srgbClr val="8B949E"/>
                </a:solidFill>
                <a:latin typeface="Consolas" pitchFamily="34" charset="0"/>
                <a:ea typeface="Consolas" pitchFamily="34" charset="-122"/>
                <a:cs typeface="Consolas" pitchFamily="34" charset="-120"/>
              </a:rPr>
              <a:t>v10.12</a:t>
            </a:r>
            <a:endParaRPr lang="en-US" sz="900" dirty="0"/>
          </a:p>
        </p:txBody>
      </p:sp>
      <p:sp>
        <p:nvSpPr>
          <p:cNvPr id="29" name="Text 27"/>
          <p:cNvSpPr/>
          <p:nvPr/>
        </p:nvSpPr>
        <p:spPr>
          <a:xfrm>
            <a:off x="4572000" y="6492240"/>
            <a:ext cx="6400800" cy="228600"/>
          </a:xfrm>
          <a:prstGeom prst="rect">
            <a:avLst/>
          </a:prstGeom>
          <a:noFill/>
          <a:ln/>
        </p:spPr>
        <p:txBody>
          <a:bodyPr wrap="square" lIns="0" tIns="0" rIns="0" bIns="0" rtlCol="0" anchor="ctr"/>
          <a:lstStyle/>
          <a:p>
            <a:pPr algn="ctr" indent="0" marL="0">
              <a:buNone/>
            </a:pPr>
            <a:r>
              <a:rPr lang="en-US" sz="900" dirty="0">
                <a:solidFill>
                  <a:srgbClr val="8B949E"/>
                </a:solidFill>
                <a:latin typeface="Consolas" pitchFamily="34" charset="0"/>
                <a:ea typeface="Consolas" pitchFamily="34" charset="-122"/>
                <a:cs typeface="Consolas" pitchFamily="34" charset="-120"/>
              </a:rPr>
              <a:t>Product Engineering Agent Framework</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365760" y="228600"/>
            <a:ext cx="8229600" cy="274320"/>
          </a:xfrm>
          <a:prstGeom prst="rect">
            <a:avLst/>
          </a:prstGeom>
          <a:noFill/>
          <a:ln/>
        </p:spPr>
        <p:txBody>
          <a:bodyPr wrap="square" lIns="0" tIns="0" rIns="0" bIns="0" rtlCol="0" anchor="ctr"/>
          <a:lstStyle/>
          <a:p>
            <a:pPr indent="0" marL="0">
              <a:buNone/>
            </a:pPr>
            <a:r>
              <a:rPr lang="en-US" sz="1100" dirty="0">
                <a:solidFill>
                  <a:srgbClr val="2EA043"/>
                </a:solidFill>
                <a:latin typeface="Consolas" pitchFamily="34" charset="0"/>
                <a:ea typeface="Consolas" pitchFamily="34" charset="-122"/>
                <a:cs typeface="Consolas" pitchFamily="34" charset="-120"/>
              </a:rPr>
              <a:t>$ </a:t>
            </a:r>
            <a:pPr indent="0" marL="0">
              <a:buNone/>
            </a:pPr>
            <a:r>
              <a:rPr lang="en-US" sz="1100" dirty="0">
                <a:solidFill>
                  <a:srgbClr val="8B949E"/>
                </a:solidFill>
                <a:latin typeface="Consolas" pitchFamily="34" charset="0"/>
                <a:ea typeface="Consolas" pitchFamily="34" charset="-122"/>
                <a:cs typeface="Consolas" pitchFamily="34" charset="-120"/>
              </a:rPr>
              <a:t>10_clarification.md</a:t>
            </a:r>
            <a:endParaRPr lang="en-US" sz="1100" dirty="0"/>
          </a:p>
        </p:txBody>
      </p:sp>
      <p:sp>
        <p:nvSpPr>
          <p:cNvPr id="3" name="Text 1"/>
          <p:cNvSpPr/>
          <p:nvPr/>
        </p:nvSpPr>
        <p:spPr>
          <a:xfrm>
            <a:off x="365760" y="548640"/>
            <a:ext cx="11430000" cy="640080"/>
          </a:xfrm>
          <a:prstGeom prst="rect">
            <a:avLst/>
          </a:prstGeom>
          <a:noFill/>
          <a:ln/>
        </p:spPr>
        <p:txBody>
          <a:bodyPr wrap="square" lIns="0" tIns="0" rIns="0" bIns="0" rtlCol="0" anchor="ctr"/>
          <a:lstStyle/>
          <a:p>
            <a:pPr indent="0" marL="0">
              <a:buNone/>
            </a:pPr>
            <a:r>
              <a:rPr lang="en-US" sz="3000" b="1" dirty="0">
                <a:solidFill>
                  <a:srgbClr val="E6EDF3"/>
                </a:solidFill>
                <a:latin typeface="Consolas" pitchFamily="34" charset="0"/>
                <a:ea typeface="Consolas" pitchFamily="34" charset="-122"/>
                <a:cs typeface="Consolas" pitchFamily="34" charset="-120"/>
              </a:rPr>
              <a:t>Vòng lặp clarification</a:t>
            </a:r>
            <a:endParaRPr lang="en-US" sz="3000" dirty="0"/>
          </a:p>
        </p:txBody>
      </p:sp>
      <p:sp>
        <p:nvSpPr>
          <p:cNvPr id="4" name="Text 2"/>
          <p:cNvSpPr/>
          <p:nvPr/>
        </p:nvSpPr>
        <p:spPr>
          <a:xfrm>
            <a:off x="365760" y="1143000"/>
            <a:ext cx="11430000" cy="365760"/>
          </a:xfrm>
          <a:prstGeom prst="rect">
            <a:avLst/>
          </a:prstGeom>
          <a:noFill/>
          <a:ln/>
        </p:spPr>
        <p:txBody>
          <a:bodyPr wrap="square" lIns="0" tIns="0" rIns="0" bIns="0" rtlCol="0" anchor="ctr"/>
          <a:lstStyle/>
          <a:p>
            <a:pPr indent="0" marL="0">
              <a:buNone/>
            </a:pPr>
            <a:r>
              <a:rPr lang="en-US" sz="1400" i="1" dirty="0">
                <a:solidFill>
                  <a:srgbClr val="8B949E"/>
                </a:solidFill>
                <a:latin typeface="Calibri" pitchFamily="34" charset="0"/>
                <a:ea typeface="Calibri" pitchFamily="34" charset="-122"/>
                <a:cs typeface="Calibri" pitchFamily="34" charset="-120"/>
              </a:rPr>
              <a:t>Worker không chat trực tiếp với user — hỏi qua Orchestrator</a:t>
            </a:r>
            <a:endParaRPr lang="en-US" sz="1400" dirty="0"/>
          </a:p>
        </p:txBody>
      </p:sp>
      <p:sp>
        <p:nvSpPr>
          <p:cNvPr id="5" name="Shape 3"/>
          <p:cNvSpPr/>
          <p:nvPr/>
        </p:nvSpPr>
        <p:spPr>
          <a:xfrm>
            <a:off x="365760" y="1783080"/>
            <a:ext cx="11430000" cy="4206240"/>
          </a:xfrm>
          <a:prstGeom prst="rect">
            <a:avLst/>
          </a:prstGeom>
          <a:solidFill>
            <a:srgbClr val="161B22"/>
          </a:solidFill>
          <a:ln w="12700">
            <a:solidFill>
              <a:srgbClr val="30363D"/>
            </a:solidFill>
            <a:prstDash val="solid"/>
          </a:ln>
        </p:spPr>
      </p:sp>
      <p:sp>
        <p:nvSpPr>
          <p:cNvPr id="6" name="Shape 4"/>
          <p:cNvSpPr/>
          <p:nvPr/>
        </p:nvSpPr>
        <p:spPr>
          <a:xfrm>
            <a:off x="457200" y="1874520"/>
            <a:ext cx="91440" cy="91440"/>
          </a:xfrm>
          <a:prstGeom prst="ellipse">
            <a:avLst/>
          </a:prstGeom>
          <a:solidFill>
            <a:srgbClr val="F85149"/>
          </a:solidFill>
          <a:ln w="12700">
            <a:solidFill>
              <a:srgbClr val="F85149"/>
            </a:solidFill>
            <a:prstDash val="solid"/>
          </a:ln>
        </p:spPr>
      </p:sp>
      <p:sp>
        <p:nvSpPr>
          <p:cNvPr id="7" name="Shape 5"/>
          <p:cNvSpPr/>
          <p:nvPr/>
        </p:nvSpPr>
        <p:spPr>
          <a:xfrm>
            <a:off x="585216" y="1874520"/>
            <a:ext cx="91440" cy="91440"/>
          </a:xfrm>
          <a:prstGeom prst="ellipse">
            <a:avLst/>
          </a:prstGeom>
          <a:solidFill>
            <a:srgbClr val="D29922"/>
          </a:solidFill>
          <a:ln w="12700">
            <a:solidFill>
              <a:srgbClr val="D29922"/>
            </a:solidFill>
            <a:prstDash val="solid"/>
          </a:ln>
        </p:spPr>
      </p:sp>
      <p:sp>
        <p:nvSpPr>
          <p:cNvPr id="8" name="Shape 6"/>
          <p:cNvSpPr/>
          <p:nvPr/>
        </p:nvSpPr>
        <p:spPr>
          <a:xfrm>
            <a:off x="713232" y="1874520"/>
            <a:ext cx="91440" cy="91440"/>
          </a:xfrm>
          <a:prstGeom prst="ellipse">
            <a:avLst/>
          </a:prstGeom>
          <a:solidFill>
            <a:srgbClr val="3FB950"/>
          </a:solidFill>
          <a:ln w="12700">
            <a:solidFill>
              <a:srgbClr val="3FB950"/>
            </a:solidFill>
            <a:prstDash val="solid"/>
          </a:ln>
        </p:spPr>
      </p:sp>
      <p:sp>
        <p:nvSpPr>
          <p:cNvPr id="9" name="Text 7"/>
          <p:cNvSpPr/>
          <p:nvPr/>
        </p:nvSpPr>
        <p:spPr>
          <a:xfrm>
            <a:off x="502920" y="2103120"/>
            <a:ext cx="11155680" cy="3840480"/>
          </a:xfrm>
          <a:prstGeom prst="rect">
            <a:avLst/>
          </a:prstGeom>
          <a:noFill/>
          <a:ln/>
        </p:spPr>
        <p:txBody>
          <a:bodyPr wrap="square" lIns="0" tIns="0" rIns="0" bIns="0" rtlCol="0" anchor="t"/>
          <a:lstStyle/>
          <a:p>
            <a:pPr indent="0" marL="0">
              <a:buNone/>
            </a:pPr>
            <a:r>
              <a:rPr lang="en-US" sz="1200" dirty="0">
                <a:solidFill>
                  <a:srgbClr val="E6EDF3"/>
                </a:solidFill>
                <a:latin typeface="Consolas" pitchFamily="34" charset="0"/>
                <a:ea typeface="Consolas" pitchFamily="34" charset="-122"/>
                <a:cs typeface="Consolas" pitchFamily="34" charset="-120"/>
              </a:rPr>
              <a:t>[SA pane]   gặp quyết định cần user (Postgres vs Mongo?)</a:t>
            </a:r>
            <a:endParaRPr lang="en-US" sz="1200" dirty="0"/>
          </a:p>
          <a:p>
            <a:pPr indent="0" marL="0">
              <a:buNone/>
            </a:pPr>
            <a:r>
              <a:rPr lang="en-US" sz="1200" dirty="0">
                <a:solidFill>
                  <a:srgbClr val="E6EDF3"/>
                </a:solidFill>
                <a:latin typeface="Consolas" pitchFamily="34" charset="0"/>
                <a:ea typeface="Consolas" pitchFamily="34" charset="-122"/>
                <a:cs typeface="Consolas" pitchFamily="34" charset="-120"/>
              </a:rPr>
              <a:t>            $ bash scripts/ask_orchestrator.sh SA "&lt;question&gt;"</a:t>
            </a:r>
            <a:endParaRPr lang="en-US" sz="1200" dirty="0"/>
          </a:p>
          <a:p>
            <a:pPr indent="0" marL="0">
              <a:buNone/>
            </a:pPr>
            <a:r>
              <a:rPr lang="en-US" sz="1200" dirty="0">
                <a:solidFill>
                  <a:srgbClr val="E6EDF3"/>
                </a:solidFill>
                <a:latin typeface="Consolas" pitchFamily="34" charset="0"/>
                <a:ea typeface="Consolas" pitchFamily="34" charset="-122"/>
                <a:cs typeface="Consolas" pitchFamily="34" charset="-120"/>
              </a:rPr>
              <a:t>                  ↓ writes .pane_questions/SA_&lt;ts&gt;.md</a:t>
            </a:r>
            <a:endParaRPr lang="en-US" sz="1200" dirty="0"/>
          </a:p>
          <a:p>
            <a:pPr indent="0" marL="0">
              <a:buNone/>
            </a:pPr>
            <a:r>
              <a:rPr lang="en-US" sz="1200" dirty="0">
                <a:solidFill>
                  <a:srgbClr val="E6EDF3"/>
                </a:solidFill>
                <a:latin typeface="Consolas" pitchFamily="34" charset="0"/>
                <a:ea typeface="Consolas" pitchFamily="34" charset="-122"/>
                <a:cs typeface="Consolas" pitchFamily="34" charset="-120"/>
              </a:rPr>
              <a:t>                  ↓ tmux send-keys [INBOX] vào pane 1 + Enter (v10.4)</a:t>
            </a:r>
            <a:endParaRPr lang="en-US" sz="1200" dirty="0"/>
          </a:p>
          <a:p>
            <a:pPr indent="0" marL="0">
              <a:buNone/>
            </a:pPr>
            <a:r>
              <a:rPr lang="en-US" sz="1200" dirty="0">
                <a:solidFill>
                  <a:srgbClr val="E6EDF3"/>
                </a:solidFill>
                <a:latin typeface="Consolas" pitchFamily="34" charset="0"/>
                <a:ea typeface="Consolas" pitchFamily="34" charset="-122"/>
                <a:cs typeface="Consolas" pitchFamily="34" charset="-120"/>
              </a:rPr>
              <a:t>[Orch]      auto-wake → list_pending_questions.sh → present cho USER</a:t>
            </a:r>
            <a:endParaRPr lang="en-US" sz="1200" dirty="0"/>
          </a:p>
          <a:p>
            <a:pPr indent="0" marL="0">
              <a:buNone/>
            </a:pPr>
            <a:r>
              <a:rPr lang="en-US" sz="1200" dirty="0">
                <a:solidFill>
                  <a:srgbClr val="E6EDF3"/>
                </a:solidFill>
                <a:latin typeface="Consolas" pitchFamily="34" charset="0"/>
                <a:ea typeface="Consolas" pitchFamily="34" charset="-122"/>
                <a:cs typeface="Consolas" pitchFamily="34" charset="-120"/>
              </a:rPr>
              <a:t>[USER]      "Postgres on Supabase free tier"</a:t>
            </a:r>
            <a:endParaRPr lang="en-US" sz="1200" dirty="0"/>
          </a:p>
          <a:p>
            <a:pPr indent="0" marL="0">
              <a:buNone/>
            </a:pPr>
            <a:r>
              <a:rPr lang="en-US" sz="1200" dirty="0">
                <a:solidFill>
                  <a:srgbClr val="E6EDF3"/>
                </a:solidFill>
                <a:latin typeface="Consolas" pitchFamily="34" charset="0"/>
                <a:ea typeface="Consolas" pitchFamily="34" charset="-122"/>
                <a:cs typeface="Consolas" pitchFamily="34" charset="-120"/>
              </a:rPr>
              <a:t>[Orch]      $ bash scripts/answer_role.sh SA &lt;qid&gt; "&lt;answer&gt;"</a:t>
            </a:r>
            <a:endParaRPr lang="en-US" sz="1200" dirty="0"/>
          </a:p>
          <a:p>
            <a:pPr indent="0" marL="0">
              <a:buNone/>
            </a:pPr>
            <a:r>
              <a:rPr lang="en-US" sz="1200" dirty="0">
                <a:solidFill>
                  <a:srgbClr val="E6EDF3"/>
                </a:solidFill>
                <a:latin typeface="Consolas" pitchFamily="34" charset="0"/>
                <a:ea typeface="Consolas" pitchFamily="34" charset="-122"/>
                <a:cs typeface="Consolas" pitchFamily="34" charset="-120"/>
              </a:rPr>
              <a:t>                  ↓ writes .pane_answers/SA_&lt;qid&gt;.md</a:t>
            </a:r>
            <a:endParaRPr lang="en-US" sz="1200" dirty="0"/>
          </a:p>
          <a:p>
            <a:pPr indent="0" marL="0">
              <a:buNone/>
            </a:pPr>
            <a:r>
              <a:rPr lang="en-US" sz="1200" dirty="0">
                <a:solidFill>
                  <a:srgbClr val="E6EDF3"/>
                </a:solidFill>
                <a:latin typeface="Consolas" pitchFamily="34" charset="0"/>
                <a:ea typeface="Consolas" pitchFamily="34" charset="-122"/>
                <a:cs typeface="Consolas" pitchFamily="34" charset="-120"/>
              </a:rPr>
              <a:t>                  ↓ auto-routes SA với answer attached</a:t>
            </a:r>
            <a:endParaRPr lang="en-US" sz="1200" dirty="0"/>
          </a:p>
          <a:p>
            <a:pPr indent="0" marL="0">
              <a:buNone/>
            </a:pPr>
            <a:r>
              <a:rPr lang="en-US" sz="1200" dirty="0">
                <a:solidFill>
                  <a:srgbClr val="E6EDF3"/>
                </a:solidFill>
                <a:latin typeface="Consolas" pitchFamily="34" charset="0"/>
                <a:ea typeface="Consolas" pitchFamily="34" charset="-122"/>
                <a:cs typeface="Consolas" pitchFamily="34" charset="-120"/>
              </a:rPr>
              <a:t>[SA pane]   resume — đọc answer, tiếp tục task, ghi memory/SA.md</a:t>
            </a:r>
            <a:endParaRPr lang="en-US" sz="1200" dirty="0"/>
          </a:p>
        </p:txBody>
      </p:sp>
      <p:sp>
        <p:nvSpPr>
          <p:cNvPr id="10" name="Shape 8"/>
          <p:cNvSpPr/>
          <p:nvPr/>
        </p:nvSpPr>
        <p:spPr>
          <a:xfrm>
            <a:off x="365760" y="6080760"/>
            <a:ext cx="54864" cy="292608"/>
          </a:xfrm>
          <a:prstGeom prst="rect">
            <a:avLst/>
          </a:prstGeom>
          <a:solidFill>
            <a:srgbClr val="7CE38B"/>
          </a:solidFill>
          <a:ln w="12700">
            <a:solidFill>
              <a:srgbClr val="7CE38B"/>
            </a:solidFill>
            <a:prstDash val="solid"/>
          </a:ln>
        </p:spPr>
      </p:sp>
      <p:sp>
        <p:nvSpPr>
          <p:cNvPr id="11" name="Text 9"/>
          <p:cNvSpPr/>
          <p:nvPr/>
        </p:nvSpPr>
        <p:spPr>
          <a:xfrm>
            <a:off x="502920" y="6080760"/>
            <a:ext cx="11292840" cy="292608"/>
          </a:xfrm>
          <a:prstGeom prst="rect">
            <a:avLst/>
          </a:prstGeom>
          <a:noFill/>
          <a:ln/>
        </p:spPr>
        <p:txBody>
          <a:bodyPr wrap="square" lIns="0" tIns="0" rIns="0" bIns="0" rtlCol="0" anchor="ctr"/>
          <a:lstStyle/>
          <a:p>
            <a:pPr indent="0" marL="0">
              <a:buNone/>
            </a:pPr>
            <a:r>
              <a:rPr lang="en-US" sz="1400" b="1" dirty="0">
                <a:solidFill>
                  <a:srgbClr val="E6EDF3"/>
                </a:solidFill>
                <a:latin typeface="Consolas" pitchFamily="34" charset="0"/>
                <a:ea typeface="Consolas" pitchFamily="34" charset="-122"/>
                <a:cs typeface="Consolas" pitchFamily="34" charset="-120"/>
              </a:rPr>
              <a:t>Stop-and-ask threshold (universal — v10.7 + v10.10)</a:t>
            </a:r>
            <a:endParaRPr lang="en-US" sz="1400" dirty="0"/>
          </a:p>
        </p:txBody>
      </p:sp>
      <p:sp>
        <p:nvSpPr>
          <p:cNvPr id="12" name="Text 10"/>
          <p:cNvSpPr/>
          <p:nvPr/>
        </p:nvSpPr>
        <p:spPr>
          <a:xfrm>
            <a:off x="11338560" y="6492240"/>
            <a:ext cx="731520" cy="228600"/>
          </a:xfrm>
          <a:prstGeom prst="rect">
            <a:avLst/>
          </a:prstGeom>
          <a:noFill/>
          <a:ln/>
        </p:spPr>
        <p:txBody>
          <a:bodyPr wrap="square" lIns="0" tIns="0" rIns="0" bIns="0" rtlCol="0" anchor="ctr"/>
          <a:lstStyle/>
          <a:p>
            <a:pPr algn="r" indent="0" marL="0">
              <a:buNone/>
            </a:pPr>
            <a:r>
              <a:rPr lang="en-US" sz="900" dirty="0">
                <a:solidFill>
                  <a:srgbClr val="8B949E"/>
                </a:solidFill>
                <a:latin typeface="Consolas" pitchFamily="34" charset="0"/>
                <a:ea typeface="Consolas" pitchFamily="34" charset="-122"/>
                <a:cs typeface="Consolas" pitchFamily="34" charset="-120"/>
              </a:rPr>
              <a:t>12 / 32</a:t>
            </a:r>
            <a:endParaRPr lang="en-US" sz="900" dirty="0"/>
          </a:p>
        </p:txBody>
      </p:sp>
      <p:sp>
        <p:nvSpPr>
          <p:cNvPr id="13" name="Text 11"/>
          <p:cNvSpPr/>
          <p:nvPr/>
        </p:nvSpPr>
        <p:spPr>
          <a:xfrm>
            <a:off x="365760" y="6492240"/>
            <a:ext cx="1097280" cy="228600"/>
          </a:xfrm>
          <a:prstGeom prst="rect">
            <a:avLst/>
          </a:prstGeom>
          <a:noFill/>
          <a:ln/>
        </p:spPr>
        <p:txBody>
          <a:bodyPr wrap="square" lIns="0" tIns="0" rIns="0" bIns="0" rtlCol="0" anchor="ctr"/>
          <a:lstStyle/>
          <a:p>
            <a:pPr algn="l" indent="0" marL="0">
              <a:buNone/>
            </a:pPr>
            <a:r>
              <a:rPr lang="en-US" sz="900" dirty="0">
                <a:solidFill>
                  <a:srgbClr val="8B949E"/>
                </a:solidFill>
                <a:latin typeface="Consolas" pitchFamily="34" charset="0"/>
                <a:ea typeface="Consolas" pitchFamily="34" charset="-122"/>
                <a:cs typeface="Consolas" pitchFamily="34" charset="-120"/>
              </a:rPr>
              <a:t>v10.12</a:t>
            </a:r>
            <a:endParaRPr lang="en-US" sz="900" dirty="0"/>
          </a:p>
        </p:txBody>
      </p:sp>
      <p:sp>
        <p:nvSpPr>
          <p:cNvPr id="14" name="Text 12"/>
          <p:cNvSpPr/>
          <p:nvPr/>
        </p:nvSpPr>
        <p:spPr>
          <a:xfrm>
            <a:off x="4572000" y="6492240"/>
            <a:ext cx="6400800" cy="228600"/>
          </a:xfrm>
          <a:prstGeom prst="rect">
            <a:avLst/>
          </a:prstGeom>
          <a:noFill/>
          <a:ln/>
        </p:spPr>
        <p:txBody>
          <a:bodyPr wrap="square" lIns="0" tIns="0" rIns="0" bIns="0" rtlCol="0" anchor="ctr"/>
          <a:lstStyle/>
          <a:p>
            <a:pPr algn="ctr" indent="0" marL="0">
              <a:buNone/>
            </a:pPr>
            <a:r>
              <a:rPr lang="en-US" sz="900" dirty="0">
                <a:solidFill>
                  <a:srgbClr val="8B949E"/>
                </a:solidFill>
                <a:latin typeface="Consolas" pitchFamily="34" charset="0"/>
                <a:ea typeface="Consolas" pitchFamily="34" charset="-122"/>
                <a:cs typeface="Consolas" pitchFamily="34" charset="-120"/>
              </a:rPr>
              <a:t>Product Engineering Agent Framework</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365760" y="228600"/>
            <a:ext cx="8229600" cy="274320"/>
          </a:xfrm>
          <a:prstGeom prst="rect">
            <a:avLst/>
          </a:prstGeom>
          <a:noFill/>
          <a:ln/>
        </p:spPr>
        <p:txBody>
          <a:bodyPr wrap="square" lIns="0" tIns="0" rIns="0" bIns="0" rtlCol="0" anchor="ctr"/>
          <a:lstStyle/>
          <a:p>
            <a:pPr indent="0" marL="0">
              <a:buNone/>
            </a:pPr>
            <a:r>
              <a:rPr lang="en-US" sz="1100" dirty="0">
                <a:solidFill>
                  <a:srgbClr val="2EA043"/>
                </a:solidFill>
                <a:latin typeface="Consolas" pitchFamily="34" charset="0"/>
                <a:ea typeface="Consolas" pitchFamily="34" charset="-122"/>
                <a:cs typeface="Consolas" pitchFamily="34" charset="-120"/>
              </a:rPr>
              <a:t>$ </a:t>
            </a:r>
            <a:pPr indent="0" marL="0">
              <a:buNone/>
            </a:pPr>
            <a:r>
              <a:rPr lang="en-US" sz="1100" dirty="0">
                <a:solidFill>
                  <a:srgbClr val="8B949E"/>
                </a:solidFill>
                <a:latin typeface="Consolas" pitchFamily="34" charset="0"/>
                <a:ea typeface="Consolas" pitchFamily="34" charset="-122"/>
                <a:cs typeface="Consolas" pitchFamily="34" charset="-120"/>
              </a:rPr>
              <a:t>11_notification.md</a:t>
            </a:r>
            <a:endParaRPr lang="en-US" sz="1100" dirty="0"/>
          </a:p>
        </p:txBody>
      </p:sp>
      <p:sp>
        <p:nvSpPr>
          <p:cNvPr id="3" name="Text 1"/>
          <p:cNvSpPr/>
          <p:nvPr/>
        </p:nvSpPr>
        <p:spPr>
          <a:xfrm>
            <a:off x="365760" y="548640"/>
            <a:ext cx="11430000" cy="640080"/>
          </a:xfrm>
          <a:prstGeom prst="rect">
            <a:avLst/>
          </a:prstGeom>
          <a:noFill/>
          <a:ln/>
        </p:spPr>
        <p:txBody>
          <a:bodyPr wrap="square" lIns="0" tIns="0" rIns="0" bIns="0" rtlCol="0" anchor="ctr"/>
          <a:lstStyle/>
          <a:p>
            <a:pPr indent="0" marL="0">
              <a:buNone/>
            </a:pPr>
            <a:r>
              <a:rPr lang="en-US" sz="3000" b="1" dirty="0">
                <a:solidFill>
                  <a:srgbClr val="E6EDF3"/>
                </a:solidFill>
                <a:latin typeface="Consolas" pitchFamily="34" charset="0"/>
                <a:ea typeface="Consolas" pitchFamily="34" charset="-122"/>
                <a:cs typeface="Consolas" pitchFamily="34" charset="-120"/>
              </a:rPr>
              <a:t>Vòng lặp notification</a:t>
            </a:r>
            <a:endParaRPr lang="en-US" sz="3000" dirty="0"/>
          </a:p>
        </p:txBody>
      </p:sp>
      <p:sp>
        <p:nvSpPr>
          <p:cNvPr id="4" name="Text 2"/>
          <p:cNvSpPr/>
          <p:nvPr/>
        </p:nvSpPr>
        <p:spPr>
          <a:xfrm>
            <a:off x="365760" y="1143000"/>
            <a:ext cx="11430000" cy="365760"/>
          </a:xfrm>
          <a:prstGeom prst="rect">
            <a:avLst/>
          </a:prstGeom>
          <a:noFill/>
          <a:ln/>
        </p:spPr>
        <p:txBody>
          <a:bodyPr wrap="square" lIns="0" tIns="0" rIns="0" bIns="0" rtlCol="0" anchor="ctr"/>
          <a:lstStyle/>
          <a:p>
            <a:pPr indent="0" marL="0">
              <a:buNone/>
            </a:pPr>
            <a:r>
              <a:rPr lang="en-US" sz="1400" i="1" dirty="0">
                <a:solidFill>
                  <a:srgbClr val="8B949E"/>
                </a:solidFill>
                <a:latin typeface="Calibri" pitchFamily="34" charset="0"/>
                <a:ea typeface="Calibri" pitchFamily="34" charset="-122"/>
                <a:cs typeface="Calibri" pitchFamily="34" charset="-120"/>
              </a:rPr>
              <a:t>Worker báo sự kiện ngược lại Orchestrator (không cần trả lời)</a:t>
            </a:r>
            <a:endParaRPr lang="en-US" sz="1400" dirty="0"/>
          </a:p>
        </p:txBody>
      </p:sp>
      <p:sp>
        <p:nvSpPr>
          <p:cNvPr id="5" name="Text 3"/>
          <p:cNvSpPr/>
          <p:nvPr/>
        </p:nvSpPr>
        <p:spPr>
          <a:xfrm>
            <a:off x="365760" y="1783080"/>
            <a:ext cx="11430000" cy="411480"/>
          </a:xfrm>
          <a:prstGeom prst="rect">
            <a:avLst/>
          </a:prstGeom>
          <a:noFill/>
          <a:ln/>
        </p:spPr>
        <p:txBody>
          <a:bodyPr wrap="square" lIns="0" tIns="0" rIns="0" bIns="0" rtlCol="0" anchor="ctr"/>
          <a:lstStyle/>
          <a:p>
            <a:pPr indent="0" marL="0">
              <a:buNone/>
            </a:pPr>
            <a:r>
              <a:rPr lang="en-US" sz="1300" dirty="0">
                <a:solidFill>
                  <a:srgbClr val="8B949E"/>
                </a:solidFill>
                <a:latin typeface="Calibri" pitchFamily="34" charset="0"/>
                <a:ea typeface="Calibri" pitchFamily="34" charset="-122"/>
                <a:cs typeface="Calibri" pitchFamily="34" charset="-120"/>
              </a:rPr>
              <a:t>Khác với ask_orchestrator.sh (cần trả lời), notify_orchestrator.sh là one-way event:</a:t>
            </a:r>
            <a:endParaRPr lang="en-US" sz="1300" dirty="0"/>
          </a:p>
        </p:txBody>
      </p:sp>
      <p:sp>
        <p:nvSpPr>
          <p:cNvPr id="6" name="Shape 4"/>
          <p:cNvSpPr/>
          <p:nvPr/>
        </p:nvSpPr>
        <p:spPr>
          <a:xfrm>
            <a:off x="365760" y="2377440"/>
            <a:ext cx="5669280" cy="3474720"/>
          </a:xfrm>
          <a:prstGeom prst="rect">
            <a:avLst/>
          </a:prstGeom>
          <a:solidFill>
            <a:srgbClr val="161B22"/>
          </a:solidFill>
          <a:ln w="12700">
            <a:solidFill>
              <a:srgbClr val="30363D"/>
            </a:solidFill>
            <a:prstDash val="solid"/>
          </a:ln>
        </p:spPr>
      </p:sp>
      <p:sp>
        <p:nvSpPr>
          <p:cNvPr id="7" name="Shape 5"/>
          <p:cNvSpPr/>
          <p:nvPr/>
        </p:nvSpPr>
        <p:spPr>
          <a:xfrm>
            <a:off x="365760" y="2377440"/>
            <a:ext cx="73152" cy="3474720"/>
          </a:xfrm>
          <a:prstGeom prst="rect">
            <a:avLst/>
          </a:prstGeom>
          <a:solidFill>
            <a:srgbClr val="7CE38B"/>
          </a:solidFill>
          <a:ln w="12700">
            <a:solidFill>
              <a:srgbClr val="7CE38B"/>
            </a:solidFill>
            <a:prstDash val="solid"/>
          </a:ln>
        </p:spPr>
      </p:sp>
      <p:sp>
        <p:nvSpPr>
          <p:cNvPr id="8" name="Text 6"/>
          <p:cNvSpPr/>
          <p:nvPr/>
        </p:nvSpPr>
        <p:spPr>
          <a:xfrm>
            <a:off x="548640" y="2468880"/>
            <a:ext cx="5303520" cy="411480"/>
          </a:xfrm>
          <a:prstGeom prst="rect">
            <a:avLst/>
          </a:prstGeom>
          <a:noFill/>
          <a:ln/>
        </p:spPr>
        <p:txBody>
          <a:bodyPr wrap="square" lIns="0" tIns="0" rIns="0" bIns="0" rtlCol="0" anchor="ctr"/>
          <a:lstStyle/>
          <a:p>
            <a:pPr indent="0" marL="0">
              <a:buNone/>
            </a:pPr>
            <a:r>
              <a:rPr lang="en-US" sz="1400" b="1" dirty="0">
                <a:solidFill>
                  <a:srgbClr val="7CE38B"/>
                </a:solidFill>
                <a:latin typeface="Consolas" pitchFamily="34" charset="0"/>
                <a:ea typeface="Consolas" pitchFamily="34" charset="-122"/>
                <a:cs typeface="Consolas" pitchFamily="34" charset="-120"/>
              </a:rPr>
              <a:t>✓ Tests PASS — auto-route DELIVERY</a:t>
            </a:r>
            <a:endParaRPr lang="en-US" sz="1400" dirty="0"/>
          </a:p>
        </p:txBody>
      </p:sp>
      <p:sp>
        <p:nvSpPr>
          <p:cNvPr id="9" name="Text 7"/>
          <p:cNvSpPr/>
          <p:nvPr/>
        </p:nvSpPr>
        <p:spPr>
          <a:xfrm>
            <a:off x="640080" y="2926080"/>
            <a:ext cx="5120640" cy="2743200"/>
          </a:xfrm>
          <a:prstGeom prst="rect">
            <a:avLst/>
          </a:prstGeom>
          <a:noFill/>
          <a:ln/>
        </p:spPr>
        <p:txBody>
          <a:bodyPr wrap="square" lIns="0" tIns="0" rIns="0" bIns="0" rtlCol="0" anchor="t"/>
          <a:lstStyle/>
          <a:p>
            <a:pPr indent="0" marL="0">
              <a:buNone/>
            </a:pPr>
            <a:r>
              <a:rPr lang="en-US" sz="1200" dirty="0">
                <a:solidFill>
                  <a:srgbClr val="8B949E"/>
                </a:solidFill>
                <a:latin typeface="Calibri" pitchFamily="34" charset="0"/>
                <a:ea typeface="Calibri" pitchFamily="34" charset="-122"/>
                <a:cs typeface="Calibri" pitchFamily="34" charset="-120"/>
              </a:rPr>
              <a:t>QA chạy test xong, VERDICT: PASS:</a:t>
            </a:r>
            <a:endParaRPr lang="en-US" sz="1200" dirty="0"/>
          </a:p>
          <a:p>
            <a:pPr indent="0" marL="0">
              <a:buNone/>
            </a:pPr>
            <a:endParaRPr lang="en-US" sz="1200" dirty="0"/>
          </a:p>
          <a:p>
            <a:pPr indent="0" marL="0">
              <a:buNone/>
            </a:pPr>
            <a:r>
              <a:rPr lang="en-US" sz="1200" dirty="0">
                <a:solidFill>
                  <a:srgbClr val="7CE38B"/>
                </a:solidFill>
                <a:latin typeface="Consolas" pitchFamily="34" charset="0"/>
                <a:ea typeface="Consolas" pitchFamily="34" charset="-122"/>
                <a:cs typeface="Consolas" pitchFamily="34" charset="-120"/>
              </a:rPr>
              <a:t>$ notify_orchestrator.sh QA \</a:t>
            </a:r>
            <a:endParaRPr lang="en-US" sz="1200" dirty="0"/>
          </a:p>
          <a:p>
            <a:pPr indent="0" marL="0">
              <a:buNone/>
            </a:pPr>
            <a:r>
              <a:rPr lang="en-US" sz="1200" dirty="0">
                <a:solidFill>
                  <a:srgbClr val="7CE38B"/>
                </a:solidFill>
                <a:latin typeface="Consolas" pitchFamily="34" charset="0"/>
                <a:ea typeface="Consolas" pitchFamily="34" charset="-122"/>
                <a:cs typeface="Consolas" pitchFamily="34" charset="-120"/>
              </a:rPr>
              <a:t>    "Tests PASS — routing DELIVERY"</a:t>
            </a:r>
            <a:endParaRPr lang="en-US" sz="1200" dirty="0"/>
          </a:p>
          <a:p>
            <a:pPr indent="0" marL="0">
              <a:buNone/>
            </a:pPr>
            <a:r>
              <a:rPr lang="en-US" sz="1200" dirty="0">
                <a:solidFill>
                  <a:srgbClr val="7CE38B"/>
                </a:solidFill>
                <a:latin typeface="Consolas" pitchFamily="34" charset="0"/>
                <a:ea typeface="Consolas" pitchFamily="34" charset="-122"/>
                <a:cs typeface="Consolas" pitchFamily="34" charset="-120"/>
              </a:rPr>
              <a:t>$ route_to_pane.sh DELIVERY "..."</a:t>
            </a:r>
            <a:endParaRPr lang="en-US" sz="1200" dirty="0"/>
          </a:p>
          <a:p>
            <a:pPr indent="0" marL="0">
              <a:buNone/>
            </a:pPr>
            <a:endParaRPr lang="en-US" sz="1200" dirty="0"/>
          </a:p>
          <a:p>
            <a:pPr indent="0" marL="0">
              <a:buNone/>
            </a:pPr>
            <a:r>
              <a:rPr lang="en-US" sz="1200" dirty="0">
                <a:solidFill>
                  <a:srgbClr val="E6EDF3"/>
                </a:solidFill>
                <a:latin typeface="Calibri" pitchFamily="34" charset="0"/>
                <a:ea typeface="Calibri" pitchFamily="34" charset="-122"/>
                <a:cs typeface="Calibri" pitchFamily="34" charset="-120"/>
              </a:rPr>
              <a:t>Orch auto-wake, kể user, watch deploy</a:t>
            </a:r>
            <a:endParaRPr lang="en-US" sz="1200" dirty="0"/>
          </a:p>
        </p:txBody>
      </p:sp>
      <p:sp>
        <p:nvSpPr>
          <p:cNvPr id="10" name="Shape 8"/>
          <p:cNvSpPr/>
          <p:nvPr/>
        </p:nvSpPr>
        <p:spPr>
          <a:xfrm>
            <a:off x="6309360" y="2377440"/>
            <a:ext cx="5486400" cy="3474720"/>
          </a:xfrm>
          <a:prstGeom prst="rect">
            <a:avLst/>
          </a:prstGeom>
          <a:solidFill>
            <a:srgbClr val="161B22"/>
          </a:solidFill>
          <a:ln w="12700">
            <a:solidFill>
              <a:srgbClr val="30363D"/>
            </a:solidFill>
            <a:prstDash val="solid"/>
          </a:ln>
        </p:spPr>
      </p:sp>
      <p:sp>
        <p:nvSpPr>
          <p:cNvPr id="11" name="Shape 9"/>
          <p:cNvSpPr/>
          <p:nvPr/>
        </p:nvSpPr>
        <p:spPr>
          <a:xfrm>
            <a:off x="6309360" y="2377440"/>
            <a:ext cx="73152" cy="3474720"/>
          </a:xfrm>
          <a:prstGeom prst="rect">
            <a:avLst/>
          </a:prstGeom>
          <a:solidFill>
            <a:srgbClr val="79C0FF"/>
          </a:solidFill>
          <a:ln w="12700">
            <a:solidFill>
              <a:srgbClr val="79C0FF"/>
            </a:solidFill>
            <a:prstDash val="solid"/>
          </a:ln>
        </p:spPr>
      </p:sp>
      <p:sp>
        <p:nvSpPr>
          <p:cNvPr id="12" name="Text 10"/>
          <p:cNvSpPr/>
          <p:nvPr/>
        </p:nvSpPr>
        <p:spPr>
          <a:xfrm>
            <a:off x="6492240" y="2468880"/>
            <a:ext cx="5120640" cy="411480"/>
          </a:xfrm>
          <a:prstGeom prst="rect">
            <a:avLst/>
          </a:prstGeom>
          <a:noFill/>
          <a:ln/>
        </p:spPr>
        <p:txBody>
          <a:bodyPr wrap="square" lIns="0" tIns="0" rIns="0" bIns="0" rtlCol="0" anchor="ctr"/>
          <a:lstStyle/>
          <a:p>
            <a:pPr indent="0" marL="0">
              <a:buNone/>
            </a:pPr>
            <a:r>
              <a:rPr lang="en-US" sz="1400" b="1" dirty="0">
                <a:solidFill>
                  <a:srgbClr val="79C0FF"/>
                </a:solidFill>
                <a:latin typeface="Consolas" pitchFamily="34" charset="0"/>
                <a:ea typeface="Consolas" pitchFamily="34" charset="-122"/>
                <a:cs typeface="Consolas" pitchFamily="34" charset="-120"/>
              </a:rPr>
              <a:t>🚀 App is live — URL ready</a:t>
            </a:r>
            <a:endParaRPr lang="en-US" sz="1400" dirty="0"/>
          </a:p>
        </p:txBody>
      </p:sp>
      <p:sp>
        <p:nvSpPr>
          <p:cNvPr id="13" name="Text 11"/>
          <p:cNvSpPr/>
          <p:nvPr/>
        </p:nvSpPr>
        <p:spPr>
          <a:xfrm>
            <a:off x="6400800" y="2926080"/>
            <a:ext cx="5212080" cy="2743200"/>
          </a:xfrm>
          <a:prstGeom prst="rect">
            <a:avLst/>
          </a:prstGeom>
          <a:noFill/>
          <a:ln/>
        </p:spPr>
        <p:txBody>
          <a:bodyPr wrap="square" lIns="0" tIns="0" rIns="0" bIns="0" rtlCol="0" anchor="t"/>
          <a:lstStyle/>
          <a:p>
            <a:pPr indent="0" marL="0">
              <a:buNone/>
            </a:pPr>
            <a:r>
              <a:rPr lang="en-US" sz="1200" dirty="0">
                <a:solidFill>
                  <a:srgbClr val="8B949E"/>
                </a:solidFill>
                <a:latin typeface="Calibri" pitchFamily="34" charset="0"/>
                <a:ea typeface="Calibri" pitchFamily="34" charset="-122"/>
                <a:cs typeface="Calibri" pitchFamily="34" charset="-120"/>
              </a:rPr>
              <a:t>DELIVERY xong docker compose up:</a:t>
            </a:r>
            <a:endParaRPr lang="en-US" sz="1200" dirty="0"/>
          </a:p>
          <a:p>
            <a:pPr indent="0" marL="0">
              <a:buNone/>
            </a:pPr>
            <a:endParaRPr lang="en-US" sz="1200" dirty="0"/>
          </a:p>
          <a:p>
            <a:pPr indent="0" marL="0">
              <a:buNone/>
            </a:pPr>
            <a:r>
              <a:rPr lang="en-US" sz="1200" dirty="0">
                <a:solidFill>
                  <a:srgbClr val="79C0FF"/>
                </a:solidFill>
                <a:latin typeface="Consolas" pitchFamily="34" charset="0"/>
                <a:ea typeface="Consolas" pitchFamily="34" charset="-122"/>
                <a:cs typeface="Consolas" pitchFamily="34" charset="-120"/>
              </a:rPr>
              <a:t>$ notify_orchestrator.sh DELIVERY \</a:t>
            </a:r>
            <a:endParaRPr lang="en-US" sz="1200" dirty="0"/>
          </a:p>
          <a:p>
            <a:pPr indent="0" marL="0">
              <a:buNone/>
            </a:pPr>
            <a:r>
              <a:rPr lang="en-US" sz="1200" dirty="0">
                <a:solidFill>
                  <a:srgbClr val="79C0FF"/>
                </a:solidFill>
                <a:latin typeface="Consolas" pitchFamily="34" charset="0"/>
                <a:ea typeface="Consolas" pitchFamily="34" charset="-122"/>
                <a:cs typeface="Consolas" pitchFamily="34" charset="-120"/>
              </a:rPr>
              <a:t>    "App live — http://localhost:3000"</a:t>
            </a:r>
            <a:endParaRPr lang="en-US" sz="1200" dirty="0"/>
          </a:p>
          <a:p>
            <a:pPr indent="0" marL="0">
              <a:buNone/>
            </a:pPr>
            <a:endParaRPr lang="en-US" sz="1200" dirty="0"/>
          </a:p>
          <a:p>
            <a:pPr indent="0" marL="0">
              <a:buNone/>
            </a:pPr>
            <a:r>
              <a:rPr lang="en-US" sz="1200" dirty="0">
                <a:solidFill>
                  <a:srgbClr val="8B949E"/>
                </a:solidFill>
                <a:latin typeface="Calibri" pitchFamily="34" charset="0"/>
                <a:ea typeface="Calibri" pitchFamily="34" charset="-122"/>
                <a:cs typeface="Calibri" pitchFamily="34" charset="-120"/>
              </a:rPr>
              <a:t>Orch nhận [INBOX], next turn:</a:t>
            </a:r>
            <a:endParaRPr lang="en-US" sz="1200" dirty="0"/>
          </a:p>
          <a:p>
            <a:pPr indent="0" marL="0">
              <a:buNone/>
            </a:pPr>
            <a:r>
              <a:rPr lang="en-US" sz="1200" dirty="0">
                <a:solidFill>
                  <a:srgbClr val="E6EDF3"/>
                </a:solidFill>
                <a:latin typeface="Consolas" pitchFamily="34" charset="0"/>
                <a:ea typeface="Consolas" pitchFamily="34" charset="-122"/>
                <a:cs typeface="Consolas" pitchFamily="34" charset="-120"/>
              </a:rPr>
              <a:t>  → cat docs/delivery/RUNNING_APP.md</a:t>
            </a:r>
            <a:endParaRPr lang="en-US" sz="1200" dirty="0"/>
          </a:p>
          <a:p>
            <a:pPr indent="0" marL="0">
              <a:buNone/>
            </a:pPr>
            <a:r>
              <a:rPr lang="en-US" sz="1200" dirty="0">
                <a:solidFill>
                  <a:srgbClr val="E6EDF3"/>
                </a:solidFill>
                <a:latin typeface="Calibri" pitchFamily="34" charset="0"/>
                <a:ea typeface="Calibri" pitchFamily="34" charset="-122"/>
                <a:cs typeface="Calibri" pitchFamily="34" charset="-120"/>
              </a:rPr>
              <a:t>  → user gets URL</a:t>
            </a:r>
            <a:endParaRPr lang="en-US" sz="1200" dirty="0"/>
          </a:p>
        </p:txBody>
      </p:sp>
      <p:sp>
        <p:nvSpPr>
          <p:cNvPr id="14" name="Text 12"/>
          <p:cNvSpPr/>
          <p:nvPr/>
        </p:nvSpPr>
        <p:spPr>
          <a:xfrm>
            <a:off x="365760" y="6126480"/>
            <a:ext cx="11430000" cy="274320"/>
          </a:xfrm>
          <a:prstGeom prst="rect">
            <a:avLst/>
          </a:prstGeom>
          <a:noFill/>
          <a:ln/>
        </p:spPr>
        <p:txBody>
          <a:bodyPr wrap="square" lIns="0" tIns="0" rIns="0" bIns="0" rtlCol="0" anchor="ctr"/>
          <a:lstStyle/>
          <a:p>
            <a:pPr algn="ctr" indent="0" marL="0">
              <a:buNone/>
            </a:pPr>
            <a:r>
              <a:rPr lang="en-US" sz="1100" i="1" dirty="0">
                <a:solidFill>
                  <a:srgbClr val="8B949E"/>
                </a:solidFill>
                <a:latin typeface="Consolas" pitchFamily="34" charset="0"/>
                <a:ea typeface="Consolas" pitchFamily="34" charset="-122"/>
                <a:cs typeface="Consolas" pitchFamily="34" charset="-120"/>
              </a:rPr>
              <a:t>Inbox xem qua: $ bash scripts/list_pending_questions.sh  (hiển thị cả questions + notifications)</a:t>
            </a:r>
            <a:endParaRPr lang="en-US" sz="1100" dirty="0"/>
          </a:p>
        </p:txBody>
      </p:sp>
      <p:sp>
        <p:nvSpPr>
          <p:cNvPr id="15" name="Text 13"/>
          <p:cNvSpPr/>
          <p:nvPr/>
        </p:nvSpPr>
        <p:spPr>
          <a:xfrm>
            <a:off x="11338560" y="6492240"/>
            <a:ext cx="731520" cy="228600"/>
          </a:xfrm>
          <a:prstGeom prst="rect">
            <a:avLst/>
          </a:prstGeom>
          <a:noFill/>
          <a:ln/>
        </p:spPr>
        <p:txBody>
          <a:bodyPr wrap="square" lIns="0" tIns="0" rIns="0" bIns="0" rtlCol="0" anchor="ctr"/>
          <a:lstStyle/>
          <a:p>
            <a:pPr algn="r" indent="0" marL="0">
              <a:buNone/>
            </a:pPr>
            <a:r>
              <a:rPr lang="en-US" sz="900" dirty="0">
                <a:solidFill>
                  <a:srgbClr val="8B949E"/>
                </a:solidFill>
                <a:latin typeface="Consolas" pitchFamily="34" charset="0"/>
                <a:ea typeface="Consolas" pitchFamily="34" charset="-122"/>
                <a:cs typeface="Consolas" pitchFamily="34" charset="-120"/>
              </a:rPr>
              <a:t>13 / 32</a:t>
            </a:r>
            <a:endParaRPr lang="en-US" sz="900" dirty="0"/>
          </a:p>
        </p:txBody>
      </p:sp>
      <p:sp>
        <p:nvSpPr>
          <p:cNvPr id="16" name="Text 14"/>
          <p:cNvSpPr/>
          <p:nvPr/>
        </p:nvSpPr>
        <p:spPr>
          <a:xfrm>
            <a:off x="365760" y="6492240"/>
            <a:ext cx="1097280" cy="228600"/>
          </a:xfrm>
          <a:prstGeom prst="rect">
            <a:avLst/>
          </a:prstGeom>
          <a:noFill/>
          <a:ln/>
        </p:spPr>
        <p:txBody>
          <a:bodyPr wrap="square" lIns="0" tIns="0" rIns="0" bIns="0" rtlCol="0" anchor="ctr"/>
          <a:lstStyle/>
          <a:p>
            <a:pPr algn="l" indent="0" marL="0">
              <a:buNone/>
            </a:pPr>
            <a:r>
              <a:rPr lang="en-US" sz="900" dirty="0">
                <a:solidFill>
                  <a:srgbClr val="8B949E"/>
                </a:solidFill>
                <a:latin typeface="Consolas" pitchFamily="34" charset="0"/>
                <a:ea typeface="Consolas" pitchFamily="34" charset="-122"/>
                <a:cs typeface="Consolas" pitchFamily="34" charset="-120"/>
              </a:rPr>
              <a:t>v10.12</a:t>
            </a:r>
            <a:endParaRPr lang="en-US" sz="900" dirty="0"/>
          </a:p>
        </p:txBody>
      </p:sp>
      <p:sp>
        <p:nvSpPr>
          <p:cNvPr id="17" name="Text 15"/>
          <p:cNvSpPr/>
          <p:nvPr/>
        </p:nvSpPr>
        <p:spPr>
          <a:xfrm>
            <a:off x="4572000" y="6492240"/>
            <a:ext cx="6400800" cy="228600"/>
          </a:xfrm>
          <a:prstGeom prst="rect">
            <a:avLst/>
          </a:prstGeom>
          <a:noFill/>
          <a:ln/>
        </p:spPr>
        <p:txBody>
          <a:bodyPr wrap="square" lIns="0" tIns="0" rIns="0" bIns="0" rtlCol="0" anchor="ctr"/>
          <a:lstStyle/>
          <a:p>
            <a:pPr algn="ctr" indent="0" marL="0">
              <a:buNone/>
            </a:pPr>
            <a:r>
              <a:rPr lang="en-US" sz="900" dirty="0">
                <a:solidFill>
                  <a:srgbClr val="8B949E"/>
                </a:solidFill>
                <a:latin typeface="Consolas" pitchFamily="34" charset="0"/>
                <a:ea typeface="Consolas" pitchFamily="34" charset="-122"/>
                <a:cs typeface="Consolas" pitchFamily="34" charset="-120"/>
              </a:rPr>
              <a:t>Product Engineering Agent Framework</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365760" y="228600"/>
            <a:ext cx="8229600" cy="274320"/>
          </a:xfrm>
          <a:prstGeom prst="rect">
            <a:avLst/>
          </a:prstGeom>
          <a:noFill/>
          <a:ln/>
        </p:spPr>
        <p:txBody>
          <a:bodyPr wrap="square" lIns="0" tIns="0" rIns="0" bIns="0" rtlCol="0" anchor="ctr"/>
          <a:lstStyle/>
          <a:p>
            <a:pPr indent="0" marL="0">
              <a:buNone/>
            </a:pPr>
            <a:r>
              <a:rPr lang="en-US" sz="1100" dirty="0">
                <a:solidFill>
                  <a:srgbClr val="2EA043"/>
                </a:solidFill>
                <a:latin typeface="Consolas" pitchFamily="34" charset="0"/>
                <a:ea typeface="Consolas" pitchFamily="34" charset="-122"/>
                <a:cs typeface="Consolas" pitchFamily="34" charset="-120"/>
              </a:rPr>
              <a:t>$ </a:t>
            </a:r>
            <a:pPr indent="0" marL="0">
              <a:buNone/>
            </a:pPr>
            <a:r>
              <a:rPr lang="en-US" sz="1100" dirty="0">
                <a:solidFill>
                  <a:srgbClr val="8B949E"/>
                </a:solidFill>
                <a:latin typeface="Consolas" pitchFamily="34" charset="0"/>
                <a:ea typeface="Consolas" pitchFamily="34" charset="-122"/>
                <a:cs typeface="Consolas" pitchFamily="34" charset="-120"/>
              </a:rPr>
              <a:t>12_memory.md</a:t>
            </a:r>
            <a:endParaRPr lang="en-US" sz="1100" dirty="0"/>
          </a:p>
        </p:txBody>
      </p:sp>
      <p:sp>
        <p:nvSpPr>
          <p:cNvPr id="3" name="Text 1"/>
          <p:cNvSpPr/>
          <p:nvPr/>
        </p:nvSpPr>
        <p:spPr>
          <a:xfrm>
            <a:off x="365760" y="548640"/>
            <a:ext cx="11430000" cy="640080"/>
          </a:xfrm>
          <a:prstGeom prst="rect">
            <a:avLst/>
          </a:prstGeom>
          <a:noFill/>
          <a:ln/>
        </p:spPr>
        <p:txBody>
          <a:bodyPr wrap="square" lIns="0" tIns="0" rIns="0" bIns="0" rtlCol="0" anchor="ctr"/>
          <a:lstStyle/>
          <a:p>
            <a:pPr indent="0" marL="0">
              <a:buNone/>
            </a:pPr>
            <a:r>
              <a:rPr lang="en-US" sz="3000" b="1" dirty="0">
                <a:solidFill>
                  <a:srgbClr val="E6EDF3"/>
                </a:solidFill>
                <a:latin typeface="Consolas" pitchFamily="34" charset="0"/>
                <a:ea typeface="Consolas" pitchFamily="34" charset="-122"/>
                <a:cs typeface="Consolas" pitchFamily="34" charset="-120"/>
              </a:rPr>
              <a:t>Memory layer — ký ức xuyên session</a:t>
            </a:r>
            <a:endParaRPr lang="en-US" sz="3000" dirty="0"/>
          </a:p>
        </p:txBody>
      </p:sp>
      <p:sp>
        <p:nvSpPr>
          <p:cNvPr id="4" name="Text 2"/>
          <p:cNvSpPr/>
          <p:nvPr/>
        </p:nvSpPr>
        <p:spPr>
          <a:xfrm>
            <a:off x="365760" y="1143000"/>
            <a:ext cx="11430000" cy="365760"/>
          </a:xfrm>
          <a:prstGeom prst="rect">
            <a:avLst/>
          </a:prstGeom>
          <a:noFill/>
          <a:ln/>
        </p:spPr>
        <p:txBody>
          <a:bodyPr wrap="square" lIns="0" tIns="0" rIns="0" bIns="0" rtlCol="0" anchor="ctr"/>
          <a:lstStyle/>
          <a:p>
            <a:pPr indent="0" marL="0">
              <a:buNone/>
            </a:pPr>
            <a:r>
              <a:rPr lang="en-US" sz="1400" i="1" dirty="0">
                <a:solidFill>
                  <a:srgbClr val="8B949E"/>
                </a:solidFill>
                <a:latin typeface="Calibri" pitchFamily="34" charset="0"/>
                <a:ea typeface="Calibri" pitchFamily="34" charset="-122"/>
                <a:cs typeface="Calibri" pitchFamily="34" charset="-120"/>
              </a:rPr>
              <a:t>Workers chạy one-shot rồi exit. Memory file thay thế conversation history.</a:t>
            </a:r>
            <a:endParaRPr lang="en-US" sz="1400" dirty="0"/>
          </a:p>
        </p:txBody>
      </p:sp>
      <p:sp>
        <p:nvSpPr>
          <p:cNvPr id="5" name="Text 3"/>
          <p:cNvSpPr/>
          <p:nvPr/>
        </p:nvSpPr>
        <p:spPr>
          <a:xfrm>
            <a:off x="365760" y="1783080"/>
            <a:ext cx="11430000" cy="914400"/>
          </a:xfrm>
          <a:prstGeom prst="rect">
            <a:avLst/>
          </a:prstGeom>
          <a:noFill/>
          <a:ln/>
        </p:spPr>
        <p:txBody>
          <a:bodyPr wrap="square" lIns="0" tIns="0" rIns="0" bIns="0" rtlCol="0" anchor="ctr"/>
          <a:lstStyle/>
          <a:p>
            <a:pPr indent="0" marL="0">
              <a:buNone/>
            </a:pPr>
            <a:r>
              <a:rPr lang="en-US" sz="1400" dirty="0">
                <a:solidFill>
                  <a:srgbClr val="E6EDF3"/>
                </a:solidFill>
                <a:latin typeface="Calibri" pitchFamily="34" charset="0"/>
                <a:ea typeface="Calibri" pitchFamily="34" charset="-122"/>
                <a:cs typeface="Calibri" pitchFamily="34" charset="-120"/>
              </a:rPr>
              <a:t>Mỗi role có file memory/&lt;ROLE&gt;.md — append-only scratchpad của decisions, conventions, gotchas. Commit vào git. Đọc đầu mỗi task, append cuối mỗi task.</a:t>
            </a:r>
            <a:endParaRPr lang="en-US" sz="1400" dirty="0"/>
          </a:p>
        </p:txBody>
      </p:sp>
      <p:sp>
        <p:nvSpPr>
          <p:cNvPr id="6" name="Shape 4"/>
          <p:cNvSpPr/>
          <p:nvPr/>
        </p:nvSpPr>
        <p:spPr>
          <a:xfrm>
            <a:off x="365760" y="2743200"/>
            <a:ext cx="11430000" cy="3383280"/>
          </a:xfrm>
          <a:prstGeom prst="rect">
            <a:avLst/>
          </a:prstGeom>
          <a:solidFill>
            <a:srgbClr val="161B22"/>
          </a:solidFill>
          <a:ln w="12700">
            <a:solidFill>
              <a:srgbClr val="30363D"/>
            </a:solidFill>
            <a:prstDash val="solid"/>
          </a:ln>
        </p:spPr>
      </p:sp>
      <p:sp>
        <p:nvSpPr>
          <p:cNvPr id="7" name="Shape 5"/>
          <p:cNvSpPr/>
          <p:nvPr/>
        </p:nvSpPr>
        <p:spPr>
          <a:xfrm>
            <a:off x="457200" y="2834640"/>
            <a:ext cx="91440" cy="91440"/>
          </a:xfrm>
          <a:prstGeom prst="ellipse">
            <a:avLst/>
          </a:prstGeom>
          <a:solidFill>
            <a:srgbClr val="F85149"/>
          </a:solidFill>
          <a:ln w="12700">
            <a:solidFill>
              <a:srgbClr val="F85149"/>
            </a:solidFill>
            <a:prstDash val="solid"/>
          </a:ln>
        </p:spPr>
      </p:sp>
      <p:sp>
        <p:nvSpPr>
          <p:cNvPr id="8" name="Shape 6"/>
          <p:cNvSpPr/>
          <p:nvPr/>
        </p:nvSpPr>
        <p:spPr>
          <a:xfrm>
            <a:off x="585216" y="2834640"/>
            <a:ext cx="91440" cy="91440"/>
          </a:xfrm>
          <a:prstGeom prst="ellipse">
            <a:avLst/>
          </a:prstGeom>
          <a:solidFill>
            <a:srgbClr val="D29922"/>
          </a:solidFill>
          <a:ln w="12700">
            <a:solidFill>
              <a:srgbClr val="D29922"/>
            </a:solidFill>
            <a:prstDash val="solid"/>
          </a:ln>
        </p:spPr>
      </p:sp>
      <p:sp>
        <p:nvSpPr>
          <p:cNvPr id="9" name="Shape 7"/>
          <p:cNvSpPr/>
          <p:nvPr/>
        </p:nvSpPr>
        <p:spPr>
          <a:xfrm>
            <a:off x="713232" y="2834640"/>
            <a:ext cx="91440" cy="91440"/>
          </a:xfrm>
          <a:prstGeom prst="ellipse">
            <a:avLst/>
          </a:prstGeom>
          <a:solidFill>
            <a:srgbClr val="3FB950"/>
          </a:solidFill>
          <a:ln w="12700">
            <a:solidFill>
              <a:srgbClr val="3FB950"/>
            </a:solidFill>
            <a:prstDash val="solid"/>
          </a:ln>
        </p:spPr>
      </p:sp>
      <p:sp>
        <p:nvSpPr>
          <p:cNvPr id="10" name="Text 8"/>
          <p:cNvSpPr/>
          <p:nvPr/>
        </p:nvSpPr>
        <p:spPr>
          <a:xfrm>
            <a:off x="502920" y="3063240"/>
            <a:ext cx="11155680" cy="3017520"/>
          </a:xfrm>
          <a:prstGeom prst="rect">
            <a:avLst/>
          </a:prstGeom>
          <a:noFill/>
          <a:ln/>
        </p:spPr>
        <p:txBody>
          <a:bodyPr wrap="square" lIns="0" tIns="0" rIns="0" bIns="0" rtlCol="0" anchor="t"/>
          <a:lstStyle/>
          <a:p>
            <a:pPr indent="0" marL="0">
              <a:buNone/>
            </a:pPr>
            <a:r>
              <a:rPr lang="en-US" sz="1200" dirty="0">
                <a:solidFill>
                  <a:srgbClr val="E6EDF3"/>
                </a:solidFill>
                <a:latin typeface="Consolas" pitchFamily="34" charset="0"/>
                <a:ea typeface="Consolas" pitchFamily="34" charset="-122"/>
                <a:cs typeface="Consolas" pitchFamily="34" charset="-120"/>
              </a:rPr>
              <a:t>memory/</a:t>
            </a:r>
            <a:endParaRPr lang="en-US" sz="1200" dirty="0"/>
          </a:p>
          <a:p>
            <a:pPr indent="0" marL="0">
              <a:buNone/>
            </a:pPr>
            <a:r>
              <a:rPr lang="en-US" sz="1200" dirty="0">
                <a:solidFill>
                  <a:srgbClr val="E6EDF3"/>
                </a:solidFill>
                <a:latin typeface="Consolas" pitchFamily="34" charset="0"/>
                <a:ea typeface="Consolas" pitchFamily="34" charset="-122"/>
                <a:cs typeface="Consolas" pitchFamily="34" charset="-120"/>
              </a:rPr>
              <a:t>├── README.md                  format + discipline</a:t>
            </a:r>
            <a:endParaRPr lang="en-US" sz="1200" dirty="0"/>
          </a:p>
          <a:p>
            <a:pPr indent="0" marL="0">
              <a:buNone/>
            </a:pPr>
            <a:r>
              <a:rPr lang="en-US" sz="1200" dirty="0">
                <a:solidFill>
                  <a:srgbClr val="E6EDF3"/>
                </a:solidFill>
                <a:latin typeface="Consolas" pitchFamily="34" charset="0"/>
                <a:ea typeface="Consolas" pitchFamily="34" charset="-122"/>
                <a:cs typeface="Consolas" pitchFamily="34" charset="-120"/>
              </a:rPr>
              <a:t>├── _PROJECT_STATE.md          team snapshot (Orchestrator owns)</a:t>
            </a:r>
            <a:endParaRPr lang="en-US" sz="1200" dirty="0"/>
          </a:p>
          <a:p>
            <a:pPr indent="0" marL="0">
              <a:buNone/>
            </a:pPr>
            <a:r>
              <a:rPr lang="en-US" sz="1200" dirty="0">
                <a:solidFill>
                  <a:srgbClr val="E6EDF3"/>
                </a:solidFill>
                <a:latin typeface="Consolas" pitchFamily="34" charset="0"/>
                <a:ea typeface="Consolas" pitchFamily="34" charset="-122"/>
                <a:cs typeface="Consolas" pitchFamily="34" charset="-120"/>
              </a:rPr>
              <a:t>├── ORCHESTRATOR.md            routing decisions</a:t>
            </a:r>
            <a:endParaRPr lang="en-US" sz="1200" dirty="0"/>
          </a:p>
          <a:p>
            <a:pPr indent="0" marL="0">
              <a:buNone/>
            </a:pPr>
            <a:r>
              <a:rPr lang="en-US" sz="1200" dirty="0">
                <a:solidFill>
                  <a:srgbClr val="E6EDF3"/>
                </a:solidFill>
                <a:latin typeface="Consolas" pitchFamily="34" charset="0"/>
                <a:ea typeface="Consolas" pitchFamily="34" charset="-122"/>
                <a:cs typeface="Consolas" pitchFamily="34" charset="-120"/>
              </a:rPr>
              <a:t>├── PM.md   SA.md   BA.md      per-role: Decisions / Conventions /</a:t>
            </a:r>
            <a:endParaRPr lang="en-US" sz="1200" dirty="0"/>
          </a:p>
          <a:p>
            <a:pPr indent="0" marL="0">
              <a:buNone/>
            </a:pPr>
            <a:r>
              <a:rPr lang="en-US" sz="1200" dirty="0">
                <a:solidFill>
                  <a:srgbClr val="E6EDF3"/>
                </a:solidFill>
                <a:latin typeface="Consolas" pitchFamily="34" charset="0"/>
                <a:ea typeface="Consolas" pitchFamily="34" charset="-122"/>
                <a:cs typeface="Consolas" pitchFamily="34" charset="-120"/>
              </a:rPr>
              <a:t>├── UX.md   BE.md   FE.md       Gotchas / Open items I'm tracking</a:t>
            </a:r>
            <a:endParaRPr lang="en-US" sz="1200" dirty="0"/>
          </a:p>
          <a:p>
            <a:pPr indent="0" marL="0">
              <a:buNone/>
            </a:pPr>
            <a:r>
              <a:rPr lang="en-US" sz="1200" dirty="0">
                <a:solidFill>
                  <a:srgbClr val="E6EDF3"/>
                </a:solidFill>
                <a:latin typeface="Consolas" pitchFamily="34" charset="0"/>
                <a:ea typeface="Consolas" pitchFamily="34" charset="-122"/>
                <a:cs typeface="Consolas" pitchFamily="34" charset="-120"/>
              </a:rPr>
              <a:t>├── QA.md   DELIVERY.md</a:t>
            </a:r>
            <a:endParaRPr lang="en-US" sz="1200" dirty="0"/>
          </a:p>
          <a:p>
            <a:pPr indent="0" marL="0">
              <a:buNone/>
            </a:pPr>
            <a:endParaRPr lang="en-US" sz="1200" dirty="0"/>
          </a:p>
          <a:p>
            <a:pPr indent="0" marL="0">
              <a:buNone/>
            </a:pPr>
            <a:r>
              <a:rPr lang="en-US" sz="1200" dirty="0">
                <a:solidFill>
                  <a:srgbClr val="8B949E"/>
                </a:solidFill>
                <a:latin typeface="Consolas" pitchFamily="34" charset="0"/>
                <a:ea typeface="Consolas" pitchFamily="34" charset="-122"/>
                <a:cs typeface="Consolas" pitchFamily="34" charset="-120"/>
              </a:rPr>
              <a:t># Cấu trúc entry:</a:t>
            </a:r>
            <a:endParaRPr lang="en-US" sz="1200" dirty="0"/>
          </a:p>
          <a:p>
            <a:pPr indent="0" marL="0">
              <a:buNone/>
            </a:pPr>
            <a:r>
              <a:rPr lang="en-US" sz="1200" dirty="0">
                <a:solidFill>
                  <a:srgbClr val="E6EDF3"/>
                </a:solidFill>
                <a:latin typeface="Consolas" pitchFamily="34" charset="0"/>
                <a:ea typeface="Consolas" pitchFamily="34" charset="-122"/>
                <a:cs typeface="Consolas" pitchFamily="34" charset="-120"/>
              </a:rPr>
              <a:t>### 2026-05-14 18:30 — Postgres on Supabase free tier</a:t>
            </a:r>
            <a:endParaRPr lang="en-US" sz="1200" dirty="0"/>
          </a:p>
          <a:p>
            <a:pPr indent="0" marL="0">
              <a:buNone/>
            </a:pPr>
            <a:r>
              <a:rPr lang="en-US" sz="1200" dirty="0">
                <a:solidFill>
                  <a:srgbClr val="E6EDF3"/>
                </a:solidFill>
                <a:latin typeface="Consolas" pitchFamily="34" charset="0"/>
                <a:ea typeface="Consolas" pitchFamily="34" charset="-122"/>
                <a:cs typeface="Consolas" pitchFamily="34" charset="-120"/>
              </a:rPr>
              <a:t>Chose Postgres because user wants free Supabase tier (.pane_answers/SA_xxx.md).</a:t>
            </a:r>
            <a:endParaRPr lang="en-US" sz="1200" dirty="0"/>
          </a:p>
        </p:txBody>
      </p:sp>
      <p:sp>
        <p:nvSpPr>
          <p:cNvPr id="11" name="Text 9"/>
          <p:cNvSpPr/>
          <p:nvPr/>
        </p:nvSpPr>
        <p:spPr>
          <a:xfrm>
            <a:off x="365760" y="6263640"/>
            <a:ext cx="11430000" cy="274320"/>
          </a:xfrm>
          <a:prstGeom prst="rect">
            <a:avLst/>
          </a:prstGeom>
          <a:noFill/>
          <a:ln/>
        </p:spPr>
        <p:txBody>
          <a:bodyPr wrap="square" lIns="0" tIns="0" rIns="0" bIns="0" rtlCol="0" anchor="ctr"/>
          <a:lstStyle/>
          <a:p>
            <a:pPr algn="ctr" indent="0" marL="0">
              <a:buNone/>
            </a:pPr>
            <a:r>
              <a:rPr lang="en-US" sz="1100" i="1" dirty="0">
                <a:solidFill>
                  <a:srgbClr val="D29922"/>
                </a:solidFill>
                <a:latin typeface="Calibri" pitchFamily="34" charset="0"/>
                <a:ea typeface="Calibri" pitchFamily="34" charset="-122"/>
                <a:cs typeface="Calibri" pitchFamily="34" charset="-120"/>
              </a:rPr>
              <a:t>Memory ≠ docs canonical. ADR ghi decisions kiến trúc; memory ghi 'connective tissue' (lý do, gotcha, todo ngắn hạn).</a:t>
            </a:r>
            <a:endParaRPr lang="en-US" sz="1100" dirty="0"/>
          </a:p>
        </p:txBody>
      </p:sp>
      <p:sp>
        <p:nvSpPr>
          <p:cNvPr id="12" name="Text 10"/>
          <p:cNvSpPr/>
          <p:nvPr/>
        </p:nvSpPr>
        <p:spPr>
          <a:xfrm>
            <a:off x="11338560" y="6492240"/>
            <a:ext cx="731520" cy="228600"/>
          </a:xfrm>
          <a:prstGeom prst="rect">
            <a:avLst/>
          </a:prstGeom>
          <a:noFill/>
          <a:ln/>
        </p:spPr>
        <p:txBody>
          <a:bodyPr wrap="square" lIns="0" tIns="0" rIns="0" bIns="0" rtlCol="0" anchor="ctr"/>
          <a:lstStyle/>
          <a:p>
            <a:pPr algn="r" indent="0" marL="0">
              <a:buNone/>
            </a:pPr>
            <a:r>
              <a:rPr lang="en-US" sz="900" dirty="0">
                <a:solidFill>
                  <a:srgbClr val="8B949E"/>
                </a:solidFill>
                <a:latin typeface="Consolas" pitchFamily="34" charset="0"/>
                <a:ea typeface="Consolas" pitchFamily="34" charset="-122"/>
                <a:cs typeface="Consolas" pitchFamily="34" charset="-120"/>
              </a:rPr>
              <a:t>14 / 32</a:t>
            </a:r>
            <a:endParaRPr lang="en-US" sz="900" dirty="0"/>
          </a:p>
        </p:txBody>
      </p:sp>
      <p:sp>
        <p:nvSpPr>
          <p:cNvPr id="13" name="Text 11"/>
          <p:cNvSpPr/>
          <p:nvPr/>
        </p:nvSpPr>
        <p:spPr>
          <a:xfrm>
            <a:off x="365760" y="6492240"/>
            <a:ext cx="1097280" cy="228600"/>
          </a:xfrm>
          <a:prstGeom prst="rect">
            <a:avLst/>
          </a:prstGeom>
          <a:noFill/>
          <a:ln/>
        </p:spPr>
        <p:txBody>
          <a:bodyPr wrap="square" lIns="0" tIns="0" rIns="0" bIns="0" rtlCol="0" anchor="ctr"/>
          <a:lstStyle/>
          <a:p>
            <a:pPr algn="l" indent="0" marL="0">
              <a:buNone/>
            </a:pPr>
            <a:r>
              <a:rPr lang="en-US" sz="900" dirty="0">
                <a:solidFill>
                  <a:srgbClr val="8B949E"/>
                </a:solidFill>
                <a:latin typeface="Consolas" pitchFamily="34" charset="0"/>
                <a:ea typeface="Consolas" pitchFamily="34" charset="-122"/>
                <a:cs typeface="Consolas" pitchFamily="34" charset="-120"/>
              </a:rPr>
              <a:t>v10.12</a:t>
            </a:r>
            <a:endParaRPr lang="en-US" sz="900" dirty="0"/>
          </a:p>
        </p:txBody>
      </p:sp>
      <p:sp>
        <p:nvSpPr>
          <p:cNvPr id="14" name="Text 12"/>
          <p:cNvSpPr/>
          <p:nvPr/>
        </p:nvSpPr>
        <p:spPr>
          <a:xfrm>
            <a:off x="4572000" y="6492240"/>
            <a:ext cx="6400800" cy="228600"/>
          </a:xfrm>
          <a:prstGeom prst="rect">
            <a:avLst/>
          </a:prstGeom>
          <a:noFill/>
          <a:ln/>
        </p:spPr>
        <p:txBody>
          <a:bodyPr wrap="square" lIns="0" tIns="0" rIns="0" bIns="0" rtlCol="0" anchor="ctr"/>
          <a:lstStyle/>
          <a:p>
            <a:pPr algn="ctr" indent="0" marL="0">
              <a:buNone/>
            </a:pPr>
            <a:r>
              <a:rPr lang="en-US" sz="900" dirty="0">
                <a:solidFill>
                  <a:srgbClr val="8B949E"/>
                </a:solidFill>
                <a:latin typeface="Consolas" pitchFamily="34" charset="0"/>
                <a:ea typeface="Consolas" pitchFamily="34" charset="-122"/>
                <a:cs typeface="Consolas" pitchFamily="34" charset="-120"/>
              </a:rPr>
              <a:t>Product Engineering Agent Framework</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365760" y="228600"/>
            <a:ext cx="8229600" cy="274320"/>
          </a:xfrm>
          <a:prstGeom prst="rect">
            <a:avLst/>
          </a:prstGeom>
          <a:noFill/>
          <a:ln/>
        </p:spPr>
        <p:txBody>
          <a:bodyPr wrap="square" lIns="0" tIns="0" rIns="0" bIns="0" rtlCol="0" anchor="ctr"/>
          <a:lstStyle/>
          <a:p>
            <a:pPr indent="0" marL="0">
              <a:buNone/>
            </a:pPr>
            <a:r>
              <a:rPr lang="en-US" sz="1100" dirty="0">
                <a:solidFill>
                  <a:srgbClr val="2EA043"/>
                </a:solidFill>
                <a:latin typeface="Consolas" pitchFamily="34" charset="0"/>
                <a:ea typeface="Consolas" pitchFamily="34" charset="-122"/>
                <a:cs typeface="Consolas" pitchFamily="34" charset="-120"/>
              </a:rPr>
              <a:t>$ </a:t>
            </a:r>
            <a:pPr indent="0" marL="0">
              <a:buNone/>
            </a:pPr>
            <a:r>
              <a:rPr lang="en-US" sz="1100" dirty="0">
                <a:solidFill>
                  <a:srgbClr val="8B949E"/>
                </a:solidFill>
                <a:latin typeface="Consolas" pitchFamily="34" charset="0"/>
                <a:ea typeface="Consolas" pitchFamily="34" charset="-122"/>
                <a:cs typeface="Consolas" pitchFamily="34" charset="-120"/>
              </a:rPr>
              <a:t>13_session_resume.md</a:t>
            </a:r>
            <a:endParaRPr lang="en-US" sz="1100" dirty="0"/>
          </a:p>
        </p:txBody>
      </p:sp>
      <p:sp>
        <p:nvSpPr>
          <p:cNvPr id="3" name="Text 1"/>
          <p:cNvSpPr/>
          <p:nvPr/>
        </p:nvSpPr>
        <p:spPr>
          <a:xfrm>
            <a:off x="365760" y="548640"/>
            <a:ext cx="11430000" cy="640080"/>
          </a:xfrm>
          <a:prstGeom prst="rect">
            <a:avLst/>
          </a:prstGeom>
          <a:noFill/>
          <a:ln/>
        </p:spPr>
        <p:txBody>
          <a:bodyPr wrap="square" lIns="0" tIns="0" rIns="0" bIns="0" rtlCol="0" anchor="ctr"/>
          <a:lstStyle/>
          <a:p>
            <a:pPr indent="0" marL="0">
              <a:buNone/>
            </a:pPr>
            <a:r>
              <a:rPr lang="en-US" sz="3000" b="1" dirty="0">
                <a:solidFill>
                  <a:srgbClr val="E6EDF3"/>
                </a:solidFill>
                <a:latin typeface="Consolas" pitchFamily="34" charset="0"/>
                <a:ea typeface="Consolas" pitchFamily="34" charset="-122"/>
                <a:cs typeface="Consolas" pitchFamily="34" charset="-120"/>
              </a:rPr>
              <a:t>Session resume — như team quay lại ngày mới</a:t>
            </a:r>
            <a:endParaRPr lang="en-US" sz="3000" dirty="0"/>
          </a:p>
        </p:txBody>
      </p:sp>
      <p:sp>
        <p:nvSpPr>
          <p:cNvPr id="4" name="Text 2"/>
          <p:cNvSpPr/>
          <p:nvPr/>
        </p:nvSpPr>
        <p:spPr>
          <a:xfrm>
            <a:off x="365760" y="1143000"/>
            <a:ext cx="11430000" cy="365760"/>
          </a:xfrm>
          <a:prstGeom prst="rect">
            <a:avLst/>
          </a:prstGeom>
          <a:noFill/>
          <a:ln/>
        </p:spPr>
        <p:txBody>
          <a:bodyPr wrap="square" lIns="0" tIns="0" rIns="0" bIns="0" rtlCol="0" anchor="ctr"/>
          <a:lstStyle/>
          <a:p>
            <a:pPr indent="0" marL="0">
              <a:buNone/>
            </a:pPr>
            <a:r>
              <a:rPr lang="en-US" sz="1400" i="1" dirty="0">
                <a:solidFill>
                  <a:srgbClr val="8B949E"/>
                </a:solidFill>
                <a:latin typeface="Calibri" pitchFamily="34" charset="0"/>
                <a:ea typeface="Calibri" pitchFamily="34" charset="-122"/>
                <a:cs typeface="Calibri" pitchFamily="34" charset="-120"/>
              </a:rPr>
              <a:t>start_agents_tmux.sh tự detect RESUME vs FRESH</a:t>
            </a:r>
            <a:endParaRPr lang="en-US" sz="1400" dirty="0"/>
          </a:p>
        </p:txBody>
      </p:sp>
      <p:sp>
        <p:nvSpPr>
          <p:cNvPr id="5" name="Shape 3"/>
          <p:cNvSpPr/>
          <p:nvPr/>
        </p:nvSpPr>
        <p:spPr>
          <a:xfrm>
            <a:off x="365760" y="1783080"/>
            <a:ext cx="5852160" cy="4480560"/>
          </a:xfrm>
          <a:prstGeom prst="rect">
            <a:avLst/>
          </a:prstGeom>
          <a:solidFill>
            <a:srgbClr val="161B22"/>
          </a:solidFill>
          <a:ln w="12700">
            <a:solidFill>
              <a:srgbClr val="30363D"/>
            </a:solidFill>
            <a:prstDash val="solid"/>
          </a:ln>
        </p:spPr>
      </p:sp>
      <p:sp>
        <p:nvSpPr>
          <p:cNvPr id="6" name="Shape 4"/>
          <p:cNvSpPr/>
          <p:nvPr/>
        </p:nvSpPr>
        <p:spPr>
          <a:xfrm>
            <a:off x="457200" y="1874520"/>
            <a:ext cx="91440" cy="91440"/>
          </a:xfrm>
          <a:prstGeom prst="ellipse">
            <a:avLst/>
          </a:prstGeom>
          <a:solidFill>
            <a:srgbClr val="F85149"/>
          </a:solidFill>
          <a:ln w="12700">
            <a:solidFill>
              <a:srgbClr val="F85149"/>
            </a:solidFill>
            <a:prstDash val="solid"/>
          </a:ln>
        </p:spPr>
      </p:sp>
      <p:sp>
        <p:nvSpPr>
          <p:cNvPr id="7" name="Shape 5"/>
          <p:cNvSpPr/>
          <p:nvPr/>
        </p:nvSpPr>
        <p:spPr>
          <a:xfrm>
            <a:off x="585216" y="1874520"/>
            <a:ext cx="91440" cy="91440"/>
          </a:xfrm>
          <a:prstGeom prst="ellipse">
            <a:avLst/>
          </a:prstGeom>
          <a:solidFill>
            <a:srgbClr val="D29922"/>
          </a:solidFill>
          <a:ln w="12700">
            <a:solidFill>
              <a:srgbClr val="D29922"/>
            </a:solidFill>
            <a:prstDash val="solid"/>
          </a:ln>
        </p:spPr>
      </p:sp>
      <p:sp>
        <p:nvSpPr>
          <p:cNvPr id="8" name="Shape 6"/>
          <p:cNvSpPr/>
          <p:nvPr/>
        </p:nvSpPr>
        <p:spPr>
          <a:xfrm>
            <a:off x="713232" y="1874520"/>
            <a:ext cx="91440" cy="91440"/>
          </a:xfrm>
          <a:prstGeom prst="ellipse">
            <a:avLst/>
          </a:prstGeom>
          <a:solidFill>
            <a:srgbClr val="3FB950"/>
          </a:solidFill>
          <a:ln w="12700">
            <a:solidFill>
              <a:srgbClr val="3FB950"/>
            </a:solidFill>
            <a:prstDash val="solid"/>
          </a:ln>
        </p:spPr>
      </p:sp>
      <p:sp>
        <p:nvSpPr>
          <p:cNvPr id="9" name="Text 7"/>
          <p:cNvSpPr/>
          <p:nvPr/>
        </p:nvSpPr>
        <p:spPr>
          <a:xfrm>
            <a:off x="502920" y="2103120"/>
            <a:ext cx="5577840" cy="4114800"/>
          </a:xfrm>
          <a:prstGeom prst="rect">
            <a:avLst/>
          </a:prstGeom>
          <a:noFill/>
          <a:ln/>
        </p:spPr>
        <p:txBody>
          <a:bodyPr wrap="square" lIns="0" tIns="0" rIns="0" bIns="0" rtlCol="0" anchor="t"/>
          <a:lstStyle/>
          <a:p>
            <a:pPr indent="0" marL="0">
              <a:buNone/>
            </a:pPr>
            <a:r>
              <a:rPr lang="en-US" sz="1200" dirty="0">
                <a:solidFill>
                  <a:srgbClr val="8B949E"/>
                </a:solidFill>
                <a:latin typeface="Consolas" pitchFamily="34" charset="0"/>
                <a:ea typeface="Consolas" pitchFamily="34" charset="-122"/>
                <a:cs typeface="Consolas" pitchFamily="34" charset="-120"/>
              </a:rPr>
              <a:t># Day 2: bạn chạy lại session</a:t>
            </a:r>
            <a:endParaRPr lang="en-US" sz="1200" dirty="0"/>
          </a:p>
          <a:p>
            <a:pPr indent="0" marL="0">
              <a:buNone/>
            </a:pPr>
            <a:r>
              <a:rPr lang="en-US" sz="1200" dirty="0">
                <a:solidFill>
                  <a:srgbClr val="7CE38B"/>
                </a:solidFill>
                <a:latin typeface="Consolas" pitchFamily="34" charset="0"/>
                <a:ea typeface="Consolas" pitchFamily="34" charset="-122"/>
                <a:cs typeface="Consolas" pitchFamily="34" charset="-120"/>
              </a:rPr>
              <a:t>$ bash scripts/start_agents_tmux.sh \</a:t>
            </a:r>
            <a:endParaRPr lang="en-US" sz="1200" dirty="0"/>
          </a:p>
          <a:p>
            <a:pPr indent="0" marL="0">
              <a:buNone/>
            </a:pPr>
            <a:r>
              <a:rPr lang="en-US" sz="1200" dirty="0">
                <a:solidFill>
                  <a:srgbClr val="E6EDF3"/>
                </a:solidFill>
                <a:latin typeface="Consolas" pitchFamily="34" charset="0"/>
                <a:ea typeface="Consolas" pitchFamily="34" charset="-122"/>
                <a:cs typeface="Consolas" pitchFamily="34" charset="-120"/>
              </a:rPr>
              <a:t>       nestfi-ai-room</a:t>
            </a:r>
            <a:endParaRPr lang="en-US" sz="1200" dirty="0"/>
          </a:p>
          <a:p>
            <a:pPr indent="0" marL="0">
              <a:buNone/>
            </a:pPr>
            <a:endParaRPr lang="en-US" sz="1200" dirty="0"/>
          </a:p>
          <a:p>
            <a:pPr indent="0" marL="0">
              <a:buNone/>
            </a:pPr>
            <a:r>
              <a:rPr lang="en-US" sz="1200" dirty="0">
                <a:solidFill>
                  <a:srgbClr val="E6EDF3"/>
                </a:solidFill>
                <a:latin typeface="Consolas" pitchFamily="34" charset="0"/>
                <a:ea typeface="Consolas" pitchFamily="34" charset="-122"/>
                <a:cs typeface="Consolas" pitchFamily="34" charset="-120"/>
              </a:rPr>
              <a:t>[v10.5] RESUME mode —</a:t>
            </a:r>
            <a:endParaRPr lang="en-US" sz="1200" dirty="0"/>
          </a:p>
          <a:p>
            <a:pPr indent="0" marL="0">
              <a:buNone/>
            </a:pPr>
            <a:r>
              <a:rPr lang="en-US" sz="1200" dirty="0">
                <a:solidFill>
                  <a:srgbClr val="E6EDF3"/>
                </a:solidFill>
                <a:latin typeface="Consolas" pitchFamily="34" charset="0"/>
                <a:ea typeface="Consolas" pitchFamily="34" charset="-122"/>
                <a:cs typeface="Consolas" pitchFamily="34" charset="-120"/>
              </a:rPr>
              <a:t>        non-empty memory/PM.md detected</a:t>
            </a:r>
            <a:endParaRPr lang="en-US" sz="1200" dirty="0"/>
          </a:p>
          <a:p>
            <a:pPr indent="0" marL="0">
              <a:buNone/>
            </a:pPr>
            <a:r>
              <a:rPr lang="en-US" sz="1200" dirty="0">
                <a:solidFill>
                  <a:srgbClr val="E6EDF3"/>
                </a:solidFill>
                <a:latin typeface="Consolas" pitchFamily="34" charset="0"/>
                <a:ea typeface="Consolas" pitchFamily="34" charset="-122"/>
                <a:cs typeface="Consolas" pitchFamily="34" charset="-120"/>
              </a:rPr>
              <a:t>[v10.5] Orchestrator sẽ chạy</a:t>
            </a:r>
            <a:endParaRPr lang="en-US" sz="1200" dirty="0"/>
          </a:p>
          <a:p>
            <a:pPr indent="0" marL="0">
              <a:buNone/>
            </a:pPr>
            <a:r>
              <a:rPr lang="en-US" sz="1200" dirty="0">
                <a:solidFill>
                  <a:srgbClr val="E6EDF3"/>
                </a:solidFill>
                <a:latin typeface="Consolas" pitchFamily="34" charset="0"/>
                <a:ea typeface="Consolas" pitchFamily="34" charset="-122"/>
                <a:cs typeface="Consolas" pitchFamily="34" charset="-120"/>
              </a:rPr>
              <a:t>        scripts/rescan_project.sh</a:t>
            </a:r>
            <a:endParaRPr lang="en-US" sz="1200" dirty="0"/>
          </a:p>
          <a:p>
            <a:pPr indent="0" marL="0">
              <a:buNone/>
            </a:pPr>
            <a:r>
              <a:rPr lang="en-US" sz="1200" dirty="0">
                <a:solidFill>
                  <a:srgbClr val="E6EDF3"/>
                </a:solidFill>
                <a:latin typeface="Consolas" pitchFamily="34" charset="0"/>
                <a:ea typeface="Consolas" pitchFamily="34" charset="-122"/>
                <a:cs typeface="Consolas" pitchFamily="34" charset="-120"/>
              </a:rPr>
              <a:t>        khi first turn</a:t>
            </a:r>
            <a:endParaRPr lang="en-US" sz="1200" dirty="0"/>
          </a:p>
          <a:p>
            <a:pPr indent="0" marL="0">
              <a:buNone/>
            </a:pPr>
            <a:endParaRPr lang="en-US" sz="1200" dirty="0"/>
          </a:p>
          <a:p>
            <a:pPr indent="0" marL="0">
              <a:buNone/>
            </a:pPr>
            <a:r>
              <a:rPr lang="en-US" sz="1200" dirty="0">
                <a:solidFill>
                  <a:srgbClr val="8B949E"/>
                </a:solidFill>
                <a:latin typeface="Consolas" pitchFamily="34" charset="0"/>
                <a:ea typeface="Consolas" pitchFamily="34" charset="-122"/>
                <a:cs typeface="Consolas" pitchFamily="34" charset="-120"/>
              </a:rPr>
              <a:t># 8 giây sau khi opencode load,</a:t>
            </a:r>
            <a:endParaRPr lang="en-US" sz="1200" dirty="0"/>
          </a:p>
          <a:p>
            <a:pPr indent="0" marL="0">
              <a:buNone/>
            </a:pPr>
            <a:r>
              <a:rPr lang="en-US" sz="1200" dirty="0">
                <a:solidFill>
                  <a:srgbClr val="8B949E"/>
                </a:solidFill>
                <a:latin typeface="Consolas" pitchFamily="34" charset="0"/>
                <a:ea typeface="Consolas" pitchFamily="34" charset="-122"/>
                <a:cs typeface="Consolas" pitchFamily="34" charset="-120"/>
              </a:rPr>
              <a:t># auto-ping vào pane 1:</a:t>
            </a:r>
            <a:endParaRPr lang="en-US" sz="1200" dirty="0"/>
          </a:p>
          <a:p>
            <a:pPr indent="0" marL="0">
              <a:buNone/>
            </a:pPr>
            <a:r>
              <a:rPr lang="en-US" sz="1200" dirty="0">
                <a:solidFill>
                  <a:srgbClr val="E6EDF3"/>
                </a:solidFill>
                <a:latin typeface="Consolas" pitchFamily="34" charset="0"/>
                <a:ea typeface="Consolas" pitchFamily="34" charset="-122"/>
                <a:cs typeface="Consolas" pitchFamily="34" charset="-120"/>
              </a:rPr>
              <a:t>[RESUME] Session resumed — run</a:t>
            </a:r>
            <a:endParaRPr lang="en-US" sz="1200" dirty="0"/>
          </a:p>
          <a:p>
            <a:pPr indent="0" marL="0">
              <a:buNone/>
            </a:pPr>
            <a:r>
              <a:rPr lang="en-US" sz="1200" dirty="0">
                <a:solidFill>
                  <a:srgbClr val="E6EDF3"/>
                </a:solidFill>
                <a:latin typeface="Consolas" pitchFamily="34" charset="0"/>
                <a:ea typeface="Consolas" pitchFamily="34" charset="-122"/>
                <a:cs typeface="Consolas" pitchFamily="34" charset="-120"/>
              </a:rPr>
              <a:t>  bash scripts/rescan_project.sh first.</a:t>
            </a:r>
            <a:endParaRPr lang="en-US" sz="1200" dirty="0"/>
          </a:p>
        </p:txBody>
      </p:sp>
      <p:sp>
        <p:nvSpPr>
          <p:cNvPr id="10" name="Shape 8"/>
          <p:cNvSpPr/>
          <p:nvPr/>
        </p:nvSpPr>
        <p:spPr>
          <a:xfrm>
            <a:off x="6492240" y="1874520"/>
            <a:ext cx="54864" cy="292608"/>
          </a:xfrm>
          <a:prstGeom prst="rect">
            <a:avLst/>
          </a:prstGeom>
          <a:solidFill>
            <a:srgbClr val="7CE38B"/>
          </a:solidFill>
          <a:ln w="12700">
            <a:solidFill>
              <a:srgbClr val="7CE38B"/>
            </a:solidFill>
            <a:prstDash val="solid"/>
          </a:ln>
        </p:spPr>
      </p:sp>
      <p:sp>
        <p:nvSpPr>
          <p:cNvPr id="11" name="Text 9"/>
          <p:cNvSpPr/>
          <p:nvPr/>
        </p:nvSpPr>
        <p:spPr>
          <a:xfrm>
            <a:off x="6629400" y="1874520"/>
            <a:ext cx="5166360" cy="292608"/>
          </a:xfrm>
          <a:prstGeom prst="rect">
            <a:avLst/>
          </a:prstGeom>
          <a:noFill/>
          <a:ln/>
        </p:spPr>
        <p:txBody>
          <a:bodyPr wrap="square" lIns="0" tIns="0" rIns="0" bIns="0" rtlCol="0" anchor="ctr"/>
          <a:lstStyle/>
          <a:p>
            <a:pPr indent="0" marL="0">
              <a:buNone/>
            </a:pPr>
            <a:r>
              <a:rPr lang="en-US" sz="1400" b="1" dirty="0">
                <a:solidFill>
                  <a:srgbClr val="E6EDF3"/>
                </a:solidFill>
                <a:latin typeface="Consolas" pitchFamily="34" charset="0"/>
                <a:ea typeface="Consolas" pitchFamily="34" charset="-122"/>
                <a:cs typeface="Consolas" pitchFamily="34" charset="-120"/>
              </a:rPr>
              <a:t>Orchestrator's first action</a:t>
            </a:r>
            <a:endParaRPr lang="en-US" sz="1400" dirty="0"/>
          </a:p>
        </p:txBody>
      </p:sp>
      <p:sp>
        <p:nvSpPr>
          <p:cNvPr id="12" name="Text 10"/>
          <p:cNvSpPr/>
          <p:nvPr/>
        </p:nvSpPr>
        <p:spPr>
          <a:xfrm>
            <a:off x="6492240" y="2286000"/>
            <a:ext cx="5303520" cy="3657600"/>
          </a:xfrm>
          <a:prstGeom prst="rect">
            <a:avLst/>
          </a:prstGeom>
          <a:noFill/>
          <a:ln/>
        </p:spPr>
        <p:txBody>
          <a:bodyPr wrap="square" lIns="0" tIns="0" rIns="0" bIns="0" rtlCol="0" anchor="ctr"/>
          <a:lstStyle/>
          <a:p>
            <a:pPr indent="0" marL="0">
              <a:buNone/>
            </a:pPr>
            <a:r>
              <a:rPr lang="en-US" sz="1200" b="1" dirty="0">
                <a:solidFill>
                  <a:srgbClr val="7CE38B"/>
                </a:solidFill>
                <a:latin typeface="Consolas" pitchFamily="34" charset="0"/>
                <a:ea typeface="Consolas" pitchFamily="34" charset="-122"/>
                <a:cs typeface="Consolas" pitchFamily="34" charset="-120"/>
              </a:rPr>
              <a:t>▸ </a:t>
            </a:r>
            <a:pPr indent="0" marL="0">
              <a:buNone/>
            </a:pPr>
            <a:r>
              <a:rPr lang="en-US" sz="1200" dirty="0">
                <a:solidFill>
                  <a:srgbClr val="E6EDF3"/>
                </a:solidFill>
                <a:latin typeface="Calibri" pitchFamily="34" charset="0"/>
                <a:ea typeface="Calibri" pitchFamily="34" charset="-122"/>
                <a:cs typeface="Calibri" pitchFamily="34" charset="-120"/>
              </a:rPr>
              <a:t>Đọc memory/_PROJECT_STATE.md</a:t>
            </a:r>
            <a:endParaRPr lang="en-US" sz="1200" dirty="0"/>
          </a:p>
          <a:p>
            <a:pPr indent="0" marL="0">
              <a:buNone/>
            </a:pPr>
            <a:r>
              <a:rPr lang="en-US" sz="1200" b="1" dirty="0">
                <a:solidFill>
                  <a:srgbClr val="7CE38B"/>
                </a:solidFill>
                <a:latin typeface="Consolas" pitchFamily="34" charset="0"/>
                <a:ea typeface="Consolas" pitchFamily="34" charset="-122"/>
                <a:cs typeface="Consolas" pitchFamily="34" charset="-120"/>
              </a:rPr>
              <a:t>▸ </a:t>
            </a:r>
            <a:pPr indent="0" marL="0">
              <a:buNone/>
            </a:pPr>
            <a:r>
              <a:rPr lang="en-US" sz="1200" dirty="0">
                <a:solidFill>
                  <a:srgbClr val="E6EDF3"/>
                </a:solidFill>
                <a:latin typeface="Calibri" pitchFamily="34" charset="0"/>
                <a:ea typeface="Calibri" pitchFamily="34" charset="-122"/>
                <a:cs typeface="Calibri" pitchFamily="34" charset="-120"/>
              </a:rPr>
              <a:t>Tail 30 dòng memory/&lt;ROLE&gt;.md mỗi role</a:t>
            </a:r>
            <a:endParaRPr lang="en-US" sz="1200" dirty="0"/>
          </a:p>
          <a:p>
            <a:pPr indent="0" marL="0">
              <a:buNone/>
            </a:pPr>
            <a:r>
              <a:rPr lang="en-US" sz="1200" b="1" dirty="0">
                <a:solidFill>
                  <a:srgbClr val="7CE38B"/>
                </a:solidFill>
                <a:latin typeface="Consolas" pitchFamily="34" charset="0"/>
                <a:ea typeface="Consolas" pitchFamily="34" charset="-122"/>
                <a:cs typeface="Consolas" pitchFamily="34" charset="-120"/>
              </a:rPr>
              <a:t>▸ </a:t>
            </a:r>
            <a:pPr indent="0" marL="0">
              <a:buNone/>
            </a:pPr>
            <a:r>
              <a:rPr lang="en-US" sz="1200" dirty="0">
                <a:solidFill>
                  <a:srgbClr val="E6EDF3"/>
                </a:solidFill>
                <a:latin typeface="Calibri" pitchFamily="34" charset="0"/>
                <a:ea typeface="Calibri" pitchFamily="34" charset="-122"/>
                <a:cs typeface="Calibri" pitchFamily="34" charset="-120"/>
              </a:rPr>
              <a:t>Liệt kê docs có content (&gt;200B)</a:t>
            </a:r>
            <a:endParaRPr lang="en-US" sz="1200" dirty="0"/>
          </a:p>
          <a:p>
            <a:pPr indent="0" marL="0">
              <a:buNone/>
            </a:pPr>
            <a:r>
              <a:rPr lang="en-US" sz="1200" b="1" dirty="0">
                <a:solidFill>
                  <a:srgbClr val="7CE38B"/>
                </a:solidFill>
                <a:latin typeface="Consolas" pitchFamily="34" charset="0"/>
                <a:ea typeface="Consolas" pitchFamily="34" charset="-122"/>
                <a:cs typeface="Consolas" pitchFamily="34" charset="-120"/>
              </a:rPr>
              <a:t>▸ </a:t>
            </a:r>
            <a:pPr indent="0" marL="0">
              <a:buNone/>
            </a:pPr>
            <a:r>
              <a:rPr lang="en-US" sz="1200" dirty="0">
                <a:solidFill>
                  <a:srgbClr val="E6EDF3"/>
                </a:solidFill>
                <a:latin typeface="Calibri" pitchFamily="34" charset="0"/>
                <a:ea typeface="Calibri" pitchFamily="34" charset="-122"/>
                <a:cs typeface="Calibri" pitchFamily="34" charset="-120"/>
              </a:rPr>
              <a:t>Đếm source code BE/FE</a:t>
            </a:r>
            <a:endParaRPr lang="en-US" sz="1200" dirty="0"/>
          </a:p>
          <a:p>
            <a:pPr indent="0" marL="0">
              <a:buNone/>
            </a:pPr>
            <a:r>
              <a:rPr lang="en-US" sz="1200" b="1" dirty="0">
                <a:solidFill>
                  <a:srgbClr val="7CE38B"/>
                </a:solidFill>
                <a:latin typeface="Consolas" pitchFamily="34" charset="0"/>
                <a:ea typeface="Consolas" pitchFamily="34" charset="-122"/>
                <a:cs typeface="Consolas" pitchFamily="34" charset="-120"/>
              </a:rPr>
              <a:t>▸ </a:t>
            </a:r>
            <a:pPr indent="0" marL="0">
              <a:buNone/>
            </a:pPr>
            <a:r>
              <a:rPr lang="en-US" sz="1200" dirty="0">
                <a:solidFill>
                  <a:srgbClr val="E6EDF3"/>
                </a:solidFill>
                <a:latin typeface="Calibri" pitchFamily="34" charset="0"/>
                <a:ea typeface="Calibri" pitchFamily="34" charset="-122"/>
                <a:cs typeface="Calibri" pitchFamily="34" charset="-120"/>
              </a:rPr>
              <a:t>Đọc RUNNING_APP.md → live URL</a:t>
            </a:r>
            <a:endParaRPr lang="en-US" sz="1200" dirty="0"/>
          </a:p>
          <a:p>
            <a:pPr indent="0" marL="0">
              <a:buNone/>
            </a:pPr>
            <a:r>
              <a:rPr lang="en-US" sz="1200" b="1" dirty="0">
                <a:solidFill>
                  <a:srgbClr val="7CE38B"/>
                </a:solidFill>
                <a:latin typeface="Consolas" pitchFamily="34" charset="0"/>
                <a:ea typeface="Consolas" pitchFamily="34" charset="-122"/>
                <a:cs typeface="Consolas" pitchFamily="34" charset="-120"/>
              </a:rPr>
              <a:t>▸ </a:t>
            </a:r>
            <a:pPr indent="0" marL="0">
              <a:buNone/>
            </a:pPr>
            <a:r>
              <a:rPr lang="en-US" sz="1200" dirty="0">
                <a:solidFill>
                  <a:srgbClr val="E6EDF3"/>
                </a:solidFill>
                <a:latin typeface="Calibri" pitchFamily="34" charset="0"/>
                <a:ea typeface="Calibri" pitchFamily="34" charset="-122"/>
                <a:cs typeface="Calibri" pitchFamily="34" charset="-120"/>
              </a:rPr>
              <a:t>Show inbox: pending Q + notifs</a:t>
            </a:r>
            <a:endParaRPr lang="en-US" sz="1200" dirty="0"/>
          </a:p>
          <a:p>
            <a:pPr indent="0" marL="0">
              <a:buNone/>
            </a:pPr>
            <a:r>
              <a:rPr lang="en-US" sz="1200" b="1" dirty="0">
                <a:solidFill>
                  <a:srgbClr val="7CE38B"/>
                </a:solidFill>
                <a:latin typeface="Consolas" pitchFamily="34" charset="0"/>
                <a:ea typeface="Consolas" pitchFamily="34" charset="-122"/>
                <a:cs typeface="Consolas" pitchFamily="34" charset="-120"/>
              </a:rPr>
              <a:t>▸ </a:t>
            </a:r>
            <a:pPr indent="0" marL="0">
              <a:buNone/>
            </a:pPr>
            <a:r>
              <a:rPr lang="en-US" sz="1200" dirty="0">
                <a:solidFill>
                  <a:srgbClr val="E6EDF3"/>
                </a:solidFill>
                <a:latin typeface="Calibri" pitchFamily="34" charset="0"/>
                <a:ea typeface="Calibri" pitchFamily="34" charset="-122"/>
                <a:cs typeface="Calibri" pitchFamily="34" charset="-120"/>
              </a:rPr>
              <a:t>Greet user: 3-5 bullet recap, đợi direction</a:t>
            </a:r>
            <a:endParaRPr lang="en-US" sz="1200" dirty="0"/>
          </a:p>
        </p:txBody>
      </p:sp>
      <p:sp>
        <p:nvSpPr>
          <p:cNvPr id="13" name="Text 11"/>
          <p:cNvSpPr/>
          <p:nvPr/>
        </p:nvSpPr>
        <p:spPr>
          <a:xfrm>
            <a:off x="365760" y="6263640"/>
            <a:ext cx="11430000" cy="274320"/>
          </a:xfrm>
          <a:prstGeom prst="rect">
            <a:avLst/>
          </a:prstGeom>
          <a:noFill/>
          <a:ln/>
        </p:spPr>
        <p:txBody>
          <a:bodyPr wrap="square" lIns="0" tIns="0" rIns="0" bIns="0" rtlCol="0" anchor="ctr"/>
          <a:lstStyle/>
          <a:p>
            <a:pPr algn="ctr" indent="0" marL="0">
              <a:buNone/>
            </a:pPr>
            <a:r>
              <a:rPr lang="en-US" sz="1100" i="1" dirty="0">
                <a:solidFill>
                  <a:srgbClr val="D29922"/>
                </a:solidFill>
                <a:latin typeface="Calibri" pitchFamily="34" charset="0"/>
                <a:ea typeface="Calibri" pitchFamily="34" charset="-122"/>
                <a:cs typeface="Calibri" pitchFamily="34" charset="-120"/>
              </a:rPr>
              <a:t>Orchestrator KHÔNG auto-advance phase. Project tiếp tục đúng nơi để lại.</a:t>
            </a:r>
            <a:endParaRPr lang="en-US" sz="1100" dirty="0"/>
          </a:p>
        </p:txBody>
      </p:sp>
      <p:sp>
        <p:nvSpPr>
          <p:cNvPr id="14" name="Text 12"/>
          <p:cNvSpPr/>
          <p:nvPr/>
        </p:nvSpPr>
        <p:spPr>
          <a:xfrm>
            <a:off x="11338560" y="6492240"/>
            <a:ext cx="731520" cy="228600"/>
          </a:xfrm>
          <a:prstGeom prst="rect">
            <a:avLst/>
          </a:prstGeom>
          <a:noFill/>
          <a:ln/>
        </p:spPr>
        <p:txBody>
          <a:bodyPr wrap="square" lIns="0" tIns="0" rIns="0" bIns="0" rtlCol="0" anchor="ctr"/>
          <a:lstStyle/>
          <a:p>
            <a:pPr algn="r" indent="0" marL="0">
              <a:buNone/>
            </a:pPr>
            <a:r>
              <a:rPr lang="en-US" sz="900" dirty="0">
                <a:solidFill>
                  <a:srgbClr val="8B949E"/>
                </a:solidFill>
                <a:latin typeface="Consolas" pitchFamily="34" charset="0"/>
                <a:ea typeface="Consolas" pitchFamily="34" charset="-122"/>
                <a:cs typeface="Consolas" pitchFamily="34" charset="-120"/>
              </a:rPr>
              <a:t>15 / 32</a:t>
            </a:r>
            <a:endParaRPr lang="en-US" sz="900" dirty="0"/>
          </a:p>
        </p:txBody>
      </p:sp>
      <p:sp>
        <p:nvSpPr>
          <p:cNvPr id="15" name="Text 13"/>
          <p:cNvSpPr/>
          <p:nvPr/>
        </p:nvSpPr>
        <p:spPr>
          <a:xfrm>
            <a:off x="365760" y="6492240"/>
            <a:ext cx="1097280" cy="228600"/>
          </a:xfrm>
          <a:prstGeom prst="rect">
            <a:avLst/>
          </a:prstGeom>
          <a:noFill/>
          <a:ln/>
        </p:spPr>
        <p:txBody>
          <a:bodyPr wrap="square" lIns="0" tIns="0" rIns="0" bIns="0" rtlCol="0" anchor="ctr"/>
          <a:lstStyle/>
          <a:p>
            <a:pPr algn="l" indent="0" marL="0">
              <a:buNone/>
            </a:pPr>
            <a:r>
              <a:rPr lang="en-US" sz="900" dirty="0">
                <a:solidFill>
                  <a:srgbClr val="8B949E"/>
                </a:solidFill>
                <a:latin typeface="Consolas" pitchFamily="34" charset="0"/>
                <a:ea typeface="Consolas" pitchFamily="34" charset="-122"/>
                <a:cs typeface="Consolas" pitchFamily="34" charset="-120"/>
              </a:rPr>
              <a:t>v10.12</a:t>
            </a:r>
            <a:endParaRPr lang="en-US" sz="900" dirty="0"/>
          </a:p>
        </p:txBody>
      </p:sp>
      <p:sp>
        <p:nvSpPr>
          <p:cNvPr id="16" name="Text 14"/>
          <p:cNvSpPr/>
          <p:nvPr/>
        </p:nvSpPr>
        <p:spPr>
          <a:xfrm>
            <a:off x="4572000" y="6492240"/>
            <a:ext cx="6400800" cy="228600"/>
          </a:xfrm>
          <a:prstGeom prst="rect">
            <a:avLst/>
          </a:prstGeom>
          <a:noFill/>
          <a:ln/>
        </p:spPr>
        <p:txBody>
          <a:bodyPr wrap="square" lIns="0" tIns="0" rIns="0" bIns="0" rtlCol="0" anchor="ctr"/>
          <a:lstStyle/>
          <a:p>
            <a:pPr algn="ctr" indent="0" marL="0">
              <a:buNone/>
            </a:pPr>
            <a:r>
              <a:rPr lang="en-US" sz="900" dirty="0">
                <a:solidFill>
                  <a:srgbClr val="8B949E"/>
                </a:solidFill>
                <a:latin typeface="Consolas" pitchFamily="34" charset="0"/>
                <a:ea typeface="Consolas" pitchFamily="34" charset="-122"/>
                <a:cs typeface="Consolas" pitchFamily="34" charset="-120"/>
              </a:rPr>
              <a:t>Product Engineering Agent Framework</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365760" y="228600"/>
            <a:ext cx="8229600" cy="274320"/>
          </a:xfrm>
          <a:prstGeom prst="rect">
            <a:avLst/>
          </a:prstGeom>
          <a:noFill/>
          <a:ln/>
        </p:spPr>
        <p:txBody>
          <a:bodyPr wrap="square" lIns="0" tIns="0" rIns="0" bIns="0" rtlCol="0" anchor="ctr"/>
          <a:lstStyle/>
          <a:p>
            <a:pPr indent="0" marL="0">
              <a:buNone/>
            </a:pPr>
            <a:r>
              <a:rPr lang="en-US" sz="1100" dirty="0">
                <a:solidFill>
                  <a:srgbClr val="2EA043"/>
                </a:solidFill>
                <a:latin typeface="Consolas" pitchFamily="34" charset="0"/>
                <a:ea typeface="Consolas" pitchFamily="34" charset="-122"/>
                <a:cs typeface="Consolas" pitchFamily="34" charset="-120"/>
              </a:rPr>
              <a:t>$ </a:t>
            </a:r>
            <a:pPr indent="0" marL="0">
              <a:buNone/>
            </a:pPr>
            <a:r>
              <a:rPr lang="en-US" sz="1100" dirty="0">
                <a:solidFill>
                  <a:srgbClr val="8B949E"/>
                </a:solidFill>
                <a:latin typeface="Consolas" pitchFamily="34" charset="0"/>
                <a:ea typeface="Consolas" pitchFamily="34" charset="-122"/>
                <a:cs typeface="Consolas" pitchFamily="34" charset="-120"/>
              </a:rPr>
              <a:t>14_phase_pipeline.md</a:t>
            </a:r>
            <a:endParaRPr lang="en-US" sz="1100" dirty="0"/>
          </a:p>
        </p:txBody>
      </p:sp>
      <p:sp>
        <p:nvSpPr>
          <p:cNvPr id="3" name="Text 1"/>
          <p:cNvSpPr/>
          <p:nvPr/>
        </p:nvSpPr>
        <p:spPr>
          <a:xfrm>
            <a:off x="365760" y="548640"/>
            <a:ext cx="11430000" cy="640080"/>
          </a:xfrm>
          <a:prstGeom prst="rect">
            <a:avLst/>
          </a:prstGeom>
          <a:noFill/>
          <a:ln/>
        </p:spPr>
        <p:txBody>
          <a:bodyPr wrap="square" lIns="0" tIns="0" rIns="0" bIns="0" rtlCol="0" anchor="ctr"/>
          <a:lstStyle/>
          <a:p>
            <a:pPr indent="0" marL="0">
              <a:buNone/>
            </a:pPr>
            <a:r>
              <a:rPr lang="en-US" sz="3000" b="1" dirty="0">
                <a:solidFill>
                  <a:srgbClr val="E6EDF3"/>
                </a:solidFill>
                <a:latin typeface="Consolas" pitchFamily="34" charset="0"/>
                <a:ea typeface="Consolas" pitchFamily="34" charset="-122"/>
                <a:cs typeface="Consolas" pitchFamily="34" charset="-120"/>
              </a:rPr>
              <a:t>Phase pipeline — 7 giai đoạn</a:t>
            </a:r>
            <a:endParaRPr lang="en-US" sz="3000" dirty="0"/>
          </a:p>
        </p:txBody>
      </p:sp>
      <p:sp>
        <p:nvSpPr>
          <p:cNvPr id="4" name="Text 2"/>
          <p:cNvSpPr/>
          <p:nvPr/>
        </p:nvSpPr>
        <p:spPr>
          <a:xfrm>
            <a:off x="365760" y="1143000"/>
            <a:ext cx="11430000" cy="365760"/>
          </a:xfrm>
          <a:prstGeom prst="rect">
            <a:avLst/>
          </a:prstGeom>
          <a:noFill/>
          <a:ln/>
        </p:spPr>
        <p:txBody>
          <a:bodyPr wrap="square" lIns="0" tIns="0" rIns="0" bIns="0" rtlCol="0" anchor="ctr"/>
          <a:lstStyle/>
          <a:p>
            <a:pPr indent="0" marL="0">
              <a:buNone/>
            </a:pPr>
            <a:r>
              <a:rPr lang="en-US" sz="1400" i="1" dirty="0">
                <a:solidFill>
                  <a:srgbClr val="8B949E"/>
                </a:solidFill>
                <a:latin typeface="Calibri" pitchFamily="34" charset="0"/>
                <a:ea typeface="Calibri" pitchFamily="34" charset="-122"/>
                <a:cs typeface="Calibri" pitchFamily="34" charset="-120"/>
              </a:rPr>
              <a:t>Giống Agile thật: discovery → design → backlog → planning → build → test → delivery</a:t>
            </a:r>
            <a:endParaRPr lang="en-US" sz="1400" dirty="0"/>
          </a:p>
        </p:txBody>
      </p:sp>
      <p:sp>
        <p:nvSpPr>
          <p:cNvPr id="5" name="Shape 3"/>
          <p:cNvSpPr/>
          <p:nvPr/>
        </p:nvSpPr>
        <p:spPr>
          <a:xfrm>
            <a:off x="365760" y="1828800"/>
            <a:ext cx="11430000" cy="603504"/>
          </a:xfrm>
          <a:prstGeom prst="rect">
            <a:avLst/>
          </a:prstGeom>
          <a:solidFill>
            <a:srgbClr val="161B22"/>
          </a:solidFill>
          <a:ln w="12700">
            <a:solidFill>
              <a:srgbClr val="30363D"/>
            </a:solidFill>
            <a:prstDash val="solid"/>
          </a:ln>
        </p:spPr>
      </p:sp>
      <p:sp>
        <p:nvSpPr>
          <p:cNvPr id="6" name="Shape 4"/>
          <p:cNvSpPr/>
          <p:nvPr/>
        </p:nvSpPr>
        <p:spPr>
          <a:xfrm>
            <a:off x="502920" y="1947672"/>
            <a:ext cx="365760" cy="365760"/>
          </a:xfrm>
          <a:prstGeom prst="ellipse">
            <a:avLst/>
          </a:prstGeom>
          <a:solidFill>
            <a:srgbClr val="7CE38B"/>
          </a:solidFill>
          <a:ln w="12700">
            <a:solidFill>
              <a:srgbClr val="7CE38B"/>
            </a:solidFill>
            <a:prstDash val="solid"/>
          </a:ln>
        </p:spPr>
      </p:sp>
      <p:sp>
        <p:nvSpPr>
          <p:cNvPr id="7" name="Text 5"/>
          <p:cNvSpPr/>
          <p:nvPr/>
        </p:nvSpPr>
        <p:spPr>
          <a:xfrm>
            <a:off x="502920" y="1947672"/>
            <a:ext cx="365760" cy="365760"/>
          </a:xfrm>
          <a:prstGeom prst="rect">
            <a:avLst/>
          </a:prstGeom>
          <a:noFill/>
          <a:ln/>
        </p:spPr>
        <p:txBody>
          <a:bodyPr wrap="square" lIns="0" tIns="0" rIns="0" bIns="0" rtlCol="0" anchor="ctr"/>
          <a:lstStyle/>
          <a:p>
            <a:pPr algn="ctr" indent="0" marL="0">
              <a:buNone/>
            </a:pPr>
            <a:r>
              <a:rPr lang="en-US" sz="1400" b="1" dirty="0">
                <a:solidFill>
                  <a:srgbClr val="0D1117"/>
                </a:solidFill>
                <a:latin typeface="Consolas" pitchFamily="34" charset="0"/>
                <a:ea typeface="Consolas" pitchFamily="34" charset="-122"/>
                <a:cs typeface="Consolas" pitchFamily="34" charset="-120"/>
              </a:rPr>
              <a:t>0</a:t>
            </a:r>
            <a:endParaRPr lang="en-US" sz="1400" dirty="0"/>
          </a:p>
        </p:txBody>
      </p:sp>
      <p:sp>
        <p:nvSpPr>
          <p:cNvPr id="8" name="Text 6"/>
          <p:cNvSpPr/>
          <p:nvPr/>
        </p:nvSpPr>
        <p:spPr>
          <a:xfrm>
            <a:off x="1005840" y="1828800"/>
            <a:ext cx="2377440" cy="603504"/>
          </a:xfrm>
          <a:prstGeom prst="rect">
            <a:avLst/>
          </a:prstGeom>
          <a:noFill/>
          <a:ln/>
        </p:spPr>
        <p:txBody>
          <a:bodyPr wrap="square" lIns="0" tIns="0" rIns="0" bIns="0" rtlCol="0" anchor="ctr"/>
          <a:lstStyle/>
          <a:p>
            <a:pPr indent="0" marL="0">
              <a:buNone/>
            </a:pPr>
            <a:r>
              <a:rPr lang="en-US" sz="1400" b="1" dirty="0">
                <a:solidFill>
                  <a:srgbClr val="7CE38B"/>
                </a:solidFill>
                <a:latin typeface="Consolas" pitchFamily="34" charset="0"/>
                <a:ea typeface="Consolas" pitchFamily="34" charset="-122"/>
                <a:cs typeface="Consolas" pitchFamily="34" charset="-120"/>
              </a:rPr>
              <a:t>DISCOVERY</a:t>
            </a:r>
            <a:endParaRPr lang="en-US" sz="1400" dirty="0"/>
          </a:p>
        </p:txBody>
      </p:sp>
      <p:sp>
        <p:nvSpPr>
          <p:cNvPr id="9" name="Text 7"/>
          <p:cNvSpPr/>
          <p:nvPr/>
        </p:nvSpPr>
        <p:spPr>
          <a:xfrm>
            <a:off x="3383280" y="1828800"/>
            <a:ext cx="2286000" cy="603504"/>
          </a:xfrm>
          <a:prstGeom prst="rect">
            <a:avLst/>
          </a:prstGeom>
          <a:noFill/>
          <a:ln/>
        </p:spPr>
        <p:txBody>
          <a:bodyPr wrap="square" lIns="0" tIns="0" rIns="0" bIns="0" rtlCol="0" anchor="ctr"/>
          <a:lstStyle/>
          <a:p>
            <a:pPr indent="0" marL="0">
              <a:buNone/>
            </a:pPr>
            <a:r>
              <a:rPr lang="en-US" sz="1100" dirty="0">
                <a:solidFill>
                  <a:srgbClr val="79C0FF"/>
                </a:solidFill>
                <a:latin typeface="Consolas" pitchFamily="34" charset="0"/>
                <a:ea typeface="Consolas" pitchFamily="34" charset="-122"/>
                <a:cs typeface="Consolas" pitchFamily="34" charset="-120"/>
              </a:rPr>
              <a:t>PM + BA + UX</a:t>
            </a:r>
            <a:endParaRPr lang="en-US" sz="1100" dirty="0"/>
          </a:p>
        </p:txBody>
      </p:sp>
      <p:sp>
        <p:nvSpPr>
          <p:cNvPr id="10" name="Text 8"/>
          <p:cNvSpPr/>
          <p:nvPr/>
        </p:nvSpPr>
        <p:spPr>
          <a:xfrm>
            <a:off x="5760720" y="1828800"/>
            <a:ext cx="5943600" cy="603504"/>
          </a:xfrm>
          <a:prstGeom prst="rect">
            <a:avLst/>
          </a:prstGeom>
          <a:noFill/>
          <a:ln/>
        </p:spPr>
        <p:txBody>
          <a:bodyPr wrap="square" lIns="0" tIns="0" rIns="0" bIns="0" rtlCol="0" anchor="ctr"/>
          <a:lstStyle/>
          <a:p>
            <a:pPr indent="0" marL="0">
              <a:buNone/>
            </a:pPr>
            <a:r>
              <a:rPr lang="en-US" sz="1000" dirty="0">
                <a:solidFill>
                  <a:srgbClr val="E6EDF3"/>
                </a:solidFill>
                <a:latin typeface="Calibri" pitchFamily="34" charset="0"/>
                <a:ea typeface="Calibri" pitchFamily="34" charset="-122"/>
                <a:cs typeface="Calibri" pitchFamily="34" charset="-120"/>
              </a:rPr>
              <a:t>PRD, BUSINESS_REQ, USER_STORIES, UX_FLOW</a:t>
            </a:r>
            <a:endParaRPr lang="en-US" sz="1000" dirty="0"/>
          </a:p>
        </p:txBody>
      </p:sp>
      <p:sp>
        <p:nvSpPr>
          <p:cNvPr id="11" name="Shape 9"/>
          <p:cNvSpPr/>
          <p:nvPr/>
        </p:nvSpPr>
        <p:spPr>
          <a:xfrm>
            <a:off x="365760" y="2487168"/>
            <a:ext cx="11430000" cy="603504"/>
          </a:xfrm>
          <a:prstGeom prst="rect">
            <a:avLst/>
          </a:prstGeom>
          <a:solidFill>
            <a:srgbClr val="1C2128"/>
          </a:solidFill>
          <a:ln w="12700">
            <a:solidFill>
              <a:srgbClr val="30363D"/>
            </a:solidFill>
            <a:prstDash val="solid"/>
          </a:ln>
        </p:spPr>
      </p:sp>
      <p:sp>
        <p:nvSpPr>
          <p:cNvPr id="12" name="Shape 10"/>
          <p:cNvSpPr/>
          <p:nvPr/>
        </p:nvSpPr>
        <p:spPr>
          <a:xfrm>
            <a:off x="502920" y="2606040"/>
            <a:ext cx="365760" cy="365760"/>
          </a:xfrm>
          <a:prstGeom prst="ellipse">
            <a:avLst/>
          </a:prstGeom>
          <a:solidFill>
            <a:srgbClr val="7CE38B"/>
          </a:solidFill>
          <a:ln w="12700">
            <a:solidFill>
              <a:srgbClr val="7CE38B"/>
            </a:solidFill>
            <a:prstDash val="solid"/>
          </a:ln>
        </p:spPr>
      </p:sp>
      <p:sp>
        <p:nvSpPr>
          <p:cNvPr id="13" name="Text 11"/>
          <p:cNvSpPr/>
          <p:nvPr/>
        </p:nvSpPr>
        <p:spPr>
          <a:xfrm>
            <a:off x="502920" y="2606040"/>
            <a:ext cx="365760" cy="365760"/>
          </a:xfrm>
          <a:prstGeom prst="rect">
            <a:avLst/>
          </a:prstGeom>
          <a:noFill/>
          <a:ln/>
        </p:spPr>
        <p:txBody>
          <a:bodyPr wrap="square" lIns="0" tIns="0" rIns="0" bIns="0" rtlCol="0" anchor="ctr"/>
          <a:lstStyle/>
          <a:p>
            <a:pPr algn="ctr" indent="0" marL="0">
              <a:buNone/>
            </a:pPr>
            <a:r>
              <a:rPr lang="en-US" sz="1400" b="1" dirty="0">
                <a:solidFill>
                  <a:srgbClr val="0D1117"/>
                </a:solidFill>
                <a:latin typeface="Consolas" pitchFamily="34" charset="0"/>
                <a:ea typeface="Consolas" pitchFamily="34" charset="-122"/>
                <a:cs typeface="Consolas" pitchFamily="34" charset="-120"/>
              </a:rPr>
              <a:t>1</a:t>
            </a:r>
            <a:endParaRPr lang="en-US" sz="1400" dirty="0"/>
          </a:p>
        </p:txBody>
      </p:sp>
      <p:sp>
        <p:nvSpPr>
          <p:cNvPr id="14" name="Text 12"/>
          <p:cNvSpPr/>
          <p:nvPr/>
        </p:nvSpPr>
        <p:spPr>
          <a:xfrm>
            <a:off x="1005840" y="2487168"/>
            <a:ext cx="2377440" cy="603504"/>
          </a:xfrm>
          <a:prstGeom prst="rect">
            <a:avLst/>
          </a:prstGeom>
          <a:noFill/>
          <a:ln/>
        </p:spPr>
        <p:txBody>
          <a:bodyPr wrap="square" lIns="0" tIns="0" rIns="0" bIns="0" rtlCol="0" anchor="ctr"/>
          <a:lstStyle/>
          <a:p>
            <a:pPr indent="0" marL="0">
              <a:buNone/>
            </a:pPr>
            <a:r>
              <a:rPr lang="en-US" sz="1400" b="1" dirty="0">
                <a:solidFill>
                  <a:srgbClr val="7CE38B"/>
                </a:solidFill>
                <a:latin typeface="Consolas" pitchFamily="34" charset="0"/>
                <a:ea typeface="Consolas" pitchFamily="34" charset="-122"/>
                <a:cs typeface="Consolas" pitchFamily="34" charset="-120"/>
              </a:rPr>
              <a:t>SOLUTION</a:t>
            </a:r>
            <a:endParaRPr lang="en-US" sz="1400" dirty="0"/>
          </a:p>
        </p:txBody>
      </p:sp>
      <p:sp>
        <p:nvSpPr>
          <p:cNvPr id="15" name="Text 13"/>
          <p:cNvSpPr/>
          <p:nvPr/>
        </p:nvSpPr>
        <p:spPr>
          <a:xfrm>
            <a:off x="3383280" y="2487168"/>
            <a:ext cx="2286000" cy="603504"/>
          </a:xfrm>
          <a:prstGeom prst="rect">
            <a:avLst/>
          </a:prstGeom>
          <a:noFill/>
          <a:ln/>
        </p:spPr>
        <p:txBody>
          <a:bodyPr wrap="square" lIns="0" tIns="0" rIns="0" bIns="0" rtlCol="0" anchor="ctr"/>
          <a:lstStyle/>
          <a:p>
            <a:pPr indent="0" marL="0">
              <a:buNone/>
            </a:pPr>
            <a:r>
              <a:rPr lang="en-US" sz="1100" dirty="0">
                <a:solidFill>
                  <a:srgbClr val="79C0FF"/>
                </a:solidFill>
                <a:latin typeface="Consolas" pitchFamily="34" charset="0"/>
                <a:ea typeface="Consolas" pitchFamily="34" charset="-122"/>
                <a:cs typeface="Consolas" pitchFamily="34" charset="-120"/>
              </a:rPr>
              <a:t>SA</a:t>
            </a:r>
            <a:endParaRPr lang="en-US" sz="1100" dirty="0"/>
          </a:p>
        </p:txBody>
      </p:sp>
      <p:sp>
        <p:nvSpPr>
          <p:cNvPr id="16" name="Text 14"/>
          <p:cNvSpPr/>
          <p:nvPr/>
        </p:nvSpPr>
        <p:spPr>
          <a:xfrm>
            <a:off x="5760720" y="2487168"/>
            <a:ext cx="5943600" cy="603504"/>
          </a:xfrm>
          <a:prstGeom prst="rect">
            <a:avLst/>
          </a:prstGeom>
          <a:noFill/>
          <a:ln/>
        </p:spPr>
        <p:txBody>
          <a:bodyPr wrap="square" lIns="0" tIns="0" rIns="0" bIns="0" rtlCol="0" anchor="ctr"/>
          <a:lstStyle/>
          <a:p>
            <a:pPr indent="0" marL="0">
              <a:buNone/>
            </a:pPr>
            <a:r>
              <a:rPr lang="en-US" sz="1000" dirty="0">
                <a:solidFill>
                  <a:srgbClr val="E6EDF3"/>
                </a:solidFill>
                <a:latin typeface="Calibri" pitchFamily="34" charset="0"/>
                <a:ea typeface="Calibri" pitchFamily="34" charset="-122"/>
                <a:cs typeface="Calibri" pitchFamily="34" charset="-120"/>
              </a:rPr>
              <a:t>SOLUTION_ARCH, TECH_STACK ✍ confirmed, ADR, API_CONTRACT</a:t>
            </a:r>
            <a:endParaRPr lang="en-US" sz="1000" dirty="0"/>
          </a:p>
        </p:txBody>
      </p:sp>
      <p:sp>
        <p:nvSpPr>
          <p:cNvPr id="17" name="Shape 15"/>
          <p:cNvSpPr/>
          <p:nvPr/>
        </p:nvSpPr>
        <p:spPr>
          <a:xfrm>
            <a:off x="365760" y="3145536"/>
            <a:ext cx="11430000" cy="603504"/>
          </a:xfrm>
          <a:prstGeom prst="rect">
            <a:avLst/>
          </a:prstGeom>
          <a:solidFill>
            <a:srgbClr val="161B22"/>
          </a:solidFill>
          <a:ln w="12700">
            <a:solidFill>
              <a:srgbClr val="30363D"/>
            </a:solidFill>
            <a:prstDash val="solid"/>
          </a:ln>
        </p:spPr>
      </p:sp>
      <p:sp>
        <p:nvSpPr>
          <p:cNvPr id="18" name="Shape 16"/>
          <p:cNvSpPr/>
          <p:nvPr/>
        </p:nvSpPr>
        <p:spPr>
          <a:xfrm>
            <a:off x="502920" y="3264408"/>
            <a:ext cx="365760" cy="365760"/>
          </a:xfrm>
          <a:prstGeom prst="ellipse">
            <a:avLst/>
          </a:prstGeom>
          <a:solidFill>
            <a:srgbClr val="7CE38B"/>
          </a:solidFill>
          <a:ln w="12700">
            <a:solidFill>
              <a:srgbClr val="7CE38B"/>
            </a:solidFill>
            <a:prstDash val="solid"/>
          </a:ln>
        </p:spPr>
      </p:sp>
      <p:sp>
        <p:nvSpPr>
          <p:cNvPr id="19" name="Text 17"/>
          <p:cNvSpPr/>
          <p:nvPr/>
        </p:nvSpPr>
        <p:spPr>
          <a:xfrm>
            <a:off x="502920" y="3264408"/>
            <a:ext cx="365760" cy="365760"/>
          </a:xfrm>
          <a:prstGeom prst="rect">
            <a:avLst/>
          </a:prstGeom>
          <a:noFill/>
          <a:ln/>
        </p:spPr>
        <p:txBody>
          <a:bodyPr wrap="square" lIns="0" tIns="0" rIns="0" bIns="0" rtlCol="0" anchor="ctr"/>
          <a:lstStyle/>
          <a:p>
            <a:pPr algn="ctr" indent="0" marL="0">
              <a:buNone/>
            </a:pPr>
            <a:r>
              <a:rPr lang="en-US" sz="1400" b="1" dirty="0">
                <a:solidFill>
                  <a:srgbClr val="0D1117"/>
                </a:solidFill>
                <a:latin typeface="Consolas" pitchFamily="34" charset="0"/>
                <a:ea typeface="Consolas" pitchFamily="34" charset="-122"/>
                <a:cs typeface="Consolas" pitchFamily="34" charset="-120"/>
              </a:rPr>
              <a:t>2</a:t>
            </a:r>
            <a:endParaRPr lang="en-US" sz="1400" dirty="0"/>
          </a:p>
        </p:txBody>
      </p:sp>
      <p:sp>
        <p:nvSpPr>
          <p:cNvPr id="20" name="Text 18"/>
          <p:cNvSpPr/>
          <p:nvPr/>
        </p:nvSpPr>
        <p:spPr>
          <a:xfrm>
            <a:off x="1005840" y="3145536"/>
            <a:ext cx="2377440" cy="603504"/>
          </a:xfrm>
          <a:prstGeom prst="rect">
            <a:avLst/>
          </a:prstGeom>
          <a:noFill/>
          <a:ln/>
        </p:spPr>
        <p:txBody>
          <a:bodyPr wrap="square" lIns="0" tIns="0" rIns="0" bIns="0" rtlCol="0" anchor="ctr"/>
          <a:lstStyle/>
          <a:p>
            <a:pPr indent="0" marL="0">
              <a:buNone/>
            </a:pPr>
            <a:r>
              <a:rPr lang="en-US" sz="1400" b="1" dirty="0">
                <a:solidFill>
                  <a:srgbClr val="7CE38B"/>
                </a:solidFill>
                <a:latin typeface="Consolas" pitchFamily="34" charset="0"/>
                <a:ea typeface="Consolas" pitchFamily="34" charset="-122"/>
                <a:cs typeface="Consolas" pitchFamily="34" charset="-120"/>
              </a:rPr>
              <a:t>BACKLOG</a:t>
            </a:r>
            <a:endParaRPr lang="en-US" sz="1400" dirty="0"/>
          </a:p>
        </p:txBody>
      </p:sp>
      <p:sp>
        <p:nvSpPr>
          <p:cNvPr id="21" name="Text 19"/>
          <p:cNvSpPr/>
          <p:nvPr/>
        </p:nvSpPr>
        <p:spPr>
          <a:xfrm>
            <a:off x="3383280" y="3145536"/>
            <a:ext cx="2286000" cy="603504"/>
          </a:xfrm>
          <a:prstGeom prst="rect">
            <a:avLst/>
          </a:prstGeom>
          <a:noFill/>
          <a:ln/>
        </p:spPr>
        <p:txBody>
          <a:bodyPr wrap="square" lIns="0" tIns="0" rIns="0" bIns="0" rtlCol="0" anchor="ctr"/>
          <a:lstStyle/>
          <a:p>
            <a:pPr indent="0" marL="0">
              <a:buNone/>
            </a:pPr>
            <a:r>
              <a:rPr lang="en-US" sz="1100" dirty="0">
                <a:solidFill>
                  <a:srgbClr val="79C0FF"/>
                </a:solidFill>
                <a:latin typeface="Consolas" pitchFamily="34" charset="0"/>
                <a:ea typeface="Consolas" pitchFamily="34" charset="-122"/>
                <a:cs typeface="Consolas" pitchFamily="34" charset="-120"/>
              </a:rPr>
              <a:t>PM + BA + UX + SA</a:t>
            </a:r>
            <a:endParaRPr lang="en-US" sz="1100" dirty="0"/>
          </a:p>
        </p:txBody>
      </p:sp>
      <p:sp>
        <p:nvSpPr>
          <p:cNvPr id="22" name="Text 20"/>
          <p:cNvSpPr/>
          <p:nvPr/>
        </p:nvSpPr>
        <p:spPr>
          <a:xfrm>
            <a:off x="5760720" y="3145536"/>
            <a:ext cx="5943600" cy="603504"/>
          </a:xfrm>
          <a:prstGeom prst="rect">
            <a:avLst/>
          </a:prstGeom>
          <a:noFill/>
          <a:ln/>
        </p:spPr>
        <p:txBody>
          <a:bodyPr wrap="square" lIns="0" tIns="0" rIns="0" bIns="0" rtlCol="0" anchor="ctr"/>
          <a:lstStyle/>
          <a:p>
            <a:pPr indent="0" marL="0">
              <a:buNone/>
            </a:pPr>
            <a:r>
              <a:rPr lang="en-US" sz="1000" dirty="0">
                <a:solidFill>
                  <a:srgbClr val="E6EDF3"/>
                </a:solidFill>
                <a:latin typeface="Calibri" pitchFamily="34" charset="0"/>
                <a:ea typeface="Calibri" pitchFamily="34" charset="-122"/>
                <a:cs typeface="Calibri" pitchFamily="34" charset="-120"/>
              </a:rPr>
              <a:t>BACKLOG ưu tiên, USER_STORIES có AC</a:t>
            </a:r>
            <a:endParaRPr lang="en-US" sz="1000" dirty="0"/>
          </a:p>
        </p:txBody>
      </p:sp>
      <p:sp>
        <p:nvSpPr>
          <p:cNvPr id="23" name="Shape 21"/>
          <p:cNvSpPr/>
          <p:nvPr/>
        </p:nvSpPr>
        <p:spPr>
          <a:xfrm>
            <a:off x="365760" y="3803904"/>
            <a:ext cx="11430000" cy="603504"/>
          </a:xfrm>
          <a:prstGeom prst="rect">
            <a:avLst/>
          </a:prstGeom>
          <a:solidFill>
            <a:srgbClr val="1C2128"/>
          </a:solidFill>
          <a:ln w="12700">
            <a:solidFill>
              <a:srgbClr val="30363D"/>
            </a:solidFill>
            <a:prstDash val="solid"/>
          </a:ln>
        </p:spPr>
      </p:sp>
      <p:sp>
        <p:nvSpPr>
          <p:cNvPr id="24" name="Shape 22"/>
          <p:cNvSpPr/>
          <p:nvPr/>
        </p:nvSpPr>
        <p:spPr>
          <a:xfrm>
            <a:off x="502920" y="3922776"/>
            <a:ext cx="365760" cy="365760"/>
          </a:xfrm>
          <a:prstGeom prst="ellipse">
            <a:avLst/>
          </a:prstGeom>
          <a:solidFill>
            <a:srgbClr val="7CE38B"/>
          </a:solidFill>
          <a:ln w="12700">
            <a:solidFill>
              <a:srgbClr val="7CE38B"/>
            </a:solidFill>
            <a:prstDash val="solid"/>
          </a:ln>
        </p:spPr>
      </p:sp>
      <p:sp>
        <p:nvSpPr>
          <p:cNvPr id="25" name="Text 23"/>
          <p:cNvSpPr/>
          <p:nvPr/>
        </p:nvSpPr>
        <p:spPr>
          <a:xfrm>
            <a:off x="502920" y="3922776"/>
            <a:ext cx="365760" cy="365760"/>
          </a:xfrm>
          <a:prstGeom prst="rect">
            <a:avLst/>
          </a:prstGeom>
          <a:noFill/>
          <a:ln/>
        </p:spPr>
        <p:txBody>
          <a:bodyPr wrap="square" lIns="0" tIns="0" rIns="0" bIns="0" rtlCol="0" anchor="ctr"/>
          <a:lstStyle/>
          <a:p>
            <a:pPr algn="ctr" indent="0" marL="0">
              <a:buNone/>
            </a:pPr>
            <a:r>
              <a:rPr lang="en-US" sz="1400" b="1" dirty="0">
                <a:solidFill>
                  <a:srgbClr val="0D1117"/>
                </a:solidFill>
                <a:latin typeface="Consolas" pitchFamily="34" charset="0"/>
                <a:ea typeface="Consolas" pitchFamily="34" charset="-122"/>
                <a:cs typeface="Consolas" pitchFamily="34" charset="-120"/>
              </a:rPr>
              <a:t>3</a:t>
            </a:r>
            <a:endParaRPr lang="en-US" sz="1400" dirty="0"/>
          </a:p>
        </p:txBody>
      </p:sp>
      <p:sp>
        <p:nvSpPr>
          <p:cNvPr id="26" name="Text 24"/>
          <p:cNvSpPr/>
          <p:nvPr/>
        </p:nvSpPr>
        <p:spPr>
          <a:xfrm>
            <a:off x="1005840" y="3803904"/>
            <a:ext cx="2377440" cy="603504"/>
          </a:xfrm>
          <a:prstGeom prst="rect">
            <a:avLst/>
          </a:prstGeom>
          <a:noFill/>
          <a:ln/>
        </p:spPr>
        <p:txBody>
          <a:bodyPr wrap="square" lIns="0" tIns="0" rIns="0" bIns="0" rtlCol="0" anchor="ctr"/>
          <a:lstStyle/>
          <a:p>
            <a:pPr indent="0" marL="0">
              <a:buNone/>
            </a:pPr>
            <a:r>
              <a:rPr lang="en-US" sz="1400" b="1" dirty="0">
                <a:solidFill>
                  <a:srgbClr val="7CE38B"/>
                </a:solidFill>
                <a:latin typeface="Consolas" pitchFamily="34" charset="0"/>
                <a:ea typeface="Consolas" pitchFamily="34" charset="-122"/>
                <a:cs typeface="Consolas" pitchFamily="34" charset="-120"/>
              </a:rPr>
              <a:t>PLANNING</a:t>
            </a:r>
            <a:endParaRPr lang="en-US" sz="1400" dirty="0"/>
          </a:p>
        </p:txBody>
      </p:sp>
      <p:sp>
        <p:nvSpPr>
          <p:cNvPr id="27" name="Text 25"/>
          <p:cNvSpPr/>
          <p:nvPr/>
        </p:nvSpPr>
        <p:spPr>
          <a:xfrm>
            <a:off x="3383280" y="3803904"/>
            <a:ext cx="2286000" cy="603504"/>
          </a:xfrm>
          <a:prstGeom prst="rect">
            <a:avLst/>
          </a:prstGeom>
          <a:noFill/>
          <a:ln/>
        </p:spPr>
        <p:txBody>
          <a:bodyPr wrap="square" lIns="0" tIns="0" rIns="0" bIns="0" rtlCol="0" anchor="ctr"/>
          <a:lstStyle/>
          <a:p>
            <a:pPr indent="0" marL="0">
              <a:buNone/>
            </a:pPr>
            <a:r>
              <a:rPr lang="en-US" sz="1100" dirty="0">
                <a:solidFill>
                  <a:srgbClr val="79C0FF"/>
                </a:solidFill>
                <a:latin typeface="Consolas" pitchFamily="34" charset="0"/>
                <a:ea typeface="Consolas" pitchFamily="34" charset="-122"/>
                <a:cs typeface="Consolas" pitchFamily="34" charset="-120"/>
              </a:rPr>
              <a:t>BE + FE + QA + DEL</a:t>
            </a:r>
            <a:endParaRPr lang="en-US" sz="1100" dirty="0"/>
          </a:p>
        </p:txBody>
      </p:sp>
      <p:sp>
        <p:nvSpPr>
          <p:cNvPr id="28" name="Text 26"/>
          <p:cNvSpPr/>
          <p:nvPr/>
        </p:nvSpPr>
        <p:spPr>
          <a:xfrm>
            <a:off x="5760720" y="3803904"/>
            <a:ext cx="5943600" cy="603504"/>
          </a:xfrm>
          <a:prstGeom prst="rect">
            <a:avLst/>
          </a:prstGeom>
          <a:noFill/>
          <a:ln/>
        </p:spPr>
        <p:txBody>
          <a:bodyPr wrap="square" lIns="0" tIns="0" rIns="0" bIns="0" rtlCol="0" anchor="ctr"/>
          <a:lstStyle/>
          <a:p>
            <a:pPr indent="0" marL="0">
              <a:buNone/>
            </a:pPr>
            <a:r>
              <a:rPr lang="en-US" sz="1000" dirty="0">
                <a:solidFill>
                  <a:srgbClr val="E6EDF3"/>
                </a:solidFill>
                <a:latin typeface="Calibri" pitchFamily="34" charset="0"/>
                <a:ea typeface="Calibri" pitchFamily="34" charset="-122"/>
                <a:cs typeface="Calibri" pitchFamily="34" charset="-120"/>
              </a:rPr>
              <a:t>BE_PLAN, FE_PLAN, TEST_PLAN, DELIVERY_PLAN</a:t>
            </a:r>
            <a:endParaRPr lang="en-US" sz="1000" dirty="0"/>
          </a:p>
        </p:txBody>
      </p:sp>
      <p:sp>
        <p:nvSpPr>
          <p:cNvPr id="29" name="Shape 27"/>
          <p:cNvSpPr/>
          <p:nvPr/>
        </p:nvSpPr>
        <p:spPr>
          <a:xfrm>
            <a:off x="365760" y="4462272"/>
            <a:ext cx="11430000" cy="603504"/>
          </a:xfrm>
          <a:prstGeom prst="rect">
            <a:avLst/>
          </a:prstGeom>
          <a:solidFill>
            <a:srgbClr val="161B22"/>
          </a:solidFill>
          <a:ln w="12700">
            <a:solidFill>
              <a:srgbClr val="30363D"/>
            </a:solidFill>
            <a:prstDash val="solid"/>
          </a:ln>
        </p:spPr>
      </p:sp>
      <p:sp>
        <p:nvSpPr>
          <p:cNvPr id="30" name="Shape 28"/>
          <p:cNvSpPr/>
          <p:nvPr/>
        </p:nvSpPr>
        <p:spPr>
          <a:xfrm>
            <a:off x="502920" y="4581144"/>
            <a:ext cx="365760" cy="365760"/>
          </a:xfrm>
          <a:prstGeom prst="ellipse">
            <a:avLst/>
          </a:prstGeom>
          <a:solidFill>
            <a:srgbClr val="7CE38B"/>
          </a:solidFill>
          <a:ln w="12700">
            <a:solidFill>
              <a:srgbClr val="7CE38B"/>
            </a:solidFill>
            <a:prstDash val="solid"/>
          </a:ln>
        </p:spPr>
      </p:sp>
      <p:sp>
        <p:nvSpPr>
          <p:cNvPr id="31" name="Text 29"/>
          <p:cNvSpPr/>
          <p:nvPr/>
        </p:nvSpPr>
        <p:spPr>
          <a:xfrm>
            <a:off x="502920" y="4581144"/>
            <a:ext cx="365760" cy="365760"/>
          </a:xfrm>
          <a:prstGeom prst="rect">
            <a:avLst/>
          </a:prstGeom>
          <a:noFill/>
          <a:ln/>
        </p:spPr>
        <p:txBody>
          <a:bodyPr wrap="square" lIns="0" tIns="0" rIns="0" bIns="0" rtlCol="0" anchor="ctr"/>
          <a:lstStyle/>
          <a:p>
            <a:pPr algn="ctr" indent="0" marL="0">
              <a:buNone/>
            </a:pPr>
            <a:r>
              <a:rPr lang="en-US" sz="1400" b="1" dirty="0">
                <a:solidFill>
                  <a:srgbClr val="0D1117"/>
                </a:solidFill>
                <a:latin typeface="Consolas" pitchFamily="34" charset="0"/>
                <a:ea typeface="Consolas" pitchFamily="34" charset="-122"/>
                <a:cs typeface="Consolas" pitchFamily="34" charset="-120"/>
              </a:rPr>
              <a:t>4</a:t>
            </a:r>
            <a:endParaRPr lang="en-US" sz="1400" dirty="0"/>
          </a:p>
        </p:txBody>
      </p:sp>
      <p:sp>
        <p:nvSpPr>
          <p:cNvPr id="32" name="Text 30"/>
          <p:cNvSpPr/>
          <p:nvPr/>
        </p:nvSpPr>
        <p:spPr>
          <a:xfrm>
            <a:off x="1005840" y="4462272"/>
            <a:ext cx="2377440" cy="603504"/>
          </a:xfrm>
          <a:prstGeom prst="rect">
            <a:avLst/>
          </a:prstGeom>
          <a:noFill/>
          <a:ln/>
        </p:spPr>
        <p:txBody>
          <a:bodyPr wrap="square" lIns="0" tIns="0" rIns="0" bIns="0" rtlCol="0" anchor="ctr"/>
          <a:lstStyle/>
          <a:p>
            <a:pPr indent="0" marL="0">
              <a:buNone/>
            </a:pPr>
            <a:r>
              <a:rPr lang="en-US" sz="1400" b="1" dirty="0">
                <a:solidFill>
                  <a:srgbClr val="7CE38B"/>
                </a:solidFill>
                <a:latin typeface="Consolas" pitchFamily="34" charset="0"/>
                <a:ea typeface="Consolas" pitchFamily="34" charset="-122"/>
                <a:cs typeface="Consolas" pitchFamily="34" charset="-120"/>
              </a:rPr>
              <a:t>BUILD</a:t>
            </a:r>
            <a:endParaRPr lang="en-US" sz="1400" dirty="0"/>
          </a:p>
        </p:txBody>
      </p:sp>
      <p:sp>
        <p:nvSpPr>
          <p:cNvPr id="33" name="Text 31"/>
          <p:cNvSpPr/>
          <p:nvPr/>
        </p:nvSpPr>
        <p:spPr>
          <a:xfrm>
            <a:off x="3383280" y="4462272"/>
            <a:ext cx="2286000" cy="603504"/>
          </a:xfrm>
          <a:prstGeom prst="rect">
            <a:avLst/>
          </a:prstGeom>
          <a:noFill/>
          <a:ln/>
        </p:spPr>
        <p:txBody>
          <a:bodyPr wrap="square" lIns="0" tIns="0" rIns="0" bIns="0" rtlCol="0" anchor="ctr"/>
          <a:lstStyle/>
          <a:p>
            <a:pPr indent="0" marL="0">
              <a:buNone/>
            </a:pPr>
            <a:r>
              <a:rPr lang="en-US" sz="1100" dirty="0">
                <a:solidFill>
                  <a:srgbClr val="79C0FF"/>
                </a:solidFill>
                <a:latin typeface="Consolas" pitchFamily="34" charset="0"/>
                <a:ea typeface="Consolas" pitchFamily="34" charset="-122"/>
                <a:cs typeface="Consolas" pitchFamily="34" charset="-120"/>
              </a:rPr>
              <a:t>BE + FE</a:t>
            </a:r>
            <a:endParaRPr lang="en-US" sz="1100" dirty="0"/>
          </a:p>
        </p:txBody>
      </p:sp>
      <p:sp>
        <p:nvSpPr>
          <p:cNvPr id="34" name="Text 32"/>
          <p:cNvSpPr/>
          <p:nvPr/>
        </p:nvSpPr>
        <p:spPr>
          <a:xfrm>
            <a:off x="5760720" y="4462272"/>
            <a:ext cx="5943600" cy="603504"/>
          </a:xfrm>
          <a:prstGeom prst="rect">
            <a:avLst/>
          </a:prstGeom>
          <a:noFill/>
          <a:ln/>
        </p:spPr>
        <p:txBody>
          <a:bodyPr wrap="square" lIns="0" tIns="0" rIns="0" bIns="0" rtlCol="0" anchor="ctr"/>
          <a:lstStyle/>
          <a:p>
            <a:pPr indent="0" marL="0">
              <a:buNone/>
            </a:pPr>
            <a:r>
              <a:rPr lang="en-US" sz="1000" dirty="0">
                <a:solidFill>
                  <a:srgbClr val="E6EDF3"/>
                </a:solidFill>
                <a:latin typeface="Calibri" pitchFamily="34" charset="0"/>
                <a:ea typeface="Calibri" pitchFamily="34" charset="-122"/>
                <a:cs typeface="Calibri" pitchFamily="34" charset="-120"/>
              </a:rPr>
              <a:t>backend/* + frontend/* (source thật)</a:t>
            </a:r>
            <a:endParaRPr lang="en-US" sz="1000" dirty="0"/>
          </a:p>
        </p:txBody>
      </p:sp>
      <p:sp>
        <p:nvSpPr>
          <p:cNvPr id="35" name="Shape 33"/>
          <p:cNvSpPr/>
          <p:nvPr/>
        </p:nvSpPr>
        <p:spPr>
          <a:xfrm>
            <a:off x="365760" y="5120640"/>
            <a:ext cx="11430000" cy="603504"/>
          </a:xfrm>
          <a:prstGeom prst="rect">
            <a:avLst/>
          </a:prstGeom>
          <a:solidFill>
            <a:srgbClr val="1C2128"/>
          </a:solidFill>
          <a:ln w="12700">
            <a:solidFill>
              <a:srgbClr val="30363D"/>
            </a:solidFill>
            <a:prstDash val="solid"/>
          </a:ln>
        </p:spPr>
      </p:sp>
      <p:sp>
        <p:nvSpPr>
          <p:cNvPr id="36" name="Shape 34"/>
          <p:cNvSpPr/>
          <p:nvPr/>
        </p:nvSpPr>
        <p:spPr>
          <a:xfrm>
            <a:off x="502920" y="5239512"/>
            <a:ext cx="365760" cy="365760"/>
          </a:xfrm>
          <a:prstGeom prst="ellipse">
            <a:avLst/>
          </a:prstGeom>
          <a:solidFill>
            <a:srgbClr val="7CE38B"/>
          </a:solidFill>
          <a:ln w="12700">
            <a:solidFill>
              <a:srgbClr val="7CE38B"/>
            </a:solidFill>
            <a:prstDash val="solid"/>
          </a:ln>
        </p:spPr>
      </p:sp>
      <p:sp>
        <p:nvSpPr>
          <p:cNvPr id="37" name="Text 35"/>
          <p:cNvSpPr/>
          <p:nvPr/>
        </p:nvSpPr>
        <p:spPr>
          <a:xfrm>
            <a:off x="502920" y="5239512"/>
            <a:ext cx="365760" cy="365760"/>
          </a:xfrm>
          <a:prstGeom prst="rect">
            <a:avLst/>
          </a:prstGeom>
          <a:noFill/>
          <a:ln/>
        </p:spPr>
        <p:txBody>
          <a:bodyPr wrap="square" lIns="0" tIns="0" rIns="0" bIns="0" rtlCol="0" anchor="ctr"/>
          <a:lstStyle/>
          <a:p>
            <a:pPr algn="ctr" indent="0" marL="0">
              <a:buNone/>
            </a:pPr>
            <a:r>
              <a:rPr lang="en-US" sz="1400" b="1" dirty="0">
                <a:solidFill>
                  <a:srgbClr val="0D1117"/>
                </a:solidFill>
                <a:latin typeface="Consolas" pitchFamily="34" charset="0"/>
                <a:ea typeface="Consolas" pitchFamily="34" charset="-122"/>
                <a:cs typeface="Consolas" pitchFamily="34" charset="-120"/>
              </a:rPr>
              <a:t>5</a:t>
            </a:r>
            <a:endParaRPr lang="en-US" sz="1400" dirty="0"/>
          </a:p>
        </p:txBody>
      </p:sp>
      <p:sp>
        <p:nvSpPr>
          <p:cNvPr id="38" name="Text 36"/>
          <p:cNvSpPr/>
          <p:nvPr/>
        </p:nvSpPr>
        <p:spPr>
          <a:xfrm>
            <a:off x="1005840" y="5120640"/>
            <a:ext cx="2377440" cy="603504"/>
          </a:xfrm>
          <a:prstGeom prst="rect">
            <a:avLst/>
          </a:prstGeom>
          <a:noFill/>
          <a:ln/>
        </p:spPr>
        <p:txBody>
          <a:bodyPr wrap="square" lIns="0" tIns="0" rIns="0" bIns="0" rtlCol="0" anchor="ctr"/>
          <a:lstStyle/>
          <a:p>
            <a:pPr indent="0" marL="0">
              <a:buNone/>
            </a:pPr>
            <a:r>
              <a:rPr lang="en-US" sz="1400" b="1" dirty="0">
                <a:solidFill>
                  <a:srgbClr val="7CE38B"/>
                </a:solidFill>
                <a:latin typeface="Consolas" pitchFamily="34" charset="0"/>
                <a:ea typeface="Consolas" pitchFamily="34" charset="-122"/>
                <a:cs typeface="Consolas" pitchFamily="34" charset="-120"/>
              </a:rPr>
              <a:t>TEST &amp; FIX</a:t>
            </a:r>
            <a:endParaRPr lang="en-US" sz="1400" dirty="0"/>
          </a:p>
        </p:txBody>
      </p:sp>
      <p:sp>
        <p:nvSpPr>
          <p:cNvPr id="39" name="Text 37"/>
          <p:cNvSpPr/>
          <p:nvPr/>
        </p:nvSpPr>
        <p:spPr>
          <a:xfrm>
            <a:off x="3383280" y="5120640"/>
            <a:ext cx="2286000" cy="603504"/>
          </a:xfrm>
          <a:prstGeom prst="rect">
            <a:avLst/>
          </a:prstGeom>
          <a:noFill/>
          <a:ln/>
        </p:spPr>
        <p:txBody>
          <a:bodyPr wrap="square" lIns="0" tIns="0" rIns="0" bIns="0" rtlCol="0" anchor="ctr"/>
          <a:lstStyle/>
          <a:p>
            <a:pPr indent="0" marL="0">
              <a:buNone/>
            </a:pPr>
            <a:r>
              <a:rPr lang="en-US" sz="1100" dirty="0">
                <a:solidFill>
                  <a:srgbClr val="79C0FF"/>
                </a:solidFill>
                <a:latin typeface="Consolas" pitchFamily="34" charset="0"/>
                <a:ea typeface="Consolas" pitchFamily="34" charset="-122"/>
                <a:cs typeface="Consolas" pitchFamily="34" charset="-120"/>
              </a:rPr>
              <a:t>QA + BE + FE</a:t>
            </a:r>
            <a:endParaRPr lang="en-US" sz="1100" dirty="0"/>
          </a:p>
        </p:txBody>
      </p:sp>
      <p:sp>
        <p:nvSpPr>
          <p:cNvPr id="40" name="Text 38"/>
          <p:cNvSpPr/>
          <p:nvPr/>
        </p:nvSpPr>
        <p:spPr>
          <a:xfrm>
            <a:off x="5760720" y="5120640"/>
            <a:ext cx="5943600" cy="603504"/>
          </a:xfrm>
          <a:prstGeom prst="rect">
            <a:avLst/>
          </a:prstGeom>
          <a:noFill/>
          <a:ln/>
        </p:spPr>
        <p:txBody>
          <a:bodyPr wrap="square" lIns="0" tIns="0" rIns="0" bIns="0" rtlCol="0" anchor="ctr"/>
          <a:lstStyle/>
          <a:p>
            <a:pPr indent="0" marL="0">
              <a:buNone/>
            </a:pPr>
            <a:r>
              <a:rPr lang="en-US" sz="1000" dirty="0">
                <a:solidFill>
                  <a:srgbClr val="E6EDF3"/>
                </a:solidFill>
                <a:latin typeface="Calibri" pitchFamily="34" charset="0"/>
                <a:ea typeface="Calibri" pitchFamily="34" charset="-122"/>
                <a:cs typeface="Calibri" pitchFamily="34" charset="-120"/>
              </a:rPr>
              <a:t>TEST_REPORT VERDICT: PASS, BUG_REPORT clean</a:t>
            </a:r>
            <a:endParaRPr lang="en-US" sz="1000" dirty="0"/>
          </a:p>
        </p:txBody>
      </p:sp>
      <p:sp>
        <p:nvSpPr>
          <p:cNvPr id="41" name="Shape 39"/>
          <p:cNvSpPr/>
          <p:nvPr/>
        </p:nvSpPr>
        <p:spPr>
          <a:xfrm>
            <a:off x="365760" y="5779008"/>
            <a:ext cx="11430000" cy="603504"/>
          </a:xfrm>
          <a:prstGeom prst="rect">
            <a:avLst/>
          </a:prstGeom>
          <a:solidFill>
            <a:srgbClr val="161B22"/>
          </a:solidFill>
          <a:ln w="12700">
            <a:solidFill>
              <a:srgbClr val="30363D"/>
            </a:solidFill>
            <a:prstDash val="solid"/>
          </a:ln>
        </p:spPr>
      </p:sp>
      <p:sp>
        <p:nvSpPr>
          <p:cNvPr id="42" name="Shape 40"/>
          <p:cNvSpPr/>
          <p:nvPr/>
        </p:nvSpPr>
        <p:spPr>
          <a:xfrm>
            <a:off x="502920" y="5897880"/>
            <a:ext cx="365760" cy="365760"/>
          </a:xfrm>
          <a:prstGeom prst="ellipse">
            <a:avLst/>
          </a:prstGeom>
          <a:solidFill>
            <a:srgbClr val="7CE38B"/>
          </a:solidFill>
          <a:ln w="12700">
            <a:solidFill>
              <a:srgbClr val="7CE38B"/>
            </a:solidFill>
            <a:prstDash val="solid"/>
          </a:ln>
        </p:spPr>
      </p:sp>
      <p:sp>
        <p:nvSpPr>
          <p:cNvPr id="43" name="Text 41"/>
          <p:cNvSpPr/>
          <p:nvPr/>
        </p:nvSpPr>
        <p:spPr>
          <a:xfrm>
            <a:off x="502920" y="5897880"/>
            <a:ext cx="365760" cy="365760"/>
          </a:xfrm>
          <a:prstGeom prst="rect">
            <a:avLst/>
          </a:prstGeom>
          <a:noFill/>
          <a:ln/>
        </p:spPr>
        <p:txBody>
          <a:bodyPr wrap="square" lIns="0" tIns="0" rIns="0" bIns="0" rtlCol="0" anchor="ctr"/>
          <a:lstStyle/>
          <a:p>
            <a:pPr algn="ctr" indent="0" marL="0">
              <a:buNone/>
            </a:pPr>
            <a:r>
              <a:rPr lang="en-US" sz="1400" b="1" dirty="0">
                <a:solidFill>
                  <a:srgbClr val="0D1117"/>
                </a:solidFill>
                <a:latin typeface="Consolas" pitchFamily="34" charset="0"/>
                <a:ea typeface="Consolas" pitchFamily="34" charset="-122"/>
                <a:cs typeface="Consolas" pitchFamily="34" charset="-120"/>
              </a:rPr>
              <a:t>6</a:t>
            </a:r>
            <a:endParaRPr lang="en-US" sz="1400" dirty="0"/>
          </a:p>
        </p:txBody>
      </p:sp>
      <p:sp>
        <p:nvSpPr>
          <p:cNvPr id="44" name="Text 42"/>
          <p:cNvSpPr/>
          <p:nvPr/>
        </p:nvSpPr>
        <p:spPr>
          <a:xfrm>
            <a:off x="1005840" y="5779008"/>
            <a:ext cx="2377440" cy="603504"/>
          </a:xfrm>
          <a:prstGeom prst="rect">
            <a:avLst/>
          </a:prstGeom>
          <a:noFill/>
          <a:ln/>
        </p:spPr>
        <p:txBody>
          <a:bodyPr wrap="square" lIns="0" tIns="0" rIns="0" bIns="0" rtlCol="0" anchor="ctr"/>
          <a:lstStyle/>
          <a:p>
            <a:pPr indent="0" marL="0">
              <a:buNone/>
            </a:pPr>
            <a:r>
              <a:rPr lang="en-US" sz="1400" b="1" dirty="0">
                <a:solidFill>
                  <a:srgbClr val="7CE38B"/>
                </a:solidFill>
                <a:latin typeface="Consolas" pitchFamily="34" charset="0"/>
                <a:ea typeface="Consolas" pitchFamily="34" charset="-122"/>
                <a:cs typeface="Consolas" pitchFamily="34" charset="-120"/>
              </a:rPr>
              <a:t>DELIVERY</a:t>
            </a:r>
            <a:endParaRPr lang="en-US" sz="1400" dirty="0"/>
          </a:p>
        </p:txBody>
      </p:sp>
      <p:sp>
        <p:nvSpPr>
          <p:cNvPr id="45" name="Text 43"/>
          <p:cNvSpPr/>
          <p:nvPr/>
        </p:nvSpPr>
        <p:spPr>
          <a:xfrm>
            <a:off x="3383280" y="5779008"/>
            <a:ext cx="2286000" cy="603504"/>
          </a:xfrm>
          <a:prstGeom prst="rect">
            <a:avLst/>
          </a:prstGeom>
          <a:noFill/>
          <a:ln/>
        </p:spPr>
        <p:txBody>
          <a:bodyPr wrap="square" lIns="0" tIns="0" rIns="0" bIns="0" rtlCol="0" anchor="ctr"/>
          <a:lstStyle/>
          <a:p>
            <a:pPr indent="0" marL="0">
              <a:buNone/>
            </a:pPr>
            <a:r>
              <a:rPr lang="en-US" sz="1100" dirty="0">
                <a:solidFill>
                  <a:srgbClr val="79C0FF"/>
                </a:solidFill>
                <a:latin typeface="Consolas" pitchFamily="34" charset="0"/>
                <a:ea typeface="Consolas" pitchFamily="34" charset="-122"/>
                <a:cs typeface="Consolas" pitchFamily="34" charset="-120"/>
              </a:rPr>
              <a:t>DELIVERY</a:t>
            </a:r>
            <a:endParaRPr lang="en-US" sz="1100" dirty="0"/>
          </a:p>
        </p:txBody>
      </p:sp>
      <p:sp>
        <p:nvSpPr>
          <p:cNvPr id="46" name="Text 44"/>
          <p:cNvSpPr/>
          <p:nvPr/>
        </p:nvSpPr>
        <p:spPr>
          <a:xfrm>
            <a:off x="5760720" y="5779008"/>
            <a:ext cx="5943600" cy="603504"/>
          </a:xfrm>
          <a:prstGeom prst="rect">
            <a:avLst/>
          </a:prstGeom>
          <a:noFill/>
          <a:ln/>
        </p:spPr>
        <p:txBody>
          <a:bodyPr wrap="square" lIns="0" tIns="0" rIns="0" bIns="0" rtlCol="0" anchor="ctr"/>
          <a:lstStyle/>
          <a:p>
            <a:pPr indent="0" marL="0">
              <a:buNone/>
            </a:pPr>
            <a:r>
              <a:rPr lang="en-US" sz="1000" dirty="0">
                <a:solidFill>
                  <a:srgbClr val="E6EDF3"/>
                </a:solidFill>
                <a:latin typeface="Calibri" pitchFamily="34" charset="0"/>
                <a:ea typeface="Calibri" pitchFamily="34" charset="-122"/>
                <a:cs typeface="Calibri" pitchFamily="34" charset="-120"/>
              </a:rPr>
              <a:t>docker-compose, Dockerfile, RUNNING_APP.md + live URL</a:t>
            </a:r>
            <a:endParaRPr lang="en-US" sz="1000" dirty="0"/>
          </a:p>
        </p:txBody>
      </p:sp>
      <p:sp>
        <p:nvSpPr>
          <p:cNvPr id="47" name="Text 45"/>
          <p:cNvSpPr/>
          <p:nvPr/>
        </p:nvSpPr>
        <p:spPr>
          <a:xfrm>
            <a:off x="11338560" y="6492240"/>
            <a:ext cx="731520" cy="228600"/>
          </a:xfrm>
          <a:prstGeom prst="rect">
            <a:avLst/>
          </a:prstGeom>
          <a:noFill/>
          <a:ln/>
        </p:spPr>
        <p:txBody>
          <a:bodyPr wrap="square" lIns="0" tIns="0" rIns="0" bIns="0" rtlCol="0" anchor="ctr"/>
          <a:lstStyle/>
          <a:p>
            <a:pPr algn="r" indent="0" marL="0">
              <a:buNone/>
            </a:pPr>
            <a:r>
              <a:rPr lang="en-US" sz="900" dirty="0">
                <a:solidFill>
                  <a:srgbClr val="8B949E"/>
                </a:solidFill>
                <a:latin typeface="Consolas" pitchFamily="34" charset="0"/>
                <a:ea typeface="Consolas" pitchFamily="34" charset="-122"/>
                <a:cs typeface="Consolas" pitchFamily="34" charset="-120"/>
              </a:rPr>
              <a:t>16 / 32</a:t>
            </a:r>
            <a:endParaRPr lang="en-US" sz="900" dirty="0"/>
          </a:p>
        </p:txBody>
      </p:sp>
      <p:sp>
        <p:nvSpPr>
          <p:cNvPr id="48" name="Text 46"/>
          <p:cNvSpPr/>
          <p:nvPr/>
        </p:nvSpPr>
        <p:spPr>
          <a:xfrm>
            <a:off x="365760" y="6492240"/>
            <a:ext cx="1097280" cy="228600"/>
          </a:xfrm>
          <a:prstGeom prst="rect">
            <a:avLst/>
          </a:prstGeom>
          <a:noFill/>
          <a:ln/>
        </p:spPr>
        <p:txBody>
          <a:bodyPr wrap="square" lIns="0" tIns="0" rIns="0" bIns="0" rtlCol="0" anchor="ctr"/>
          <a:lstStyle/>
          <a:p>
            <a:pPr algn="l" indent="0" marL="0">
              <a:buNone/>
            </a:pPr>
            <a:r>
              <a:rPr lang="en-US" sz="900" dirty="0">
                <a:solidFill>
                  <a:srgbClr val="8B949E"/>
                </a:solidFill>
                <a:latin typeface="Consolas" pitchFamily="34" charset="0"/>
                <a:ea typeface="Consolas" pitchFamily="34" charset="-122"/>
                <a:cs typeface="Consolas" pitchFamily="34" charset="-120"/>
              </a:rPr>
              <a:t>v10.12</a:t>
            </a:r>
            <a:endParaRPr lang="en-US" sz="900" dirty="0"/>
          </a:p>
        </p:txBody>
      </p:sp>
      <p:sp>
        <p:nvSpPr>
          <p:cNvPr id="49" name="Text 47"/>
          <p:cNvSpPr/>
          <p:nvPr/>
        </p:nvSpPr>
        <p:spPr>
          <a:xfrm>
            <a:off x="4572000" y="6492240"/>
            <a:ext cx="6400800" cy="228600"/>
          </a:xfrm>
          <a:prstGeom prst="rect">
            <a:avLst/>
          </a:prstGeom>
          <a:noFill/>
          <a:ln/>
        </p:spPr>
        <p:txBody>
          <a:bodyPr wrap="square" lIns="0" tIns="0" rIns="0" bIns="0" rtlCol="0" anchor="ctr"/>
          <a:lstStyle/>
          <a:p>
            <a:pPr algn="ctr" indent="0" marL="0">
              <a:buNone/>
            </a:pPr>
            <a:r>
              <a:rPr lang="en-US" sz="900" dirty="0">
                <a:solidFill>
                  <a:srgbClr val="8B949E"/>
                </a:solidFill>
                <a:latin typeface="Consolas" pitchFamily="34" charset="0"/>
                <a:ea typeface="Consolas" pitchFamily="34" charset="-122"/>
                <a:cs typeface="Consolas" pitchFamily="34" charset="-120"/>
              </a:rPr>
              <a:t>Product Engineering Agent Framework</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365760" y="228600"/>
            <a:ext cx="8229600" cy="274320"/>
          </a:xfrm>
          <a:prstGeom prst="rect">
            <a:avLst/>
          </a:prstGeom>
          <a:noFill/>
          <a:ln/>
        </p:spPr>
        <p:txBody>
          <a:bodyPr wrap="square" lIns="0" tIns="0" rIns="0" bIns="0" rtlCol="0" anchor="ctr"/>
          <a:lstStyle/>
          <a:p>
            <a:pPr indent="0" marL="0">
              <a:buNone/>
            </a:pPr>
            <a:r>
              <a:rPr lang="en-US" sz="1100" dirty="0">
                <a:solidFill>
                  <a:srgbClr val="2EA043"/>
                </a:solidFill>
                <a:latin typeface="Consolas" pitchFamily="34" charset="0"/>
                <a:ea typeface="Consolas" pitchFamily="34" charset="-122"/>
                <a:cs typeface="Consolas" pitchFamily="34" charset="-120"/>
              </a:rPr>
              <a:t>$ </a:t>
            </a:r>
            <a:pPr indent="0" marL="0">
              <a:buNone/>
            </a:pPr>
            <a:r>
              <a:rPr lang="en-US" sz="1100" dirty="0">
                <a:solidFill>
                  <a:srgbClr val="8B949E"/>
                </a:solidFill>
                <a:latin typeface="Consolas" pitchFamily="34" charset="0"/>
                <a:ea typeface="Consolas" pitchFamily="34" charset="-122"/>
                <a:cs typeface="Consolas" pitchFamily="34" charset="-120"/>
              </a:rPr>
              <a:t>15_phase_gates.md</a:t>
            </a:r>
            <a:endParaRPr lang="en-US" sz="1100" dirty="0"/>
          </a:p>
        </p:txBody>
      </p:sp>
      <p:sp>
        <p:nvSpPr>
          <p:cNvPr id="3" name="Text 1"/>
          <p:cNvSpPr/>
          <p:nvPr/>
        </p:nvSpPr>
        <p:spPr>
          <a:xfrm>
            <a:off x="365760" y="548640"/>
            <a:ext cx="11430000" cy="640080"/>
          </a:xfrm>
          <a:prstGeom prst="rect">
            <a:avLst/>
          </a:prstGeom>
          <a:noFill/>
          <a:ln/>
        </p:spPr>
        <p:txBody>
          <a:bodyPr wrap="square" lIns="0" tIns="0" rIns="0" bIns="0" rtlCol="0" anchor="ctr"/>
          <a:lstStyle/>
          <a:p>
            <a:pPr indent="0" marL="0">
              <a:buNone/>
            </a:pPr>
            <a:r>
              <a:rPr lang="en-US" sz="3000" b="1" dirty="0">
                <a:solidFill>
                  <a:srgbClr val="E6EDF3"/>
                </a:solidFill>
                <a:latin typeface="Consolas" pitchFamily="34" charset="0"/>
                <a:ea typeface="Consolas" pitchFamily="34" charset="-122"/>
                <a:cs typeface="Consolas" pitchFamily="34" charset="-120"/>
              </a:rPr>
              <a:t>Phase gates — không nhảy phase</a:t>
            </a:r>
            <a:endParaRPr lang="en-US" sz="3000" dirty="0"/>
          </a:p>
        </p:txBody>
      </p:sp>
      <p:sp>
        <p:nvSpPr>
          <p:cNvPr id="4" name="Text 2"/>
          <p:cNvSpPr/>
          <p:nvPr/>
        </p:nvSpPr>
        <p:spPr>
          <a:xfrm>
            <a:off x="365760" y="1143000"/>
            <a:ext cx="11430000" cy="365760"/>
          </a:xfrm>
          <a:prstGeom prst="rect">
            <a:avLst/>
          </a:prstGeom>
          <a:noFill/>
          <a:ln/>
        </p:spPr>
        <p:txBody>
          <a:bodyPr wrap="square" lIns="0" tIns="0" rIns="0" bIns="0" rtlCol="0" anchor="ctr"/>
          <a:lstStyle/>
          <a:p>
            <a:pPr indent="0" marL="0">
              <a:buNone/>
            </a:pPr>
            <a:r>
              <a:rPr lang="en-US" sz="1400" i="1" dirty="0">
                <a:solidFill>
                  <a:srgbClr val="8B949E"/>
                </a:solidFill>
                <a:latin typeface="Calibri" pitchFamily="34" charset="0"/>
                <a:ea typeface="Calibri" pitchFamily="34" charset="-122"/>
                <a:cs typeface="Calibri" pitchFamily="34" charset="-120"/>
              </a:rPr>
              <a:t>Không thể vào phase N khi phase N-1 chưa qua exit criteria</a:t>
            </a:r>
            <a:endParaRPr lang="en-US" sz="1400" dirty="0"/>
          </a:p>
        </p:txBody>
      </p:sp>
      <p:sp>
        <p:nvSpPr>
          <p:cNvPr id="5" name="Shape 3"/>
          <p:cNvSpPr/>
          <p:nvPr/>
        </p:nvSpPr>
        <p:spPr>
          <a:xfrm>
            <a:off x="365760" y="1783080"/>
            <a:ext cx="5852160" cy="4480560"/>
          </a:xfrm>
          <a:prstGeom prst="rect">
            <a:avLst/>
          </a:prstGeom>
          <a:solidFill>
            <a:srgbClr val="161B22"/>
          </a:solidFill>
          <a:ln w="12700">
            <a:solidFill>
              <a:srgbClr val="30363D"/>
            </a:solidFill>
            <a:prstDash val="solid"/>
          </a:ln>
        </p:spPr>
      </p:sp>
      <p:sp>
        <p:nvSpPr>
          <p:cNvPr id="6" name="Shape 4"/>
          <p:cNvSpPr/>
          <p:nvPr/>
        </p:nvSpPr>
        <p:spPr>
          <a:xfrm>
            <a:off x="457200" y="1874520"/>
            <a:ext cx="91440" cy="91440"/>
          </a:xfrm>
          <a:prstGeom prst="ellipse">
            <a:avLst/>
          </a:prstGeom>
          <a:solidFill>
            <a:srgbClr val="F85149"/>
          </a:solidFill>
          <a:ln w="12700">
            <a:solidFill>
              <a:srgbClr val="F85149"/>
            </a:solidFill>
            <a:prstDash val="solid"/>
          </a:ln>
        </p:spPr>
      </p:sp>
      <p:sp>
        <p:nvSpPr>
          <p:cNvPr id="7" name="Shape 5"/>
          <p:cNvSpPr/>
          <p:nvPr/>
        </p:nvSpPr>
        <p:spPr>
          <a:xfrm>
            <a:off x="585216" y="1874520"/>
            <a:ext cx="91440" cy="91440"/>
          </a:xfrm>
          <a:prstGeom prst="ellipse">
            <a:avLst/>
          </a:prstGeom>
          <a:solidFill>
            <a:srgbClr val="D29922"/>
          </a:solidFill>
          <a:ln w="12700">
            <a:solidFill>
              <a:srgbClr val="D29922"/>
            </a:solidFill>
            <a:prstDash val="solid"/>
          </a:ln>
        </p:spPr>
      </p:sp>
      <p:sp>
        <p:nvSpPr>
          <p:cNvPr id="8" name="Shape 6"/>
          <p:cNvSpPr/>
          <p:nvPr/>
        </p:nvSpPr>
        <p:spPr>
          <a:xfrm>
            <a:off x="713232" y="1874520"/>
            <a:ext cx="91440" cy="91440"/>
          </a:xfrm>
          <a:prstGeom prst="ellipse">
            <a:avLst/>
          </a:prstGeom>
          <a:solidFill>
            <a:srgbClr val="3FB950"/>
          </a:solidFill>
          <a:ln w="12700">
            <a:solidFill>
              <a:srgbClr val="3FB950"/>
            </a:solidFill>
            <a:prstDash val="solid"/>
          </a:ln>
        </p:spPr>
      </p:sp>
      <p:sp>
        <p:nvSpPr>
          <p:cNvPr id="9" name="Text 7"/>
          <p:cNvSpPr/>
          <p:nvPr/>
        </p:nvSpPr>
        <p:spPr>
          <a:xfrm>
            <a:off x="502920" y="2103120"/>
            <a:ext cx="5577840" cy="4114800"/>
          </a:xfrm>
          <a:prstGeom prst="rect">
            <a:avLst/>
          </a:prstGeom>
          <a:noFill/>
          <a:ln/>
        </p:spPr>
        <p:txBody>
          <a:bodyPr wrap="square" lIns="0" tIns="0" rIns="0" bIns="0" rtlCol="0" anchor="t"/>
          <a:lstStyle/>
          <a:p>
            <a:pPr indent="0" marL="0">
              <a:buNone/>
            </a:pPr>
            <a:r>
              <a:rPr lang="en-US" sz="1200" dirty="0">
                <a:solidFill>
                  <a:srgbClr val="8B949E"/>
                </a:solidFill>
                <a:latin typeface="Consolas" pitchFamily="34" charset="0"/>
                <a:ea typeface="Consolas" pitchFamily="34" charset="-122"/>
                <a:cs typeface="Consolas" pitchFamily="34" charset="-120"/>
              </a:rPr>
              <a:t># Check một phase</a:t>
            </a:r>
            <a:endParaRPr lang="en-US" sz="1200" dirty="0"/>
          </a:p>
          <a:p>
            <a:pPr indent="0" marL="0">
              <a:buNone/>
            </a:pPr>
            <a:r>
              <a:rPr lang="en-US" sz="1200" dirty="0">
                <a:solidFill>
                  <a:srgbClr val="7CE38B"/>
                </a:solidFill>
                <a:latin typeface="Consolas" pitchFamily="34" charset="0"/>
                <a:ea typeface="Consolas" pitchFamily="34" charset="-122"/>
                <a:cs typeface="Consolas" pitchFamily="34" charset="-120"/>
              </a:rPr>
              <a:t>$ bash scripts/check_phase_gate.sh \</a:t>
            </a:r>
            <a:endParaRPr lang="en-US" sz="1200" dirty="0"/>
          </a:p>
          <a:p>
            <a:pPr indent="0" marL="0">
              <a:buNone/>
            </a:pPr>
            <a:r>
              <a:rPr lang="en-US" sz="1200" dirty="0">
                <a:solidFill>
                  <a:srgbClr val="E6EDF3"/>
                </a:solidFill>
                <a:latin typeface="Consolas" pitchFamily="34" charset="0"/>
                <a:ea typeface="Consolas" pitchFamily="34" charset="-122"/>
                <a:cs typeface="Consolas" pitchFamily="34" charset="-120"/>
              </a:rPr>
              <a:t>        1_SOLUTION_DESIGN</a:t>
            </a:r>
            <a:endParaRPr lang="en-US" sz="1200" dirty="0"/>
          </a:p>
          <a:p>
            <a:pPr indent="0" marL="0">
              <a:buNone/>
            </a:pPr>
            <a:endParaRPr lang="en-US" sz="1200" dirty="0"/>
          </a:p>
          <a:p>
            <a:pPr indent="0" marL="0">
              <a:buNone/>
            </a:pPr>
            <a:r>
              <a:rPr lang="en-US" sz="1200" dirty="0">
                <a:solidFill>
                  <a:srgbClr val="8B949E"/>
                </a:solidFill>
                <a:latin typeface="Consolas" pitchFamily="34" charset="0"/>
                <a:ea typeface="Consolas" pitchFamily="34" charset="-122"/>
                <a:cs typeface="Consolas" pitchFamily="34" charset="-120"/>
              </a:rPr>
              <a:t># Check tất cả phase tới đó</a:t>
            </a:r>
            <a:endParaRPr lang="en-US" sz="1200" dirty="0"/>
          </a:p>
          <a:p>
            <a:pPr indent="0" marL="0">
              <a:buNone/>
            </a:pPr>
            <a:r>
              <a:rPr lang="en-US" sz="1200" dirty="0">
                <a:solidFill>
                  <a:srgbClr val="7CE38B"/>
                </a:solidFill>
                <a:latin typeface="Consolas" pitchFamily="34" charset="0"/>
                <a:ea typeface="Consolas" pitchFamily="34" charset="-122"/>
                <a:cs typeface="Consolas" pitchFamily="34" charset="-120"/>
              </a:rPr>
              <a:t>$ bash scripts/check_phase_gate.sh \</a:t>
            </a:r>
            <a:endParaRPr lang="en-US" sz="1200" dirty="0"/>
          </a:p>
          <a:p>
            <a:pPr indent="0" marL="0">
              <a:buNone/>
            </a:pPr>
            <a:r>
              <a:rPr lang="en-US" sz="1200" dirty="0">
                <a:solidFill>
                  <a:srgbClr val="E6EDF3"/>
                </a:solidFill>
                <a:latin typeface="Consolas" pitchFamily="34" charset="0"/>
                <a:ea typeface="Consolas" pitchFamily="34" charset="-122"/>
                <a:cs typeface="Consolas" pitchFamily="34" charset="-120"/>
              </a:rPr>
              <a:t>        --through 3_IMPLEMENTATION_PLANNING</a:t>
            </a:r>
            <a:endParaRPr lang="en-US" sz="1200" dirty="0"/>
          </a:p>
          <a:p>
            <a:pPr indent="0" marL="0">
              <a:buNone/>
            </a:pPr>
            <a:endParaRPr lang="en-US" sz="1200" dirty="0"/>
          </a:p>
          <a:p>
            <a:pPr indent="0" marL="0">
              <a:buNone/>
            </a:pPr>
            <a:r>
              <a:rPr lang="en-US" sz="1200" dirty="0">
                <a:solidFill>
                  <a:srgbClr val="8B949E"/>
                </a:solidFill>
                <a:latin typeface="Consolas" pitchFamily="34" charset="0"/>
                <a:ea typeface="Consolas" pitchFamily="34" charset="-122"/>
                <a:cs typeface="Consolas" pitchFamily="34" charset="-120"/>
              </a:rPr>
              <a:t># Officially advance (refuse nếu gate fail)</a:t>
            </a:r>
            <a:endParaRPr lang="en-US" sz="1200" dirty="0"/>
          </a:p>
          <a:p>
            <a:pPr indent="0" marL="0">
              <a:buNone/>
            </a:pPr>
            <a:r>
              <a:rPr lang="en-US" sz="1200" dirty="0">
                <a:solidFill>
                  <a:srgbClr val="7CE38B"/>
                </a:solidFill>
                <a:latin typeface="Consolas" pitchFamily="34" charset="0"/>
                <a:ea typeface="Consolas" pitchFamily="34" charset="-122"/>
                <a:cs typeface="Consolas" pitchFamily="34" charset="-120"/>
              </a:rPr>
              <a:t>$ bash scripts/advance_phase.sh \</a:t>
            </a:r>
            <a:endParaRPr lang="en-US" sz="1200" dirty="0"/>
          </a:p>
          <a:p>
            <a:pPr indent="0" marL="0">
              <a:buNone/>
            </a:pPr>
            <a:r>
              <a:rPr lang="en-US" sz="1200" dirty="0">
                <a:solidFill>
                  <a:srgbClr val="E6EDF3"/>
                </a:solidFill>
                <a:latin typeface="Consolas" pitchFamily="34" charset="0"/>
                <a:ea typeface="Consolas" pitchFamily="34" charset="-122"/>
                <a:cs typeface="Consolas" pitchFamily="34" charset="-120"/>
              </a:rPr>
              <a:t>        4_BUILD</a:t>
            </a:r>
            <a:endParaRPr lang="en-US" sz="1200" dirty="0"/>
          </a:p>
          <a:p>
            <a:pPr indent="0" marL="0">
              <a:buNone/>
            </a:pPr>
            <a:endParaRPr lang="en-US" sz="1200" dirty="0"/>
          </a:p>
          <a:p>
            <a:pPr indent="0" marL="0">
              <a:buNone/>
            </a:pPr>
            <a:r>
              <a:rPr lang="en-US" sz="1200" dirty="0">
                <a:solidFill>
                  <a:srgbClr val="8B949E"/>
                </a:solidFill>
                <a:latin typeface="Consolas" pitchFamily="34" charset="0"/>
                <a:ea typeface="Consolas" pitchFamily="34" charset="-122"/>
                <a:cs typeface="Consolas" pitchFamily="34" charset="-120"/>
              </a:rPr>
              <a:t># Override khi user explicit waive:</a:t>
            </a:r>
            <a:endParaRPr lang="en-US" sz="1200" dirty="0"/>
          </a:p>
          <a:p>
            <a:pPr indent="0" marL="0">
              <a:buNone/>
            </a:pPr>
            <a:r>
              <a:rPr lang="en-US" sz="1200" dirty="0">
                <a:solidFill>
                  <a:srgbClr val="7CE38B"/>
                </a:solidFill>
                <a:latin typeface="Consolas" pitchFamily="34" charset="0"/>
                <a:ea typeface="Consolas" pitchFamily="34" charset="-122"/>
                <a:cs typeface="Consolas" pitchFamily="34" charset="-120"/>
              </a:rPr>
              <a:t>$ ADVANCE_PHASE_FORCE=1 \</a:t>
            </a:r>
            <a:endParaRPr lang="en-US" sz="1200" dirty="0"/>
          </a:p>
          <a:p>
            <a:pPr indent="0" marL="0">
              <a:buNone/>
            </a:pPr>
            <a:r>
              <a:rPr lang="en-US" sz="1200" dirty="0">
                <a:solidFill>
                  <a:srgbClr val="E6EDF3"/>
                </a:solidFill>
                <a:latin typeface="Consolas" pitchFamily="34" charset="0"/>
                <a:ea typeface="Consolas" pitchFamily="34" charset="-122"/>
                <a:cs typeface="Consolas" pitchFamily="34" charset="-120"/>
              </a:rPr>
              <a:t>      bash scripts/advance_phase.sh 6_DELIVERY</a:t>
            </a:r>
            <a:endParaRPr lang="en-US" sz="1200" dirty="0"/>
          </a:p>
        </p:txBody>
      </p:sp>
      <p:sp>
        <p:nvSpPr>
          <p:cNvPr id="10" name="Shape 8"/>
          <p:cNvSpPr/>
          <p:nvPr/>
        </p:nvSpPr>
        <p:spPr>
          <a:xfrm>
            <a:off x="6492240" y="1874520"/>
            <a:ext cx="54864" cy="292608"/>
          </a:xfrm>
          <a:prstGeom prst="rect">
            <a:avLst/>
          </a:prstGeom>
          <a:solidFill>
            <a:srgbClr val="7CE38B"/>
          </a:solidFill>
          <a:ln w="12700">
            <a:solidFill>
              <a:srgbClr val="7CE38B"/>
            </a:solidFill>
            <a:prstDash val="solid"/>
          </a:ln>
        </p:spPr>
      </p:sp>
      <p:sp>
        <p:nvSpPr>
          <p:cNvPr id="11" name="Text 9"/>
          <p:cNvSpPr/>
          <p:nvPr/>
        </p:nvSpPr>
        <p:spPr>
          <a:xfrm>
            <a:off x="6629400" y="1874520"/>
            <a:ext cx="5166360" cy="292608"/>
          </a:xfrm>
          <a:prstGeom prst="rect">
            <a:avLst/>
          </a:prstGeom>
          <a:noFill/>
          <a:ln/>
        </p:spPr>
        <p:txBody>
          <a:bodyPr wrap="square" lIns="0" tIns="0" rIns="0" bIns="0" rtlCol="0" anchor="ctr"/>
          <a:lstStyle/>
          <a:p>
            <a:pPr indent="0" marL="0">
              <a:buNone/>
            </a:pPr>
            <a:r>
              <a:rPr lang="en-US" sz="1400" b="1" dirty="0">
                <a:solidFill>
                  <a:srgbClr val="E6EDF3"/>
                </a:solidFill>
                <a:latin typeface="Consolas" pitchFamily="34" charset="0"/>
                <a:ea typeface="Consolas" pitchFamily="34" charset="-122"/>
                <a:cs typeface="Consolas" pitchFamily="34" charset="-120"/>
              </a:rPr>
              <a:t>Semantic checks (vượt khỏi file-exists)</a:t>
            </a:r>
            <a:endParaRPr lang="en-US" sz="1400" dirty="0"/>
          </a:p>
        </p:txBody>
      </p:sp>
      <p:sp>
        <p:nvSpPr>
          <p:cNvPr id="12" name="Text 10"/>
          <p:cNvSpPr/>
          <p:nvPr/>
        </p:nvSpPr>
        <p:spPr>
          <a:xfrm>
            <a:off x="6492240" y="2331720"/>
            <a:ext cx="5303520" cy="3840480"/>
          </a:xfrm>
          <a:prstGeom prst="rect">
            <a:avLst/>
          </a:prstGeom>
          <a:noFill/>
          <a:ln/>
        </p:spPr>
        <p:txBody>
          <a:bodyPr wrap="square" lIns="0" tIns="0" rIns="0" bIns="0" rtlCol="0" anchor="ctr"/>
          <a:lstStyle/>
          <a:p>
            <a:pPr indent="0" marL="0">
              <a:spcAft>
                <a:spcPts val="600"/>
              </a:spcAft>
              <a:buNone/>
            </a:pPr>
            <a:r>
              <a:rPr lang="en-US" sz="1200" dirty="0">
                <a:solidFill>
                  <a:srgbClr val="E6EDF3"/>
                </a:solidFill>
                <a:latin typeface="Calibri" pitchFamily="34" charset="0"/>
                <a:ea typeface="Calibri" pitchFamily="34" charset="-122"/>
                <a:cs typeface="Calibri" pitchFamily="34" charset="-120"/>
              </a:rPr>
              <a:t>▸ Phase 1 cần </a:t>
            </a:r>
            <a:pPr indent="0" marL="0">
              <a:spcAft>
                <a:spcPts val="600"/>
              </a:spcAft>
              <a:buNone/>
            </a:pPr>
            <a:r>
              <a:rPr lang="en-US" sz="1200" dirty="0">
                <a:solidFill>
                  <a:srgbClr val="7CE38B"/>
                </a:solidFill>
                <a:latin typeface="Consolas" pitchFamily="34" charset="0"/>
                <a:ea typeface="Consolas" pitchFamily="34" charset="-122"/>
                <a:cs typeface="Consolas" pitchFamily="34" charset="-120"/>
              </a:rPr>
              <a:t>TECH_STACK.md </a:t>
            </a:r>
            <a:pPr indent="0" marL="0">
              <a:spcAft>
                <a:spcPts val="600"/>
              </a:spcAft>
              <a:buNone/>
            </a:pPr>
            <a:r>
              <a:rPr lang="en-US" sz="1200" dirty="0">
                <a:solidFill>
                  <a:srgbClr val="E6EDF3"/>
                </a:solidFill>
                <a:latin typeface="Calibri" pitchFamily="34" charset="0"/>
                <a:ea typeface="Calibri" pitchFamily="34" charset="-122"/>
                <a:cs typeface="Calibri" pitchFamily="34" charset="-120"/>
              </a:rPr>
              <a:t>có </a:t>
            </a:r>
            <a:pPr indent="0" marL="0">
              <a:spcAft>
                <a:spcPts val="600"/>
              </a:spcAft>
              <a:buNone/>
            </a:pPr>
            <a:r>
              <a:rPr lang="en-US" sz="1200" dirty="0">
                <a:solidFill>
                  <a:srgbClr val="D29922"/>
                </a:solidFill>
                <a:latin typeface="Consolas" pitchFamily="34" charset="0"/>
                <a:ea typeface="Consolas" pitchFamily="34" charset="-122"/>
                <a:cs typeface="Consolas" pitchFamily="34" charset="-120"/>
              </a:rPr>
              <a:t>"Confirmed by user"</a:t>
            </a:r>
            <a:endParaRPr lang="en-US" sz="1200" dirty="0"/>
          </a:p>
          <a:p>
            <a:pPr indent="0" marL="0">
              <a:spcAft>
                <a:spcPts val="600"/>
              </a:spcAft>
              <a:buNone/>
            </a:pPr>
            <a:r>
              <a:rPr lang="en-US" sz="1200" dirty="0">
                <a:solidFill>
                  <a:srgbClr val="E6EDF3"/>
                </a:solidFill>
                <a:latin typeface="Calibri" pitchFamily="34" charset="0"/>
                <a:ea typeface="Calibri" pitchFamily="34" charset="-122"/>
                <a:cs typeface="Calibri" pitchFamily="34" charset="-120"/>
              </a:rPr>
              <a:t>▸ Phase 4 cần </a:t>
            </a:r>
            <a:pPr indent="0" marL="0">
              <a:spcAft>
                <a:spcPts val="600"/>
              </a:spcAft>
              <a:buNone/>
            </a:pPr>
            <a:r>
              <a:rPr lang="en-US" sz="1200" dirty="0">
                <a:solidFill>
                  <a:srgbClr val="7CE38B"/>
                </a:solidFill>
                <a:latin typeface="Consolas" pitchFamily="34" charset="0"/>
                <a:ea typeface="Consolas" pitchFamily="34" charset="-122"/>
                <a:cs typeface="Consolas" pitchFamily="34" charset="-120"/>
              </a:rPr>
              <a:t>backend/</a:t>
            </a:r>
            <a:pPr indent="0" marL="0">
              <a:spcAft>
                <a:spcPts val="600"/>
              </a:spcAft>
              <a:buNone/>
            </a:pPr>
            <a:r>
              <a:rPr lang="en-US" sz="1200" dirty="0">
                <a:solidFill>
                  <a:srgbClr val="E6EDF3"/>
                </a:solidFill>
                <a:latin typeface="Calibri" pitchFamily="34" charset="0"/>
                <a:ea typeface="Calibri" pitchFamily="34" charset="-122"/>
                <a:cs typeface="Calibri" pitchFamily="34" charset="-120"/>
              </a:rPr>
              <a:t> + </a:t>
            </a:r>
            <a:pPr indent="0" marL="0">
              <a:spcAft>
                <a:spcPts val="600"/>
              </a:spcAft>
              <a:buNone/>
            </a:pPr>
            <a:r>
              <a:rPr lang="en-US" sz="1200" dirty="0">
                <a:solidFill>
                  <a:srgbClr val="7CE38B"/>
                </a:solidFill>
                <a:latin typeface="Consolas" pitchFamily="34" charset="0"/>
                <a:ea typeface="Consolas" pitchFamily="34" charset="-122"/>
                <a:cs typeface="Consolas" pitchFamily="34" charset="-120"/>
              </a:rPr>
              <a:t>frontend/</a:t>
            </a:r>
            <a:pPr indent="0" marL="0">
              <a:spcAft>
                <a:spcPts val="600"/>
              </a:spcAft>
              <a:buNone/>
            </a:pPr>
            <a:r>
              <a:rPr lang="en-US" sz="1200" dirty="0">
                <a:solidFill>
                  <a:srgbClr val="E6EDF3"/>
                </a:solidFill>
                <a:latin typeface="Calibri" pitchFamily="34" charset="0"/>
                <a:ea typeface="Calibri" pitchFamily="34" charset="-122"/>
                <a:cs typeface="Calibri" pitchFamily="34" charset="-120"/>
              </a:rPr>
              <a:t> có source files thật</a:t>
            </a:r>
            <a:endParaRPr lang="en-US" sz="1200" dirty="0"/>
          </a:p>
          <a:p>
            <a:pPr indent="0" marL="0">
              <a:spcAft>
                <a:spcPts val="600"/>
              </a:spcAft>
              <a:buNone/>
            </a:pPr>
            <a:r>
              <a:rPr lang="en-US" sz="1200" dirty="0">
                <a:solidFill>
                  <a:srgbClr val="E6EDF3"/>
                </a:solidFill>
                <a:latin typeface="Calibri" pitchFamily="34" charset="0"/>
                <a:ea typeface="Calibri" pitchFamily="34" charset="-122"/>
                <a:cs typeface="Calibri" pitchFamily="34" charset="-120"/>
              </a:rPr>
              <a:t>▸ Phase 5 cần </a:t>
            </a:r>
            <a:pPr indent="0" marL="0">
              <a:spcAft>
                <a:spcPts val="600"/>
              </a:spcAft>
              <a:buNone/>
            </a:pPr>
            <a:r>
              <a:rPr lang="en-US" sz="1200" dirty="0">
                <a:solidFill>
                  <a:srgbClr val="D29922"/>
                </a:solidFill>
                <a:latin typeface="Consolas" pitchFamily="34" charset="0"/>
                <a:ea typeface="Consolas" pitchFamily="34" charset="-122"/>
                <a:cs typeface="Consolas" pitchFamily="34" charset="-120"/>
              </a:rPr>
              <a:t>VERDICT: PASS </a:t>
            </a:r>
            <a:pPr indent="0" marL="0">
              <a:spcAft>
                <a:spcPts val="600"/>
              </a:spcAft>
              <a:buNone/>
            </a:pPr>
            <a:r>
              <a:rPr lang="en-US" sz="1200" dirty="0">
                <a:solidFill>
                  <a:srgbClr val="E6EDF3"/>
                </a:solidFill>
                <a:latin typeface="Calibri" pitchFamily="34" charset="0"/>
                <a:ea typeface="Calibri" pitchFamily="34" charset="-122"/>
                <a:cs typeface="Calibri" pitchFamily="34" charset="-120"/>
              </a:rPr>
              <a:t>+ no OPEN_CRITICAL / OPEN_MAJOR / RETEST_FAIL</a:t>
            </a:r>
            <a:endParaRPr lang="en-US" sz="1200" dirty="0"/>
          </a:p>
          <a:p>
            <a:pPr indent="0" marL="0">
              <a:spcAft>
                <a:spcPts val="600"/>
              </a:spcAft>
              <a:buNone/>
            </a:pPr>
            <a:r>
              <a:rPr lang="en-US" sz="1200" dirty="0">
                <a:solidFill>
                  <a:srgbClr val="E6EDF3"/>
                </a:solidFill>
                <a:latin typeface="Calibri" pitchFamily="34" charset="0"/>
                <a:ea typeface="Calibri" pitchFamily="34" charset="-122"/>
                <a:cs typeface="Calibri" pitchFamily="34" charset="-120"/>
              </a:rPr>
              <a:t>▸ Phase 6 cần </a:t>
            </a:r>
            <a:pPr indent="0" marL="0">
              <a:spcAft>
                <a:spcPts val="600"/>
              </a:spcAft>
              <a:buNone/>
            </a:pPr>
            <a:r>
              <a:rPr lang="en-US" sz="1200" dirty="0">
                <a:solidFill>
                  <a:srgbClr val="7CE38B"/>
                </a:solidFill>
                <a:latin typeface="Consolas" pitchFamily="34" charset="0"/>
                <a:ea typeface="Consolas" pitchFamily="34" charset="-122"/>
                <a:cs typeface="Consolas" pitchFamily="34" charset="-120"/>
              </a:rPr>
              <a:t>RUNNING_APP.md </a:t>
            </a:r>
            <a:pPr indent="0" marL="0">
              <a:spcAft>
                <a:spcPts val="600"/>
              </a:spcAft>
              <a:buNone/>
            </a:pPr>
            <a:r>
              <a:rPr lang="en-US" sz="1200" dirty="0">
                <a:solidFill>
                  <a:srgbClr val="E6EDF3"/>
                </a:solidFill>
                <a:latin typeface="Calibri" pitchFamily="34" charset="0"/>
                <a:ea typeface="Calibri" pitchFamily="34" charset="-122"/>
                <a:cs typeface="Calibri" pitchFamily="34" charset="-120"/>
              </a:rPr>
              <a:t>có URL </a:t>
            </a:r>
            <a:pPr indent="0" marL="0">
              <a:spcAft>
                <a:spcPts val="600"/>
              </a:spcAft>
              <a:buNone/>
            </a:pPr>
            <a:r>
              <a:rPr lang="en-US" sz="1200" dirty="0">
                <a:solidFill>
                  <a:srgbClr val="D29922"/>
                </a:solidFill>
                <a:latin typeface="Consolas" pitchFamily="34" charset="0"/>
                <a:ea typeface="Consolas" pitchFamily="34" charset="-122"/>
                <a:cs typeface="Consolas" pitchFamily="34" charset="-120"/>
              </a:rPr>
              <a:t>http(s)://</a:t>
            </a:r>
            <a:pPr indent="0" marL="0">
              <a:spcAft>
                <a:spcPts val="600"/>
              </a:spcAft>
              <a:buNone/>
            </a:pPr>
            <a:r>
              <a:rPr lang="en-US" sz="1200" dirty="0">
                <a:solidFill>
                  <a:srgbClr val="E6EDF3"/>
                </a:solidFill>
                <a:latin typeface="Calibri" pitchFamily="34" charset="0"/>
                <a:ea typeface="Calibri" pitchFamily="34" charset="-122"/>
                <a:cs typeface="Calibri" pitchFamily="34" charset="-120"/>
              </a:rPr>
              <a:t> thật</a:t>
            </a:r>
            <a:endParaRPr lang="en-US" sz="1200" dirty="0"/>
          </a:p>
        </p:txBody>
      </p:sp>
      <p:sp>
        <p:nvSpPr>
          <p:cNvPr id="13" name="Text 11"/>
          <p:cNvSpPr/>
          <p:nvPr/>
        </p:nvSpPr>
        <p:spPr>
          <a:xfrm>
            <a:off x="11338560" y="6492240"/>
            <a:ext cx="731520" cy="228600"/>
          </a:xfrm>
          <a:prstGeom prst="rect">
            <a:avLst/>
          </a:prstGeom>
          <a:noFill/>
          <a:ln/>
        </p:spPr>
        <p:txBody>
          <a:bodyPr wrap="square" lIns="0" tIns="0" rIns="0" bIns="0" rtlCol="0" anchor="ctr"/>
          <a:lstStyle/>
          <a:p>
            <a:pPr algn="r" indent="0" marL="0">
              <a:buNone/>
            </a:pPr>
            <a:r>
              <a:rPr lang="en-US" sz="900" dirty="0">
                <a:solidFill>
                  <a:srgbClr val="8B949E"/>
                </a:solidFill>
                <a:latin typeface="Consolas" pitchFamily="34" charset="0"/>
                <a:ea typeface="Consolas" pitchFamily="34" charset="-122"/>
                <a:cs typeface="Consolas" pitchFamily="34" charset="-120"/>
              </a:rPr>
              <a:t>17 / 32</a:t>
            </a:r>
            <a:endParaRPr lang="en-US" sz="900" dirty="0"/>
          </a:p>
        </p:txBody>
      </p:sp>
      <p:sp>
        <p:nvSpPr>
          <p:cNvPr id="14" name="Text 12"/>
          <p:cNvSpPr/>
          <p:nvPr/>
        </p:nvSpPr>
        <p:spPr>
          <a:xfrm>
            <a:off x="365760" y="6492240"/>
            <a:ext cx="1097280" cy="228600"/>
          </a:xfrm>
          <a:prstGeom prst="rect">
            <a:avLst/>
          </a:prstGeom>
          <a:noFill/>
          <a:ln/>
        </p:spPr>
        <p:txBody>
          <a:bodyPr wrap="square" lIns="0" tIns="0" rIns="0" bIns="0" rtlCol="0" anchor="ctr"/>
          <a:lstStyle/>
          <a:p>
            <a:pPr algn="l" indent="0" marL="0">
              <a:buNone/>
            </a:pPr>
            <a:r>
              <a:rPr lang="en-US" sz="900" dirty="0">
                <a:solidFill>
                  <a:srgbClr val="8B949E"/>
                </a:solidFill>
                <a:latin typeface="Consolas" pitchFamily="34" charset="0"/>
                <a:ea typeface="Consolas" pitchFamily="34" charset="-122"/>
                <a:cs typeface="Consolas" pitchFamily="34" charset="-120"/>
              </a:rPr>
              <a:t>v10.12</a:t>
            </a:r>
            <a:endParaRPr lang="en-US" sz="900" dirty="0"/>
          </a:p>
        </p:txBody>
      </p:sp>
      <p:sp>
        <p:nvSpPr>
          <p:cNvPr id="15" name="Text 13"/>
          <p:cNvSpPr/>
          <p:nvPr/>
        </p:nvSpPr>
        <p:spPr>
          <a:xfrm>
            <a:off x="4572000" y="6492240"/>
            <a:ext cx="6400800" cy="228600"/>
          </a:xfrm>
          <a:prstGeom prst="rect">
            <a:avLst/>
          </a:prstGeom>
          <a:noFill/>
          <a:ln/>
        </p:spPr>
        <p:txBody>
          <a:bodyPr wrap="square" lIns="0" tIns="0" rIns="0" bIns="0" rtlCol="0" anchor="ctr"/>
          <a:lstStyle/>
          <a:p>
            <a:pPr algn="ctr" indent="0" marL="0">
              <a:buNone/>
            </a:pPr>
            <a:r>
              <a:rPr lang="en-US" sz="900" dirty="0">
                <a:solidFill>
                  <a:srgbClr val="8B949E"/>
                </a:solidFill>
                <a:latin typeface="Consolas" pitchFamily="34" charset="0"/>
                <a:ea typeface="Consolas" pitchFamily="34" charset="-122"/>
                <a:cs typeface="Consolas" pitchFamily="34" charset="-120"/>
              </a:rPr>
              <a:t>Product Engineering Agent Framework</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365760" y="228600"/>
            <a:ext cx="8229600" cy="274320"/>
          </a:xfrm>
          <a:prstGeom prst="rect">
            <a:avLst/>
          </a:prstGeom>
          <a:noFill/>
          <a:ln/>
        </p:spPr>
        <p:txBody>
          <a:bodyPr wrap="square" lIns="0" tIns="0" rIns="0" bIns="0" rtlCol="0" anchor="ctr"/>
          <a:lstStyle/>
          <a:p>
            <a:pPr indent="0" marL="0">
              <a:buNone/>
            </a:pPr>
            <a:r>
              <a:rPr lang="en-US" sz="1100" dirty="0">
                <a:solidFill>
                  <a:srgbClr val="2EA043"/>
                </a:solidFill>
                <a:latin typeface="Consolas" pitchFamily="34" charset="0"/>
                <a:ea typeface="Consolas" pitchFamily="34" charset="-122"/>
                <a:cs typeface="Consolas" pitchFamily="34" charset="-120"/>
              </a:rPr>
              <a:t>$ </a:t>
            </a:r>
            <a:pPr indent="0" marL="0">
              <a:buNone/>
            </a:pPr>
            <a:r>
              <a:rPr lang="en-US" sz="1100" dirty="0">
                <a:solidFill>
                  <a:srgbClr val="8B949E"/>
                </a:solidFill>
                <a:latin typeface="Consolas" pitchFamily="34" charset="0"/>
                <a:ea typeface="Consolas" pitchFamily="34" charset="-122"/>
                <a:cs typeface="Consolas" pitchFamily="34" charset="-120"/>
              </a:rPr>
              <a:t>16_release_gate.md</a:t>
            </a:r>
            <a:endParaRPr lang="en-US" sz="1100" dirty="0"/>
          </a:p>
        </p:txBody>
      </p:sp>
      <p:sp>
        <p:nvSpPr>
          <p:cNvPr id="3" name="Text 1"/>
          <p:cNvSpPr/>
          <p:nvPr/>
        </p:nvSpPr>
        <p:spPr>
          <a:xfrm>
            <a:off x="365760" y="548640"/>
            <a:ext cx="11430000" cy="640080"/>
          </a:xfrm>
          <a:prstGeom prst="rect">
            <a:avLst/>
          </a:prstGeom>
          <a:noFill/>
          <a:ln/>
        </p:spPr>
        <p:txBody>
          <a:bodyPr wrap="square" lIns="0" tIns="0" rIns="0" bIns="0" rtlCol="0" anchor="ctr"/>
          <a:lstStyle/>
          <a:p>
            <a:pPr indent="0" marL="0">
              <a:buNone/>
            </a:pPr>
            <a:r>
              <a:rPr lang="en-US" sz="3000" b="1" dirty="0">
                <a:solidFill>
                  <a:srgbClr val="E6EDF3"/>
                </a:solidFill>
                <a:latin typeface="Consolas" pitchFamily="34" charset="0"/>
                <a:ea typeface="Consolas" pitchFamily="34" charset="-122"/>
                <a:cs typeface="Consolas" pitchFamily="34" charset="-120"/>
              </a:rPr>
              <a:t>Release gate — bug-free hoặc no-ship</a:t>
            </a:r>
            <a:endParaRPr lang="en-US" sz="3000" dirty="0"/>
          </a:p>
        </p:txBody>
      </p:sp>
      <p:sp>
        <p:nvSpPr>
          <p:cNvPr id="4" name="Text 2"/>
          <p:cNvSpPr/>
          <p:nvPr/>
        </p:nvSpPr>
        <p:spPr>
          <a:xfrm>
            <a:off x="365760" y="1143000"/>
            <a:ext cx="11430000" cy="365760"/>
          </a:xfrm>
          <a:prstGeom prst="rect">
            <a:avLst/>
          </a:prstGeom>
          <a:noFill/>
          <a:ln/>
        </p:spPr>
        <p:txBody>
          <a:bodyPr wrap="square" lIns="0" tIns="0" rIns="0" bIns="0" rtlCol="0" anchor="ctr"/>
          <a:lstStyle/>
          <a:p>
            <a:pPr indent="0" marL="0">
              <a:buNone/>
            </a:pPr>
            <a:r>
              <a:rPr lang="en-US" sz="1400" i="1" dirty="0">
                <a:solidFill>
                  <a:srgbClr val="8B949E"/>
                </a:solidFill>
                <a:latin typeface="Calibri" pitchFamily="34" charset="0"/>
                <a:ea typeface="Calibri" pitchFamily="34" charset="-122"/>
                <a:cs typeface="Calibri" pitchFamily="34" charset="-120"/>
              </a:rPr>
              <a:t>DELIVERY refuse deploy nếu TEST_REPORT FAIL hoặc BUG_REPORT có blocker</a:t>
            </a:r>
            <a:endParaRPr lang="en-US" sz="1400" dirty="0"/>
          </a:p>
        </p:txBody>
      </p:sp>
      <p:sp>
        <p:nvSpPr>
          <p:cNvPr id="5" name="Shape 3"/>
          <p:cNvSpPr/>
          <p:nvPr/>
        </p:nvSpPr>
        <p:spPr>
          <a:xfrm>
            <a:off x="365760" y="1783080"/>
            <a:ext cx="5486400" cy="4572000"/>
          </a:xfrm>
          <a:prstGeom prst="rect">
            <a:avLst/>
          </a:prstGeom>
          <a:solidFill>
            <a:srgbClr val="161B22"/>
          </a:solidFill>
          <a:ln w="12700">
            <a:solidFill>
              <a:srgbClr val="30363D"/>
            </a:solidFill>
            <a:prstDash val="solid"/>
          </a:ln>
        </p:spPr>
      </p:sp>
      <p:sp>
        <p:nvSpPr>
          <p:cNvPr id="6" name="Text 4"/>
          <p:cNvSpPr/>
          <p:nvPr/>
        </p:nvSpPr>
        <p:spPr>
          <a:xfrm>
            <a:off x="457200" y="1874520"/>
            <a:ext cx="5303520" cy="365760"/>
          </a:xfrm>
          <a:prstGeom prst="rect">
            <a:avLst/>
          </a:prstGeom>
          <a:noFill/>
          <a:ln/>
        </p:spPr>
        <p:txBody>
          <a:bodyPr wrap="square" lIns="0" tIns="0" rIns="0" bIns="0" rtlCol="0" anchor="ctr"/>
          <a:lstStyle/>
          <a:p>
            <a:pPr indent="0" marL="0">
              <a:buNone/>
            </a:pPr>
            <a:r>
              <a:rPr lang="en-US" sz="1400" b="1" dirty="0">
                <a:solidFill>
                  <a:srgbClr val="7CE38B"/>
                </a:solidFill>
                <a:latin typeface="Consolas" pitchFamily="34" charset="0"/>
                <a:ea typeface="Consolas" pitchFamily="34" charset="-122"/>
                <a:cs typeface="Consolas" pitchFamily="34" charset="-120"/>
              </a:rPr>
              <a:t>Bug status convention (QA)</a:t>
            </a:r>
            <a:endParaRPr lang="en-US" sz="1400" dirty="0"/>
          </a:p>
        </p:txBody>
      </p:sp>
      <p:sp>
        <p:nvSpPr>
          <p:cNvPr id="7" name="Shape 5"/>
          <p:cNvSpPr/>
          <p:nvPr/>
        </p:nvSpPr>
        <p:spPr>
          <a:xfrm>
            <a:off x="548640" y="2441448"/>
            <a:ext cx="146304" cy="146304"/>
          </a:xfrm>
          <a:prstGeom prst="ellipse">
            <a:avLst/>
          </a:prstGeom>
          <a:solidFill>
            <a:srgbClr val="F85149"/>
          </a:solidFill>
          <a:ln w="12700">
            <a:solidFill>
              <a:srgbClr val="F85149"/>
            </a:solidFill>
            <a:prstDash val="solid"/>
          </a:ln>
        </p:spPr>
      </p:sp>
      <p:sp>
        <p:nvSpPr>
          <p:cNvPr id="8" name="Text 6"/>
          <p:cNvSpPr/>
          <p:nvPr/>
        </p:nvSpPr>
        <p:spPr>
          <a:xfrm>
            <a:off x="777240" y="2331720"/>
            <a:ext cx="1828800" cy="365760"/>
          </a:xfrm>
          <a:prstGeom prst="rect">
            <a:avLst/>
          </a:prstGeom>
          <a:noFill/>
          <a:ln/>
        </p:spPr>
        <p:txBody>
          <a:bodyPr wrap="square" lIns="0" tIns="0" rIns="0" bIns="0" rtlCol="0" anchor="ctr"/>
          <a:lstStyle/>
          <a:p>
            <a:pPr indent="0" marL="0">
              <a:buNone/>
            </a:pPr>
            <a:r>
              <a:rPr lang="en-US" sz="1100" b="1" dirty="0">
                <a:solidFill>
                  <a:srgbClr val="F85149"/>
                </a:solidFill>
                <a:latin typeface="Consolas" pitchFamily="34" charset="0"/>
                <a:ea typeface="Consolas" pitchFamily="34" charset="-122"/>
                <a:cs typeface="Consolas" pitchFamily="34" charset="-120"/>
              </a:rPr>
              <a:t>OPEN_CRITICAL</a:t>
            </a:r>
            <a:endParaRPr lang="en-US" sz="1100" dirty="0"/>
          </a:p>
        </p:txBody>
      </p:sp>
      <p:sp>
        <p:nvSpPr>
          <p:cNvPr id="9" name="Text 7"/>
          <p:cNvSpPr/>
          <p:nvPr/>
        </p:nvSpPr>
        <p:spPr>
          <a:xfrm>
            <a:off x="2606040" y="2331720"/>
            <a:ext cx="3108960" cy="365760"/>
          </a:xfrm>
          <a:prstGeom prst="rect">
            <a:avLst/>
          </a:prstGeom>
          <a:noFill/>
          <a:ln/>
        </p:spPr>
        <p:txBody>
          <a:bodyPr wrap="square" lIns="0" tIns="0" rIns="0" bIns="0" rtlCol="0" anchor="ctr"/>
          <a:lstStyle/>
          <a:p>
            <a:pPr indent="0" marL="0">
              <a:buNone/>
            </a:pPr>
            <a:r>
              <a:rPr lang="en-US" sz="1000" dirty="0">
                <a:solidFill>
                  <a:srgbClr val="8B949E"/>
                </a:solidFill>
                <a:latin typeface="Calibri" pitchFamily="34" charset="0"/>
                <a:ea typeface="Calibri" pitchFamily="34" charset="-122"/>
                <a:cs typeface="Calibri" pitchFamily="34" charset="-120"/>
              </a:rPr>
              <a:t>Blocks all use of the app</a:t>
            </a:r>
            <a:endParaRPr lang="en-US" sz="1000" dirty="0"/>
          </a:p>
        </p:txBody>
      </p:sp>
      <p:sp>
        <p:nvSpPr>
          <p:cNvPr id="10" name="Shape 8"/>
          <p:cNvSpPr/>
          <p:nvPr/>
        </p:nvSpPr>
        <p:spPr>
          <a:xfrm>
            <a:off x="548640" y="2807208"/>
            <a:ext cx="146304" cy="146304"/>
          </a:xfrm>
          <a:prstGeom prst="ellipse">
            <a:avLst/>
          </a:prstGeom>
          <a:solidFill>
            <a:srgbClr val="F85149"/>
          </a:solidFill>
          <a:ln w="12700">
            <a:solidFill>
              <a:srgbClr val="F85149"/>
            </a:solidFill>
            <a:prstDash val="solid"/>
          </a:ln>
        </p:spPr>
      </p:sp>
      <p:sp>
        <p:nvSpPr>
          <p:cNvPr id="11" name="Text 9"/>
          <p:cNvSpPr/>
          <p:nvPr/>
        </p:nvSpPr>
        <p:spPr>
          <a:xfrm>
            <a:off x="777240" y="2697480"/>
            <a:ext cx="1828800" cy="365760"/>
          </a:xfrm>
          <a:prstGeom prst="rect">
            <a:avLst/>
          </a:prstGeom>
          <a:noFill/>
          <a:ln/>
        </p:spPr>
        <p:txBody>
          <a:bodyPr wrap="square" lIns="0" tIns="0" rIns="0" bIns="0" rtlCol="0" anchor="ctr"/>
          <a:lstStyle/>
          <a:p>
            <a:pPr indent="0" marL="0">
              <a:buNone/>
            </a:pPr>
            <a:r>
              <a:rPr lang="en-US" sz="1100" b="1" dirty="0">
                <a:solidFill>
                  <a:srgbClr val="F85149"/>
                </a:solidFill>
                <a:latin typeface="Consolas" pitchFamily="34" charset="0"/>
                <a:ea typeface="Consolas" pitchFamily="34" charset="-122"/>
                <a:cs typeface="Consolas" pitchFamily="34" charset="-120"/>
              </a:rPr>
              <a:t>OPEN_MAJOR</a:t>
            </a:r>
            <a:endParaRPr lang="en-US" sz="1100" dirty="0"/>
          </a:p>
        </p:txBody>
      </p:sp>
      <p:sp>
        <p:nvSpPr>
          <p:cNvPr id="12" name="Text 10"/>
          <p:cNvSpPr/>
          <p:nvPr/>
        </p:nvSpPr>
        <p:spPr>
          <a:xfrm>
            <a:off x="2606040" y="2697480"/>
            <a:ext cx="3108960" cy="365760"/>
          </a:xfrm>
          <a:prstGeom prst="rect">
            <a:avLst/>
          </a:prstGeom>
          <a:noFill/>
          <a:ln/>
        </p:spPr>
        <p:txBody>
          <a:bodyPr wrap="square" lIns="0" tIns="0" rIns="0" bIns="0" rtlCol="0" anchor="ctr"/>
          <a:lstStyle/>
          <a:p>
            <a:pPr indent="0" marL="0">
              <a:buNone/>
            </a:pPr>
            <a:r>
              <a:rPr lang="en-US" sz="1000" dirty="0">
                <a:solidFill>
                  <a:srgbClr val="8B949E"/>
                </a:solidFill>
                <a:latin typeface="Calibri" pitchFamily="34" charset="0"/>
                <a:ea typeface="Calibri" pitchFamily="34" charset="-122"/>
                <a:cs typeface="Calibri" pitchFamily="34" charset="-120"/>
              </a:rPr>
              <a:t>Affects primary user story</a:t>
            </a:r>
            <a:endParaRPr lang="en-US" sz="1000" dirty="0"/>
          </a:p>
        </p:txBody>
      </p:sp>
      <p:sp>
        <p:nvSpPr>
          <p:cNvPr id="13" name="Shape 11"/>
          <p:cNvSpPr/>
          <p:nvPr/>
        </p:nvSpPr>
        <p:spPr>
          <a:xfrm>
            <a:off x="548640" y="3172968"/>
            <a:ext cx="146304" cy="146304"/>
          </a:xfrm>
          <a:prstGeom prst="ellipse">
            <a:avLst/>
          </a:prstGeom>
          <a:solidFill>
            <a:srgbClr val="2EA043"/>
          </a:solidFill>
          <a:ln w="12700">
            <a:solidFill>
              <a:srgbClr val="2EA043"/>
            </a:solidFill>
            <a:prstDash val="solid"/>
          </a:ln>
        </p:spPr>
      </p:sp>
      <p:sp>
        <p:nvSpPr>
          <p:cNvPr id="14" name="Text 12"/>
          <p:cNvSpPr/>
          <p:nvPr/>
        </p:nvSpPr>
        <p:spPr>
          <a:xfrm>
            <a:off x="777240" y="3063240"/>
            <a:ext cx="1828800" cy="365760"/>
          </a:xfrm>
          <a:prstGeom prst="rect">
            <a:avLst/>
          </a:prstGeom>
          <a:noFill/>
          <a:ln/>
        </p:spPr>
        <p:txBody>
          <a:bodyPr wrap="square" lIns="0" tIns="0" rIns="0" bIns="0" rtlCol="0" anchor="ctr"/>
          <a:lstStyle/>
          <a:p>
            <a:pPr indent="0" marL="0">
              <a:buNone/>
            </a:pPr>
            <a:r>
              <a:rPr lang="en-US" sz="1100" b="1" dirty="0">
                <a:solidFill>
                  <a:srgbClr val="E6EDF3"/>
                </a:solidFill>
                <a:latin typeface="Consolas" pitchFamily="34" charset="0"/>
                <a:ea typeface="Consolas" pitchFamily="34" charset="-122"/>
                <a:cs typeface="Consolas" pitchFamily="34" charset="-120"/>
              </a:rPr>
              <a:t>OPEN_MINOR</a:t>
            </a:r>
            <a:endParaRPr lang="en-US" sz="1100" dirty="0"/>
          </a:p>
        </p:txBody>
      </p:sp>
      <p:sp>
        <p:nvSpPr>
          <p:cNvPr id="15" name="Text 13"/>
          <p:cNvSpPr/>
          <p:nvPr/>
        </p:nvSpPr>
        <p:spPr>
          <a:xfrm>
            <a:off x="2606040" y="3063240"/>
            <a:ext cx="3108960" cy="365760"/>
          </a:xfrm>
          <a:prstGeom prst="rect">
            <a:avLst/>
          </a:prstGeom>
          <a:noFill/>
          <a:ln/>
        </p:spPr>
        <p:txBody>
          <a:bodyPr wrap="square" lIns="0" tIns="0" rIns="0" bIns="0" rtlCol="0" anchor="ctr"/>
          <a:lstStyle/>
          <a:p>
            <a:pPr indent="0" marL="0">
              <a:buNone/>
            </a:pPr>
            <a:r>
              <a:rPr lang="en-US" sz="1000" dirty="0">
                <a:solidFill>
                  <a:srgbClr val="8B949E"/>
                </a:solidFill>
                <a:latin typeface="Calibri" pitchFamily="34" charset="0"/>
                <a:ea typeface="Calibri" pitchFamily="34" charset="-122"/>
                <a:cs typeface="Calibri" pitchFamily="34" charset="-120"/>
              </a:rPr>
              <a:t>Cosmetic / non-critical</a:t>
            </a:r>
            <a:endParaRPr lang="en-US" sz="1000" dirty="0"/>
          </a:p>
        </p:txBody>
      </p:sp>
      <p:sp>
        <p:nvSpPr>
          <p:cNvPr id="16" name="Shape 14"/>
          <p:cNvSpPr/>
          <p:nvPr/>
        </p:nvSpPr>
        <p:spPr>
          <a:xfrm>
            <a:off x="548640" y="3538728"/>
            <a:ext cx="146304" cy="146304"/>
          </a:xfrm>
          <a:prstGeom prst="ellipse">
            <a:avLst/>
          </a:prstGeom>
          <a:solidFill>
            <a:srgbClr val="2EA043"/>
          </a:solidFill>
          <a:ln w="12700">
            <a:solidFill>
              <a:srgbClr val="2EA043"/>
            </a:solidFill>
            <a:prstDash val="solid"/>
          </a:ln>
        </p:spPr>
      </p:sp>
      <p:sp>
        <p:nvSpPr>
          <p:cNvPr id="17" name="Text 15"/>
          <p:cNvSpPr/>
          <p:nvPr/>
        </p:nvSpPr>
        <p:spPr>
          <a:xfrm>
            <a:off x="777240" y="3429000"/>
            <a:ext cx="1828800" cy="365760"/>
          </a:xfrm>
          <a:prstGeom prst="rect">
            <a:avLst/>
          </a:prstGeom>
          <a:noFill/>
          <a:ln/>
        </p:spPr>
        <p:txBody>
          <a:bodyPr wrap="square" lIns="0" tIns="0" rIns="0" bIns="0" rtlCol="0" anchor="ctr"/>
          <a:lstStyle/>
          <a:p>
            <a:pPr indent="0" marL="0">
              <a:buNone/>
            </a:pPr>
            <a:r>
              <a:rPr lang="en-US" sz="1100" b="1" dirty="0">
                <a:solidFill>
                  <a:srgbClr val="E6EDF3"/>
                </a:solidFill>
                <a:latin typeface="Consolas" pitchFamily="34" charset="0"/>
                <a:ea typeface="Consolas" pitchFamily="34" charset="-122"/>
                <a:cs typeface="Consolas" pitchFamily="34" charset="-120"/>
              </a:rPr>
              <a:t>RETESTING</a:t>
            </a:r>
            <a:endParaRPr lang="en-US" sz="1100" dirty="0"/>
          </a:p>
        </p:txBody>
      </p:sp>
      <p:sp>
        <p:nvSpPr>
          <p:cNvPr id="18" name="Text 16"/>
          <p:cNvSpPr/>
          <p:nvPr/>
        </p:nvSpPr>
        <p:spPr>
          <a:xfrm>
            <a:off x="2606040" y="3429000"/>
            <a:ext cx="3108960" cy="365760"/>
          </a:xfrm>
          <a:prstGeom prst="rect">
            <a:avLst/>
          </a:prstGeom>
          <a:noFill/>
          <a:ln/>
        </p:spPr>
        <p:txBody>
          <a:bodyPr wrap="square" lIns="0" tIns="0" rIns="0" bIns="0" rtlCol="0" anchor="ctr"/>
          <a:lstStyle/>
          <a:p>
            <a:pPr indent="0" marL="0">
              <a:buNone/>
            </a:pPr>
            <a:r>
              <a:rPr lang="en-US" sz="1000" dirty="0">
                <a:solidFill>
                  <a:srgbClr val="8B949E"/>
                </a:solidFill>
                <a:latin typeface="Calibri" pitchFamily="34" charset="0"/>
                <a:ea typeface="Calibri" pitchFamily="34" charset="-122"/>
                <a:cs typeface="Calibri" pitchFamily="34" charset="-120"/>
              </a:rPr>
              <a:t>Fix pushed, QA verifying</a:t>
            </a:r>
            <a:endParaRPr lang="en-US" sz="1000" dirty="0"/>
          </a:p>
        </p:txBody>
      </p:sp>
      <p:sp>
        <p:nvSpPr>
          <p:cNvPr id="19" name="Shape 17"/>
          <p:cNvSpPr/>
          <p:nvPr/>
        </p:nvSpPr>
        <p:spPr>
          <a:xfrm>
            <a:off x="548640" y="3904488"/>
            <a:ext cx="146304" cy="146304"/>
          </a:xfrm>
          <a:prstGeom prst="ellipse">
            <a:avLst/>
          </a:prstGeom>
          <a:solidFill>
            <a:srgbClr val="2EA043"/>
          </a:solidFill>
          <a:ln w="12700">
            <a:solidFill>
              <a:srgbClr val="2EA043"/>
            </a:solidFill>
            <a:prstDash val="solid"/>
          </a:ln>
        </p:spPr>
      </p:sp>
      <p:sp>
        <p:nvSpPr>
          <p:cNvPr id="20" name="Text 18"/>
          <p:cNvSpPr/>
          <p:nvPr/>
        </p:nvSpPr>
        <p:spPr>
          <a:xfrm>
            <a:off x="777240" y="3794760"/>
            <a:ext cx="1828800" cy="365760"/>
          </a:xfrm>
          <a:prstGeom prst="rect">
            <a:avLst/>
          </a:prstGeom>
          <a:noFill/>
          <a:ln/>
        </p:spPr>
        <p:txBody>
          <a:bodyPr wrap="square" lIns="0" tIns="0" rIns="0" bIns="0" rtlCol="0" anchor="ctr"/>
          <a:lstStyle/>
          <a:p>
            <a:pPr indent="0" marL="0">
              <a:buNone/>
            </a:pPr>
            <a:r>
              <a:rPr lang="en-US" sz="1100" b="1" dirty="0">
                <a:solidFill>
                  <a:srgbClr val="E6EDF3"/>
                </a:solidFill>
                <a:latin typeface="Consolas" pitchFamily="34" charset="0"/>
                <a:ea typeface="Consolas" pitchFamily="34" charset="-122"/>
                <a:cs typeface="Consolas" pitchFamily="34" charset="-120"/>
              </a:rPr>
              <a:t>RETEST_PASS</a:t>
            </a:r>
            <a:endParaRPr lang="en-US" sz="1100" dirty="0"/>
          </a:p>
        </p:txBody>
      </p:sp>
      <p:sp>
        <p:nvSpPr>
          <p:cNvPr id="21" name="Text 19"/>
          <p:cNvSpPr/>
          <p:nvPr/>
        </p:nvSpPr>
        <p:spPr>
          <a:xfrm>
            <a:off x="2606040" y="3794760"/>
            <a:ext cx="3108960" cy="365760"/>
          </a:xfrm>
          <a:prstGeom prst="rect">
            <a:avLst/>
          </a:prstGeom>
          <a:noFill/>
          <a:ln/>
        </p:spPr>
        <p:txBody>
          <a:bodyPr wrap="square" lIns="0" tIns="0" rIns="0" bIns="0" rtlCol="0" anchor="ctr"/>
          <a:lstStyle/>
          <a:p>
            <a:pPr indent="0" marL="0">
              <a:buNone/>
            </a:pPr>
            <a:r>
              <a:rPr lang="en-US" sz="1000" dirty="0">
                <a:solidFill>
                  <a:srgbClr val="8B949E"/>
                </a:solidFill>
                <a:latin typeface="Calibri" pitchFamily="34" charset="0"/>
                <a:ea typeface="Calibri" pitchFamily="34" charset="-122"/>
                <a:cs typeface="Calibri" pitchFamily="34" charset="-120"/>
              </a:rPr>
              <a:t>Fix verified</a:t>
            </a:r>
            <a:endParaRPr lang="en-US" sz="1000" dirty="0"/>
          </a:p>
        </p:txBody>
      </p:sp>
      <p:sp>
        <p:nvSpPr>
          <p:cNvPr id="22" name="Shape 20"/>
          <p:cNvSpPr/>
          <p:nvPr/>
        </p:nvSpPr>
        <p:spPr>
          <a:xfrm>
            <a:off x="548640" y="4270248"/>
            <a:ext cx="146304" cy="146304"/>
          </a:xfrm>
          <a:prstGeom prst="ellipse">
            <a:avLst/>
          </a:prstGeom>
          <a:solidFill>
            <a:srgbClr val="F85149"/>
          </a:solidFill>
          <a:ln w="12700">
            <a:solidFill>
              <a:srgbClr val="F85149"/>
            </a:solidFill>
            <a:prstDash val="solid"/>
          </a:ln>
        </p:spPr>
      </p:sp>
      <p:sp>
        <p:nvSpPr>
          <p:cNvPr id="23" name="Text 21"/>
          <p:cNvSpPr/>
          <p:nvPr/>
        </p:nvSpPr>
        <p:spPr>
          <a:xfrm>
            <a:off x="777240" y="4160520"/>
            <a:ext cx="1828800" cy="365760"/>
          </a:xfrm>
          <a:prstGeom prst="rect">
            <a:avLst/>
          </a:prstGeom>
          <a:noFill/>
          <a:ln/>
        </p:spPr>
        <p:txBody>
          <a:bodyPr wrap="square" lIns="0" tIns="0" rIns="0" bIns="0" rtlCol="0" anchor="ctr"/>
          <a:lstStyle/>
          <a:p>
            <a:pPr indent="0" marL="0">
              <a:buNone/>
            </a:pPr>
            <a:r>
              <a:rPr lang="en-US" sz="1100" b="1" dirty="0">
                <a:solidFill>
                  <a:srgbClr val="F85149"/>
                </a:solidFill>
                <a:latin typeface="Consolas" pitchFamily="34" charset="0"/>
                <a:ea typeface="Consolas" pitchFamily="34" charset="-122"/>
                <a:cs typeface="Consolas" pitchFamily="34" charset="-120"/>
              </a:rPr>
              <a:t>RETEST_FAIL</a:t>
            </a:r>
            <a:endParaRPr lang="en-US" sz="1100" dirty="0"/>
          </a:p>
        </p:txBody>
      </p:sp>
      <p:sp>
        <p:nvSpPr>
          <p:cNvPr id="24" name="Text 22"/>
          <p:cNvSpPr/>
          <p:nvPr/>
        </p:nvSpPr>
        <p:spPr>
          <a:xfrm>
            <a:off x="2606040" y="4160520"/>
            <a:ext cx="3108960" cy="365760"/>
          </a:xfrm>
          <a:prstGeom prst="rect">
            <a:avLst/>
          </a:prstGeom>
          <a:noFill/>
          <a:ln/>
        </p:spPr>
        <p:txBody>
          <a:bodyPr wrap="square" lIns="0" tIns="0" rIns="0" bIns="0" rtlCol="0" anchor="ctr"/>
          <a:lstStyle/>
          <a:p>
            <a:pPr indent="0" marL="0">
              <a:buNone/>
            </a:pPr>
            <a:r>
              <a:rPr lang="en-US" sz="1000" dirty="0">
                <a:solidFill>
                  <a:srgbClr val="8B949E"/>
                </a:solidFill>
                <a:latin typeface="Calibri" pitchFamily="34" charset="0"/>
                <a:ea typeface="Calibri" pitchFamily="34" charset="-122"/>
                <a:cs typeface="Calibri" pitchFamily="34" charset="-120"/>
              </a:rPr>
              <a:t>Fix didn't work</a:t>
            </a:r>
            <a:endParaRPr lang="en-US" sz="1000" dirty="0"/>
          </a:p>
        </p:txBody>
      </p:sp>
      <p:sp>
        <p:nvSpPr>
          <p:cNvPr id="25" name="Shape 23"/>
          <p:cNvSpPr/>
          <p:nvPr/>
        </p:nvSpPr>
        <p:spPr>
          <a:xfrm>
            <a:off x="548640" y="4636008"/>
            <a:ext cx="146304" cy="146304"/>
          </a:xfrm>
          <a:prstGeom prst="ellipse">
            <a:avLst/>
          </a:prstGeom>
          <a:solidFill>
            <a:srgbClr val="2EA043"/>
          </a:solidFill>
          <a:ln w="12700">
            <a:solidFill>
              <a:srgbClr val="2EA043"/>
            </a:solidFill>
            <a:prstDash val="solid"/>
          </a:ln>
        </p:spPr>
      </p:sp>
      <p:sp>
        <p:nvSpPr>
          <p:cNvPr id="26" name="Text 24"/>
          <p:cNvSpPr/>
          <p:nvPr/>
        </p:nvSpPr>
        <p:spPr>
          <a:xfrm>
            <a:off x="777240" y="4526280"/>
            <a:ext cx="1828800" cy="365760"/>
          </a:xfrm>
          <a:prstGeom prst="rect">
            <a:avLst/>
          </a:prstGeom>
          <a:noFill/>
          <a:ln/>
        </p:spPr>
        <p:txBody>
          <a:bodyPr wrap="square" lIns="0" tIns="0" rIns="0" bIns="0" rtlCol="0" anchor="ctr"/>
          <a:lstStyle/>
          <a:p>
            <a:pPr indent="0" marL="0">
              <a:buNone/>
            </a:pPr>
            <a:r>
              <a:rPr lang="en-US" sz="1100" b="1" dirty="0">
                <a:solidFill>
                  <a:srgbClr val="E6EDF3"/>
                </a:solidFill>
                <a:latin typeface="Consolas" pitchFamily="34" charset="0"/>
                <a:ea typeface="Consolas" pitchFamily="34" charset="-122"/>
                <a:cs typeface="Consolas" pitchFamily="34" charset="-120"/>
              </a:rPr>
              <a:t>FIXED</a:t>
            </a:r>
            <a:endParaRPr lang="en-US" sz="1100" dirty="0"/>
          </a:p>
        </p:txBody>
      </p:sp>
      <p:sp>
        <p:nvSpPr>
          <p:cNvPr id="27" name="Text 25"/>
          <p:cNvSpPr/>
          <p:nvPr/>
        </p:nvSpPr>
        <p:spPr>
          <a:xfrm>
            <a:off x="2606040" y="4526280"/>
            <a:ext cx="3108960" cy="365760"/>
          </a:xfrm>
          <a:prstGeom prst="rect">
            <a:avLst/>
          </a:prstGeom>
          <a:noFill/>
          <a:ln/>
        </p:spPr>
        <p:txBody>
          <a:bodyPr wrap="square" lIns="0" tIns="0" rIns="0" bIns="0" rtlCol="0" anchor="ctr"/>
          <a:lstStyle/>
          <a:p>
            <a:pPr indent="0" marL="0">
              <a:buNone/>
            </a:pPr>
            <a:r>
              <a:rPr lang="en-US" sz="1000" dirty="0">
                <a:solidFill>
                  <a:srgbClr val="8B949E"/>
                </a:solidFill>
                <a:latin typeface="Calibri" pitchFamily="34" charset="0"/>
                <a:ea typeface="Calibri" pitchFamily="34" charset="-122"/>
                <a:cs typeface="Calibri" pitchFamily="34" charset="-120"/>
              </a:rPr>
              <a:t>Closed</a:t>
            </a:r>
            <a:endParaRPr lang="en-US" sz="1000" dirty="0"/>
          </a:p>
        </p:txBody>
      </p:sp>
      <p:sp>
        <p:nvSpPr>
          <p:cNvPr id="28" name="Shape 26"/>
          <p:cNvSpPr/>
          <p:nvPr/>
        </p:nvSpPr>
        <p:spPr>
          <a:xfrm>
            <a:off x="548640" y="5001768"/>
            <a:ext cx="146304" cy="146304"/>
          </a:xfrm>
          <a:prstGeom prst="ellipse">
            <a:avLst/>
          </a:prstGeom>
          <a:solidFill>
            <a:srgbClr val="2EA043"/>
          </a:solidFill>
          <a:ln w="12700">
            <a:solidFill>
              <a:srgbClr val="2EA043"/>
            </a:solidFill>
            <a:prstDash val="solid"/>
          </a:ln>
        </p:spPr>
      </p:sp>
      <p:sp>
        <p:nvSpPr>
          <p:cNvPr id="29" name="Text 27"/>
          <p:cNvSpPr/>
          <p:nvPr/>
        </p:nvSpPr>
        <p:spPr>
          <a:xfrm>
            <a:off x="777240" y="4892040"/>
            <a:ext cx="1828800" cy="365760"/>
          </a:xfrm>
          <a:prstGeom prst="rect">
            <a:avLst/>
          </a:prstGeom>
          <a:noFill/>
          <a:ln/>
        </p:spPr>
        <p:txBody>
          <a:bodyPr wrap="square" lIns="0" tIns="0" rIns="0" bIns="0" rtlCol="0" anchor="ctr"/>
          <a:lstStyle/>
          <a:p>
            <a:pPr indent="0" marL="0">
              <a:buNone/>
            </a:pPr>
            <a:r>
              <a:rPr lang="en-US" sz="1100" b="1" dirty="0">
                <a:solidFill>
                  <a:srgbClr val="E6EDF3"/>
                </a:solidFill>
                <a:latin typeface="Consolas" pitchFamily="34" charset="0"/>
                <a:ea typeface="Consolas" pitchFamily="34" charset="-122"/>
                <a:cs typeface="Consolas" pitchFamily="34" charset="-120"/>
              </a:rPr>
              <a:t>WONT_FIX</a:t>
            </a:r>
            <a:endParaRPr lang="en-US" sz="1100" dirty="0"/>
          </a:p>
        </p:txBody>
      </p:sp>
      <p:sp>
        <p:nvSpPr>
          <p:cNvPr id="30" name="Text 28"/>
          <p:cNvSpPr/>
          <p:nvPr/>
        </p:nvSpPr>
        <p:spPr>
          <a:xfrm>
            <a:off x="2606040" y="4892040"/>
            <a:ext cx="3108960" cy="365760"/>
          </a:xfrm>
          <a:prstGeom prst="rect">
            <a:avLst/>
          </a:prstGeom>
          <a:noFill/>
          <a:ln/>
        </p:spPr>
        <p:txBody>
          <a:bodyPr wrap="square" lIns="0" tIns="0" rIns="0" bIns="0" rtlCol="0" anchor="ctr"/>
          <a:lstStyle/>
          <a:p>
            <a:pPr indent="0" marL="0">
              <a:buNone/>
            </a:pPr>
            <a:r>
              <a:rPr lang="en-US" sz="1000" dirty="0">
                <a:solidFill>
                  <a:srgbClr val="8B949E"/>
                </a:solidFill>
                <a:latin typeface="Calibri" pitchFamily="34" charset="0"/>
                <a:ea typeface="Calibri" pitchFamily="34" charset="-122"/>
                <a:cs typeface="Calibri" pitchFamily="34" charset="-120"/>
              </a:rPr>
              <a:t>Accepted, not fixing</a:t>
            </a:r>
            <a:endParaRPr lang="en-US" sz="1000" dirty="0"/>
          </a:p>
        </p:txBody>
      </p:sp>
      <p:sp>
        <p:nvSpPr>
          <p:cNvPr id="31" name="Shape 29"/>
          <p:cNvSpPr/>
          <p:nvPr/>
        </p:nvSpPr>
        <p:spPr>
          <a:xfrm>
            <a:off x="6126480" y="1783080"/>
            <a:ext cx="5669280" cy="4572000"/>
          </a:xfrm>
          <a:prstGeom prst="rect">
            <a:avLst/>
          </a:prstGeom>
          <a:solidFill>
            <a:srgbClr val="161B22"/>
          </a:solidFill>
          <a:ln w="12700">
            <a:solidFill>
              <a:srgbClr val="30363D"/>
            </a:solidFill>
            <a:prstDash val="solid"/>
          </a:ln>
        </p:spPr>
      </p:sp>
      <p:sp>
        <p:nvSpPr>
          <p:cNvPr id="32" name="Shape 30"/>
          <p:cNvSpPr/>
          <p:nvPr/>
        </p:nvSpPr>
        <p:spPr>
          <a:xfrm>
            <a:off x="6217920" y="1874520"/>
            <a:ext cx="91440" cy="91440"/>
          </a:xfrm>
          <a:prstGeom prst="ellipse">
            <a:avLst/>
          </a:prstGeom>
          <a:solidFill>
            <a:srgbClr val="F85149"/>
          </a:solidFill>
          <a:ln w="12700">
            <a:solidFill>
              <a:srgbClr val="F85149"/>
            </a:solidFill>
            <a:prstDash val="solid"/>
          </a:ln>
        </p:spPr>
      </p:sp>
      <p:sp>
        <p:nvSpPr>
          <p:cNvPr id="33" name="Shape 31"/>
          <p:cNvSpPr/>
          <p:nvPr/>
        </p:nvSpPr>
        <p:spPr>
          <a:xfrm>
            <a:off x="6345936" y="1874520"/>
            <a:ext cx="91440" cy="91440"/>
          </a:xfrm>
          <a:prstGeom prst="ellipse">
            <a:avLst/>
          </a:prstGeom>
          <a:solidFill>
            <a:srgbClr val="D29922"/>
          </a:solidFill>
          <a:ln w="12700">
            <a:solidFill>
              <a:srgbClr val="D29922"/>
            </a:solidFill>
            <a:prstDash val="solid"/>
          </a:ln>
        </p:spPr>
      </p:sp>
      <p:sp>
        <p:nvSpPr>
          <p:cNvPr id="34" name="Shape 32"/>
          <p:cNvSpPr/>
          <p:nvPr/>
        </p:nvSpPr>
        <p:spPr>
          <a:xfrm>
            <a:off x="6473952" y="1874520"/>
            <a:ext cx="91440" cy="91440"/>
          </a:xfrm>
          <a:prstGeom prst="ellipse">
            <a:avLst/>
          </a:prstGeom>
          <a:solidFill>
            <a:srgbClr val="3FB950"/>
          </a:solidFill>
          <a:ln w="12700">
            <a:solidFill>
              <a:srgbClr val="3FB950"/>
            </a:solidFill>
            <a:prstDash val="solid"/>
          </a:ln>
        </p:spPr>
      </p:sp>
      <p:sp>
        <p:nvSpPr>
          <p:cNvPr id="35" name="Text 33"/>
          <p:cNvSpPr/>
          <p:nvPr/>
        </p:nvSpPr>
        <p:spPr>
          <a:xfrm>
            <a:off x="6263640" y="2103120"/>
            <a:ext cx="5394960" cy="4206240"/>
          </a:xfrm>
          <a:prstGeom prst="rect">
            <a:avLst/>
          </a:prstGeom>
          <a:noFill/>
          <a:ln/>
        </p:spPr>
        <p:txBody>
          <a:bodyPr wrap="square" lIns="0" tIns="0" rIns="0" bIns="0" rtlCol="0" anchor="t"/>
          <a:lstStyle/>
          <a:p>
            <a:pPr indent="0" marL="0">
              <a:buNone/>
            </a:pPr>
            <a:r>
              <a:rPr lang="en-US" sz="1200" dirty="0">
                <a:solidFill>
                  <a:srgbClr val="8B949E"/>
                </a:solidFill>
                <a:latin typeface="Consolas" pitchFamily="34" charset="0"/>
                <a:ea typeface="Consolas" pitchFamily="34" charset="-122"/>
                <a:cs typeface="Consolas" pitchFamily="34" charset="-120"/>
              </a:rPr>
              <a:t># DELIVERY prereq check (v10.9):</a:t>
            </a:r>
            <a:endParaRPr lang="en-US" sz="1200" dirty="0"/>
          </a:p>
          <a:p>
            <a:pPr indent="0" marL="0">
              <a:buNone/>
            </a:pPr>
            <a:r>
              <a:rPr lang="en-US" sz="1200" dirty="0">
                <a:solidFill>
                  <a:srgbClr val="7CE38B"/>
                </a:solidFill>
                <a:latin typeface="Consolas" pitchFamily="34" charset="0"/>
                <a:ea typeface="Consolas" pitchFamily="34" charset="-122"/>
                <a:cs typeface="Consolas" pitchFamily="34" charset="-120"/>
              </a:rPr>
              <a:t>$ bash scripts/check_prerequisites.sh \</a:t>
            </a:r>
            <a:endParaRPr lang="en-US" sz="1200" dirty="0"/>
          </a:p>
          <a:p>
            <a:pPr indent="0" marL="0">
              <a:buNone/>
            </a:pPr>
            <a:r>
              <a:rPr lang="en-US" sz="1200" dirty="0">
                <a:solidFill>
                  <a:srgbClr val="E6EDF3"/>
                </a:solidFill>
                <a:latin typeface="Consolas" pitchFamily="34" charset="0"/>
                <a:ea typeface="Consolas" pitchFamily="34" charset="-122"/>
                <a:cs typeface="Consolas" pitchFamily="34" charset="-120"/>
              </a:rPr>
              <a:t>        DELIVERY</a:t>
            </a:r>
            <a:endParaRPr lang="en-US" sz="1200" dirty="0"/>
          </a:p>
          <a:p>
            <a:pPr indent="0" marL="0">
              <a:buNone/>
            </a:pPr>
            <a:endParaRPr lang="en-US" sz="1200" dirty="0"/>
          </a:p>
          <a:p>
            <a:pPr indent="0" marL="0">
              <a:buNone/>
            </a:pPr>
            <a:r>
              <a:rPr lang="en-US" sz="1200" dirty="0">
                <a:solidFill>
                  <a:srgbClr val="8B949E"/>
                </a:solidFill>
                <a:latin typeface="Consolas" pitchFamily="34" charset="0"/>
                <a:ea typeface="Consolas" pitchFamily="34" charset="-122"/>
                <a:cs typeface="Consolas" pitchFamily="34" charset="-120"/>
              </a:rPr>
              <a:t># Hard-blocks unless ALL true:</a:t>
            </a:r>
            <a:endParaRPr lang="en-US" sz="1200" dirty="0"/>
          </a:p>
          <a:p>
            <a:pPr indent="0" marL="0">
              <a:buNone/>
            </a:pPr>
            <a:r>
              <a:rPr lang="en-US" sz="1200" dirty="0">
                <a:solidFill>
                  <a:srgbClr val="E6EDF3"/>
                </a:solidFill>
                <a:latin typeface="Consolas" pitchFamily="34" charset="0"/>
                <a:ea typeface="Consolas" pitchFamily="34" charset="-122"/>
                <a:cs typeface="Consolas" pitchFamily="34" charset="-120"/>
              </a:rPr>
              <a:t>  reports/TEST_REPORT.md exists</a:t>
            </a:r>
            <a:endParaRPr lang="en-US" sz="1200" dirty="0"/>
          </a:p>
          <a:p>
            <a:pPr indent="0" marL="0">
              <a:buNone/>
            </a:pPr>
            <a:r>
              <a:rPr lang="en-US" sz="1200" dirty="0">
                <a:solidFill>
                  <a:srgbClr val="E6EDF3"/>
                </a:solidFill>
                <a:latin typeface="Consolas" pitchFamily="34" charset="0"/>
                <a:ea typeface="Consolas" pitchFamily="34" charset="-122"/>
                <a:cs typeface="Consolas" pitchFamily="34" charset="-120"/>
              </a:rPr>
              <a:t>  _SIGNED_TECH_STACK_   (Confirmed by user)</a:t>
            </a:r>
            <a:endParaRPr lang="en-US" sz="1200" dirty="0"/>
          </a:p>
          <a:p>
            <a:pPr indent="0" marL="0">
              <a:buNone/>
            </a:pPr>
            <a:r>
              <a:rPr lang="en-US" sz="1200" dirty="0">
                <a:solidFill>
                  <a:srgbClr val="E6EDF3"/>
                </a:solidFill>
                <a:latin typeface="Consolas" pitchFamily="34" charset="0"/>
                <a:ea typeface="Consolas" pitchFamily="34" charset="-122"/>
                <a:cs typeface="Consolas" pitchFamily="34" charset="-120"/>
              </a:rPr>
              <a:t>  _VERDICT_PASS_        (TEST_REPORT)</a:t>
            </a:r>
            <a:endParaRPr lang="en-US" sz="1200" dirty="0"/>
          </a:p>
          <a:p>
            <a:pPr indent="0" marL="0">
              <a:buNone/>
            </a:pPr>
            <a:r>
              <a:rPr lang="en-US" sz="1200" dirty="0">
                <a:solidFill>
                  <a:srgbClr val="E6EDF3"/>
                </a:solidFill>
                <a:latin typeface="Consolas" pitchFamily="34" charset="0"/>
                <a:ea typeface="Consolas" pitchFamily="34" charset="-122"/>
                <a:cs typeface="Consolas" pitchFamily="34" charset="-120"/>
              </a:rPr>
              <a:t>  _NO_OPEN_CRITICAL_MAJOR_  (BUG_REPORT)</a:t>
            </a:r>
            <a:endParaRPr lang="en-US" sz="1200" dirty="0"/>
          </a:p>
          <a:p>
            <a:pPr indent="0" marL="0">
              <a:buNone/>
            </a:pPr>
            <a:r>
              <a:rPr lang="en-US" sz="1200" dirty="0">
                <a:solidFill>
                  <a:srgbClr val="E6EDF3"/>
                </a:solidFill>
                <a:latin typeface="Consolas" pitchFamily="34" charset="0"/>
                <a:ea typeface="Consolas" pitchFamily="34" charset="-122"/>
                <a:cs typeface="Consolas" pitchFamily="34" charset="-120"/>
              </a:rPr>
              <a:t>  _CODE_BE_             (backend/ has src)</a:t>
            </a:r>
            <a:endParaRPr lang="en-US" sz="1200" dirty="0"/>
          </a:p>
          <a:p>
            <a:pPr indent="0" marL="0">
              <a:buNone/>
            </a:pPr>
            <a:r>
              <a:rPr lang="en-US" sz="1200" dirty="0">
                <a:solidFill>
                  <a:srgbClr val="E6EDF3"/>
                </a:solidFill>
                <a:latin typeface="Consolas" pitchFamily="34" charset="0"/>
                <a:ea typeface="Consolas" pitchFamily="34" charset="-122"/>
                <a:cs typeface="Consolas" pitchFamily="34" charset="-120"/>
              </a:rPr>
              <a:t>  _CODE_FE_             (frontend/ has src)</a:t>
            </a:r>
            <a:endParaRPr lang="en-US" sz="1200" dirty="0"/>
          </a:p>
          <a:p>
            <a:pPr indent="0" marL="0">
              <a:buNone/>
            </a:pPr>
            <a:endParaRPr lang="en-US" sz="1200" dirty="0"/>
          </a:p>
          <a:p>
            <a:pPr indent="0" marL="0">
              <a:buNone/>
            </a:pPr>
            <a:r>
              <a:rPr lang="en-US" sz="1200" dirty="0">
                <a:solidFill>
                  <a:srgbClr val="E6EDF3"/>
                </a:solidFill>
                <a:latin typeface="Consolas" pitchFamily="34" charset="0"/>
                <a:ea typeface="Consolas" pitchFamily="34" charset="-122"/>
                <a:cs typeface="Consolas" pitchFamily="34" charset="-120"/>
              </a:rPr>
              <a:t>→ DELIVERY tự refuse, notify Orch,</a:t>
            </a:r>
            <a:endParaRPr lang="en-US" sz="1200" dirty="0"/>
          </a:p>
          <a:p>
            <a:pPr indent="0" marL="0">
              <a:buNone/>
            </a:pPr>
            <a:r>
              <a:rPr lang="en-US" sz="1200" dirty="0">
                <a:solidFill>
                  <a:srgbClr val="E6EDF3"/>
                </a:solidFill>
                <a:latin typeface="Consolas" pitchFamily="34" charset="0"/>
                <a:ea typeface="Consolas" pitchFamily="34" charset="-122"/>
                <a:cs typeface="Consolas" pitchFamily="34" charset="-120"/>
              </a:rPr>
              <a:t>   Orch route BE/FE/QA fix trước.</a:t>
            </a:r>
            <a:endParaRPr lang="en-US" sz="1200" dirty="0"/>
          </a:p>
        </p:txBody>
      </p:sp>
      <p:sp>
        <p:nvSpPr>
          <p:cNvPr id="36" name="Text 34"/>
          <p:cNvSpPr/>
          <p:nvPr/>
        </p:nvSpPr>
        <p:spPr>
          <a:xfrm>
            <a:off x="11338560" y="6492240"/>
            <a:ext cx="731520" cy="228600"/>
          </a:xfrm>
          <a:prstGeom prst="rect">
            <a:avLst/>
          </a:prstGeom>
          <a:noFill/>
          <a:ln/>
        </p:spPr>
        <p:txBody>
          <a:bodyPr wrap="square" lIns="0" tIns="0" rIns="0" bIns="0" rtlCol="0" anchor="ctr"/>
          <a:lstStyle/>
          <a:p>
            <a:pPr algn="r" indent="0" marL="0">
              <a:buNone/>
            </a:pPr>
            <a:r>
              <a:rPr lang="en-US" sz="900" dirty="0">
                <a:solidFill>
                  <a:srgbClr val="8B949E"/>
                </a:solidFill>
                <a:latin typeface="Consolas" pitchFamily="34" charset="0"/>
                <a:ea typeface="Consolas" pitchFamily="34" charset="-122"/>
                <a:cs typeface="Consolas" pitchFamily="34" charset="-120"/>
              </a:rPr>
              <a:t>18 / 32</a:t>
            </a:r>
            <a:endParaRPr lang="en-US" sz="900" dirty="0"/>
          </a:p>
        </p:txBody>
      </p:sp>
      <p:sp>
        <p:nvSpPr>
          <p:cNvPr id="37" name="Text 35"/>
          <p:cNvSpPr/>
          <p:nvPr/>
        </p:nvSpPr>
        <p:spPr>
          <a:xfrm>
            <a:off x="365760" y="6492240"/>
            <a:ext cx="1097280" cy="228600"/>
          </a:xfrm>
          <a:prstGeom prst="rect">
            <a:avLst/>
          </a:prstGeom>
          <a:noFill/>
          <a:ln/>
        </p:spPr>
        <p:txBody>
          <a:bodyPr wrap="square" lIns="0" tIns="0" rIns="0" bIns="0" rtlCol="0" anchor="ctr"/>
          <a:lstStyle/>
          <a:p>
            <a:pPr algn="l" indent="0" marL="0">
              <a:buNone/>
            </a:pPr>
            <a:r>
              <a:rPr lang="en-US" sz="900" dirty="0">
                <a:solidFill>
                  <a:srgbClr val="8B949E"/>
                </a:solidFill>
                <a:latin typeface="Consolas" pitchFamily="34" charset="0"/>
                <a:ea typeface="Consolas" pitchFamily="34" charset="-122"/>
                <a:cs typeface="Consolas" pitchFamily="34" charset="-120"/>
              </a:rPr>
              <a:t>v10.12</a:t>
            </a:r>
            <a:endParaRPr lang="en-US" sz="900" dirty="0"/>
          </a:p>
        </p:txBody>
      </p:sp>
      <p:sp>
        <p:nvSpPr>
          <p:cNvPr id="38" name="Text 36"/>
          <p:cNvSpPr/>
          <p:nvPr/>
        </p:nvSpPr>
        <p:spPr>
          <a:xfrm>
            <a:off x="4572000" y="6492240"/>
            <a:ext cx="6400800" cy="228600"/>
          </a:xfrm>
          <a:prstGeom prst="rect">
            <a:avLst/>
          </a:prstGeom>
          <a:noFill/>
          <a:ln/>
        </p:spPr>
        <p:txBody>
          <a:bodyPr wrap="square" lIns="0" tIns="0" rIns="0" bIns="0" rtlCol="0" anchor="ctr"/>
          <a:lstStyle/>
          <a:p>
            <a:pPr algn="ctr" indent="0" marL="0">
              <a:buNone/>
            </a:pPr>
            <a:r>
              <a:rPr lang="en-US" sz="900" dirty="0">
                <a:solidFill>
                  <a:srgbClr val="8B949E"/>
                </a:solidFill>
                <a:latin typeface="Consolas" pitchFamily="34" charset="0"/>
                <a:ea typeface="Consolas" pitchFamily="34" charset="-122"/>
                <a:cs typeface="Consolas" pitchFamily="34" charset="-120"/>
              </a:rPr>
              <a:t>Product Engineering Agent Framework</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365760" y="228600"/>
            <a:ext cx="8229600" cy="274320"/>
          </a:xfrm>
          <a:prstGeom prst="rect">
            <a:avLst/>
          </a:prstGeom>
          <a:noFill/>
          <a:ln/>
        </p:spPr>
        <p:txBody>
          <a:bodyPr wrap="square" lIns="0" tIns="0" rIns="0" bIns="0" rtlCol="0" anchor="ctr"/>
          <a:lstStyle/>
          <a:p>
            <a:pPr indent="0" marL="0">
              <a:buNone/>
            </a:pPr>
            <a:r>
              <a:rPr lang="en-US" sz="1100" dirty="0">
                <a:solidFill>
                  <a:srgbClr val="2EA043"/>
                </a:solidFill>
                <a:latin typeface="Consolas" pitchFamily="34" charset="0"/>
                <a:ea typeface="Consolas" pitchFamily="34" charset="-122"/>
                <a:cs typeface="Consolas" pitchFamily="34" charset="-120"/>
              </a:rPr>
              <a:t>$ </a:t>
            </a:r>
            <a:pPr indent="0" marL="0">
              <a:buNone/>
            </a:pPr>
            <a:r>
              <a:rPr lang="en-US" sz="1100" dirty="0">
                <a:solidFill>
                  <a:srgbClr val="8B949E"/>
                </a:solidFill>
                <a:latin typeface="Consolas" pitchFamily="34" charset="0"/>
                <a:ea typeface="Consolas" pitchFamily="34" charset="-122"/>
                <a:cs typeface="Consolas" pitchFamily="34" charset="-120"/>
              </a:rPr>
              <a:t>17_requirements.md</a:t>
            </a:r>
            <a:endParaRPr lang="en-US" sz="1100" dirty="0"/>
          </a:p>
        </p:txBody>
      </p:sp>
      <p:sp>
        <p:nvSpPr>
          <p:cNvPr id="3" name="Text 1"/>
          <p:cNvSpPr/>
          <p:nvPr/>
        </p:nvSpPr>
        <p:spPr>
          <a:xfrm>
            <a:off x="365760" y="548640"/>
            <a:ext cx="11430000" cy="640080"/>
          </a:xfrm>
          <a:prstGeom prst="rect">
            <a:avLst/>
          </a:prstGeom>
          <a:noFill/>
          <a:ln/>
        </p:spPr>
        <p:txBody>
          <a:bodyPr wrap="square" lIns="0" tIns="0" rIns="0" bIns="0" rtlCol="0" anchor="ctr"/>
          <a:lstStyle/>
          <a:p>
            <a:pPr indent="0" marL="0">
              <a:buNone/>
            </a:pPr>
            <a:r>
              <a:rPr lang="en-US" sz="3000" b="1" dirty="0">
                <a:solidFill>
                  <a:srgbClr val="E6EDF3"/>
                </a:solidFill>
                <a:latin typeface="Consolas" pitchFamily="34" charset="0"/>
                <a:ea typeface="Consolas" pitchFamily="34" charset="-122"/>
                <a:cs typeface="Consolas" pitchFamily="34" charset="-120"/>
              </a:rPr>
              <a:t>Requirements — máy bạn cần gì?</a:t>
            </a:r>
            <a:endParaRPr lang="en-US" sz="3000" dirty="0"/>
          </a:p>
        </p:txBody>
      </p:sp>
      <p:sp>
        <p:nvSpPr>
          <p:cNvPr id="4" name="Text 2"/>
          <p:cNvSpPr/>
          <p:nvPr/>
        </p:nvSpPr>
        <p:spPr>
          <a:xfrm>
            <a:off x="365760" y="1143000"/>
            <a:ext cx="11430000" cy="365760"/>
          </a:xfrm>
          <a:prstGeom prst="rect">
            <a:avLst/>
          </a:prstGeom>
          <a:noFill/>
          <a:ln/>
        </p:spPr>
        <p:txBody>
          <a:bodyPr wrap="square" lIns="0" tIns="0" rIns="0" bIns="0" rtlCol="0" anchor="ctr"/>
          <a:lstStyle/>
          <a:p>
            <a:pPr indent="0" marL="0">
              <a:buNone/>
            </a:pPr>
            <a:r>
              <a:rPr lang="en-US" sz="1400" i="1" dirty="0">
                <a:solidFill>
                  <a:srgbClr val="8B949E"/>
                </a:solidFill>
                <a:latin typeface="Calibri" pitchFamily="34" charset="0"/>
                <a:ea typeface="Calibri" pitchFamily="34" charset="-122"/>
                <a:cs typeface="Calibri" pitchFamily="34" charset="-120"/>
              </a:rPr>
              <a:t>macOS + tmux + 1 trong 2 engine (opencode-go HOẶC Claude Code); Linux OK, Windows cần WSL2</a:t>
            </a:r>
            <a:endParaRPr lang="en-US" sz="1400" dirty="0"/>
          </a:p>
        </p:txBody>
      </p:sp>
      <p:sp>
        <p:nvSpPr>
          <p:cNvPr id="5" name="Shape 3"/>
          <p:cNvSpPr/>
          <p:nvPr/>
        </p:nvSpPr>
        <p:spPr>
          <a:xfrm>
            <a:off x="365760" y="1783080"/>
            <a:ext cx="3657600" cy="1325880"/>
          </a:xfrm>
          <a:prstGeom prst="rect">
            <a:avLst/>
          </a:prstGeom>
          <a:solidFill>
            <a:srgbClr val="161B22"/>
          </a:solidFill>
          <a:ln w="12700">
            <a:solidFill>
              <a:srgbClr val="30363D"/>
            </a:solidFill>
            <a:prstDash val="solid"/>
          </a:ln>
        </p:spPr>
      </p:sp>
      <p:sp>
        <p:nvSpPr>
          <p:cNvPr id="6" name="Shape 4"/>
          <p:cNvSpPr/>
          <p:nvPr/>
        </p:nvSpPr>
        <p:spPr>
          <a:xfrm>
            <a:off x="365760" y="1783080"/>
            <a:ext cx="73152" cy="1325880"/>
          </a:xfrm>
          <a:prstGeom prst="rect">
            <a:avLst/>
          </a:prstGeom>
          <a:solidFill>
            <a:srgbClr val="7CE38B"/>
          </a:solidFill>
          <a:ln w="12700">
            <a:solidFill>
              <a:srgbClr val="7CE38B"/>
            </a:solidFill>
            <a:prstDash val="solid"/>
          </a:ln>
        </p:spPr>
      </p:sp>
      <p:sp>
        <p:nvSpPr>
          <p:cNvPr id="7" name="Text 5"/>
          <p:cNvSpPr/>
          <p:nvPr/>
        </p:nvSpPr>
        <p:spPr>
          <a:xfrm>
            <a:off x="548640" y="1828800"/>
            <a:ext cx="1828800" cy="384048"/>
          </a:xfrm>
          <a:prstGeom prst="rect">
            <a:avLst/>
          </a:prstGeom>
          <a:noFill/>
          <a:ln/>
        </p:spPr>
        <p:txBody>
          <a:bodyPr wrap="square" lIns="0" tIns="0" rIns="0" bIns="0" rtlCol="0" anchor="ctr"/>
          <a:lstStyle/>
          <a:p>
            <a:pPr indent="0" marL="0">
              <a:buNone/>
            </a:pPr>
            <a:r>
              <a:rPr lang="en-US" sz="1600" b="1" dirty="0">
                <a:solidFill>
                  <a:srgbClr val="E6EDF3"/>
                </a:solidFill>
                <a:latin typeface="Consolas" pitchFamily="34" charset="0"/>
                <a:ea typeface="Consolas" pitchFamily="34" charset="-122"/>
                <a:cs typeface="Consolas" pitchFamily="34" charset="-120"/>
              </a:rPr>
              <a:t>macOS</a:t>
            </a:r>
            <a:endParaRPr lang="en-US" sz="1600" dirty="0"/>
          </a:p>
        </p:txBody>
      </p:sp>
      <p:sp>
        <p:nvSpPr>
          <p:cNvPr id="8" name="Shape 6"/>
          <p:cNvSpPr/>
          <p:nvPr/>
        </p:nvSpPr>
        <p:spPr>
          <a:xfrm>
            <a:off x="2560320" y="1865376"/>
            <a:ext cx="1371600" cy="292608"/>
          </a:xfrm>
          <a:prstGeom prst="roundRect">
            <a:avLst>
              <a:gd name="adj" fmla="val 18750"/>
            </a:avLst>
          </a:prstGeom>
          <a:solidFill>
            <a:srgbClr val="7CE38B"/>
          </a:solidFill>
          <a:ln w="12700">
            <a:solidFill>
              <a:srgbClr val="7CE38B"/>
            </a:solidFill>
            <a:prstDash val="solid"/>
          </a:ln>
        </p:spPr>
      </p:sp>
      <p:sp>
        <p:nvSpPr>
          <p:cNvPr id="9" name="Text 7"/>
          <p:cNvSpPr/>
          <p:nvPr/>
        </p:nvSpPr>
        <p:spPr>
          <a:xfrm>
            <a:off x="2560320" y="1865376"/>
            <a:ext cx="1371600" cy="292608"/>
          </a:xfrm>
          <a:prstGeom prst="rect">
            <a:avLst/>
          </a:prstGeom>
          <a:noFill/>
          <a:ln/>
        </p:spPr>
        <p:txBody>
          <a:bodyPr wrap="square" lIns="0" tIns="0" rIns="0" bIns="0" rtlCol="0" anchor="ctr"/>
          <a:lstStyle/>
          <a:p>
            <a:pPr algn="ctr" indent="0" marL="0">
              <a:buNone/>
            </a:pPr>
            <a:r>
              <a:rPr lang="en-US" sz="1100" b="1" dirty="0">
                <a:solidFill>
                  <a:srgbClr val="0D1117"/>
                </a:solidFill>
                <a:latin typeface="Consolas" pitchFamily="34" charset="0"/>
                <a:ea typeface="Consolas" pitchFamily="34" charset="-122"/>
                <a:cs typeface="Consolas" pitchFamily="34" charset="-120"/>
              </a:rPr>
              <a:t>PRIMARY</a:t>
            </a:r>
            <a:endParaRPr lang="en-US" sz="1100" dirty="0"/>
          </a:p>
        </p:txBody>
      </p:sp>
      <p:sp>
        <p:nvSpPr>
          <p:cNvPr id="10" name="Text 8"/>
          <p:cNvSpPr/>
          <p:nvPr/>
        </p:nvSpPr>
        <p:spPr>
          <a:xfrm>
            <a:off x="548640" y="2286000"/>
            <a:ext cx="3383280" cy="777240"/>
          </a:xfrm>
          <a:prstGeom prst="rect">
            <a:avLst/>
          </a:prstGeom>
          <a:noFill/>
          <a:ln/>
        </p:spPr>
        <p:txBody>
          <a:bodyPr wrap="square" lIns="0" tIns="0" rIns="0" bIns="0" rtlCol="0" anchor="t"/>
          <a:lstStyle/>
          <a:p>
            <a:pPr indent="0" marL="0">
              <a:buNone/>
            </a:pPr>
            <a:r>
              <a:rPr lang="en-US" sz="1100" dirty="0">
                <a:solidFill>
                  <a:srgbClr val="8B949E"/>
                </a:solidFill>
                <a:latin typeface="Calibri" pitchFamily="34" charset="0"/>
                <a:ea typeface="Calibri" pitchFamily="34" charset="-122"/>
                <a:cs typeface="Calibri" pitchFamily="34" charset="-120"/>
              </a:rPr>
              <a:t>Đã test kỹ. Cần macOS 12+ (Monterey).</a:t>
            </a:r>
            <a:endParaRPr lang="en-US" sz="1100" dirty="0"/>
          </a:p>
        </p:txBody>
      </p:sp>
      <p:sp>
        <p:nvSpPr>
          <p:cNvPr id="11" name="Shape 9"/>
          <p:cNvSpPr/>
          <p:nvPr/>
        </p:nvSpPr>
        <p:spPr>
          <a:xfrm>
            <a:off x="4297680" y="1783080"/>
            <a:ext cx="3657600" cy="1325880"/>
          </a:xfrm>
          <a:prstGeom prst="rect">
            <a:avLst/>
          </a:prstGeom>
          <a:solidFill>
            <a:srgbClr val="161B22"/>
          </a:solidFill>
          <a:ln w="12700">
            <a:solidFill>
              <a:srgbClr val="30363D"/>
            </a:solidFill>
            <a:prstDash val="solid"/>
          </a:ln>
        </p:spPr>
      </p:sp>
      <p:sp>
        <p:nvSpPr>
          <p:cNvPr id="12" name="Shape 10"/>
          <p:cNvSpPr/>
          <p:nvPr/>
        </p:nvSpPr>
        <p:spPr>
          <a:xfrm>
            <a:off x="4297680" y="1783080"/>
            <a:ext cx="73152" cy="1325880"/>
          </a:xfrm>
          <a:prstGeom prst="rect">
            <a:avLst/>
          </a:prstGeom>
          <a:solidFill>
            <a:srgbClr val="D29922"/>
          </a:solidFill>
          <a:ln w="12700">
            <a:solidFill>
              <a:srgbClr val="D29922"/>
            </a:solidFill>
            <a:prstDash val="solid"/>
          </a:ln>
        </p:spPr>
      </p:sp>
      <p:sp>
        <p:nvSpPr>
          <p:cNvPr id="13" name="Text 11"/>
          <p:cNvSpPr/>
          <p:nvPr/>
        </p:nvSpPr>
        <p:spPr>
          <a:xfrm>
            <a:off x="4480560" y="1828800"/>
            <a:ext cx="1828800" cy="384048"/>
          </a:xfrm>
          <a:prstGeom prst="rect">
            <a:avLst/>
          </a:prstGeom>
          <a:noFill/>
          <a:ln/>
        </p:spPr>
        <p:txBody>
          <a:bodyPr wrap="square" lIns="0" tIns="0" rIns="0" bIns="0" rtlCol="0" anchor="ctr"/>
          <a:lstStyle/>
          <a:p>
            <a:pPr indent="0" marL="0">
              <a:buNone/>
            </a:pPr>
            <a:r>
              <a:rPr lang="en-US" sz="1600" b="1" dirty="0">
                <a:solidFill>
                  <a:srgbClr val="E6EDF3"/>
                </a:solidFill>
                <a:latin typeface="Consolas" pitchFamily="34" charset="0"/>
                <a:ea typeface="Consolas" pitchFamily="34" charset="-122"/>
                <a:cs typeface="Consolas" pitchFamily="34" charset="-120"/>
              </a:rPr>
              <a:t>Linux</a:t>
            </a:r>
            <a:endParaRPr lang="en-US" sz="1600" dirty="0"/>
          </a:p>
        </p:txBody>
      </p:sp>
      <p:sp>
        <p:nvSpPr>
          <p:cNvPr id="14" name="Shape 12"/>
          <p:cNvSpPr/>
          <p:nvPr/>
        </p:nvSpPr>
        <p:spPr>
          <a:xfrm>
            <a:off x="6492240" y="1865376"/>
            <a:ext cx="1371600" cy="292608"/>
          </a:xfrm>
          <a:prstGeom prst="roundRect">
            <a:avLst>
              <a:gd name="adj" fmla="val 18750"/>
            </a:avLst>
          </a:prstGeom>
          <a:solidFill>
            <a:srgbClr val="D29922"/>
          </a:solidFill>
          <a:ln w="12700">
            <a:solidFill>
              <a:srgbClr val="D29922"/>
            </a:solidFill>
            <a:prstDash val="solid"/>
          </a:ln>
        </p:spPr>
      </p:sp>
      <p:sp>
        <p:nvSpPr>
          <p:cNvPr id="15" name="Text 13"/>
          <p:cNvSpPr/>
          <p:nvPr/>
        </p:nvSpPr>
        <p:spPr>
          <a:xfrm>
            <a:off x="6492240" y="1865376"/>
            <a:ext cx="1371600" cy="292608"/>
          </a:xfrm>
          <a:prstGeom prst="rect">
            <a:avLst/>
          </a:prstGeom>
          <a:noFill/>
          <a:ln/>
        </p:spPr>
        <p:txBody>
          <a:bodyPr wrap="square" lIns="0" tIns="0" rIns="0" bIns="0" rtlCol="0" anchor="ctr"/>
          <a:lstStyle/>
          <a:p>
            <a:pPr algn="ctr" indent="0" marL="0">
              <a:buNone/>
            </a:pPr>
            <a:r>
              <a:rPr lang="en-US" sz="1100" b="1" dirty="0">
                <a:solidFill>
                  <a:srgbClr val="0D1117"/>
                </a:solidFill>
                <a:latin typeface="Consolas" pitchFamily="34" charset="0"/>
                <a:ea typeface="Consolas" pitchFamily="34" charset="-122"/>
                <a:cs typeface="Consolas" pitchFamily="34" charset="-120"/>
              </a:rPr>
              <a:t>WORKS</a:t>
            </a:r>
            <a:endParaRPr lang="en-US" sz="1100" dirty="0"/>
          </a:p>
        </p:txBody>
      </p:sp>
      <p:sp>
        <p:nvSpPr>
          <p:cNvPr id="16" name="Text 14"/>
          <p:cNvSpPr/>
          <p:nvPr/>
        </p:nvSpPr>
        <p:spPr>
          <a:xfrm>
            <a:off x="4480560" y="2286000"/>
            <a:ext cx="3383280" cy="777240"/>
          </a:xfrm>
          <a:prstGeom prst="rect">
            <a:avLst/>
          </a:prstGeom>
          <a:noFill/>
          <a:ln/>
        </p:spPr>
        <p:txBody>
          <a:bodyPr wrap="square" lIns="0" tIns="0" rIns="0" bIns="0" rtlCol="0" anchor="t"/>
          <a:lstStyle/>
          <a:p>
            <a:pPr indent="0" marL="0">
              <a:buNone/>
            </a:pPr>
            <a:r>
              <a:rPr lang="en-US" sz="1100" dirty="0">
                <a:solidFill>
                  <a:srgbClr val="8B949E"/>
                </a:solidFill>
                <a:latin typeface="Calibri" pitchFamily="34" charset="0"/>
                <a:ea typeface="Calibri" pitchFamily="34" charset="-122"/>
                <a:cs typeface="Calibri" pitchFamily="34" charset="-120"/>
              </a:rPr>
              <a:t>Cần chỉnh nhẹ stat-cmd (BSD vs GNU). Đã handle trong verify_routing.sh.</a:t>
            </a:r>
            <a:endParaRPr lang="en-US" sz="1100" dirty="0"/>
          </a:p>
        </p:txBody>
      </p:sp>
      <p:sp>
        <p:nvSpPr>
          <p:cNvPr id="17" name="Shape 15"/>
          <p:cNvSpPr/>
          <p:nvPr/>
        </p:nvSpPr>
        <p:spPr>
          <a:xfrm>
            <a:off x="8229600" y="1783080"/>
            <a:ext cx="3657600" cy="1325880"/>
          </a:xfrm>
          <a:prstGeom prst="rect">
            <a:avLst/>
          </a:prstGeom>
          <a:solidFill>
            <a:srgbClr val="161B22"/>
          </a:solidFill>
          <a:ln w="12700">
            <a:solidFill>
              <a:srgbClr val="30363D"/>
            </a:solidFill>
            <a:prstDash val="solid"/>
          </a:ln>
        </p:spPr>
      </p:sp>
      <p:sp>
        <p:nvSpPr>
          <p:cNvPr id="18" name="Shape 16"/>
          <p:cNvSpPr/>
          <p:nvPr/>
        </p:nvSpPr>
        <p:spPr>
          <a:xfrm>
            <a:off x="8229600" y="1783080"/>
            <a:ext cx="73152" cy="1325880"/>
          </a:xfrm>
          <a:prstGeom prst="rect">
            <a:avLst/>
          </a:prstGeom>
          <a:solidFill>
            <a:srgbClr val="79C0FF"/>
          </a:solidFill>
          <a:ln w="12700">
            <a:solidFill>
              <a:srgbClr val="79C0FF"/>
            </a:solidFill>
            <a:prstDash val="solid"/>
          </a:ln>
        </p:spPr>
      </p:sp>
      <p:sp>
        <p:nvSpPr>
          <p:cNvPr id="19" name="Text 17"/>
          <p:cNvSpPr/>
          <p:nvPr/>
        </p:nvSpPr>
        <p:spPr>
          <a:xfrm>
            <a:off x="8412480" y="1828800"/>
            <a:ext cx="1828800" cy="384048"/>
          </a:xfrm>
          <a:prstGeom prst="rect">
            <a:avLst/>
          </a:prstGeom>
          <a:noFill/>
          <a:ln/>
        </p:spPr>
        <p:txBody>
          <a:bodyPr wrap="square" lIns="0" tIns="0" rIns="0" bIns="0" rtlCol="0" anchor="ctr"/>
          <a:lstStyle/>
          <a:p>
            <a:pPr indent="0" marL="0">
              <a:buNone/>
            </a:pPr>
            <a:r>
              <a:rPr lang="en-US" sz="1600" b="1" dirty="0">
                <a:solidFill>
                  <a:srgbClr val="E6EDF3"/>
                </a:solidFill>
                <a:latin typeface="Consolas" pitchFamily="34" charset="0"/>
                <a:ea typeface="Consolas" pitchFamily="34" charset="-122"/>
                <a:cs typeface="Consolas" pitchFamily="34" charset="-120"/>
              </a:rPr>
              <a:t>Windows</a:t>
            </a:r>
            <a:endParaRPr lang="en-US" sz="1600" dirty="0"/>
          </a:p>
        </p:txBody>
      </p:sp>
      <p:sp>
        <p:nvSpPr>
          <p:cNvPr id="20" name="Shape 18"/>
          <p:cNvSpPr/>
          <p:nvPr/>
        </p:nvSpPr>
        <p:spPr>
          <a:xfrm>
            <a:off x="10424160" y="1865376"/>
            <a:ext cx="1371600" cy="292608"/>
          </a:xfrm>
          <a:prstGeom prst="roundRect">
            <a:avLst>
              <a:gd name="adj" fmla="val 18750"/>
            </a:avLst>
          </a:prstGeom>
          <a:solidFill>
            <a:srgbClr val="79C0FF"/>
          </a:solidFill>
          <a:ln w="12700">
            <a:solidFill>
              <a:srgbClr val="79C0FF"/>
            </a:solidFill>
            <a:prstDash val="solid"/>
          </a:ln>
        </p:spPr>
      </p:sp>
      <p:sp>
        <p:nvSpPr>
          <p:cNvPr id="21" name="Text 19"/>
          <p:cNvSpPr/>
          <p:nvPr/>
        </p:nvSpPr>
        <p:spPr>
          <a:xfrm>
            <a:off x="10424160" y="1865376"/>
            <a:ext cx="1371600" cy="292608"/>
          </a:xfrm>
          <a:prstGeom prst="rect">
            <a:avLst/>
          </a:prstGeom>
          <a:noFill/>
          <a:ln/>
        </p:spPr>
        <p:txBody>
          <a:bodyPr wrap="square" lIns="0" tIns="0" rIns="0" bIns="0" rtlCol="0" anchor="ctr"/>
          <a:lstStyle/>
          <a:p>
            <a:pPr algn="ctr" indent="0" marL="0">
              <a:buNone/>
            </a:pPr>
            <a:r>
              <a:rPr lang="en-US" sz="1100" b="1" dirty="0">
                <a:solidFill>
                  <a:srgbClr val="0D1117"/>
                </a:solidFill>
                <a:latin typeface="Consolas" pitchFamily="34" charset="0"/>
                <a:ea typeface="Consolas" pitchFamily="34" charset="-122"/>
                <a:cs typeface="Consolas" pitchFamily="34" charset="-120"/>
              </a:rPr>
              <a:t>WSL2 only</a:t>
            </a:r>
            <a:endParaRPr lang="en-US" sz="1100" dirty="0"/>
          </a:p>
        </p:txBody>
      </p:sp>
      <p:sp>
        <p:nvSpPr>
          <p:cNvPr id="22" name="Text 20"/>
          <p:cNvSpPr/>
          <p:nvPr/>
        </p:nvSpPr>
        <p:spPr>
          <a:xfrm>
            <a:off x="8412480" y="2286000"/>
            <a:ext cx="3383280" cy="777240"/>
          </a:xfrm>
          <a:prstGeom prst="rect">
            <a:avLst/>
          </a:prstGeom>
          <a:noFill/>
          <a:ln/>
        </p:spPr>
        <p:txBody>
          <a:bodyPr wrap="square" lIns="0" tIns="0" rIns="0" bIns="0" rtlCol="0" anchor="t"/>
          <a:lstStyle/>
          <a:p>
            <a:pPr indent="0" marL="0">
              <a:buNone/>
            </a:pPr>
            <a:r>
              <a:rPr lang="en-US" sz="1100" dirty="0">
                <a:solidFill>
                  <a:srgbClr val="8B949E"/>
                </a:solidFill>
                <a:latin typeface="Calibri" pitchFamily="34" charset="0"/>
                <a:ea typeface="Calibri" pitchFamily="34" charset="-122"/>
                <a:cs typeface="Calibri" pitchFamily="34" charset="-120"/>
              </a:rPr>
              <a:t>Pure Windows (Git Bash, MSYS) chưa test. Khuyến nghị WSL2 + Ubuntu 22.</a:t>
            </a:r>
            <a:endParaRPr lang="en-US" sz="1100" dirty="0"/>
          </a:p>
        </p:txBody>
      </p:sp>
      <p:sp>
        <p:nvSpPr>
          <p:cNvPr id="23" name="Shape 21"/>
          <p:cNvSpPr/>
          <p:nvPr/>
        </p:nvSpPr>
        <p:spPr>
          <a:xfrm>
            <a:off x="365760" y="3246120"/>
            <a:ext cx="5669280" cy="2743200"/>
          </a:xfrm>
          <a:prstGeom prst="rect">
            <a:avLst/>
          </a:prstGeom>
          <a:solidFill>
            <a:srgbClr val="161B22"/>
          </a:solidFill>
          <a:ln w="12700">
            <a:solidFill>
              <a:srgbClr val="30363D"/>
            </a:solidFill>
            <a:prstDash val="solid"/>
          </a:ln>
        </p:spPr>
      </p:sp>
      <p:sp>
        <p:nvSpPr>
          <p:cNvPr id="24" name="Shape 22"/>
          <p:cNvSpPr/>
          <p:nvPr/>
        </p:nvSpPr>
        <p:spPr>
          <a:xfrm>
            <a:off x="365760" y="3246120"/>
            <a:ext cx="73152" cy="2743200"/>
          </a:xfrm>
          <a:prstGeom prst="rect">
            <a:avLst/>
          </a:prstGeom>
          <a:solidFill>
            <a:srgbClr val="7CE38B"/>
          </a:solidFill>
          <a:ln w="12700">
            <a:solidFill>
              <a:srgbClr val="7CE38B"/>
            </a:solidFill>
            <a:prstDash val="solid"/>
          </a:ln>
        </p:spPr>
      </p:sp>
      <p:sp>
        <p:nvSpPr>
          <p:cNvPr id="25" name="Text 23"/>
          <p:cNvSpPr/>
          <p:nvPr/>
        </p:nvSpPr>
        <p:spPr>
          <a:xfrm>
            <a:off x="548640" y="3337560"/>
            <a:ext cx="5394960" cy="365760"/>
          </a:xfrm>
          <a:prstGeom prst="rect">
            <a:avLst/>
          </a:prstGeom>
          <a:noFill/>
          <a:ln/>
        </p:spPr>
        <p:txBody>
          <a:bodyPr wrap="square" lIns="0" tIns="0" rIns="0" bIns="0" rtlCol="0" anchor="ctr"/>
          <a:lstStyle/>
          <a:p>
            <a:pPr indent="0" marL="0">
              <a:buNone/>
            </a:pPr>
            <a:r>
              <a:rPr lang="en-US" sz="1400" b="1" dirty="0">
                <a:solidFill>
                  <a:srgbClr val="7CE38B"/>
                </a:solidFill>
                <a:latin typeface="Consolas" pitchFamily="34" charset="0"/>
                <a:ea typeface="Consolas" pitchFamily="34" charset="-122"/>
                <a:cs typeface="Consolas" pitchFamily="34" charset="-120"/>
              </a:rPr>
              <a:t>REQUIRED — bắt buộc</a:t>
            </a:r>
            <a:endParaRPr lang="en-US" sz="1400" dirty="0"/>
          </a:p>
        </p:txBody>
      </p:sp>
      <p:sp>
        <p:nvSpPr>
          <p:cNvPr id="26" name="Text 24"/>
          <p:cNvSpPr/>
          <p:nvPr/>
        </p:nvSpPr>
        <p:spPr>
          <a:xfrm>
            <a:off x="640080" y="3749040"/>
            <a:ext cx="5303520" cy="2560320"/>
          </a:xfrm>
          <a:prstGeom prst="rect">
            <a:avLst/>
          </a:prstGeom>
          <a:noFill/>
          <a:ln/>
        </p:spPr>
        <p:txBody>
          <a:bodyPr wrap="square" lIns="0" tIns="0" rIns="0" bIns="0" rtlCol="0" anchor="ctr"/>
          <a:lstStyle/>
          <a:p>
            <a:pPr indent="0" marL="0">
              <a:spcAft>
                <a:spcPts val="400"/>
              </a:spcAft>
              <a:buNone/>
            </a:pPr>
            <a:r>
              <a:rPr lang="en-US" sz="1100" dirty="0">
                <a:solidFill>
                  <a:srgbClr val="7CE38B"/>
                </a:solidFill>
                <a:latin typeface="Consolas" pitchFamily="34" charset="0"/>
                <a:ea typeface="Consolas" pitchFamily="34" charset="-122"/>
                <a:cs typeface="Consolas" pitchFamily="34" charset="-120"/>
              </a:rPr>
              <a:t>tmux        </a:t>
            </a:r>
            <a:pPr indent="0" marL="0">
              <a:spcAft>
                <a:spcPts val="400"/>
              </a:spcAft>
              <a:buNone/>
            </a:pPr>
            <a:r>
              <a:rPr lang="en-US" sz="1100" dirty="0">
                <a:solidFill>
                  <a:srgbClr val="E6EDF3"/>
                </a:solidFill>
                <a:latin typeface="Calibri" pitchFamily="34" charset="0"/>
                <a:ea typeface="Calibri" pitchFamily="34" charset="-122"/>
                <a:cs typeface="Calibri" pitchFamily="34" charset="-120"/>
              </a:rPr>
              <a:t>≥ 3.0  (pane_current_command, display-message -p)</a:t>
            </a:r>
            <a:endParaRPr lang="en-US" sz="1100" dirty="0"/>
          </a:p>
          <a:p>
            <a:pPr indent="0" marL="0">
              <a:spcAft>
                <a:spcPts val="400"/>
              </a:spcAft>
              <a:buNone/>
            </a:pPr>
            <a:r>
              <a:rPr lang="en-US" sz="1100" dirty="0">
                <a:solidFill>
                  <a:srgbClr val="7CE38B"/>
                </a:solidFill>
                <a:latin typeface="Consolas" pitchFamily="34" charset="0"/>
                <a:ea typeface="Consolas" pitchFamily="34" charset="-122"/>
                <a:cs typeface="Consolas" pitchFamily="34" charset="-120"/>
              </a:rPr>
              <a:t>bash        </a:t>
            </a:r>
            <a:pPr indent="0" marL="0">
              <a:spcAft>
                <a:spcPts val="400"/>
              </a:spcAft>
              <a:buNone/>
            </a:pPr>
            <a:r>
              <a:rPr lang="en-US" sz="1100" dirty="0">
                <a:solidFill>
                  <a:srgbClr val="E6EDF3"/>
                </a:solidFill>
                <a:latin typeface="Calibri" pitchFamily="34" charset="0"/>
                <a:ea typeface="Calibri" pitchFamily="34" charset="-122"/>
                <a:cs typeface="Calibri" pitchFamily="34" charset="-120"/>
              </a:rPr>
              <a:t>≥ 3.2  (macOS default OK)</a:t>
            </a:r>
            <a:endParaRPr lang="en-US" sz="1100" dirty="0"/>
          </a:p>
          <a:p>
            <a:pPr indent="0" marL="0">
              <a:spcAft>
                <a:spcPts val="400"/>
              </a:spcAft>
              <a:buNone/>
            </a:pPr>
            <a:r>
              <a:rPr lang="en-US" sz="1100" dirty="0">
                <a:solidFill>
                  <a:srgbClr val="7CE38B"/>
                </a:solidFill>
                <a:latin typeface="Consolas" pitchFamily="34" charset="0"/>
                <a:ea typeface="Consolas" pitchFamily="34" charset="-122"/>
                <a:cs typeface="Consolas" pitchFamily="34" charset="-120"/>
              </a:rPr>
              <a:t>git         </a:t>
            </a:r>
            <a:pPr indent="0" marL="0">
              <a:spcAft>
                <a:spcPts val="400"/>
              </a:spcAft>
              <a:buNone/>
            </a:pPr>
            <a:r>
              <a:rPr lang="en-US" sz="1100" dirty="0">
                <a:solidFill>
                  <a:srgbClr val="E6EDF3"/>
                </a:solidFill>
                <a:latin typeface="Calibri" pitchFamily="34" charset="0"/>
                <a:ea typeface="Calibri" pitchFamily="34" charset="-122"/>
                <a:cs typeface="Calibri" pitchFamily="34" charset="-120"/>
              </a:rPr>
              <a:t>clone repo + lưu memory/ vào VCS</a:t>
            </a:r>
            <a:endParaRPr lang="en-US" sz="1100" dirty="0"/>
          </a:p>
          <a:p>
            <a:pPr indent="0" marL="0">
              <a:spcAft>
                <a:spcPts val="400"/>
              </a:spcAft>
              <a:buNone/>
            </a:pPr>
            <a:r>
              <a:rPr lang="en-US" sz="1100" dirty="0">
                <a:solidFill>
                  <a:srgbClr val="7CE38B"/>
                </a:solidFill>
                <a:latin typeface="Consolas" pitchFamily="34" charset="0"/>
                <a:ea typeface="Consolas" pitchFamily="34" charset="-122"/>
                <a:cs typeface="Consolas" pitchFamily="34" charset="-120"/>
              </a:rPr>
              <a:t>engine      </a:t>
            </a:r>
            <a:pPr indent="0" marL="0">
              <a:spcAft>
                <a:spcPts val="400"/>
              </a:spcAft>
              <a:buNone/>
            </a:pPr>
            <a:r>
              <a:rPr lang="en-US" sz="1100" dirty="0">
                <a:solidFill>
                  <a:srgbClr val="E6EDF3"/>
                </a:solidFill>
                <a:latin typeface="Calibri" pitchFamily="34" charset="0"/>
                <a:ea typeface="Calibri" pitchFamily="34" charset="-122"/>
                <a:cs typeface="Calibri" pitchFamily="34" charset="-120"/>
              </a:rPr>
              <a:t>opencode-go HOẶC claude (chọn 1, default: opencode)</a:t>
            </a:r>
            <a:endParaRPr lang="en-US" sz="1100" dirty="0"/>
          </a:p>
          <a:p>
            <a:pPr indent="0" marL="0">
              <a:spcAft>
                <a:spcPts val="400"/>
              </a:spcAft>
              <a:buNone/>
            </a:pPr>
            <a:r>
              <a:rPr lang="en-US" sz="1100" dirty="0">
                <a:solidFill>
                  <a:srgbClr val="7CE38B"/>
                </a:solidFill>
                <a:latin typeface="Consolas" pitchFamily="34" charset="0"/>
                <a:ea typeface="Consolas" pitchFamily="34" charset="-122"/>
                <a:cs typeface="Consolas" pitchFamily="34" charset="-120"/>
              </a:rPr>
              <a:t>Internet    </a:t>
            </a:r>
            <a:pPr indent="0" marL="0">
              <a:spcAft>
                <a:spcPts val="400"/>
              </a:spcAft>
              <a:buNone/>
            </a:pPr>
            <a:r>
              <a:rPr lang="en-US" sz="1100" dirty="0">
                <a:solidFill>
                  <a:srgbClr val="E6EDF3"/>
                </a:solidFill>
                <a:latin typeface="Calibri" pitchFamily="34" charset="0"/>
                <a:ea typeface="Calibri" pitchFamily="34" charset="-122"/>
                <a:cs typeface="Calibri" pitchFamily="34" charset="-120"/>
              </a:rPr>
              <a:t>engine gọi model API qua mạng</a:t>
            </a:r>
            <a:endParaRPr lang="en-US" sz="1100" dirty="0"/>
          </a:p>
          <a:p>
            <a:pPr indent="0" marL="0">
              <a:spcAft>
                <a:spcPts val="400"/>
              </a:spcAft>
              <a:buNone/>
            </a:pPr>
            <a:r>
              <a:rPr lang="en-US" sz="1100" dirty="0">
                <a:solidFill>
                  <a:srgbClr val="7CE38B"/>
                </a:solidFill>
                <a:latin typeface="Consolas" pitchFamily="34" charset="0"/>
                <a:ea typeface="Consolas" pitchFamily="34" charset="-122"/>
                <a:cs typeface="Consolas" pitchFamily="34" charset="-120"/>
              </a:rPr>
              <a:t>Models      </a:t>
            </a:r>
            <a:pPr indent="0" marL="0">
              <a:spcAft>
                <a:spcPts val="400"/>
              </a:spcAft>
              <a:buNone/>
            </a:pPr>
            <a:r>
              <a:rPr lang="en-US" sz="1100" dirty="0">
                <a:solidFill>
                  <a:srgbClr val="E6EDF3"/>
                </a:solidFill>
                <a:latin typeface="Calibri" pitchFamily="34" charset="0"/>
                <a:ea typeface="Calibri" pitchFamily="34" charset="-122"/>
                <a:cs typeface="Calibri" pitchFamily="34" charset="-120"/>
              </a:rPr>
              <a:t>9 model trong config/agent_models.env phải accessible</a:t>
            </a:r>
            <a:endParaRPr lang="en-US" sz="1100" dirty="0"/>
          </a:p>
        </p:txBody>
      </p:sp>
      <p:sp>
        <p:nvSpPr>
          <p:cNvPr id="27" name="Shape 25"/>
          <p:cNvSpPr/>
          <p:nvPr/>
        </p:nvSpPr>
        <p:spPr>
          <a:xfrm>
            <a:off x="6217920" y="3246120"/>
            <a:ext cx="5577840" cy="2743200"/>
          </a:xfrm>
          <a:prstGeom prst="rect">
            <a:avLst/>
          </a:prstGeom>
          <a:solidFill>
            <a:srgbClr val="161B22"/>
          </a:solidFill>
          <a:ln w="12700">
            <a:solidFill>
              <a:srgbClr val="30363D"/>
            </a:solidFill>
            <a:prstDash val="solid"/>
          </a:ln>
        </p:spPr>
      </p:sp>
      <p:sp>
        <p:nvSpPr>
          <p:cNvPr id="28" name="Shape 26"/>
          <p:cNvSpPr/>
          <p:nvPr/>
        </p:nvSpPr>
        <p:spPr>
          <a:xfrm>
            <a:off x="6217920" y="3246120"/>
            <a:ext cx="73152" cy="2743200"/>
          </a:xfrm>
          <a:prstGeom prst="rect">
            <a:avLst/>
          </a:prstGeom>
          <a:solidFill>
            <a:srgbClr val="D29922"/>
          </a:solidFill>
          <a:ln w="12700">
            <a:solidFill>
              <a:srgbClr val="D29922"/>
            </a:solidFill>
            <a:prstDash val="solid"/>
          </a:ln>
        </p:spPr>
      </p:sp>
      <p:sp>
        <p:nvSpPr>
          <p:cNvPr id="29" name="Text 27"/>
          <p:cNvSpPr/>
          <p:nvPr/>
        </p:nvSpPr>
        <p:spPr>
          <a:xfrm>
            <a:off x="6400800" y="3337560"/>
            <a:ext cx="5394960" cy="365760"/>
          </a:xfrm>
          <a:prstGeom prst="rect">
            <a:avLst/>
          </a:prstGeom>
          <a:noFill/>
          <a:ln/>
        </p:spPr>
        <p:txBody>
          <a:bodyPr wrap="square" lIns="0" tIns="0" rIns="0" bIns="0" rtlCol="0" anchor="ctr"/>
          <a:lstStyle/>
          <a:p>
            <a:pPr indent="0" marL="0">
              <a:buNone/>
            </a:pPr>
            <a:r>
              <a:rPr lang="en-US" sz="1400" b="1" dirty="0">
                <a:solidFill>
                  <a:srgbClr val="D29922"/>
                </a:solidFill>
                <a:latin typeface="Consolas" pitchFamily="34" charset="0"/>
                <a:ea typeface="Consolas" pitchFamily="34" charset="-122"/>
                <a:cs typeface="Consolas" pitchFamily="34" charset="-120"/>
              </a:rPr>
              <a:t>OPTIONAL — theo phase / stack</a:t>
            </a:r>
            <a:endParaRPr lang="en-US" sz="1400" dirty="0"/>
          </a:p>
        </p:txBody>
      </p:sp>
      <p:sp>
        <p:nvSpPr>
          <p:cNvPr id="30" name="Text 28"/>
          <p:cNvSpPr/>
          <p:nvPr/>
        </p:nvSpPr>
        <p:spPr>
          <a:xfrm>
            <a:off x="6492240" y="3749040"/>
            <a:ext cx="5212080" cy="2560320"/>
          </a:xfrm>
          <a:prstGeom prst="rect">
            <a:avLst/>
          </a:prstGeom>
          <a:noFill/>
          <a:ln/>
        </p:spPr>
        <p:txBody>
          <a:bodyPr wrap="square" lIns="0" tIns="0" rIns="0" bIns="0" rtlCol="0" anchor="ctr"/>
          <a:lstStyle/>
          <a:p>
            <a:pPr indent="0" marL="0">
              <a:spcAft>
                <a:spcPts val="400"/>
              </a:spcAft>
              <a:buNone/>
            </a:pPr>
            <a:r>
              <a:rPr lang="en-US" sz="1100" dirty="0">
                <a:solidFill>
                  <a:srgbClr val="D29922"/>
                </a:solidFill>
                <a:latin typeface="Consolas" pitchFamily="34" charset="0"/>
                <a:ea typeface="Consolas" pitchFamily="34" charset="-122"/>
                <a:cs typeface="Consolas" pitchFamily="34" charset="-120"/>
              </a:rPr>
              <a:t>Docker      </a:t>
            </a:r>
            <a:pPr indent="0" marL="0">
              <a:spcAft>
                <a:spcPts val="400"/>
              </a:spcAft>
              <a:buNone/>
            </a:pPr>
            <a:r>
              <a:rPr lang="en-US" sz="1100" dirty="0">
                <a:solidFill>
                  <a:srgbClr val="E6EDF3"/>
                </a:solidFill>
                <a:latin typeface="Calibri" pitchFamily="34" charset="0"/>
                <a:ea typeface="Calibri" pitchFamily="34" charset="-122"/>
                <a:cs typeface="Calibri" pitchFamily="34" charset="-120"/>
              </a:rPr>
              <a:t>Phase 6 DELIVERY: docker compose up</a:t>
            </a:r>
            <a:endParaRPr lang="en-US" sz="1100" dirty="0"/>
          </a:p>
          <a:p>
            <a:pPr indent="0" marL="0">
              <a:spcAft>
                <a:spcPts val="400"/>
              </a:spcAft>
              <a:buNone/>
            </a:pPr>
            <a:r>
              <a:rPr lang="en-US" sz="1100" dirty="0">
                <a:solidFill>
                  <a:srgbClr val="D29922"/>
                </a:solidFill>
                <a:latin typeface="Consolas" pitchFamily="34" charset="0"/>
                <a:ea typeface="Consolas" pitchFamily="34" charset="-122"/>
                <a:cs typeface="Consolas" pitchFamily="34" charset="-120"/>
              </a:rPr>
              <a:t>Python ≥3.12</a:t>
            </a:r>
            <a:pPr indent="0" marL="0">
              <a:spcAft>
                <a:spcPts val="400"/>
              </a:spcAft>
              <a:buNone/>
            </a:pPr>
            <a:r>
              <a:rPr lang="en-US" sz="1100" dirty="0">
                <a:solidFill>
                  <a:srgbClr val="E6EDF3"/>
                </a:solidFill>
                <a:latin typeface="Calibri" pitchFamily="34" charset="0"/>
                <a:ea typeface="Calibri" pitchFamily="34" charset="-122"/>
                <a:cs typeface="Calibri" pitchFamily="34" charset="-120"/>
              </a:rPr>
              <a:t>  Nếu SA chọn FastAPI/Django stack + pytest</a:t>
            </a:r>
            <a:endParaRPr lang="en-US" sz="1100" dirty="0"/>
          </a:p>
          <a:p>
            <a:pPr indent="0" marL="0">
              <a:spcAft>
                <a:spcPts val="400"/>
              </a:spcAft>
              <a:buNone/>
            </a:pPr>
            <a:r>
              <a:rPr lang="en-US" sz="1100" dirty="0">
                <a:solidFill>
                  <a:srgbClr val="D29922"/>
                </a:solidFill>
                <a:latin typeface="Consolas" pitchFamily="34" charset="0"/>
                <a:ea typeface="Consolas" pitchFamily="34" charset="-122"/>
                <a:cs typeface="Consolas" pitchFamily="34" charset="-120"/>
              </a:rPr>
              <a:t>Node ≥ 20   </a:t>
            </a:r>
            <a:pPr indent="0" marL="0">
              <a:spcAft>
                <a:spcPts val="400"/>
              </a:spcAft>
              <a:buNone/>
            </a:pPr>
            <a:r>
              <a:rPr lang="en-US" sz="1100" dirty="0">
                <a:solidFill>
                  <a:srgbClr val="E6EDF3"/>
                </a:solidFill>
                <a:latin typeface="Calibri" pitchFamily="34" charset="0"/>
                <a:ea typeface="Calibri" pitchFamily="34" charset="-122"/>
                <a:cs typeface="Calibri" pitchFamily="34" charset="-120"/>
              </a:rPr>
              <a:t>Nếu SA chọn Next/Vite/TS stack + vitest</a:t>
            </a:r>
            <a:endParaRPr lang="en-US" sz="1100" dirty="0"/>
          </a:p>
          <a:p>
            <a:pPr indent="0" marL="0">
              <a:spcAft>
                <a:spcPts val="400"/>
              </a:spcAft>
              <a:buNone/>
            </a:pPr>
            <a:r>
              <a:rPr lang="en-US" sz="1100" dirty="0">
                <a:solidFill>
                  <a:srgbClr val="D29922"/>
                </a:solidFill>
                <a:latin typeface="Consolas" pitchFamily="34" charset="0"/>
                <a:ea typeface="Consolas" pitchFamily="34" charset="-122"/>
                <a:cs typeface="Consolas" pitchFamily="34" charset="-120"/>
              </a:rPr>
              <a:t>curl, jq    </a:t>
            </a:r>
            <a:pPr indent="0" marL="0">
              <a:spcAft>
                <a:spcPts val="400"/>
              </a:spcAft>
              <a:buNone/>
            </a:pPr>
            <a:r>
              <a:rPr lang="en-US" sz="1100" dirty="0">
                <a:solidFill>
                  <a:srgbClr val="E6EDF3"/>
                </a:solidFill>
                <a:latin typeface="Calibri" pitchFamily="34" charset="0"/>
                <a:ea typeface="Calibri" pitchFamily="34" charset="-122"/>
                <a:cs typeface="Calibri" pitchFamily="34" charset="-120"/>
              </a:rPr>
              <a:t>DELIVERY probe health endpoint, parse JSON config</a:t>
            </a:r>
            <a:endParaRPr lang="en-US" sz="1100" dirty="0"/>
          </a:p>
          <a:p>
            <a:pPr indent="0" marL="0">
              <a:spcAft>
                <a:spcPts val="400"/>
              </a:spcAft>
              <a:buNone/>
            </a:pPr>
            <a:r>
              <a:rPr lang="en-US" sz="1100" dirty="0">
                <a:solidFill>
                  <a:srgbClr val="D29922"/>
                </a:solidFill>
                <a:latin typeface="Consolas" pitchFamily="34" charset="0"/>
                <a:ea typeface="Consolas" pitchFamily="34" charset="-122"/>
                <a:cs typeface="Consolas" pitchFamily="34" charset="-120"/>
              </a:rPr>
              <a:t>ffmpeg/sox  </a:t>
            </a:r>
            <a:pPr indent="0" marL="0">
              <a:spcAft>
                <a:spcPts val="400"/>
              </a:spcAft>
              <a:buNone/>
            </a:pPr>
            <a:r>
              <a:rPr lang="en-US" sz="1100" dirty="0">
                <a:solidFill>
                  <a:srgbClr val="E6EDF3"/>
                </a:solidFill>
                <a:latin typeface="Calibri" pitchFamily="34" charset="0"/>
                <a:ea typeface="Calibri" pitchFamily="34" charset="-122"/>
                <a:cs typeface="Calibri" pitchFamily="34" charset="-120"/>
              </a:rPr>
              <a:t>Nếu QA cần media processing trong test</a:t>
            </a:r>
            <a:endParaRPr lang="en-US" sz="1100" dirty="0"/>
          </a:p>
          <a:p>
            <a:pPr indent="0" marL="0">
              <a:spcAft>
                <a:spcPts val="400"/>
              </a:spcAft>
              <a:buNone/>
            </a:pPr>
            <a:r>
              <a:rPr lang="en-US" sz="1100" dirty="0">
                <a:solidFill>
                  <a:srgbClr val="D29922"/>
                </a:solidFill>
                <a:latin typeface="Consolas" pitchFamily="34" charset="0"/>
                <a:ea typeface="Consolas" pitchFamily="34" charset="-122"/>
                <a:cs typeface="Consolas" pitchFamily="34" charset="-120"/>
              </a:rPr>
              <a:t>Node ≥ 18   </a:t>
            </a:r>
            <a:pPr indent="0" marL="0">
              <a:spcAft>
                <a:spcPts val="400"/>
              </a:spcAft>
              <a:buNone/>
            </a:pPr>
            <a:r>
              <a:rPr lang="en-US" sz="1100" dirty="0">
                <a:solidFill>
                  <a:srgbClr val="E6EDF3"/>
                </a:solidFill>
                <a:latin typeface="Calibri" pitchFamily="34" charset="0"/>
                <a:ea typeface="Calibri" pitchFamily="34" charset="-122"/>
                <a:cs typeface="Calibri" pitchFamily="34" charset="-120"/>
              </a:rPr>
              <a:t>Chỉ cần nếu bạn muốn rebuild slide deck này</a:t>
            </a:r>
            <a:endParaRPr lang="en-US" sz="1100" dirty="0"/>
          </a:p>
        </p:txBody>
      </p:sp>
      <p:sp>
        <p:nvSpPr>
          <p:cNvPr id="31" name="Text 29"/>
          <p:cNvSpPr/>
          <p:nvPr/>
        </p:nvSpPr>
        <p:spPr>
          <a:xfrm>
            <a:off x="365760" y="6126480"/>
            <a:ext cx="11430000" cy="274320"/>
          </a:xfrm>
          <a:prstGeom prst="rect">
            <a:avLst/>
          </a:prstGeom>
          <a:noFill/>
          <a:ln/>
        </p:spPr>
        <p:txBody>
          <a:bodyPr wrap="square" lIns="0" tIns="0" rIns="0" bIns="0" rtlCol="0" anchor="ctr"/>
          <a:lstStyle/>
          <a:p>
            <a:pPr algn="ctr" indent="0" marL="0">
              <a:buNone/>
            </a:pPr>
            <a:r>
              <a:rPr lang="en-US" sz="1100" i="1" dirty="0">
                <a:solidFill>
                  <a:srgbClr val="79C0FF"/>
                </a:solidFill>
                <a:latin typeface="Consolas" pitchFamily="34" charset="0"/>
                <a:ea typeface="Consolas" pitchFamily="34" charset="-122"/>
                <a:cs typeface="Consolas" pitchFamily="34" charset="-120"/>
              </a:rPr>
              <a:t>Verify nhanh: $ tmux -V &amp;&amp; (opencode --version || claude --version) &amp;&amp; git --version &amp;&amp; bash --version</a:t>
            </a:r>
            <a:endParaRPr lang="en-US" sz="1100" dirty="0"/>
          </a:p>
        </p:txBody>
      </p:sp>
      <p:sp>
        <p:nvSpPr>
          <p:cNvPr id="32" name="Text 30"/>
          <p:cNvSpPr/>
          <p:nvPr/>
        </p:nvSpPr>
        <p:spPr>
          <a:xfrm>
            <a:off x="11338560" y="6492240"/>
            <a:ext cx="731520" cy="228600"/>
          </a:xfrm>
          <a:prstGeom prst="rect">
            <a:avLst/>
          </a:prstGeom>
          <a:noFill/>
          <a:ln/>
        </p:spPr>
        <p:txBody>
          <a:bodyPr wrap="square" lIns="0" tIns="0" rIns="0" bIns="0" rtlCol="0" anchor="ctr"/>
          <a:lstStyle/>
          <a:p>
            <a:pPr algn="r" indent="0" marL="0">
              <a:buNone/>
            </a:pPr>
            <a:r>
              <a:rPr lang="en-US" sz="900" dirty="0">
                <a:solidFill>
                  <a:srgbClr val="8B949E"/>
                </a:solidFill>
                <a:latin typeface="Consolas" pitchFamily="34" charset="0"/>
                <a:ea typeface="Consolas" pitchFamily="34" charset="-122"/>
                <a:cs typeface="Consolas" pitchFamily="34" charset="-120"/>
              </a:rPr>
              <a:t>19 / 32</a:t>
            </a:r>
            <a:endParaRPr lang="en-US" sz="900" dirty="0"/>
          </a:p>
        </p:txBody>
      </p:sp>
      <p:sp>
        <p:nvSpPr>
          <p:cNvPr id="33" name="Text 31"/>
          <p:cNvSpPr/>
          <p:nvPr/>
        </p:nvSpPr>
        <p:spPr>
          <a:xfrm>
            <a:off x="365760" y="6492240"/>
            <a:ext cx="1097280" cy="228600"/>
          </a:xfrm>
          <a:prstGeom prst="rect">
            <a:avLst/>
          </a:prstGeom>
          <a:noFill/>
          <a:ln/>
        </p:spPr>
        <p:txBody>
          <a:bodyPr wrap="square" lIns="0" tIns="0" rIns="0" bIns="0" rtlCol="0" anchor="ctr"/>
          <a:lstStyle/>
          <a:p>
            <a:pPr algn="l" indent="0" marL="0">
              <a:buNone/>
            </a:pPr>
            <a:r>
              <a:rPr lang="en-US" sz="900" dirty="0">
                <a:solidFill>
                  <a:srgbClr val="8B949E"/>
                </a:solidFill>
                <a:latin typeface="Consolas" pitchFamily="34" charset="0"/>
                <a:ea typeface="Consolas" pitchFamily="34" charset="-122"/>
                <a:cs typeface="Consolas" pitchFamily="34" charset="-120"/>
              </a:rPr>
              <a:t>v10.12</a:t>
            </a:r>
            <a:endParaRPr lang="en-US" sz="900" dirty="0"/>
          </a:p>
        </p:txBody>
      </p:sp>
      <p:sp>
        <p:nvSpPr>
          <p:cNvPr id="34" name="Text 32"/>
          <p:cNvSpPr/>
          <p:nvPr/>
        </p:nvSpPr>
        <p:spPr>
          <a:xfrm>
            <a:off x="4572000" y="6492240"/>
            <a:ext cx="6400800" cy="228600"/>
          </a:xfrm>
          <a:prstGeom prst="rect">
            <a:avLst/>
          </a:prstGeom>
          <a:noFill/>
          <a:ln/>
        </p:spPr>
        <p:txBody>
          <a:bodyPr wrap="square" lIns="0" tIns="0" rIns="0" bIns="0" rtlCol="0" anchor="ctr"/>
          <a:lstStyle/>
          <a:p>
            <a:pPr algn="ctr" indent="0" marL="0">
              <a:buNone/>
            </a:pPr>
            <a:r>
              <a:rPr lang="en-US" sz="900" dirty="0">
                <a:solidFill>
                  <a:srgbClr val="8B949E"/>
                </a:solidFill>
                <a:latin typeface="Consolas" pitchFamily="34" charset="0"/>
                <a:ea typeface="Consolas" pitchFamily="34" charset="-122"/>
                <a:cs typeface="Consolas" pitchFamily="34" charset="-120"/>
              </a:rPr>
              <a:t>Product Engineering Agent Framework</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365760" y="228600"/>
            <a:ext cx="8229600" cy="274320"/>
          </a:xfrm>
          <a:prstGeom prst="rect">
            <a:avLst/>
          </a:prstGeom>
          <a:noFill/>
          <a:ln/>
        </p:spPr>
        <p:txBody>
          <a:bodyPr wrap="square" lIns="0" tIns="0" rIns="0" bIns="0" rtlCol="0" anchor="ctr"/>
          <a:lstStyle/>
          <a:p>
            <a:pPr indent="0" marL="0">
              <a:buNone/>
            </a:pPr>
            <a:r>
              <a:rPr lang="en-US" sz="1100" dirty="0">
                <a:solidFill>
                  <a:srgbClr val="2EA043"/>
                </a:solidFill>
                <a:latin typeface="Consolas" pitchFamily="34" charset="0"/>
                <a:ea typeface="Consolas" pitchFamily="34" charset="-122"/>
                <a:cs typeface="Consolas" pitchFamily="34" charset="-120"/>
              </a:rPr>
              <a:t>$ </a:t>
            </a:r>
            <a:pPr indent="0" marL="0">
              <a:buNone/>
            </a:pPr>
            <a:r>
              <a:rPr lang="en-US" sz="1100" dirty="0">
                <a:solidFill>
                  <a:srgbClr val="8B949E"/>
                </a:solidFill>
                <a:latin typeface="Consolas" pitchFamily="34" charset="0"/>
                <a:ea typeface="Consolas" pitchFamily="34" charset="-122"/>
                <a:cs typeface="Consolas" pitchFamily="34" charset="-120"/>
              </a:rPr>
              <a:t>19_engine_choice.md</a:t>
            </a:r>
            <a:endParaRPr lang="en-US" sz="1100" dirty="0"/>
          </a:p>
        </p:txBody>
      </p:sp>
      <p:sp>
        <p:nvSpPr>
          <p:cNvPr id="3" name="Text 1"/>
          <p:cNvSpPr/>
          <p:nvPr/>
        </p:nvSpPr>
        <p:spPr>
          <a:xfrm>
            <a:off x="365760" y="548640"/>
            <a:ext cx="11430000" cy="640080"/>
          </a:xfrm>
          <a:prstGeom prst="rect">
            <a:avLst/>
          </a:prstGeom>
          <a:noFill/>
          <a:ln/>
        </p:spPr>
        <p:txBody>
          <a:bodyPr wrap="square" lIns="0" tIns="0" rIns="0" bIns="0" rtlCol="0" anchor="ctr"/>
          <a:lstStyle/>
          <a:p>
            <a:pPr indent="0" marL="0">
              <a:buNone/>
            </a:pPr>
            <a:r>
              <a:rPr lang="en-US" sz="3000" b="1" dirty="0">
                <a:solidFill>
                  <a:srgbClr val="E6EDF3"/>
                </a:solidFill>
                <a:latin typeface="Consolas" pitchFamily="34" charset="0"/>
                <a:ea typeface="Consolas" pitchFamily="34" charset="-122"/>
                <a:cs typeface="Consolas" pitchFamily="34" charset="-120"/>
              </a:rPr>
              <a:t>Engine choice (v10.12)</a:t>
            </a:r>
            <a:endParaRPr lang="en-US" sz="3000" dirty="0"/>
          </a:p>
        </p:txBody>
      </p:sp>
      <p:sp>
        <p:nvSpPr>
          <p:cNvPr id="4" name="Text 2"/>
          <p:cNvSpPr/>
          <p:nvPr/>
        </p:nvSpPr>
        <p:spPr>
          <a:xfrm>
            <a:off x="365760" y="1143000"/>
            <a:ext cx="11430000" cy="365760"/>
          </a:xfrm>
          <a:prstGeom prst="rect">
            <a:avLst/>
          </a:prstGeom>
          <a:noFill/>
          <a:ln/>
        </p:spPr>
        <p:txBody>
          <a:bodyPr wrap="square" lIns="0" tIns="0" rIns="0" bIns="0" rtlCol="0" anchor="ctr"/>
          <a:lstStyle/>
          <a:p>
            <a:pPr indent="0" marL="0">
              <a:buNone/>
            </a:pPr>
            <a:r>
              <a:rPr lang="en-US" sz="1400" i="1" dirty="0">
                <a:solidFill>
                  <a:srgbClr val="8B949E"/>
                </a:solidFill>
                <a:latin typeface="Calibri" pitchFamily="34" charset="0"/>
                <a:ea typeface="Calibri" pitchFamily="34" charset="-122"/>
                <a:cs typeface="Calibri" pitchFamily="34" charset="-120"/>
              </a:rPr>
              <a:t>Chọn CLI engine khi start session: --engine opencode (default) hoặc --engine claude</a:t>
            </a:r>
            <a:endParaRPr lang="en-US" sz="1400" dirty="0"/>
          </a:p>
        </p:txBody>
      </p:sp>
      <p:sp>
        <p:nvSpPr>
          <p:cNvPr id="5" name="Shape 3"/>
          <p:cNvSpPr/>
          <p:nvPr/>
        </p:nvSpPr>
        <p:spPr>
          <a:xfrm>
            <a:off x="365760" y="1783080"/>
            <a:ext cx="5532120" cy="4572000"/>
          </a:xfrm>
          <a:prstGeom prst="rect">
            <a:avLst/>
          </a:prstGeom>
          <a:solidFill>
            <a:srgbClr val="161B22"/>
          </a:solidFill>
          <a:ln w="12700">
            <a:solidFill>
              <a:srgbClr val="30363D"/>
            </a:solidFill>
            <a:prstDash val="solid"/>
          </a:ln>
        </p:spPr>
      </p:sp>
      <p:sp>
        <p:nvSpPr>
          <p:cNvPr id="6" name="Shape 4"/>
          <p:cNvSpPr/>
          <p:nvPr/>
        </p:nvSpPr>
        <p:spPr>
          <a:xfrm>
            <a:off x="365760" y="1783080"/>
            <a:ext cx="73152" cy="4572000"/>
          </a:xfrm>
          <a:prstGeom prst="rect">
            <a:avLst/>
          </a:prstGeom>
          <a:solidFill>
            <a:srgbClr val="7CE38B"/>
          </a:solidFill>
          <a:ln w="12700">
            <a:solidFill>
              <a:srgbClr val="7CE38B"/>
            </a:solidFill>
            <a:prstDash val="solid"/>
          </a:ln>
        </p:spPr>
      </p:sp>
      <p:sp>
        <p:nvSpPr>
          <p:cNvPr id="7" name="Text 5"/>
          <p:cNvSpPr/>
          <p:nvPr/>
        </p:nvSpPr>
        <p:spPr>
          <a:xfrm>
            <a:off x="548640" y="1874520"/>
            <a:ext cx="5212080" cy="365760"/>
          </a:xfrm>
          <a:prstGeom prst="rect">
            <a:avLst/>
          </a:prstGeom>
          <a:noFill/>
          <a:ln/>
        </p:spPr>
        <p:txBody>
          <a:bodyPr wrap="square" lIns="0" tIns="0" rIns="0" bIns="0" rtlCol="0" anchor="ctr"/>
          <a:lstStyle/>
          <a:p>
            <a:pPr indent="0" marL="0">
              <a:buNone/>
            </a:pPr>
            <a:r>
              <a:rPr lang="en-US" sz="1600" b="1" dirty="0">
                <a:solidFill>
                  <a:srgbClr val="7CE38B"/>
                </a:solidFill>
                <a:latin typeface="Consolas" pitchFamily="34" charset="0"/>
                <a:ea typeface="Consolas" pitchFamily="34" charset="-122"/>
                <a:cs typeface="Consolas" pitchFamily="34" charset="-120"/>
              </a:rPr>
              <a:t>OpenCode (default)</a:t>
            </a:r>
            <a:endParaRPr lang="en-US" sz="1600" dirty="0"/>
          </a:p>
        </p:txBody>
      </p:sp>
      <p:sp>
        <p:nvSpPr>
          <p:cNvPr id="8" name="Text 6"/>
          <p:cNvSpPr/>
          <p:nvPr/>
        </p:nvSpPr>
        <p:spPr>
          <a:xfrm>
            <a:off x="548640" y="2240280"/>
            <a:ext cx="5212080" cy="274320"/>
          </a:xfrm>
          <a:prstGeom prst="rect">
            <a:avLst/>
          </a:prstGeom>
          <a:noFill/>
          <a:ln/>
        </p:spPr>
        <p:txBody>
          <a:bodyPr wrap="square" lIns="0" tIns="0" rIns="0" bIns="0" rtlCol="0" anchor="ctr"/>
          <a:lstStyle/>
          <a:p>
            <a:pPr indent="0" marL="0">
              <a:buNone/>
            </a:pPr>
            <a:r>
              <a:rPr lang="en-US" sz="1000" i="1" dirty="0">
                <a:solidFill>
                  <a:srgbClr val="8B949E"/>
                </a:solidFill>
                <a:latin typeface="Calibri" pitchFamily="34" charset="0"/>
                <a:ea typeface="Calibri" pitchFamily="34" charset="-122"/>
                <a:cs typeface="Calibri" pitchFamily="34" charset="-120"/>
              </a:rPr>
              <a:t>for: newbie / experimental</a:t>
            </a:r>
            <a:endParaRPr lang="en-US" sz="1000" dirty="0"/>
          </a:p>
        </p:txBody>
      </p:sp>
      <p:sp>
        <p:nvSpPr>
          <p:cNvPr id="9" name="Text 7"/>
          <p:cNvSpPr/>
          <p:nvPr/>
        </p:nvSpPr>
        <p:spPr>
          <a:xfrm>
            <a:off x="548640" y="2560320"/>
            <a:ext cx="5212080" cy="365760"/>
          </a:xfrm>
          <a:prstGeom prst="rect">
            <a:avLst/>
          </a:prstGeom>
          <a:noFill/>
          <a:ln/>
        </p:spPr>
        <p:txBody>
          <a:bodyPr wrap="square" lIns="0" tIns="0" rIns="0" bIns="0" rtlCol="0" anchor="ctr"/>
          <a:lstStyle/>
          <a:p>
            <a:pPr indent="0" marL="0">
              <a:buNone/>
            </a:pPr>
            <a:r>
              <a:rPr lang="en-US" sz="1000" dirty="0">
                <a:solidFill>
                  <a:srgbClr val="7CE38B"/>
                </a:solidFill>
                <a:latin typeface="Consolas" pitchFamily="34" charset="0"/>
                <a:ea typeface="Consolas" pitchFamily="34" charset="-122"/>
                <a:cs typeface="Consolas" pitchFamily="34" charset="-120"/>
              </a:rPr>
              <a:t>$ bash scripts/start_agents_tmux.sh &lt;project&gt;</a:t>
            </a:r>
            <a:endParaRPr lang="en-US" sz="1000" dirty="0"/>
          </a:p>
        </p:txBody>
      </p:sp>
      <p:sp>
        <p:nvSpPr>
          <p:cNvPr id="10" name="Text 8"/>
          <p:cNvSpPr/>
          <p:nvPr/>
        </p:nvSpPr>
        <p:spPr>
          <a:xfrm>
            <a:off x="548640" y="2971800"/>
            <a:ext cx="5212080" cy="822960"/>
          </a:xfrm>
          <a:prstGeom prst="rect">
            <a:avLst/>
          </a:prstGeom>
          <a:noFill/>
          <a:ln/>
        </p:spPr>
        <p:txBody>
          <a:bodyPr wrap="square" lIns="0" tIns="0" rIns="0" bIns="0" rtlCol="0" anchor="t"/>
          <a:lstStyle/>
          <a:p>
            <a:pPr indent="0" marL="0">
              <a:buNone/>
            </a:pPr>
            <a:r>
              <a:rPr lang="en-US" sz="1100" dirty="0">
                <a:solidFill>
                  <a:srgbClr val="E6EDF3"/>
                </a:solidFill>
                <a:latin typeface="Calibri" pitchFamily="34" charset="0"/>
                <a:ea typeface="Calibri" pitchFamily="34" charset="-122"/>
                <a:cs typeface="Calibri" pitchFamily="34" charset="-120"/>
              </a:rPr>
              <a:t>Multi-provider, mix 7 tier model (deepseek, qwen, kimi, glm, mimo…). Tốt để thử nghiệm rẻ.</a:t>
            </a:r>
            <a:endParaRPr lang="en-US" sz="1100" dirty="0"/>
          </a:p>
        </p:txBody>
      </p:sp>
      <p:sp>
        <p:nvSpPr>
          <p:cNvPr id="11" name="Text 9"/>
          <p:cNvSpPr/>
          <p:nvPr/>
        </p:nvSpPr>
        <p:spPr>
          <a:xfrm>
            <a:off x="548640" y="3886200"/>
            <a:ext cx="5212080" cy="1645920"/>
          </a:xfrm>
          <a:prstGeom prst="rect">
            <a:avLst/>
          </a:prstGeom>
          <a:noFill/>
          <a:ln/>
        </p:spPr>
        <p:txBody>
          <a:bodyPr wrap="square" lIns="0" tIns="0" rIns="0" bIns="0" rtlCol="0" anchor="t"/>
          <a:lstStyle/>
          <a:p>
            <a:pPr indent="0" marL="0">
              <a:spcAft>
                <a:spcPts val="200"/>
              </a:spcAft>
              <a:buNone/>
            </a:pPr>
            <a:r>
              <a:rPr lang="en-US" sz="1000" dirty="0">
                <a:solidFill>
                  <a:srgbClr val="E6EDF3"/>
                </a:solidFill>
                <a:latin typeface="Consolas" pitchFamily="34" charset="0"/>
                <a:ea typeface="Consolas" pitchFamily="34" charset="-122"/>
                <a:cs typeface="Consolas" pitchFamily="34" charset="-120"/>
              </a:rPr>
              <a:t>ORCH    opencode-go/glm-5.1</a:t>
            </a:r>
            <a:endParaRPr lang="en-US" sz="1000" dirty="0"/>
          </a:p>
          <a:p>
            <a:pPr indent="0" marL="0">
              <a:spcAft>
                <a:spcPts val="200"/>
              </a:spcAft>
              <a:buNone/>
            </a:pPr>
            <a:r>
              <a:rPr lang="en-US" sz="1000" dirty="0">
                <a:solidFill>
                  <a:srgbClr val="E6EDF3"/>
                </a:solidFill>
                <a:latin typeface="Consolas" pitchFamily="34" charset="0"/>
                <a:ea typeface="Consolas" pitchFamily="34" charset="-122"/>
                <a:cs typeface="Consolas" pitchFamily="34" charset="-120"/>
              </a:rPr>
              <a:t>PM/BA   opencode-go/deepseek-flash, qwen3.6</a:t>
            </a:r>
            <a:endParaRPr lang="en-US" sz="1000" dirty="0"/>
          </a:p>
          <a:p>
            <a:pPr indent="0" marL="0">
              <a:spcAft>
                <a:spcPts val="200"/>
              </a:spcAft>
              <a:buNone/>
            </a:pPr>
            <a:r>
              <a:rPr lang="en-US" sz="1000" dirty="0">
                <a:solidFill>
                  <a:srgbClr val="E6EDF3"/>
                </a:solidFill>
                <a:latin typeface="Consolas" pitchFamily="34" charset="0"/>
                <a:ea typeface="Consolas" pitchFamily="34" charset="-122"/>
                <a:cs typeface="Consolas" pitchFamily="34" charset="-120"/>
              </a:rPr>
              <a:t>SA/BE   opencode-go/deepseek-v4-pro</a:t>
            </a:r>
            <a:endParaRPr lang="en-US" sz="1000" dirty="0"/>
          </a:p>
          <a:p>
            <a:pPr indent="0" marL="0">
              <a:spcAft>
                <a:spcPts val="200"/>
              </a:spcAft>
              <a:buNone/>
            </a:pPr>
            <a:r>
              <a:rPr lang="en-US" sz="1000" dirty="0">
                <a:solidFill>
                  <a:srgbClr val="E6EDF3"/>
                </a:solidFill>
                <a:latin typeface="Consolas" pitchFamily="34" charset="0"/>
                <a:ea typeface="Consolas" pitchFamily="34" charset="-122"/>
                <a:cs typeface="Consolas" pitchFamily="34" charset="-120"/>
              </a:rPr>
              <a:t>FE      opencode-go/kimi-k2.6</a:t>
            </a:r>
            <a:endParaRPr lang="en-US" sz="1000" dirty="0"/>
          </a:p>
          <a:p>
            <a:pPr indent="0" marL="0">
              <a:spcAft>
                <a:spcPts val="200"/>
              </a:spcAft>
              <a:buNone/>
            </a:pPr>
            <a:r>
              <a:rPr lang="en-US" sz="1000" dirty="0">
                <a:solidFill>
                  <a:srgbClr val="E6EDF3"/>
                </a:solidFill>
                <a:latin typeface="Consolas" pitchFamily="34" charset="0"/>
                <a:ea typeface="Consolas" pitchFamily="34" charset="-122"/>
                <a:cs typeface="Consolas" pitchFamily="34" charset="-120"/>
              </a:rPr>
              <a:t>QA      opencode-go/qwen3.5-plus</a:t>
            </a:r>
            <a:endParaRPr lang="en-US" sz="1000" dirty="0"/>
          </a:p>
        </p:txBody>
      </p:sp>
      <p:sp>
        <p:nvSpPr>
          <p:cNvPr id="12" name="Text 10"/>
          <p:cNvSpPr/>
          <p:nvPr/>
        </p:nvSpPr>
        <p:spPr>
          <a:xfrm>
            <a:off x="548640" y="5577840"/>
            <a:ext cx="5212080" cy="274320"/>
          </a:xfrm>
          <a:prstGeom prst="rect">
            <a:avLst/>
          </a:prstGeom>
          <a:noFill/>
          <a:ln/>
        </p:spPr>
        <p:txBody>
          <a:bodyPr wrap="square" lIns="0" tIns="0" rIns="0" bIns="0" rtlCol="0" anchor="ctr"/>
          <a:lstStyle/>
          <a:p>
            <a:pPr indent="0" marL="0">
              <a:buNone/>
            </a:pPr>
            <a:r>
              <a:rPr lang="en-US" sz="1000" dirty="0">
                <a:solidFill>
                  <a:srgbClr val="8B949E"/>
                </a:solidFill>
                <a:latin typeface="Consolas" pitchFamily="34" charset="0"/>
                <a:ea typeface="Consolas" pitchFamily="34" charset="-122"/>
                <a:cs typeface="Consolas" pitchFamily="34" charset="-120"/>
              </a:rPr>
              <a:t>Config: .opencode/config.json + opencode.json</a:t>
            </a:r>
            <a:endParaRPr lang="en-US" sz="1000" dirty="0"/>
          </a:p>
        </p:txBody>
      </p:sp>
      <p:sp>
        <p:nvSpPr>
          <p:cNvPr id="13" name="Text 11"/>
          <p:cNvSpPr/>
          <p:nvPr/>
        </p:nvSpPr>
        <p:spPr>
          <a:xfrm>
            <a:off x="548640" y="5852160"/>
            <a:ext cx="5212080" cy="274320"/>
          </a:xfrm>
          <a:prstGeom prst="rect">
            <a:avLst/>
          </a:prstGeom>
          <a:noFill/>
          <a:ln/>
        </p:spPr>
        <p:txBody>
          <a:bodyPr wrap="square" lIns="0" tIns="0" rIns="0" bIns="0" rtlCol="0" anchor="ctr"/>
          <a:lstStyle/>
          <a:p>
            <a:pPr indent="0" marL="0">
              <a:buNone/>
            </a:pPr>
            <a:r>
              <a:rPr lang="en-US" sz="1000" dirty="0">
                <a:solidFill>
                  <a:srgbClr val="8B949E"/>
                </a:solidFill>
                <a:latin typeface="Consolas" pitchFamily="34" charset="0"/>
                <a:ea typeface="Consolas" pitchFamily="34" charset="-122"/>
                <a:cs typeface="Consolas" pitchFamily="34" charset="-120"/>
              </a:rPr>
              <a:t>Check : dynamic (gọi `opencode models`)</a:t>
            </a:r>
            <a:endParaRPr lang="en-US" sz="1000" dirty="0"/>
          </a:p>
        </p:txBody>
      </p:sp>
      <p:sp>
        <p:nvSpPr>
          <p:cNvPr id="14" name="Shape 12"/>
          <p:cNvSpPr/>
          <p:nvPr/>
        </p:nvSpPr>
        <p:spPr>
          <a:xfrm>
            <a:off x="6263640" y="1783080"/>
            <a:ext cx="5532120" cy="4572000"/>
          </a:xfrm>
          <a:prstGeom prst="rect">
            <a:avLst/>
          </a:prstGeom>
          <a:solidFill>
            <a:srgbClr val="161B22"/>
          </a:solidFill>
          <a:ln w="12700">
            <a:solidFill>
              <a:srgbClr val="30363D"/>
            </a:solidFill>
            <a:prstDash val="solid"/>
          </a:ln>
        </p:spPr>
      </p:sp>
      <p:sp>
        <p:nvSpPr>
          <p:cNvPr id="15" name="Shape 13"/>
          <p:cNvSpPr/>
          <p:nvPr/>
        </p:nvSpPr>
        <p:spPr>
          <a:xfrm>
            <a:off x="6263640" y="1783080"/>
            <a:ext cx="73152" cy="4572000"/>
          </a:xfrm>
          <a:prstGeom prst="rect">
            <a:avLst/>
          </a:prstGeom>
          <a:solidFill>
            <a:srgbClr val="79C0FF"/>
          </a:solidFill>
          <a:ln w="12700">
            <a:solidFill>
              <a:srgbClr val="79C0FF"/>
            </a:solidFill>
            <a:prstDash val="solid"/>
          </a:ln>
        </p:spPr>
      </p:sp>
      <p:sp>
        <p:nvSpPr>
          <p:cNvPr id="16" name="Text 14"/>
          <p:cNvSpPr/>
          <p:nvPr/>
        </p:nvSpPr>
        <p:spPr>
          <a:xfrm>
            <a:off x="6446520" y="1874520"/>
            <a:ext cx="5212080" cy="365760"/>
          </a:xfrm>
          <a:prstGeom prst="rect">
            <a:avLst/>
          </a:prstGeom>
          <a:noFill/>
          <a:ln/>
        </p:spPr>
        <p:txBody>
          <a:bodyPr wrap="square" lIns="0" tIns="0" rIns="0" bIns="0" rtlCol="0" anchor="ctr"/>
          <a:lstStyle/>
          <a:p>
            <a:pPr indent="0" marL="0">
              <a:buNone/>
            </a:pPr>
            <a:r>
              <a:rPr lang="en-US" sz="1600" b="1" dirty="0">
                <a:solidFill>
                  <a:srgbClr val="79C0FF"/>
                </a:solidFill>
                <a:latin typeface="Consolas" pitchFamily="34" charset="0"/>
                <a:ea typeface="Consolas" pitchFamily="34" charset="-122"/>
                <a:cs typeface="Consolas" pitchFamily="34" charset="-120"/>
              </a:rPr>
              <a:t>Claude Code</a:t>
            </a:r>
            <a:endParaRPr lang="en-US" sz="1600" dirty="0"/>
          </a:p>
        </p:txBody>
      </p:sp>
      <p:sp>
        <p:nvSpPr>
          <p:cNvPr id="17" name="Text 15"/>
          <p:cNvSpPr/>
          <p:nvPr/>
        </p:nvSpPr>
        <p:spPr>
          <a:xfrm>
            <a:off x="6446520" y="2240280"/>
            <a:ext cx="5212080" cy="274320"/>
          </a:xfrm>
          <a:prstGeom prst="rect">
            <a:avLst/>
          </a:prstGeom>
          <a:noFill/>
          <a:ln/>
        </p:spPr>
        <p:txBody>
          <a:bodyPr wrap="square" lIns="0" tIns="0" rIns="0" bIns="0" rtlCol="0" anchor="ctr"/>
          <a:lstStyle/>
          <a:p>
            <a:pPr indent="0" marL="0">
              <a:buNone/>
            </a:pPr>
            <a:r>
              <a:rPr lang="en-US" sz="1000" i="1" dirty="0">
                <a:solidFill>
                  <a:srgbClr val="8B949E"/>
                </a:solidFill>
                <a:latin typeface="Calibri" pitchFamily="34" charset="0"/>
                <a:ea typeface="Calibri" pitchFamily="34" charset="-122"/>
                <a:cs typeface="Calibri" pitchFamily="34" charset="-120"/>
              </a:rPr>
              <a:t>for: pro / single-vendor</a:t>
            </a:r>
            <a:endParaRPr lang="en-US" sz="1000" dirty="0"/>
          </a:p>
        </p:txBody>
      </p:sp>
      <p:sp>
        <p:nvSpPr>
          <p:cNvPr id="18" name="Text 16"/>
          <p:cNvSpPr/>
          <p:nvPr/>
        </p:nvSpPr>
        <p:spPr>
          <a:xfrm>
            <a:off x="6446520" y="2560320"/>
            <a:ext cx="5212080" cy="365760"/>
          </a:xfrm>
          <a:prstGeom prst="rect">
            <a:avLst/>
          </a:prstGeom>
          <a:noFill/>
          <a:ln/>
        </p:spPr>
        <p:txBody>
          <a:bodyPr wrap="square" lIns="0" tIns="0" rIns="0" bIns="0" rtlCol="0" anchor="ctr"/>
          <a:lstStyle/>
          <a:p>
            <a:pPr indent="0" marL="0">
              <a:buNone/>
            </a:pPr>
            <a:r>
              <a:rPr lang="en-US" sz="1000" dirty="0">
                <a:solidFill>
                  <a:srgbClr val="79C0FF"/>
                </a:solidFill>
                <a:latin typeface="Consolas" pitchFamily="34" charset="0"/>
                <a:ea typeface="Consolas" pitchFamily="34" charset="-122"/>
                <a:cs typeface="Consolas" pitchFamily="34" charset="-120"/>
              </a:rPr>
              <a:t>$ bash scripts/start_agents_tmux.sh &lt;project&gt; --engine claude</a:t>
            </a:r>
            <a:endParaRPr lang="en-US" sz="1000" dirty="0"/>
          </a:p>
        </p:txBody>
      </p:sp>
      <p:sp>
        <p:nvSpPr>
          <p:cNvPr id="19" name="Text 17"/>
          <p:cNvSpPr/>
          <p:nvPr/>
        </p:nvSpPr>
        <p:spPr>
          <a:xfrm>
            <a:off x="6446520" y="2971800"/>
            <a:ext cx="5212080" cy="822960"/>
          </a:xfrm>
          <a:prstGeom prst="rect">
            <a:avLst/>
          </a:prstGeom>
          <a:noFill/>
          <a:ln/>
        </p:spPr>
        <p:txBody>
          <a:bodyPr wrap="square" lIns="0" tIns="0" rIns="0" bIns="0" rtlCol="0" anchor="t"/>
          <a:lstStyle/>
          <a:p>
            <a:pPr indent="0" marL="0">
              <a:buNone/>
            </a:pPr>
            <a:r>
              <a:rPr lang="en-US" sz="1100" dirty="0">
                <a:solidFill>
                  <a:srgbClr val="E6EDF3"/>
                </a:solidFill>
                <a:latin typeface="Calibri" pitchFamily="34" charset="0"/>
                <a:ea typeface="Calibri" pitchFamily="34" charset="-122"/>
                <a:cs typeface="Calibri" pitchFamily="34" charset="-120"/>
              </a:rPr>
              <a:t>Anthropic only, 3 tier (haiku/sonnet/opus). Setup nhỏ gọn — 1 API key duy nhất.</a:t>
            </a:r>
            <a:endParaRPr lang="en-US" sz="1100" dirty="0"/>
          </a:p>
        </p:txBody>
      </p:sp>
      <p:sp>
        <p:nvSpPr>
          <p:cNvPr id="20" name="Text 18"/>
          <p:cNvSpPr/>
          <p:nvPr/>
        </p:nvSpPr>
        <p:spPr>
          <a:xfrm>
            <a:off x="6446520" y="3886200"/>
            <a:ext cx="5212080" cy="1645920"/>
          </a:xfrm>
          <a:prstGeom prst="rect">
            <a:avLst/>
          </a:prstGeom>
          <a:noFill/>
          <a:ln/>
        </p:spPr>
        <p:txBody>
          <a:bodyPr wrap="square" lIns="0" tIns="0" rIns="0" bIns="0" rtlCol="0" anchor="t"/>
          <a:lstStyle/>
          <a:p>
            <a:pPr indent="0" marL="0">
              <a:spcAft>
                <a:spcPts val="200"/>
              </a:spcAft>
              <a:buNone/>
            </a:pPr>
            <a:r>
              <a:rPr lang="en-US" sz="1000" dirty="0">
                <a:solidFill>
                  <a:srgbClr val="E6EDF3"/>
                </a:solidFill>
                <a:latin typeface="Consolas" pitchFamily="34" charset="0"/>
                <a:ea typeface="Consolas" pitchFamily="34" charset="-122"/>
                <a:cs typeface="Consolas" pitchFamily="34" charset="-120"/>
              </a:rPr>
              <a:t>ORCH    claude-sonnet-4-6</a:t>
            </a:r>
            <a:endParaRPr lang="en-US" sz="1000" dirty="0"/>
          </a:p>
          <a:p>
            <a:pPr indent="0" marL="0">
              <a:spcAft>
                <a:spcPts val="200"/>
              </a:spcAft>
              <a:buNone/>
            </a:pPr>
            <a:r>
              <a:rPr lang="en-US" sz="1000" dirty="0">
                <a:solidFill>
                  <a:srgbClr val="E6EDF3"/>
                </a:solidFill>
                <a:latin typeface="Consolas" pitchFamily="34" charset="0"/>
                <a:ea typeface="Consolas" pitchFamily="34" charset="-122"/>
                <a:cs typeface="Consolas" pitchFamily="34" charset="-120"/>
              </a:rPr>
              <a:t>PM/BA   claude-haiku-4-5</a:t>
            </a:r>
            <a:endParaRPr lang="en-US" sz="1000" dirty="0"/>
          </a:p>
          <a:p>
            <a:pPr indent="0" marL="0">
              <a:spcAft>
                <a:spcPts val="200"/>
              </a:spcAft>
              <a:buNone/>
            </a:pPr>
            <a:r>
              <a:rPr lang="en-US" sz="1000" dirty="0">
                <a:solidFill>
                  <a:srgbClr val="E6EDF3"/>
                </a:solidFill>
                <a:latin typeface="Consolas" pitchFamily="34" charset="0"/>
                <a:ea typeface="Consolas" pitchFamily="34" charset="-122"/>
                <a:cs typeface="Consolas" pitchFamily="34" charset="-120"/>
              </a:rPr>
              <a:t>SA/BE   claude-opus-4-6</a:t>
            </a:r>
            <a:endParaRPr lang="en-US" sz="1000" dirty="0"/>
          </a:p>
          <a:p>
            <a:pPr indent="0" marL="0">
              <a:spcAft>
                <a:spcPts val="200"/>
              </a:spcAft>
              <a:buNone/>
            </a:pPr>
            <a:r>
              <a:rPr lang="en-US" sz="1000" dirty="0">
                <a:solidFill>
                  <a:srgbClr val="E6EDF3"/>
                </a:solidFill>
                <a:latin typeface="Consolas" pitchFamily="34" charset="0"/>
                <a:ea typeface="Consolas" pitchFamily="34" charset="-122"/>
                <a:cs typeface="Consolas" pitchFamily="34" charset="-120"/>
              </a:rPr>
              <a:t>FE      claude-sonnet-4-6</a:t>
            </a:r>
            <a:endParaRPr lang="en-US" sz="1000" dirty="0"/>
          </a:p>
          <a:p>
            <a:pPr indent="0" marL="0">
              <a:spcAft>
                <a:spcPts val="200"/>
              </a:spcAft>
              <a:buNone/>
            </a:pPr>
            <a:r>
              <a:rPr lang="en-US" sz="1000" dirty="0">
                <a:solidFill>
                  <a:srgbClr val="E6EDF3"/>
                </a:solidFill>
                <a:latin typeface="Consolas" pitchFamily="34" charset="0"/>
                <a:ea typeface="Consolas" pitchFamily="34" charset="-122"/>
                <a:cs typeface="Consolas" pitchFamily="34" charset="-120"/>
              </a:rPr>
              <a:t>QA/DEL  claude-haiku-4-5</a:t>
            </a:r>
            <a:endParaRPr lang="en-US" sz="1000" dirty="0"/>
          </a:p>
        </p:txBody>
      </p:sp>
      <p:sp>
        <p:nvSpPr>
          <p:cNvPr id="21" name="Text 19"/>
          <p:cNvSpPr/>
          <p:nvPr/>
        </p:nvSpPr>
        <p:spPr>
          <a:xfrm>
            <a:off x="6446520" y="5577840"/>
            <a:ext cx="5212080" cy="274320"/>
          </a:xfrm>
          <a:prstGeom prst="rect">
            <a:avLst/>
          </a:prstGeom>
          <a:noFill/>
          <a:ln/>
        </p:spPr>
        <p:txBody>
          <a:bodyPr wrap="square" lIns="0" tIns="0" rIns="0" bIns="0" rtlCol="0" anchor="ctr"/>
          <a:lstStyle/>
          <a:p>
            <a:pPr indent="0" marL="0">
              <a:buNone/>
            </a:pPr>
            <a:r>
              <a:rPr lang="en-US" sz="1000" dirty="0">
                <a:solidFill>
                  <a:srgbClr val="8B949E"/>
                </a:solidFill>
                <a:latin typeface="Consolas" pitchFamily="34" charset="0"/>
                <a:ea typeface="Consolas" pitchFamily="34" charset="-122"/>
                <a:cs typeface="Consolas" pitchFamily="34" charset="-120"/>
              </a:rPr>
              <a:t>Config: .claude/settings.json</a:t>
            </a:r>
            <a:endParaRPr lang="en-US" sz="1000" dirty="0"/>
          </a:p>
        </p:txBody>
      </p:sp>
      <p:sp>
        <p:nvSpPr>
          <p:cNvPr id="22" name="Text 20"/>
          <p:cNvSpPr/>
          <p:nvPr/>
        </p:nvSpPr>
        <p:spPr>
          <a:xfrm>
            <a:off x="6446520" y="5852160"/>
            <a:ext cx="5212080" cy="274320"/>
          </a:xfrm>
          <a:prstGeom prst="rect">
            <a:avLst/>
          </a:prstGeom>
          <a:noFill/>
          <a:ln/>
        </p:spPr>
        <p:txBody>
          <a:bodyPr wrap="square" lIns="0" tIns="0" rIns="0" bIns="0" rtlCol="0" anchor="ctr"/>
          <a:lstStyle/>
          <a:p>
            <a:pPr indent="0" marL="0">
              <a:buNone/>
            </a:pPr>
            <a:r>
              <a:rPr lang="en-US" sz="1000" dirty="0">
                <a:solidFill>
                  <a:srgbClr val="8B949E"/>
                </a:solidFill>
                <a:latin typeface="Consolas" pitchFamily="34" charset="0"/>
                <a:ea typeface="Consolas" pitchFamily="34" charset="-122"/>
                <a:cs typeface="Consolas" pitchFamily="34" charset="-120"/>
              </a:rPr>
              <a:t>Check : static (whitelist trong claude.env)</a:t>
            </a:r>
            <a:endParaRPr lang="en-US" sz="1000" dirty="0"/>
          </a:p>
        </p:txBody>
      </p:sp>
      <p:sp>
        <p:nvSpPr>
          <p:cNvPr id="23" name="Text 21"/>
          <p:cNvSpPr/>
          <p:nvPr/>
        </p:nvSpPr>
        <p:spPr>
          <a:xfrm>
            <a:off x="365760" y="6263640"/>
            <a:ext cx="11430000" cy="228600"/>
          </a:xfrm>
          <a:prstGeom prst="rect">
            <a:avLst/>
          </a:prstGeom>
          <a:noFill/>
          <a:ln/>
        </p:spPr>
        <p:txBody>
          <a:bodyPr wrap="square" lIns="0" tIns="0" rIns="0" bIns="0" rtlCol="0" anchor="ctr"/>
          <a:lstStyle/>
          <a:p>
            <a:pPr algn="ctr" indent="0" marL="0">
              <a:buNone/>
            </a:pPr>
            <a:r>
              <a:rPr lang="en-US" sz="1000" i="1" dirty="0">
                <a:solidFill>
                  <a:srgbClr val="79C0FF"/>
                </a:solidFill>
                <a:latin typeface="Calibri" pitchFamily="34" charset="0"/>
                <a:ea typeface="Calibri" pitchFamily="34" charset="-122"/>
                <a:cs typeface="Calibri" pitchFamily="34" charset="-120"/>
              </a:rPr>
              <a:t>Engine choice được persist vào .agent_session — tất cả script (route_to_pane, answer_role, …) đọc tự động.</a:t>
            </a:r>
            <a:endParaRPr lang="en-US" sz="1000" dirty="0"/>
          </a:p>
        </p:txBody>
      </p:sp>
      <p:sp>
        <p:nvSpPr>
          <p:cNvPr id="24" name="Text 22"/>
          <p:cNvSpPr/>
          <p:nvPr/>
        </p:nvSpPr>
        <p:spPr>
          <a:xfrm>
            <a:off x="11338560" y="6492240"/>
            <a:ext cx="731520" cy="228600"/>
          </a:xfrm>
          <a:prstGeom prst="rect">
            <a:avLst/>
          </a:prstGeom>
          <a:noFill/>
          <a:ln/>
        </p:spPr>
        <p:txBody>
          <a:bodyPr wrap="square" lIns="0" tIns="0" rIns="0" bIns="0" rtlCol="0" anchor="ctr"/>
          <a:lstStyle/>
          <a:p>
            <a:pPr algn="r" indent="0" marL="0">
              <a:buNone/>
            </a:pPr>
            <a:r>
              <a:rPr lang="en-US" sz="900" dirty="0">
                <a:solidFill>
                  <a:srgbClr val="8B949E"/>
                </a:solidFill>
                <a:latin typeface="Consolas" pitchFamily="34" charset="0"/>
                <a:ea typeface="Consolas" pitchFamily="34" charset="-122"/>
                <a:cs typeface="Consolas" pitchFamily="34" charset="-120"/>
              </a:rPr>
              <a:t>20 / 32</a:t>
            </a:r>
            <a:endParaRPr lang="en-US" sz="900" dirty="0"/>
          </a:p>
        </p:txBody>
      </p:sp>
      <p:sp>
        <p:nvSpPr>
          <p:cNvPr id="25" name="Text 23"/>
          <p:cNvSpPr/>
          <p:nvPr/>
        </p:nvSpPr>
        <p:spPr>
          <a:xfrm>
            <a:off x="365760" y="6492240"/>
            <a:ext cx="1097280" cy="228600"/>
          </a:xfrm>
          <a:prstGeom prst="rect">
            <a:avLst/>
          </a:prstGeom>
          <a:noFill/>
          <a:ln/>
        </p:spPr>
        <p:txBody>
          <a:bodyPr wrap="square" lIns="0" tIns="0" rIns="0" bIns="0" rtlCol="0" anchor="ctr"/>
          <a:lstStyle/>
          <a:p>
            <a:pPr algn="l" indent="0" marL="0">
              <a:buNone/>
            </a:pPr>
            <a:r>
              <a:rPr lang="en-US" sz="900" dirty="0">
                <a:solidFill>
                  <a:srgbClr val="8B949E"/>
                </a:solidFill>
                <a:latin typeface="Consolas" pitchFamily="34" charset="0"/>
                <a:ea typeface="Consolas" pitchFamily="34" charset="-122"/>
                <a:cs typeface="Consolas" pitchFamily="34" charset="-120"/>
              </a:rPr>
              <a:t>v10.12</a:t>
            </a:r>
            <a:endParaRPr lang="en-US" sz="900" dirty="0"/>
          </a:p>
        </p:txBody>
      </p:sp>
      <p:sp>
        <p:nvSpPr>
          <p:cNvPr id="26" name="Text 24"/>
          <p:cNvSpPr/>
          <p:nvPr/>
        </p:nvSpPr>
        <p:spPr>
          <a:xfrm>
            <a:off x="4572000" y="6492240"/>
            <a:ext cx="6400800" cy="228600"/>
          </a:xfrm>
          <a:prstGeom prst="rect">
            <a:avLst/>
          </a:prstGeom>
          <a:noFill/>
          <a:ln/>
        </p:spPr>
        <p:txBody>
          <a:bodyPr wrap="square" lIns="0" tIns="0" rIns="0" bIns="0" rtlCol="0" anchor="ctr"/>
          <a:lstStyle/>
          <a:p>
            <a:pPr algn="ctr" indent="0" marL="0">
              <a:buNone/>
            </a:pPr>
            <a:r>
              <a:rPr lang="en-US" sz="900" dirty="0">
                <a:solidFill>
                  <a:srgbClr val="8B949E"/>
                </a:solidFill>
                <a:latin typeface="Consolas" pitchFamily="34" charset="0"/>
                <a:ea typeface="Consolas" pitchFamily="34" charset="-122"/>
                <a:cs typeface="Consolas" pitchFamily="34" charset="-120"/>
              </a:rPr>
              <a:t>Product Engineering Agent Framework</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365760" y="228600"/>
            <a:ext cx="8229600" cy="274320"/>
          </a:xfrm>
          <a:prstGeom prst="rect">
            <a:avLst/>
          </a:prstGeom>
          <a:noFill/>
          <a:ln/>
        </p:spPr>
        <p:txBody>
          <a:bodyPr wrap="square" lIns="0" tIns="0" rIns="0" bIns="0" rtlCol="0" anchor="ctr"/>
          <a:lstStyle/>
          <a:p>
            <a:pPr indent="0" marL="0">
              <a:buNone/>
            </a:pPr>
            <a:r>
              <a:rPr lang="en-US" sz="1100" dirty="0">
                <a:solidFill>
                  <a:srgbClr val="2EA043"/>
                </a:solidFill>
                <a:latin typeface="Consolas" pitchFamily="34" charset="0"/>
                <a:ea typeface="Consolas" pitchFamily="34" charset="-122"/>
                <a:cs typeface="Consolas" pitchFamily="34" charset="-120"/>
              </a:rPr>
              <a:t>$ </a:t>
            </a:r>
            <a:pPr indent="0" marL="0">
              <a:buNone/>
            </a:pPr>
            <a:r>
              <a:rPr lang="en-US" sz="1100" dirty="0">
                <a:solidFill>
                  <a:srgbClr val="8B949E"/>
                </a:solidFill>
                <a:latin typeface="Consolas" pitchFamily="34" charset="0"/>
                <a:ea typeface="Consolas" pitchFamily="34" charset="-122"/>
                <a:cs typeface="Consolas" pitchFamily="34" charset="-120"/>
              </a:rPr>
              <a:t>18_quick_start.md</a:t>
            </a:r>
            <a:endParaRPr lang="en-US" sz="1100" dirty="0"/>
          </a:p>
        </p:txBody>
      </p:sp>
      <p:sp>
        <p:nvSpPr>
          <p:cNvPr id="3" name="Text 1"/>
          <p:cNvSpPr/>
          <p:nvPr/>
        </p:nvSpPr>
        <p:spPr>
          <a:xfrm>
            <a:off x="365760" y="548640"/>
            <a:ext cx="11430000" cy="640080"/>
          </a:xfrm>
          <a:prstGeom prst="rect">
            <a:avLst/>
          </a:prstGeom>
          <a:noFill/>
          <a:ln/>
        </p:spPr>
        <p:txBody>
          <a:bodyPr wrap="square" lIns="0" tIns="0" rIns="0" bIns="0" rtlCol="0" anchor="ctr"/>
          <a:lstStyle/>
          <a:p>
            <a:pPr indent="0" marL="0">
              <a:buNone/>
            </a:pPr>
            <a:r>
              <a:rPr lang="en-US" sz="3000" b="1" dirty="0">
                <a:solidFill>
                  <a:srgbClr val="E6EDF3"/>
                </a:solidFill>
                <a:latin typeface="Consolas" pitchFamily="34" charset="0"/>
                <a:ea typeface="Consolas" pitchFamily="34" charset="-122"/>
                <a:cs typeface="Consolas" pitchFamily="34" charset="-120"/>
              </a:rPr>
              <a:t>Quick start — 5 lệnh để khởi động</a:t>
            </a:r>
            <a:endParaRPr lang="en-US" sz="3000" dirty="0"/>
          </a:p>
        </p:txBody>
      </p:sp>
      <p:sp>
        <p:nvSpPr>
          <p:cNvPr id="4" name="Text 2"/>
          <p:cNvSpPr/>
          <p:nvPr/>
        </p:nvSpPr>
        <p:spPr>
          <a:xfrm>
            <a:off x="365760" y="1143000"/>
            <a:ext cx="11430000" cy="365760"/>
          </a:xfrm>
          <a:prstGeom prst="rect">
            <a:avLst/>
          </a:prstGeom>
          <a:noFill/>
          <a:ln/>
        </p:spPr>
        <p:txBody>
          <a:bodyPr wrap="square" lIns="0" tIns="0" rIns="0" bIns="0" rtlCol="0" anchor="ctr"/>
          <a:lstStyle/>
          <a:p>
            <a:pPr indent="0" marL="0">
              <a:buNone/>
            </a:pPr>
            <a:r>
              <a:rPr lang="en-US" sz="1400" i="1" dirty="0">
                <a:solidFill>
                  <a:srgbClr val="8B949E"/>
                </a:solidFill>
                <a:latin typeface="Calibri" pitchFamily="34" charset="0"/>
                <a:ea typeface="Calibri" pitchFamily="34" charset="-122"/>
                <a:cs typeface="Calibri" pitchFamily="34" charset="-120"/>
              </a:rPr>
              <a:t>Clone từ GitHub → bootstrap project → talk to Orchestrator</a:t>
            </a:r>
            <a:endParaRPr lang="en-US" sz="1400" dirty="0"/>
          </a:p>
        </p:txBody>
      </p:sp>
      <p:sp>
        <p:nvSpPr>
          <p:cNvPr id="5" name="Shape 3"/>
          <p:cNvSpPr/>
          <p:nvPr/>
        </p:nvSpPr>
        <p:spPr>
          <a:xfrm>
            <a:off x="365760" y="1783080"/>
            <a:ext cx="11430000" cy="4572000"/>
          </a:xfrm>
          <a:prstGeom prst="rect">
            <a:avLst/>
          </a:prstGeom>
          <a:solidFill>
            <a:srgbClr val="161B22"/>
          </a:solidFill>
          <a:ln w="12700">
            <a:solidFill>
              <a:srgbClr val="30363D"/>
            </a:solidFill>
            <a:prstDash val="solid"/>
          </a:ln>
        </p:spPr>
      </p:sp>
      <p:sp>
        <p:nvSpPr>
          <p:cNvPr id="6" name="Shape 4"/>
          <p:cNvSpPr/>
          <p:nvPr/>
        </p:nvSpPr>
        <p:spPr>
          <a:xfrm>
            <a:off x="457200" y="1874520"/>
            <a:ext cx="91440" cy="91440"/>
          </a:xfrm>
          <a:prstGeom prst="ellipse">
            <a:avLst/>
          </a:prstGeom>
          <a:solidFill>
            <a:srgbClr val="F85149"/>
          </a:solidFill>
          <a:ln w="12700">
            <a:solidFill>
              <a:srgbClr val="F85149"/>
            </a:solidFill>
            <a:prstDash val="solid"/>
          </a:ln>
        </p:spPr>
      </p:sp>
      <p:sp>
        <p:nvSpPr>
          <p:cNvPr id="7" name="Shape 5"/>
          <p:cNvSpPr/>
          <p:nvPr/>
        </p:nvSpPr>
        <p:spPr>
          <a:xfrm>
            <a:off x="585216" y="1874520"/>
            <a:ext cx="91440" cy="91440"/>
          </a:xfrm>
          <a:prstGeom prst="ellipse">
            <a:avLst/>
          </a:prstGeom>
          <a:solidFill>
            <a:srgbClr val="D29922"/>
          </a:solidFill>
          <a:ln w="12700">
            <a:solidFill>
              <a:srgbClr val="D29922"/>
            </a:solidFill>
            <a:prstDash val="solid"/>
          </a:ln>
        </p:spPr>
      </p:sp>
      <p:sp>
        <p:nvSpPr>
          <p:cNvPr id="8" name="Shape 6"/>
          <p:cNvSpPr/>
          <p:nvPr/>
        </p:nvSpPr>
        <p:spPr>
          <a:xfrm>
            <a:off x="713232" y="1874520"/>
            <a:ext cx="91440" cy="91440"/>
          </a:xfrm>
          <a:prstGeom prst="ellipse">
            <a:avLst/>
          </a:prstGeom>
          <a:solidFill>
            <a:srgbClr val="3FB950"/>
          </a:solidFill>
          <a:ln w="12700">
            <a:solidFill>
              <a:srgbClr val="3FB950"/>
            </a:solidFill>
            <a:prstDash val="solid"/>
          </a:ln>
        </p:spPr>
      </p:sp>
      <p:sp>
        <p:nvSpPr>
          <p:cNvPr id="9" name="Text 7"/>
          <p:cNvSpPr/>
          <p:nvPr/>
        </p:nvSpPr>
        <p:spPr>
          <a:xfrm>
            <a:off x="502920" y="2103120"/>
            <a:ext cx="11155680" cy="4206240"/>
          </a:xfrm>
          <a:prstGeom prst="rect">
            <a:avLst/>
          </a:prstGeom>
          <a:noFill/>
          <a:ln/>
        </p:spPr>
        <p:txBody>
          <a:bodyPr wrap="square" lIns="0" tIns="0" rIns="0" bIns="0" rtlCol="0" anchor="t"/>
          <a:lstStyle/>
          <a:p>
            <a:pPr indent="0" marL="0">
              <a:buNone/>
            </a:pPr>
            <a:r>
              <a:rPr lang="en-US" sz="1200" dirty="0">
                <a:solidFill>
                  <a:srgbClr val="8B949E"/>
                </a:solidFill>
                <a:latin typeface="Consolas" pitchFamily="34" charset="0"/>
                <a:ea typeface="Consolas" pitchFamily="34" charset="-122"/>
                <a:cs typeface="Consolas" pitchFamily="34" charset="-120"/>
              </a:rPr>
              <a:t># 1. Clone từ GitHub (monorepo learning-vault)</a:t>
            </a:r>
            <a:endParaRPr lang="en-US" sz="1200" dirty="0"/>
          </a:p>
          <a:p>
            <a:pPr indent="0" marL="0">
              <a:buNone/>
            </a:pPr>
            <a:r>
              <a:rPr lang="en-US" sz="1200" dirty="0">
                <a:solidFill>
                  <a:srgbClr val="7CE38B"/>
                </a:solidFill>
                <a:latin typeface="Consolas" pitchFamily="34" charset="0"/>
                <a:ea typeface="Consolas" pitchFamily="34" charset="-122"/>
                <a:cs typeface="Consolas" pitchFamily="34" charset="-120"/>
              </a:rPr>
              <a:t>$ git clone https://github.com/minhtuan-labs/learning-vault.git</a:t>
            </a:r>
            <a:endParaRPr lang="en-US" sz="1200" dirty="0"/>
          </a:p>
          <a:p>
            <a:pPr indent="0" marL="0">
              <a:buNone/>
            </a:pPr>
            <a:r>
              <a:rPr lang="en-US" sz="1200" dirty="0">
                <a:solidFill>
                  <a:srgbClr val="7CE38B"/>
                </a:solidFill>
                <a:latin typeface="Consolas" pitchFamily="34" charset="0"/>
                <a:ea typeface="Consolas" pitchFamily="34" charset="-122"/>
                <a:cs typeface="Consolas" pitchFamily="34" charset="-120"/>
              </a:rPr>
              <a:t>$ cd learning-vault/frameworks/product-engineering-template</a:t>
            </a:r>
            <a:endParaRPr lang="en-US" sz="1200" dirty="0"/>
          </a:p>
          <a:p>
            <a:pPr indent="0" marL="0">
              <a:buNone/>
            </a:pPr>
            <a:endParaRPr lang="en-US" sz="1200" dirty="0"/>
          </a:p>
          <a:p>
            <a:pPr indent="0" marL="0">
              <a:buNone/>
            </a:pPr>
            <a:r>
              <a:rPr lang="en-US" sz="1200" dirty="0">
                <a:solidFill>
                  <a:srgbClr val="8B949E"/>
                </a:solidFill>
                <a:latin typeface="Consolas" pitchFamily="34" charset="0"/>
                <a:ea typeface="Consolas" pitchFamily="34" charset="-122"/>
                <a:cs typeface="Consolas" pitchFamily="34" charset="-120"/>
              </a:rPr>
              <a:t># 2. Copy template ra project mới (hoặc dùng tại chỗ)</a:t>
            </a:r>
            <a:endParaRPr lang="en-US" sz="1200" dirty="0"/>
          </a:p>
          <a:p>
            <a:pPr indent="0" marL="0">
              <a:buNone/>
            </a:pPr>
            <a:r>
              <a:rPr lang="en-US" sz="1200" dirty="0">
                <a:solidFill>
                  <a:srgbClr val="7CE38B"/>
                </a:solidFill>
                <a:latin typeface="Consolas" pitchFamily="34" charset="0"/>
                <a:ea typeface="Consolas" pitchFamily="34" charset="-122"/>
                <a:cs typeface="Consolas" pitchFamily="34" charset="-120"/>
              </a:rPr>
              <a:t>$ cp -R . ~/my-project &amp;&amp; cd ~/my-project</a:t>
            </a:r>
            <a:endParaRPr lang="en-US" sz="1200" dirty="0"/>
          </a:p>
          <a:p>
            <a:pPr indent="0" marL="0">
              <a:buNone/>
            </a:pPr>
            <a:r>
              <a:rPr lang="en-US" sz="1200" dirty="0">
                <a:solidFill>
                  <a:srgbClr val="7CE38B"/>
                </a:solidFill>
                <a:latin typeface="Consolas" pitchFamily="34" charset="0"/>
                <a:ea typeface="Consolas" pitchFamily="34" charset="-122"/>
                <a:cs typeface="Consolas" pitchFamily="34" charset="-120"/>
              </a:rPr>
              <a:t>$ chmod +x scripts/*.sh</a:t>
            </a:r>
            <a:endParaRPr lang="en-US" sz="1200" dirty="0"/>
          </a:p>
          <a:p>
            <a:pPr indent="0" marL="0">
              <a:buNone/>
            </a:pPr>
            <a:endParaRPr lang="en-US" sz="1200" dirty="0"/>
          </a:p>
          <a:p>
            <a:pPr indent="0" marL="0">
              <a:buNone/>
            </a:pPr>
            <a:r>
              <a:rPr lang="en-US" sz="1200" dirty="0">
                <a:solidFill>
                  <a:srgbClr val="8B949E"/>
                </a:solidFill>
                <a:latin typeface="Consolas" pitchFamily="34" charset="0"/>
                <a:ea typeface="Consolas" pitchFamily="34" charset="-122"/>
                <a:cs typeface="Consolas" pitchFamily="34" charset="-120"/>
              </a:rPr>
              <a:t># 3. Mô tả ý tưởng — đây là input duy nhất của user</a:t>
            </a:r>
            <a:endParaRPr lang="en-US" sz="1200" dirty="0"/>
          </a:p>
          <a:p>
            <a:pPr indent="0" marL="0">
              <a:buNone/>
            </a:pPr>
            <a:r>
              <a:rPr lang="en-US" sz="1200" dirty="0">
                <a:solidFill>
                  <a:srgbClr val="7CE38B"/>
                </a:solidFill>
                <a:latin typeface="Consolas" pitchFamily="34" charset="0"/>
                <a:ea typeface="Consolas" pitchFamily="34" charset="-122"/>
                <a:cs typeface="Consolas" pitchFamily="34" charset="-120"/>
              </a:rPr>
              <a:t>$ $EDITOR PRODUCT_IDEA.md</a:t>
            </a:r>
            <a:endParaRPr lang="en-US" sz="1200" dirty="0"/>
          </a:p>
          <a:p>
            <a:pPr indent="0" marL="0">
              <a:buNone/>
            </a:pPr>
            <a:endParaRPr lang="en-US" sz="1200" dirty="0"/>
          </a:p>
          <a:p>
            <a:pPr indent="0" marL="0">
              <a:buNone/>
            </a:pPr>
            <a:r>
              <a:rPr lang="en-US" sz="1200" dirty="0">
                <a:solidFill>
                  <a:srgbClr val="8B949E"/>
                </a:solidFill>
                <a:latin typeface="Consolas" pitchFamily="34" charset="0"/>
                <a:ea typeface="Consolas" pitchFamily="34" charset="-122"/>
                <a:cs typeface="Consolas" pitchFamily="34" charset="-120"/>
              </a:rPr>
              <a:t># 4. Pick engine + verify models (v10.12)</a:t>
            </a:r>
            <a:endParaRPr lang="en-US" sz="1200" dirty="0"/>
          </a:p>
          <a:p>
            <a:pPr indent="0" marL="0">
              <a:buNone/>
            </a:pPr>
            <a:r>
              <a:rPr lang="en-US" sz="1200" dirty="0">
                <a:solidFill>
                  <a:srgbClr val="7CE38B"/>
                </a:solidFill>
                <a:latin typeface="Consolas" pitchFamily="34" charset="0"/>
                <a:ea typeface="Consolas" pitchFamily="34" charset="-122"/>
                <a:cs typeface="Consolas" pitchFamily="34" charset="-120"/>
              </a:rPr>
              <a:t>$ bash scripts/check_models.sh opencode   # hoặc: claude</a:t>
            </a:r>
            <a:endParaRPr lang="en-US" sz="1200" dirty="0"/>
          </a:p>
          <a:p>
            <a:pPr indent="0" marL="0">
              <a:buNone/>
            </a:pPr>
            <a:endParaRPr lang="en-US" sz="1200" dirty="0"/>
          </a:p>
          <a:p>
            <a:pPr indent="0" marL="0">
              <a:buNone/>
            </a:pPr>
            <a:r>
              <a:rPr lang="en-US" sz="1200" dirty="0">
                <a:solidFill>
                  <a:srgbClr val="8B949E"/>
                </a:solidFill>
                <a:latin typeface="Consolas" pitchFamily="34" charset="0"/>
                <a:ea typeface="Consolas" pitchFamily="34" charset="-122"/>
                <a:cs typeface="Consolas" pitchFamily="34" charset="-120"/>
              </a:rPr>
              <a:t># 5. Khởi động 9-pane / 3-window tmux session</a:t>
            </a:r>
            <a:endParaRPr lang="en-US" sz="1200" dirty="0"/>
          </a:p>
          <a:p>
            <a:pPr indent="0" marL="0">
              <a:buNone/>
            </a:pPr>
            <a:r>
              <a:rPr lang="en-US" sz="1200" dirty="0">
                <a:solidFill>
                  <a:srgbClr val="7CE38B"/>
                </a:solidFill>
                <a:latin typeface="Consolas" pitchFamily="34" charset="0"/>
                <a:ea typeface="Consolas" pitchFamily="34" charset="-122"/>
                <a:cs typeface="Consolas" pitchFamily="34" charset="-120"/>
              </a:rPr>
              <a:t>$ bash scripts/start_agents_tmux.sh my-project              # default opencode</a:t>
            </a:r>
            <a:endParaRPr lang="en-US" sz="1200" dirty="0"/>
          </a:p>
          <a:p>
            <a:pPr indent="0" marL="0">
              <a:buNone/>
            </a:pPr>
            <a:r>
              <a:rPr lang="en-US" sz="1200" dirty="0">
                <a:solidFill>
                  <a:srgbClr val="8B949E"/>
                </a:solidFill>
                <a:latin typeface="Consolas" pitchFamily="34" charset="0"/>
                <a:ea typeface="Consolas" pitchFamily="34" charset="-122"/>
                <a:cs typeface="Consolas" pitchFamily="34" charset="-120"/>
              </a:rPr>
              <a:t># hoặc:  bash scripts/start_agents_tmux.sh my-project --engine claude</a:t>
            </a:r>
            <a:endParaRPr lang="en-US" sz="1200" dirty="0"/>
          </a:p>
        </p:txBody>
      </p:sp>
      <p:sp>
        <p:nvSpPr>
          <p:cNvPr id="10" name="Text 8"/>
          <p:cNvSpPr/>
          <p:nvPr/>
        </p:nvSpPr>
        <p:spPr>
          <a:xfrm>
            <a:off x="365760" y="6126480"/>
            <a:ext cx="11430000" cy="365760"/>
          </a:xfrm>
          <a:prstGeom prst="rect">
            <a:avLst/>
          </a:prstGeom>
          <a:noFill/>
          <a:ln/>
        </p:spPr>
        <p:txBody>
          <a:bodyPr wrap="square" lIns="0" tIns="0" rIns="0" bIns="0" rtlCol="0" anchor="ctr"/>
          <a:lstStyle/>
          <a:p>
            <a:pPr algn="ctr" indent="0" marL="0">
              <a:buNone/>
            </a:pPr>
            <a:r>
              <a:rPr lang="en-US" sz="1300" i="1" dirty="0">
                <a:solidFill>
                  <a:srgbClr val="7CE38B"/>
                </a:solidFill>
                <a:latin typeface="Calibri" pitchFamily="34" charset="0"/>
                <a:ea typeface="Calibri" pitchFamily="34" charset="-122"/>
                <a:cs typeface="Calibri" pitchFamily="34" charset="-120"/>
              </a:rPr>
              <a:t>Sau đó chỉ nói với pane 1 (Orchestrator). 8 pane còn lại tự awake khi cần.</a:t>
            </a:r>
            <a:endParaRPr lang="en-US" sz="1300" dirty="0"/>
          </a:p>
        </p:txBody>
      </p:sp>
      <p:sp>
        <p:nvSpPr>
          <p:cNvPr id="11" name="Text 9"/>
          <p:cNvSpPr/>
          <p:nvPr/>
        </p:nvSpPr>
        <p:spPr>
          <a:xfrm>
            <a:off x="11338560" y="6492240"/>
            <a:ext cx="731520" cy="228600"/>
          </a:xfrm>
          <a:prstGeom prst="rect">
            <a:avLst/>
          </a:prstGeom>
          <a:noFill/>
          <a:ln/>
        </p:spPr>
        <p:txBody>
          <a:bodyPr wrap="square" lIns="0" tIns="0" rIns="0" bIns="0" rtlCol="0" anchor="ctr"/>
          <a:lstStyle/>
          <a:p>
            <a:pPr algn="r" indent="0" marL="0">
              <a:buNone/>
            </a:pPr>
            <a:r>
              <a:rPr lang="en-US" sz="900" dirty="0">
                <a:solidFill>
                  <a:srgbClr val="8B949E"/>
                </a:solidFill>
                <a:latin typeface="Consolas" pitchFamily="34" charset="0"/>
                <a:ea typeface="Consolas" pitchFamily="34" charset="-122"/>
                <a:cs typeface="Consolas" pitchFamily="34" charset="-120"/>
              </a:rPr>
              <a:t>21 / 32</a:t>
            </a:r>
            <a:endParaRPr lang="en-US" sz="900" dirty="0"/>
          </a:p>
        </p:txBody>
      </p:sp>
      <p:sp>
        <p:nvSpPr>
          <p:cNvPr id="12" name="Text 10"/>
          <p:cNvSpPr/>
          <p:nvPr/>
        </p:nvSpPr>
        <p:spPr>
          <a:xfrm>
            <a:off x="365760" y="6492240"/>
            <a:ext cx="1097280" cy="228600"/>
          </a:xfrm>
          <a:prstGeom prst="rect">
            <a:avLst/>
          </a:prstGeom>
          <a:noFill/>
          <a:ln/>
        </p:spPr>
        <p:txBody>
          <a:bodyPr wrap="square" lIns="0" tIns="0" rIns="0" bIns="0" rtlCol="0" anchor="ctr"/>
          <a:lstStyle/>
          <a:p>
            <a:pPr algn="l" indent="0" marL="0">
              <a:buNone/>
            </a:pPr>
            <a:r>
              <a:rPr lang="en-US" sz="900" dirty="0">
                <a:solidFill>
                  <a:srgbClr val="8B949E"/>
                </a:solidFill>
                <a:latin typeface="Consolas" pitchFamily="34" charset="0"/>
                <a:ea typeface="Consolas" pitchFamily="34" charset="-122"/>
                <a:cs typeface="Consolas" pitchFamily="34" charset="-120"/>
              </a:rPr>
              <a:t>v10.12</a:t>
            </a:r>
            <a:endParaRPr lang="en-US" sz="900" dirty="0"/>
          </a:p>
        </p:txBody>
      </p:sp>
      <p:sp>
        <p:nvSpPr>
          <p:cNvPr id="13" name="Text 11"/>
          <p:cNvSpPr/>
          <p:nvPr/>
        </p:nvSpPr>
        <p:spPr>
          <a:xfrm>
            <a:off x="4572000" y="6492240"/>
            <a:ext cx="6400800" cy="228600"/>
          </a:xfrm>
          <a:prstGeom prst="rect">
            <a:avLst/>
          </a:prstGeom>
          <a:noFill/>
          <a:ln/>
        </p:spPr>
        <p:txBody>
          <a:bodyPr wrap="square" lIns="0" tIns="0" rIns="0" bIns="0" rtlCol="0" anchor="ctr"/>
          <a:lstStyle/>
          <a:p>
            <a:pPr algn="ctr" indent="0" marL="0">
              <a:buNone/>
            </a:pPr>
            <a:r>
              <a:rPr lang="en-US" sz="900" dirty="0">
                <a:solidFill>
                  <a:srgbClr val="8B949E"/>
                </a:solidFill>
                <a:latin typeface="Consolas" pitchFamily="34" charset="0"/>
                <a:ea typeface="Consolas" pitchFamily="34" charset="-122"/>
                <a:cs typeface="Consolas" pitchFamily="34" charset="-120"/>
              </a:rPr>
              <a:t>Product Engineering Agent Framework</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365760" y="228600"/>
            <a:ext cx="8229600" cy="274320"/>
          </a:xfrm>
          <a:prstGeom prst="rect">
            <a:avLst/>
          </a:prstGeom>
          <a:noFill/>
          <a:ln/>
        </p:spPr>
        <p:txBody>
          <a:bodyPr wrap="square" lIns="0" tIns="0" rIns="0" bIns="0" rtlCol="0" anchor="ctr"/>
          <a:lstStyle/>
          <a:p>
            <a:pPr indent="0" marL="0">
              <a:buNone/>
            </a:pPr>
            <a:r>
              <a:rPr lang="en-US" sz="1100" dirty="0">
                <a:solidFill>
                  <a:srgbClr val="2EA043"/>
                </a:solidFill>
                <a:latin typeface="Consolas" pitchFamily="34" charset="0"/>
                <a:ea typeface="Consolas" pitchFamily="34" charset="-122"/>
                <a:cs typeface="Consolas" pitchFamily="34" charset="-120"/>
              </a:rPr>
              <a:t>$ </a:t>
            </a:r>
            <a:pPr indent="0" marL="0">
              <a:buNone/>
            </a:pPr>
            <a:r>
              <a:rPr lang="en-US" sz="1100" dirty="0">
                <a:solidFill>
                  <a:srgbClr val="8B949E"/>
                </a:solidFill>
                <a:latin typeface="Consolas" pitchFamily="34" charset="0"/>
                <a:ea typeface="Consolas" pitchFamily="34" charset="-122"/>
                <a:cs typeface="Consolas" pitchFamily="34" charset="-120"/>
              </a:rPr>
              <a:t>18_workflow_day1.md</a:t>
            </a:r>
            <a:endParaRPr lang="en-US" sz="1100" dirty="0"/>
          </a:p>
        </p:txBody>
      </p:sp>
      <p:sp>
        <p:nvSpPr>
          <p:cNvPr id="3" name="Text 1"/>
          <p:cNvSpPr/>
          <p:nvPr/>
        </p:nvSpPr>
        <p:spPr>
          <a:xfrm>
            <a:off x="365760" y="548640"/>
            <a:ext cx="11430000" cy="640080"/>
          </a:xfrm>
          <a:prstGeom prst="rect">
            <a:avLst/>
          </a:prstGeom>
          <a:noFill/>
          <a:ln/>
        </p:spPr>
        <p:txBody>
          <a:bodyPr wrap="square" lIns="0" tIns="0" rIns="0" bIns="0" rtlCol="0" anchor="ctr"/>
          <a:lstStyle/>
          <a:p>
            <a:pPr indent="0" marL="0">
              <a:buNone/>
            </a:pPr>
            <a:r>
              <a:rPr lang="en-US" sz="3000" b="1" dirty="0">
                <a:solidFill>
                  <a:srgbClr val="E6EDF3"/>
                </a:solidFill>
                <a:latin typeface="Consolas" pitchFamily="34" charset="0"/>
                <a:ea typeface="Consolas" pitchFamily="34" charset="-122"/>
                <a:cs typeface="Consolas" pitchFamily="34" charset="-120"/>
              </a:rPr>
              <a:t>Workflow — Day 1 (Discovery → Solution)</a:t>
            </a:r>
            <a:endParaRPr lang="en-US" sz="3000" dirty="0"/>
          </a:p>
        </p:txBody>
      </p:sp>
      <p:sp>
        <p:nvSpPr>
          <p:cNvPr id="4" name="Text 2"/>
          <p:cNvSpPr/>
          <p:nvPr/>
        </p:nvSpPr>
        <p:spPr>
          <a:xfrm>
            <a:off x="365760" y="1143000"/>
            <a:ext cx="11430000" cy="365760"/>
          </a:xfrm>
          <a:prstGeom prst="rect">
            <a:avLst/>
          </a:prstGeom>
          <a:noFill/>
          <a:ln/>
        </p:spPr>
        <p:txBody>
          <a:bodyPr wrap="square" lIns="0" tIns="0" rIns="0" bIns="0" rtlCol="0" anchor="ctr"/>
          <a:lstStyle/>
          <a:p>
            <a:pPr indent="0" marL="0">
              <a:buNone/>
            </a:pPr>
            <a:r>
              <a:rPr lang="en-US" sz="1400" i="1" dirty="0">
                <a:solidFill>
                  <a:srgbClr val="8B949E"/>
                </a:solidFill>
                <a:latin typeface="Calibri" pitchFamily="34" charset="0"/>
                <a:ea typeface="Calibri" pitchFamily="34" charset="-122"/>
                <a:cs typeface="Calibri" pitchFamily="34" charset="-120"/>
              </a:rPr>
              <a:t>Bạn chỉ chat với Orchestrator, mỗi turn ngắn gọn</a:t>
            </a:r>
            <a:endParaRPr lang="en-US" sz="1400" dirty="0"/>
          </a:p>
        </p:txBody>
      </p:sp>
      <p:sp>
        <p:nvSpPr>
          <p:cNvPr id="5" name="Shape 3"/>
          <p:cNvSpPr/>
          <p:nvPr/>
        </p:nvSpPr>
        <p:spPr>
          <a:xfrm>
            <a:off x="365760" y="1783080"/>
            <a:ext cx="11430000" cy="4572000"/>
          </a:xfrm>
          <a:prstGeom prst="rect">
            <a:avLst/>
          </a:prstGeom>
          <a:solidFill>
            <a:srgbClr val="161B22"/>
          </a:solidFill>
          <a:ln w="12700">
            <a:solidFill>
              <a:srgbClr val="30363D"/>
            </a:solidFill>
            <a:prstDash val="solid"/>
          </a:ln>
        </p:spPr>
      </p:sp>
      <p:sp>
        <p:nvSpPr>
          <p:cNvPr id="6" name="Shape 4"/>
          <p:cNvSpPr/>
          <p:nvPr/>
        </p:nvSpPr>
        <p:spPr>
          <a:xfrm>
            <a:off x="457200" y="1874520"/>
            <a:ext cx="91440" cy="91440"/>
          </a:xfrm>
          <a:prstGeom prst="ellipse">
            <a:avLst/>
          </a:prstGeom>
          <a:solidFill>
            <a:srgbClr val="F85149"/>
          </a:solidFill>
          <a:ln w="12700">
            <a:solidFill>
              <a:srgbClr val="F85149"/>
            </a:solidFill>
            <a:prstDash val="solid"/>
          </a:ln>
        </p:spPr>
      </p:sp>
      <p:sp>
        <p:nvSpPr>
          <p:cNvPr id="7" name="Shape 5"/>
          <p:cNvSpPr/>
          <p:nvPr/>
        </p:nvSpPr>
        <p:spPr>
          <a:xfrm>
            <a:off x="585216" y="1874520"/>
            <a:ext cx="91440" cy="91440"/>
          </a:xfrm>
          <a:prstGeom prst="ellipse">
            <a:avLst/>
          </a:prstGeom>
          <a:solidFill>
            <a:srgbClr val="D29922"/>
          </a:solidFill>
          <a:ln w="12700">
            <a:solidFill>
              <a:srgbClr val="D29922"/>
            </a:solidFill>
            <a:prstDash val="solid"/>
          </a:ln>
        </p:spPr>
      </p:sp>
      <p:sp>
        <p:nvSpPr>
          <p:cNvPr id="8" name="Shape 6"/>
          <p:cNvSpPr/>
          <p:nvPr/>
        </p:nvSpPr>
        <p:spPr>
          <a:xfrm>
            <a:off x="713232" y="1874520"/>
            <a:ext cx="91440" cy="91440"/>
          </a:xfrm>
          <a:prstGeom prst="ellipse">
            <a:avLst/>
          </a:prstGeom>
          <a:solidFill>
            <a:srgbClr val="3FB950"/>
          </a:solidFill>
          <a:ln w="12700">
            <a:solidFill>
              <a:srgbClr val="3FB950"/>
            </a:solidFill>
            <a:prstDash val="solid"/>
          </a:ln>
        </p:spPr>
      </p:sp>
      <p:sp>
        <p:nvSpPr>
          <p:cNvPr id="9" name="Text 7"/>
          <p:cNvSpPr/>
          <p:nvPr/>
        </p:nvSpPr>
        <p:spPr>
          <a:xfrm>
            <a:off x="502920" y="2103120"/>
            <a:ext cx="11155680" cy="4206240"/>
          </a:xfrm>
          <a:prstGeom prst="rect">
            <a:avLst/>
          </a:prstGeom>
          <a:noFill/>
          <a:ln/>
        </p:spPr>
        <p:txBody>
          <a:bodyPr wrap="square" lIns="0" tIns="0" rIns="0" bIns="0" rtlCol="0" anchor="t"/>
          <a:lstStyle/>
          <a:p>
            <a:pPr indent="0" marL="0">
              <a:buNone/>
            </a:pPr>
            <a:r>
              <a:rPr lang="en-US" sz="1200" dirty="0">
                <a:solidFill>
                  <a:srgbClr val="E6EDF3"/>
                </a:solidFill>
                <a:latin typeface="Consolas" pitchFamily="34" charset="0"/>
                <a:ea typeface="Consolas" pitchFamily="34" charset="-122"/>
                <a:cs typeface="Consolas" pitchFamily="34" charset="-120"/>
              </a:rPr>
              <a:t>USER : Bắt đầu dự án NestFi — app quản lý tài chính gia đình.</a:t>
            </a:r>
            <a:endParaRPr lang="en-US" sz="1200" dirty="0"/>
          </a:p>
          <a:p>
            <a:pPr indent="0" marL="0">
              <a:buNone/>
            </a:pPr>
            <a:r>
              <a:rPr lang="en-US" sz="1200" dirty="0">
                <a:solidFill>
                  <a:srgbClr val="E6EDF3"/>
                </a:solidFill>
                <a:latin typeface="Consolas" pitchFamily="34" charset="0"/>
                <a:ea typeface="Consolas" pitchFamily="34" charset="-122"/>
                <a:cs typeface="Consolas" pitchFamily="34" charset="-120"/>
              </a:rPr>
              <a:t>ORCH : (delegate_phase.sh discovery → PM, BA, UX song song)</a:t>
            </a:r>
            <a:endParaRPr lang="en-US" sz="1200" dirty="0"/>
          </a:p>
          <a:p>
            <a:pPr indent="0" marL="0">
              <a:buNone/>
            </a:pPr>
            <a:r>
              <a:rPr lang="en-US" sz="1200" dirty="0">
                <a:solidFill>
                  <a:srgbClr val="E6EDF3"/>
                </a:solidFill>
                <a:latin typeface="Consolas" pitchFamily="34" charset="0"/>
                <a:ea typeface="Consolas" pitchFamily="34" charset="-122"/>
                <a:cs typeface="Consolas" pitchFamily="34" charset="-120"/>
              </a:rPr>
              <a:t>       Đã route 3 agent. Sẽ ping khi có câu hỏi hoặc xong.</a:t>
            </a:r>
            <a:endParaRPr lang="en-US" sz="1200" dirty="0"/>
          </a:p>
          <a:p>
            <a:pPr indent="0" marL="0">
              <a:buNone/>
            </a:pPr>
            <a:endParaRPr lang="en-US" sz="1200" dirty="0"/>
          </a:p>
          <a:p>
            <a:pPr indent="0" marL="0">
              <a:buNone/>
            </a:pPr>
            <a:r>
              <a:rPr lang="en-US" sz="1200" dirty="0">
                <a:solidFill>
                  <a:srgbClr val="E6EDF3"/>
                </a:solidFill>
                <a:latin typeface="Consolas" pitchFamily="34" charset="0"/>
                <a:ea typeface="Consolas" pitchFamily="34" charset="-122"/>
                <a:cs typeface="Consolas" pitchFamily="34" charset="-120"/>
              </a:rPr>
              <a:t>[5 phút sau, SA chưa cần — PM file question vì PRODUCT_IDEA chưa đủ]</a:t>
            </a:r>
            <a:endParaRPr lang="en-US" sz="1200" dirty="0"/>
          </a:p>
          <a:p>
            <a:pPr indent="0" marL="0">
              <a:buNone/>
            </a:pPr>
            <a:r>
              <a:rPr lang="en-US" sz="1200" dirty="0">
                <a:solidFill>
                  <a:srgbClr val="E6EDF3"/>
                </a:solidFill>
                <a:latin typeface="Consolas" pitchFamily="34" charset="0"/>
                <a:ea typeface="Consolas" pitchFamily="34" charset="-122"/>
                <a:cs typeface="Consolas" pitchFamily="34" charset="-120"/>
              </a:rPr>
              <a:t>[INBOX] new clarification from PM — đối tượng user chính ai? B2C? B2B?</a:t>
            </a:r>
            <a:endParaRPr lang="en-US" sz="1200" dirty="0"/>
          </a:p>
          <a:p>
            <a:pPr indent="0" marL="0">
              <a:buNone/>
            </a:pPr>
            <a:r>
              <a:rPr lang="en-US" sz="1200" dirty="0">
                <a:solidFill>
                  <a:srgbClr val="E6EDF3"/>
                </a:solidFill>
                <a:latin typeface="Consolas" pitchFamily="34" charset="0"/>
                <a:ea typeface="Consolas" pitchFamily="34" charset="-122"/>
                <a:cs typeface="Consolas" pitchFamily="34" charset="-120"/>
              </a:rPr>
              <a:t>ORCH : PM hỏi: bạn nhắm user B2C (cá nhân/gia đình) hay B2B (kế toán)?</a:t>
            </a:r>
            <a:endParaRPr lang="en-US" sz="1200" dirty="0"/>
          </a:p>
          <a:p>
            <a:pPr indent="0" marL="0">
              <a:buNone/>
            </a:pPr>
            <a:r>
              <a:rPr lang="en-US" sz="1200" dirty="0">
                <a:solidFill>
                  <a:srgbClr val="E6EDF3"/>
                </a:solidFill>
                <a:latin typeface="Consolas" pitchFamily="34" charset="0"/>
                <a:ea typeface="Consolas" pitchFamily="34" charset="-122"/>
                <a:cs typeface="Consolas" pitchFamily="34" charset="-120"/>
              </a:rPr>
              <a:t>USER : B2C — gia đình 2-5 thành viên, không cần kế toán pro.</a:t>
            </a:r>
            <a:endParaRPr lang="en-US" sz="1200" dirty="0"/>
          </a:p>
          <a:p>
            <a:pPr indent="0" marL="0">
              <a:buNone/>
            </a:pPr>
            <a:r>
              <a:rPr lang="en-US" sz="1200" dirty="0">
                <a:solidFill>
                  <a:srgbClr val="E6EDF3"/>
                </a:solidFill>
                <a:latin typeface="Consolas" pitchFamily="34" charset="0"/>
                <a:ea typeface="Consolas" pitchFamily="34" charset="-122"/>
                <a:cs typeface="Consolas" pitchFamily="34" charset="-120"/>
              </a:rPr>
              <a:t>ORCH : (answer_role.sh PM ... → PM resume → ghi PRD)</a:t>
            </a:r>
            <a:endParaRPr lang="en-US" sz="1200" dirty="0"/>
          </a:p>
          <a:p>
            <a:pPr indent="0" marL="0">
              <a:buNone/>
            </a:pPr>
            <a:endParaRPr lang="en-US" sz="1200" dirty="0"/>
          </a:p>
          <a:p>
            <a:pPr indent="0" marL="0">
              <a:buNone/>
            </a:pPr>
            <a:r>
              <a:rPr lang="en-US" sz="1200" dirty="0">
                <a:solidFill>
                  <a:srgbClr val="E6EDF3"/>
                </a:solidFill>
                <a:latin typeface="Consolas" pitchFamily="34" charset="0"/>
                <a:ea typeface="Consolas" pitchFamily="34" charset="-122"/>
                <a:cs typeface="Consolas" pitchFamily="34" charset="-120"/>
              </a:rPr>
              <a:t>USER : OK tiếp tục solution design.</a:t>
            </a:r>
            <a:endParaRPr lang="en-US" sz="1200" dirty="0"/>
          </a:p>
          <a:p>
            <a:pPr indent="0" marL="0">
              <a:buNone/>
            </a:pPr>
            <a:r>
              <a:rPr lang="en-US" sz="1200" dirty="0">
                <a:solidFill>
                  <a:srgbClr val="E6EDF3"/>
                </a:solidFill>
                <a:latin typeface="Consolas" pitchFamily="34" charset="0"/>
                <a:ea typeface="Consolas" pitchFamily="34" charset="-122"/>
                <a:cs typeface="Consolas" pitchFamily="34" charset="-120"/>
              </a:rPr>
              <a:t>ORCH : (delegate_phase.sh solution → SA, ask về 12 stack dimensions)</a:t>
            </a:r>
            <a:endParaRPr lang="en-US" sz="1200" dirty="0"/>
          </a:p>
          <a:p>
            <a:pPr indent="0" marL="0">
              <a:buNone/>
            </a:pPr>
            <a:r>
              <a:rPr lang="en-US" sz="1200" dirty="0">
                <a:solidFill>
                  <a:srgbClr val="E6EDF3"/>
                </a:solidFill>
                <a:latin typeface="Consolas" pitchFamily="34" charset="0"/>
                <a:ea typeface="Consolas" pitchFamily="34" charset="-122"/>
                <a:cs typeface="Consolas" pitchFamily="34" charset="-120"/>
              </a:rPr>
              <a:t>       SA hỏi: Stack đề xuất — Next.js / FastAPI / Postgres / Tailwind …</a:t>
            </a:r>
            <a:endParaRPr lang="en-US" sz="1200" dirty="0"/>
          </a:p>
          <a:p>
            <a:pPr indent="0" marL="0">
              <a:buNone/>
            </a:pPr>
            <a:r>
              <a:rPr lang="en-US" sz="1200" dirty="0">
                <a:solidFill>
                  <a:srgbClr val="E6EDF3"/>
                </a:solidFill>
                <a:latin typeface="Consolas" pitchFamily="34" charset="0"/>
                <a:ea typeface="Consolas" pitchFamily="34" charset="-122"/>
                <a:cs typeface="Consolas" pitchFamily="34" charset="-120"/>
              </a:rPr>
              <a:t>USER : OK với defaults, dùng Supabase free tier.</a:t>
            </a:r>
            <a:endParaRPr lang="en-US" sz="1200" dirty="0"/>
          </a:p>
          <a:p>
            <a:pPr indent="0" marL="0">
              <a:buNone/>
            </a:pPr>
            <a:r>
              <a:rPr lang="en-US" sz="1200" dirty="0">
                <a:solidFill>
                  <a:srgbClr val="E6EDF3"/>
                </a:solidFill>
                <a:latin typeface="Consolas" pitchFamily="34" charset="0"/>
                <a:ea typeface="Consolas" pitchFamily="34" charset="-122"/>
                <a:cs typeface="Consolas" pitchFamily="34" charset="-120"/>
              </a:rPr>
              <a:t>ORCH : (answer_role.sh SA ... → SA viết TECH_STACK, ADR, API_CONTRACT)</a:t>
            </a:r>
            <a:endParaRPr lang="en-US" sz="1200" dirty="0"/>
          </a:p>
        </p:txBody>
      </p:sp>
      <p:sp>
        <p:nvSpPr>
          <p:cNvPr id="10" name="Text 8"/>
          <p:cNvSpPr/>
          <p:nvPr/>
        </p:nvSpPr>
        <p:spPr>
          <a:xfrm>
            <a:off x="11338560" y="6492240"/>
            <a:ext cx="731520" cy="228600"/>
          </a:xfrm>
          <a:prstGeom prst="rect">
            <a:avLst/>
          </a:prstGeom>
          <a:noFill/>
          <a:ln/>
        </p:spPr>
        <p:txBody>
          <a:bodyPr wrap="square" lIns="0" tIns="0" rIns="0" bIns="0" rtlCol="0" anchor="ctr"/>
          <a:lstStyle/>
          <a:p>
            <a:pPr algn="r" indent="0" marL="0">
              <a:buNone/>
            </a:pPr>
            <a:r>
              <a:rPr lang="en-US" sz="900" dirty="0">
                <a:solidFill>
                  <a:srgbClr val="8B949E"/>
                </a:solidFill>
                <a:latin typeface="Consolas" pitchFamily="34" charset="0"/>
                <a:ea typeface="Consolas" pitchFamily="34" charset="-122"/>
                <a:cs typeface="Consolas" pitchFamily="34" charset="-120"/>
              </a:rPr>
              <a:t>22 / 32</a:t>
            </a:r>
            <a:endParaRPr lang="en-US" sz="900" dirty="0"/>
          </a:p>
        </p:txBody>
      </p:sp>
      <p:sp>
        <p:nvSpPr>
          <p:cNvPr id="11" name="Text 9"/>
          <p:cNvSpPr/>
          <p:nvPr/>
        </p:nvSpPr>
        <p:spPr>
          <a:xfrm>
            <a:off x="365760" y="6492240"/>
            <a:ext cx="1097280" cy="228600"/>
          </a:xfrm>
          <a:prstGeom prst="rect">
            <a:avLst/>
          </a:prstGeom>
          <a:noFill/>
          <a:ln/>
        </p:spPr>
        <p:txBody>
          <a:bodyPr wrap="square" lIns="0" tIns="0" rIns="0" bIns="0" rtlCol="0" anchor="ctr"/>
          <a:lstStyle/>
          <a:p>
            <a:pPr algn="l" indent="0" marL="0">
              <a:buNone/>
            </a:pPr>
            <a:r>
              <a:rPr lang="en-US" sz="900" dirty="0">
                <a:solidFill>
                  <a:srgbClr val="8B949E"/>
                </a:solidFill>
                <a:latin typeface="Consolas" pitchFamily="34" charset="0"/>
                <a:ea typeface="Consolas" pitchFamily="34" charset="-122"/>
                <a:cs typeface="Consolas" pitchFamily="34" charset="-120"/>
              </a:rPr>
              <a:t>v10.12</a:t>
            </a:r>
            <a:endParaRPr lang="en-US" sz="900" dirty="0"/>
          </a:p>
        </p:txBody>
      </p:sp>
      <p:sp>
        <p:nvSpPr>
          <p:cNvPr id="12" name="Text 10"/>
          <p:cNvSpPr/>
          <p:nvPr/>
        </p:nvSpPr>
        <p:spPr>
          <a:xfrm>
            <a:off x="4572000" y="6492240"/>
            <a:ext cx="6400800" cy="228600"/>
          </a:xfrm>
          <a:prstGeom prst="rect">
            <a:avLst/>
          </a:prstGeom>
          <a:noFill/>
          <a:ln/>
        </p:spPr>
        <p:txBody>
          <a:bodyPr wrap="square" lIns="0" tIns="0" rIns="0" bIns="0" rtlCol="0" anchor="ctr"/>
          <a:lstStyle/>
          <a:p>
            <a:pPr algn="ctr" indent="0" marL="0">
              <a:buNone/>
            </a:pPr>
            <a:r>
              <a:rPr lang="en-US" sz="900" dirty="0">
                <a:solidFill>
                  <a:srgbClr val="8B949E"/>
                </a:solidFill>
                <a:latin typeface="Consolas" pitchFamily="34" charset="0"/>
                <a:ea typeface="Consolas" pitchFamily="34" charset="-122"/>
                <a:cs typeface="Consolas" pitchFamily="34" charset="-120"/>
              </a:rPr>
              <a:t>Product Engineering Agent Framework</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365760" y="228600"/>
            <a:ext cx="8229600" cy="274320"/>
          </a:xfrm>
          <a:prstGeom prst="rect">
            <a:avLst/>
          </a:prstGeom>
          <a:noFill/>
          <a:ln/>
        </p:spPr>
        <p:txBody>
          <a:bodyPr wrap="square" lIns="0" tIns="0" rIns="0" bIns="0" rtlCol="0" anchor="ctr"/>
          <a:lstStyle/>
          <a:p>
            <a:pPr indent="0" marL="0">
              <a:buNone/>
            </a:pPr>
            <a:r>
              <a:rPr lang="en-US" sz="1100" dirty="0">
                <a:solidFill>
                  <a:srgbClr val="2EA043"/>
                </a:solidFill>
                <a:latin typeface="Consolas" pitchFamily="34" charset="0"/>
                <a:ea typeface="Consolas" pitchFamily="34" charset="-122"/>
                <a:cs typeface="Consolas" pitchFamily="34" charset="-120"/>
              </a:rPr>
              <a:t>$ </a:t>
            </a:r>
            <a:pPr indent="0" marL="0">
              <a:buNone/>
            </a:pPr>
            <a:r>
              <a:rPr lang="en-US" sz="1100" dirty="0">
                <a:solidFill>
                  <a:srgbClr val="8B949E"/>
                </a:solidFill>
                <a:latin typeface="Consolas" pitchFamily="34" charset="0"/>
                <a:ea typeface="Consolas" pitchFamily="34" charset="-122"/>
                <a:cs typeface="Consolas" pitchFamily="34" charset="-120"/>
              </a:rPr>
              <a:t>19_workflow_day2.md</a:t>
            </a:r>
            <a:endParaRPr lang="en-US" sz="1100" dirty="0"/>
          </a:p>
        </p:txBody>
      </p:sp>
      <p:sp>
        <p:nvSpPr>
          <p:cNvPr id="3" name="Text 1"/>
          <p:cNvSpPr/>
          <p:nvPr/>
        </p:nvSpPr>
        <p:spPr>
          <a:xfrm>
            <a:off x="365760" y="548640"/>
            <a:ext cx="11430000" cy="640080"/>
          </a:xfrm>
          <a:prstGeom prst="rect">
            <a:avLst/>
          </a:prstGeom>
          <a:noFill/>
          <a:ln/>
        </p:spPr>
        <p:txBody>
          <a:bodyPr wrap="square" lIns="0" tIns="0" rIns="0" bIns="0" rtlCol="0" anchor="ctr"/>
          <a:lstStyle/>
          <a:p>
            <a:pPr indent="0" marL="0">
              <a:buNone/>
            </a:pPr>
            <a:r>
              <a:rPr lang="en-US" sz="3000" b="1" dirty="0">
                <a:solidFill>
                  <a:srgbClr val="E6EDF3"/>
                </a:solidFill>
                <a:latin typeface="Consolas" pitchFamily="34" charset="0"/>
                <a:ea typeface="Consolas" pitchFamily="34" charset="-122"/>
                <a:cs typeface="Consolas" pitchFamily="34" charset="-120"/>
              </a:rPr>
              <a:t>Workflow — Day 2+ (Build → Test → Release)</a:t>
            </a:r>
            <a:endParaRPr lang="en-US" sz="3000" dirty="0"/>
          </a:p>
        </p:txBody>
      </p:sp>
      <p:sp>
        <p:nvSpPr>
          <p:cNvPr id="4" name="Text 2"/>
          <p:cNvSpPr/>
          <p:nvPr/>
        </p:nvSpPr>
        <p:spPr>
          <a:xfrm>
            <a:off x="365760" y="1143000"/>
            <a:ext cx="11430000" cy="365760"/>
          </a:xfrm>
          <a:prstGeom prst="rect">
            <a:avLst/>
          </a:prstGeom>
          <a:noFill/>
          <a:ln/>
        </p:spPr>
        <p:txBody>
          <a:bodyPr wrap="square" lIns="0" tIns="0" rIns="0" bIns="0" rtlCol="0" anchor="ctr"/>
          <a:lstStyle/>
          <a:p>
            <a:pPr indent="0" marL="0">
              <a:buNone/>
            </a:pPr>
            <a:r>
              <a:rPr lang="en-US" sz="1400" i="1" dirty="0">
                <a:solidFill>
                  <a:srgbClr val="8B949E"/>
                </a:solidFill>
                <a:latin typeface="Calibri" pitchFamily="34" charset="0"/>
                <a:ea typeface="Calibri" pitchFamily="34" charset="-122"/>
                <a:cs typeface="Calibri" pitchFamily="34" charset="-120"/>
              </a:rPr>
              <a:t>Resume từ memory, đẩy tiếp phase, ship</a:t>
            </a:r>
            <a:endParaRPr lang="en-US" sz="1400" dirty="0"/>
          </a:p>
        </p:txBody>
      </p:sp>
      <p:sp>
        <p:nvSpPr>
          <p:cNvPr id="5" name="Shape 3"/>
          <p:cNvSpPr/>
          <p:nvPr/>
        </p:nvSpPr>
        <p:spPr>
          <a:xfrm>
            <a:off x="365760" y="1783080"/>
            <a:ext cx="11430000" cy="4572000"/>
          </a:xfrm>
          <a:prstGeom prst="rect">
            <a:avLst/>
          </a:prstGeom>
          <a:solidFill>
            <a:srgbClr val="161B22"/>
          </a:solidFill>
          <a:ln w="12700">
            <a:solidFill>
              <a:srgbClr val="30363D"/>
            </a:solidFill>
            <a:prstDash val="solid"/>
          </a:ln>
        </p:spPr>
      </p:sp>
      <p:sp>
        <p:nvSpPr>
          <p:cNvPr id="6" name="Shape 4"/>
          <p:cNvSpPr/>
          <p:nvPr/>
        </p:nvSpPr>
        <p:spPr>
          <a:xfrm>
            <a:off x="457200" y="1874520"/>
            <a:ext cx="91440" cy="91440"/>
          </a:xfrm>
          <a:prstGeom prst="ellipse">
            <a:avLst/>
          </a:prstGeom>
          <a:solidFill>
            <a:srgbClr val="F85149"/>
          </a:solidFill>
          <a:ln w="12700">
            <a:solidFill>
              <a:srgbClr val="F85149"/>
            </a:solidFill>
            <a:prstDash val="solid"/>
          </a:ln>
        </p:spPr>
      </p:sp>
      <p:sp>
        <p:nvSpPr>
          <p:cNvPr id="7" name="Shape 5"/>
          <p:cNvSpPr/>
          <p:nvPr/>
        </p:nvSpPr>
        <p:spPr>
          <a:xfrm>
            <a:off x="585216" y="1874520"/>
            <a:ext cx="91440" cy="91440"/>
          </a:xfrm>
          <a:prstGeom prst="ellipse">
            <a:avLst/>
          </a:prstGeom>
          <a:solidFill>
            <a:srgbClr val="D29922"/>
          </a:solidFill>
          <a:ln w="12700">
            <a:solidFill>
              <a:srgbClr val="D29922"/>
            </a:solidFill>
            <a:prstDash val="solid"/>
          </a:ln>
        </p:spPr>
      </p:sp>
      <p:sp>
        <p:nvSpPr>
          <p:cNvPr id="8" name="Shape 6"/>
          <p:cNvSpPr/>
          <p:nvPr/>
        </p:nvSpPr>
        <p:spPr>
          <a:xfrm>
            <a:off x="713232" y="1874520"/>
            <a:ext cx="91440" cy="91440"/>
          </a:xfrm>
          <a:prstGeom prst="ellipse">
            <a:avLst/>
          </a:prstGeom>
          <a:solidFill>
            <a:srgbClr val="3FB950"/>
          </a:solidFill>
          <a:ln w="12700">
            <a:solidFill>
              <a:srgbClr val="3FB950"/>
            </a:solidFill>
            <a:prstDash val="solid"/>
          </a:ln>
        </p:spPr>
      </p:sp>
      <p:sp>
        <p:nvSpPr>
          <p:cNvPr id="9" name="Text 7"/>
          <p:cNvSpPr/>
          <p:nvPr/>
        </p:nvSpPr>
        <p:spPr>
          <a:xfrm>
            <a:off x="502920" y="2103120"/>
            <a:ext cx="11155680" cy="4206240"/>
          </a:xfrm>
          <a:prstGeom prst="rect">
            <a:avLst/>
          </a:prstGeom>
          <a:noFill/>
          <a:ln/>
        </p:spPr>
        <p:txBody>
          <a:bodyPr wrap="square" lIns="0" tIns="0" rIns="0" bIns="0" rtlCol="0" anchor="t"/>
          <a:lstStyle/>
          <a:p>
            <a:pPr indent="0" marL="0">
              <a:buNone/>
            </a:pPr>
            <a:r>
              <a:rPr lang="en-US" sz="1200" dirty="0">
                <a:solidFill>
                  <a:srgbClr val="7CE38B"/>
                </a:solidFill>
                <a:latin typeface="Consolas" pitchFamily="34" charset="0"/>
                <a:ea typeface="Consolas" pitchFamily="34" charset="-122"/>
                <a:cs typeface="Consolas" pitchFamily="34" charset="-120"/>
              </a:rPr>
              <a:t>$ bash scripts/start_agents_tmux.sh nestfi-ai-room</a:t>
            </a:r>
            <a:endParaRPr lang="en-US" sz="1200" dirty="0"/>
          </a:p>
          <a:p>
            <a:pPr indent="0" marL="0">
              <a:buNone/>
            </a:pPr>
            <a:r>
              <a:rPr lang="en-US" sz="1200" dirty="0">
                <a:solidFill>
                  <a:srgbClr val="E6EDF3"/>
                </a:solidFill>
                <a:latin typeface="Consolas" pitchFamily="34" charset="0"/>
                <a:ea typeface="Consolas" pitchFamily="34" charset="-122"/>
                <a:cs typeface="Consolas" pitchFamily="34" charset="-120"/>
              </a:rPr>
              <a:t>[v10.5] RESUME mode — non-empty memory/SA.md detected</a:t>
            </a:r>
            <a:endParaRPr lang="en-US" sz="1200" dirty="0"/>
          </a:p>
          <a:p>
            <a:pPr indent="0" marL="0">
              <a:buNone/>
            </a:pPr>
            <a:endParaRPr lang="en-US" sz="1200" dirty="0"/>
          </a:p>
          <a:p>
            <a:pPr indent="0" marL="0">
              <a:buNone/>
            </a:pPr>
            <a:r>
              <a:rPr lang="en-US" sz="1200" dirty="0">
                <a:solidFill>
                  <a:srgbClr val="E6EDF3"/>
                </a:solidFill>
                <a:latin typeface="Consolas" pitchFamily="34" charset="0"/>
                <a:ea typeface="Consolas" pitchFamily="34" charset="-122"/>
                <a:cs typeface="Consolas" pitchFamily="34" charset="-120"/>
              </a:rPr>
              <a:t>[Orch auto-ping]  [RESUME] Run rescan_project.sh first.</a:t>
            </a:r>
            <a:endParaRPr lang="en-US" sz="1200" dirty="0"/>
          </a:p>
          <a:p>
            <a:pPr indent="0" marL="0">
              <a:buNone/>
            </a:pPr>
            <a:r>
              <a:rPr lang="en-US" sz="1200" dirty="0">
                <a:solidFill>
                  <a:srgbClr val="E6EDF3"/>
                </a:solidFill>
                <a:latin typeface="Consolas" pitchFamily="34" charset="0"/>
                <a:ea typeface="Consolas" pitchFamily="34" charset="-122"/>
                <a:cs typeface="Consolas" pitchFamily="34" charset="-120"/>
              </a:rPr>
              <a:t>ORCH : Chào buổi sáng. Phase hiện tại: 3_PLANNING (BE+FE+QA+DEL done).</a:t>
            </a:r>
            <a:endParaRPr lang="en-US" sz="1200" dirty="0"/>
          </a:p>
          <a:p>
            <a:pPr indent="0" marL="0">
              <a:buNone/>
            </a:pPr>
            <a:r>
              <a:rPr lang="en-US" sz="1200" dirty="0">
                <a:solidFill>
                  <a:srgbClr val="E6EDF3"/>
                </a:solidFill>
                <a:latin typeface="Consolas" pitchFamily="34" charset="0"/>
                <a:ea typeface="Consolas" pitchFamily="34" charset="-122"/>
                <a:cs typeface="Consolas" pitchFamily="34" charset="-120"/>
              </a:rPr>
              <a:t>       Sẵn sàng vào 4_BUILD. Có 0 question pending. Tiếp tục?</a:t>
            </a:r>
            <a:endParaRPr lang="en-US" sz="1200" dirty="0"/>
          </a:p>
          <a:p>
            <a:pPr indent="0" marL="0">
              <a:buNone/>
            </a:pPr>
            <a:r>
              <a:rPr lang="en-US" sz="1200" dirty="0">
                <a:solidFill>
                  <a:srgbClr val="E6EDF3"/>
                </a:solidFill>
                <a:latin typeface="Consolas" pitchFamily="34" charset="0"/>
                <a:ea typeface="Consolas" pitchFamily="34" charset="-122"/>
                <a:cs typeface="Consolas" pitchFamily="34" charset="-120"/>
              </a:rPr>
              <a:t>USER : Yes, build.</a:t>
            </a:r>
            <a:endParaRPr lang="en-US" sz="1200" dirty="0"/>
          </a:p>
          <a:p>
            <a:pPr indent="0" marL="0">
              <a:buNone/>
            </a:pPr>
            <a:r>
              <a:rPr lang="en-US" sz="1200" dirty="0">
                <a:solidFill>
                  <a:srgbClr val="E6EDF3"/>
                </a:solidFill>
                <a:latin typeface="Consolas" pitchFamily="34" charset="0"/>
                <a:ea typeface="Consolas" pitchFamily="34" charset="-122"/>
                <a:cs typeface="Consolas" pitchFamily="34" charset="-120"/>
              </a:rPr>
              <a:t>ORCH : (delegate_phase.sh build → BE + FE)</a:t>
            </a:r>
            <a:endParaRPr lang="en-US" sz="1200" dirty="0"/>
          </a:p>
          <a:p>
            <a:pPr indent="0" marL="0">
              <a:buNone/>
            </a:pPr>
            <a:endParaRPr lang="en-US" sz="1200" dirty="0"/>
          </a:p>
          <a:p>
            <a:pPr indent="0" marL="0">
              <a:buNone/>
            </a:pPr>
            <a:r>
              <a:rPr lang="en-US" sz="1200" dirty="0">
                <a:solidFill>
                  <a:srgbClr val="E6EDF3"/>
                </a:solidFill>
                <a:latin typeface="Consolas" pitchFamily="34" charset="0"/>
                <a:ea typeface="Consolas" pitchFamily="34" charset="-122"/>
                <a:cs typeface="Consolas" pitchFamily="34" charset="-120"/>
              </a:rPr>
              <a:t>[~30 phút sau BE và FE đều notify done]</a:t>
            </a:r>
            <a:endParaRPr lang="en-US" sz="1200" dirty="0"/>
          </a:p>
          <a:p>
            <a:pPr indent="0" marL="0">
              <a:buNone/>
            </a:pPr>
            <a:r>
              <a:rPr lang="en-US" sz="1200" dirty="0">
                <a:solidFill>
                  <a:srgbClr val="E6EDF3"/>
                </a:solidFill>
                <a:latin typeface="Consolas" pitchFamily="34" charset="0"/>
                <a:ea typeface="Consolas" pitchFamily="34" charset="-122"/>
                <a:cs typeface="Consolas" pitchFamily="34" charset="-120"/>
              </a:rPr>
              <a:t>USER : Ship it.</a:t>
            </a:r>
            <a:endParaRPr lang="en-US" sz="1200" dirty="0"/>
          </a:p>
          <a:p>
            <a:pPr indent="0" marL="0">
              <a:buNone/>
            </a:pPr>
            <a:r>
              <a:rPr lang="en-US" sz="1200" dirty="0">
                <a:solidFill>
                  <a:srgbClr val="E6EDF3"/>
                </a:solidFill>
                <a:latin typeface="Consolas" pitchFamily="34" charset="0"/>
                <a:ea typeface="Consolas" pitchFamily="34" charset="-122"/>
                <a:cs typeface="Consolas" pitchFamily="34" charset="-120"/>
              </a:rPr>
              <a:t>ORCH : (delegate_phase.sh release → test phase first)</a:t>
            </a:r>
            <a:endParaRPr lang="en-US" sz="1200" dirty="0"/>
          </a:p>
          <a:p>
            <a:pPr indent="0" marL="0">
              <a:buNone/>
            </a:pPr>
            <a:r>
              <a:rPr lang="en-US" sz="1200" dirty="0">
                <a:solidFill>
                  <a:srgbClr val="E6EDF3"/>
                </a:solidFill>
                <a:latin typeface="Consolas" pitchFamily="34" charset="0"/>
                <a:ea typeface="Consolas" pitchFamily="34" charset="-122"/>
                <a:cs typeface="Consolas" pitchFamily="34" charset="-120"/>
              </a:rPr>
              <a:t>       QA chạy test, viết VERDICT: PASS → auto-route DELIVERY.</a:t>
            </a:r>
            <a:endParaRPr lang="en-US" sz="1200" dirty="0"/>
          </a:p>
          <a:p>
            <a:pPr indent="0" marL="0">
              <a:buNone/>
            </a:pPr>
            <a:r>
              <a:rPr lang="en-US" sz="1200" dirty="0">
                <a:solidFill>
                  <a:srgbClr val="E6EDF3"/>
                </a:solidFill>
                <a:latin typeface="Consolas" pitchFamily="34" charset="0"/>
                <a:ea typeface="Consolas" pitchFamily="34" charset="-122"/>
                <a:cs typeface="Consolas" pitchFamily="34" charset="-120"/>
              </a:rPr>
              <a:t>       DELIVERY hỏi: ports FE=3000 BE=8000 DB=5432 OK?</a:t>
            </a:r>
            <a:endParaRPr lang="en-US" sz="1200" dirty="0"/>
          </a:p>
          <a:p>
            <a:pPr indent="0" marL="0">
              <a:buNone/>
            </a:pPr>
            <a:r>
              <a:rPr lang="en-US" sz="1200" dirty="0">
                <a:solidFill>
                  <a:srgbClr val="E6EDF3"/>
                </a:solidFill>
                <a:latin typeface="Consolas" pitchFamily="34" charset="0"/>
                <a:ea typeface="Consolas" pitchFamily="34" charset="-122"/>
                <a:cs typeface="Consolas" pitchFamily="34" charset="-120"/>
              </a:rPr>
              <a:t>USER : OK defaults.</a:t>
            </a:r>
            <a:endParaRPr lang="en-US" sz="1200" dirty="0"/>
          </a:p>
          <a:p>
            <a:pPr indent="0" marL="0">
              <a:buNone/>
            </a:pPr>
            <a:r>
              <a:rPr lang="en-US" sz="1200" dirty="0">
                <a:solidFill>
                  <a:srgbClr val="E6EDF3"/>
                </a:solidFill>
                <a:latin typeface="Consolas" pitchFamily="34" charset="0"/>
                <a:ea typeface="Consolas" pitchFamily="34" charset="-122"/>
                <a:cs typeface="Consolas" pitchFamily="34" charset="-120"/>
              </a:rPr>
              <a:t>ORCH : (answer_role.sh DELIVERY → docker compose up --build -d → URL ready)</a:t>
            </a:r>
            <a:endParaRPr lang="en-US" sz="1200" dirty="0"/>
          </a:p>
          <a:p>
            <a:pPr indent="0" marL="0">
              <a:buNone/>
            </a:pPr>
            <a:r>
              <a:rPr lang="en-US" sz="1200" dirty="0">
                <a:solidFill>
                  <a:srgbClr val="E6EDF3"/>
                </a:solidFill>
                <a:latin typeface="Consolas" pitchFamily="34" charset="0"/>
                <a:ea typeface="Consolas" pitchFamily="34" charset="-122"/>
                <a:cs typeface="Consolas" pitchFamily="34" charset="-120"/>
              </a:rPr>
              <a:t>       App live tại http://localhost:3000  ▣  RELEASE_NOTES updated.</a:t>
            </a:r>
            <a:endParaRPr lang="en-US" sz="1200" dirty="0"/>
          </a:p>
        </p:txBody>
      </p:sp>
      <p:sp>
        <p:nvSpPr>
          <p:cNvPr id="10" name="Text 8"/>
          <p:cNvSpPr/>
          <p:nvPr/>
        </p:nvSpPr>
        <p:spPr>
          <a:xfrm>
            <a:off x="11338560" y="6492240"/>
            <a:ext cx="731520" cy="228600"/>
          </a:xfrm>
          <a:prstGeom prst="rect">
            <a:avLst/>
          </a:prstGeom>
          <a:noFill/>
          <a:ln/>
        </p:spPr>
        <p:txBody>
          <a:bodyPr wrap="square" lIns="0" tIns="0" rIns="0" bIns="0" rtlCol="0" anchor="ctr"/>
          <a:lstStyle/>
          <a:p>
            <a:pPr algn="r" indent="0" marL="0">
              <a:buNone/>
            </a:pPr>
            <a:r>
              <a:rPr lang="en-US" sz="900" dirty="0">
                <a:solidFill>
                  <a:srgbClr val="8B949E"/>
                </a:solidFill>
                <a:latin typeface="Consolas" pitchFamily="34" charset="0"/>
                <a:ea typeface="Consolas" pitchFamily="34" charset="-122"/>
                <a:cs typeface="Consolas" pitchFamily="34" charset="-120"/>
              </a:rPr>
              <a:t>23 / 32</a:t>
            </a:r>
            <a:endParaRPr lang="en-US" sz="900" dirty="0"/>
          </a:p>
        </p:txBody>
      </p:sp>
      <p:sp>
        <p:nvSpPr>
          <p:cNvPr id="11" name="Text 9"/>
          <p:cNvSpPr/>
          <p:nvPr/>
        </p:nvSpPr>
        <p:spPr>
          <a:xfrm>
            <a:off x="365760" y="6492240"/>
            <a:ext cx="1097280" cy="228600"/>
          </a:xfrm>
          <a:prstGeom prst="rect">
            <a:avLst/>
          </a:prstGeom>
          <a:noFill/>
          <a:ln/>
        </p:spPr>
        <p:txBody>
          <a:bodyPr wrap="square" lIns="0" tIns="0" rIns="0" bIns="0" rtlCol="0" anchor="ctr"/>
          <a:lstStyle/>
          <a:p>
            <a:pPr algn="l" indent="0" marL="0">
              <a:buNone/>
            </a:pPr>
            <a:r>
              <a:rPr lang="en-US" sz="900" dirty="0">
                <a:solidFill>
                  <a:srgbClr val="8B949E"/>
                </a:solidFill>
                <a:latin typeface="Consolas" pitchFamily="34" charset="0"/>
                <a:ea typeface="Consolas" pitchFamily="34" charset="-122"/>
                <a:cs typeface="Consolas" pitchFamily="34" charset="-120"/>
              </a:rPr>
              <a:t>v10.12</a:t>
            </a:r>
            <a:endParaRPr lang="en-US" sz="900" dirty="0"/>
          </a:p>
        </p:txBody>
      </p:sp>
      <p:sp>
        <p:nvSpPr>
          <p:cNvPr id="12" name="Text 10"/>
          <p:cNvSpPr/>
          <p:nvPr/>
        </p:nvSpPr>
        <p:spPr>
          <a:xfrm>
            <a:off x="4572000" y="6492240"/>
            <a:ext cx="6400800" cy="228600"/>
          </a:xfrm>
          <a:prstGeom prst="rect">
            <a:avLst/>
          </a:prstGeom>
          <a:noFill/>
          <a:ln/>
        </p:spPr>
        <p:txBody>
          <a:bodyPr wrap="square" lIns="0" tIns="0" rIns="0" bIns="0" rtlCol="0" anchor="ctr"/>
          <a:lstStyle/>
          <a:p>
            <a:pPr algn="ctr" indent="0" marL="0">
              <a:buNone/>
            </a:pPr>
            <a:r>
              <a:rPr lang="en-US" sz="900" dirty="0">
                <a:solidFill>
                  <a:srgbClr val="8B949E"/>
                </a:solidFill>
                <a:latin typeface="Consolas" pitchFamily="34" charset="0"/>
                <a:ea typeface="Consolas" pitchFamily="34" charset="-122"/>
                <a:cs typeface="Consolas" pitchFamily="34" charset="-120"/>
              </a:rPr>
              <a:t>Product Engineering Agent Framework</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365760" y="228600"/>
            <a:ext cx="8229600" cy="274320"/>
          </a:xfrm>
          <a:prstGeom prst="rect">
            <a:avLst/>
          </a:prstGeom>
          <a:noFill/>
          <a:ln/>
        </p:spPr>
        <p:txBody>
          <a:bodyPr wrap="square" lIns="0" tIns="0" rIns="0" bIns="0" rtlCol="0" anchor="ctr"/>
          <a:lstStyle/>
          <a:p>
            <a:pPr indent="0" marL="0">
              <a:buNone/>
            </a:pPr>
            <a:r>
              <a:rPr lang="en-US" sz="1100" dirty="0">
                <a:solidFill>
                  <a:srgbClr val="2EA043"/>
                </a:solidFill>
                <a:latin typeface="Consolas" pitchFamily="34" charset="0"/>
                <a:ea typeface="Consolas" pitchFamily="34" charset="-122"/>
                <a:cs typeface="Consolas" pitchFamily="34" charset="-120"/>
              </a:rPr>
              <a:t>$ </a:t>
            </a:r>
            <a:pPr indent="0" marL="0">
              <a:buNone/>
            </a:pPr>
            <a:r>
              <a:rPr lang="en-US" sz="1100" dirty="0">
                <a:solidFill>
                  <a:srgbClr val="8B949E"/>
                </a:solidFill>
                <a:latin typeface="Consolas" pitchFamily="34" charset="0"/>
                <a:ea typeface="Consolas" pitchFamily="34" charset="-122"/>
                <a:cs typeface="Consolas" pitchFamily="34" charset="-120"/>
              </a:rPr>
              <a:t>20_tech_stack_protocol.md</a:t>
            </a:r>
            <a:endParaRPr lang="en-US" sz="1100" dirty="0"/>
          </a:p>
        </p:txBody>
      </p:sp>
      <p:sp>
        <p:nvSpPr>
          <p:cNvPr id="3" name="Text 1"/>
          <p:cNvSpPr/>
          <p:nvPr/>
        </p:nvSpPr>
        <p:spPr>
          <a:xfrm>
            <a:off x="365760" y="548640"/>
            <a:ext cx="11430000" cy="640080"/>
          </a:xfrm>
          <a:prstGeom prst="rect">
            <a:avLst/>
          </a:prstGeom>
          <a:noFill/>
          <a:ln/>
        </p:spPr>
        <p:txBody>
          <a:bodyPr wrap="square" lIns="0" tIns="0" rIns="0" bIns="0" rtlCol="0" anchor="ctr"/>
          <a:lstStyle/>
          <a:p>
            <a:pPr indent="0" marL="0">
              <a:buNone/>
            </a:pPr>
            <a:r>
              <a:rPr lang="en-US" sz="3000" b="1" dirty="0">
                <a:solidFill>
                  <a:srgbClr val="E6EDF3"/>
                </a:solidFill>
                <a:latin typeface="Consolas" pitchFamily="34" charset="0"/>
                <a:ea typeface="Consolas" pitchFamily="34" charset="-122"/>
                <a:cs typeface="Consolas" pitchFamily="34" charset="-120"/>
              </a:rPr>
              <a:t>Tech Stack Confirmation Protocol (v10.7)</a:t>
            </a:r>
            <a:endParaRPr lang="en-US" sz="3000" dirty="0"/>
          </a:p>
        </p:txBody>
      </p:sp>
      <p:sp>
        <p:nvSpPr>
          <p:cNvPr id="4" name="Text 2"/>
          <p:cNvSpPr/>
          <p:nvPr/>
        </p:nvSpPr>
        <p:spPr>
          <a:xfrm>
            <a:off x="365760" y="1143000"/>
            <a:ext cx="11430000" cy="365760"/>
          </a:xfrm>
          <a:prstGeom prst="rect">
            <a:avLst/>
          </a:prstGeom>
          <a:noFill/>
          <a:ln/>
        </p:spPr>
        <p:txBody>
          <a:bodyPr wrap="square" lIns="0" tIns="0" rIns="0" bIns="0" rtlCol="0" anchor="ctr"/>
          <a:lstStyle/>
          <a:p>
            <a:pPr indent="0" marL="0">
              <a:buNone/>
            </a:pPr>
            <a:r>
              <a:rPr lang="en-US" sz="1400" i="1" dirty="0">
                <a:solidFill>
                  <a:srgbClr val="8B949E"/>
                </a:solidFill>
                <a:latin typeface="Calibri" pitchFamily="34" charset="0"/>
                <a:ea typeface="Calibri" pitchFamily="34" charset="-122"/>
                <a:cs typeface="Calibri" pitchFamily="34" charset="-120"/>
              </a:rPr>
              <a:t>SA không được tự pick Next.js/React/Postgres trên auto-pilot</a:t>
            </a:r>
            <a:endParaRPr lang="en-US" sz="1400" dirty="0"/>
          </a:p>
        </p:txBody>
      </p:sp>
      <p:sp>
        <p:nvSpPr>
          <p:cNvPr id="5" name="Text 3"/>
          <p:cNvSpPr/>
          <p:nvPr/>
        </p:nvSpPr>
        <p:spPr>
          <a:xfrm>
            <a:off x="365760" y="1783080"/>
            <a:ext cx="11430000" cy="640080"/>
          </a:xfrm>
          <a:prstGeom prst="rect">
            <a:avLst/>
          </a:prstGeom>
          <a:noFill/>
          <a:ln/>
        </p:spPr>
        <p:txBody>
          <a:bodyPr wrap="square" lIns="0" tIns="0" rIns="0" bIns="0" rtlCol="0" anchor="ctr"/>
          <a:lstStyle/>
          <a:p>
            <a:pPr indent="0" marL="0">
              <a:buNone/>
            </a:pPr>
            <a:r>
              <a:rPr lang="en-US" sz="1300" dirty="0">
                <a:solidFill>
                  <a:srgbClr val="E6EDF3"/>
                </a:solidFill>
                <a:latin typeface="Calibri" pitchFamily="34" charset="0"/>
                <a:ea typeface="Calibri" pitchFamily="34" charset="-122"/>
                <a:cs typeface="Calibri" pitchFamily="34" charset="-120"/>
              </a:rPr>
              <a:t>Trước khi viết TECH_STACK.md, SA phải gửi 1 câu hỏi batched với 12 dimensions để user confirm hoặc override:</a:t>
            </a:r>
            <a:endParaRPr lang="en-US" sz="1300" dirty="0"/>
          </a:p>
        </p:txBody>
      </p:sp>
      <p:sp>
        <p:nvSpPr>
          <p:cNvPr id="6" name="Shape 4"/>
          <p:cNvSpPr/>
          <p:nvPr/>
        </p:nvSpPr>
        <p:spPr>
          <a:xfrm>
            <a:off x="365760" y="2606040"/>
            <a:ext cx="3749040" cy="411480"/>
          </a:xfrm>
          <a:prstGeom prst="rect">
            <a:avLst/>
          </a:prstGeom>
          <a:solidFill>
            <a:srgbClr val="161B22"/>
          </a:solidFill>
          <a:ln w="12700">
            <a:solidFill>
              <a:srgbClr val="30363D"/>
            </a:solidFill>
            <a:prstDash val="solid"/>
          </a:ln>
        </p:spPr>
      </p:sp>
      <p:sp>
        <p:nvSpPr>
          <p:cNvPr id="7" name="Shape 5"/>
          <p:cNvSpPr/>
          <p:nvPr/>
        </p:nvSpPr>
        <p:spPr>
          <a:xfrm>
            <a:off x="365760" y="2606040"/>
            <a:ext cx="54864" cy="411480"/>
          </a:xfrm>
          <a:prstGeom prst="rect">
            <a:avLst/>
          </a:prstGeom>
          <a:solidFill>
            <a:srgbClr val="7CE38B"/>
          </a:solidFill>
          <a:ln w="12700">
            <a:solidFill>
              <a:srgbClr val="7CE38B"/>
            </a:solidFill>
            <a:prstDash val="solid"/>
          </a:ln>
        </p:spPr>
      </p:sp>
      <p:sp>
        <p:nvSpPr>
          <p:cNvPr id="8" name="Text 6"/>
          <p:cNvSpPr/>
          <p:nvPr/>
        </p:nvSpPr>
        <p:spPr>
          <a:xfrm>
            <a:off x="502920" y="2606040"/>
            <a:ext cx="3566160" cy="411480"/>
          </a:xfrm>
          <a:prstGeom prst="rect">
            <a:avLst/>
          </a:prstGeom>
          <a:noFill/>
          <a:ln/>
        </p:spPr>
        <p:txBody>
          <a:bodyPr wrap="square" lIns="0" tIns="0" rIns="0" bIns="0" rtlCol="0" anchor="ctr"/>
          <a:lstStyle/>
          <a:p>
            <a:pPr indent="0" marL="0">
              <a:buNone/>
            </a:pPr>
            <a:r>
              <a:rPr lang="en-US" sz="1200" dirty="0">
                <a:solidFill>
                  <a:srgbClr val="E6EDF3"/>
                </a:solidFill>
                <a:latin typeface="Consolas" pitchFamily="34" charset="0"/>
                <a:ea typeface="Consolas" pitchFamily="34" charset="-122"/>
                <a:cs typeface="Consolas" pitchFamily="34" charset="-120"/>
              </a:rPr>
              <a:t>1. Frontend framework</a:t>
            </a:r>
            <a:endParaRPr lang="en-US" sz="1200" dirty="0"/>
          </a:p>
        </p:txBody>
      </p:sp>
      <p:sp>
        <p:nvSpPr>
          <p:cNvPr id="9" name="Shape 7"/>
          <p:cNvSpPr/>
          <p:nvPr/>
        </p:nvSpPr>
        <p:spPr>
          <a:xfrm>
            <a:off x="4297680" y="2606040"/>
            <a:ext cx="3749040" cy="411480"/>
          </a:xfrm>
          <a:prstGeom prst="rect">
            <a:avLst/>
          </a:prstGeom>
          <a:solidFill>
            <a:srgbClr val="161B22"/>
          </a:solidFill>
          <a:ln w="12700">
            <a:solidFill>
              <a:srgbClr val="30363D"/>
            </a:solidFill>
            <a:prstDash val="solid"/>
          </a:ln>
        </p:spPr>
      </p:sp>
      <p:sp>
        <p:nvSpPr>
          <p:cNvPr id="10" name="Shape 8"/>
          <p:cNvSpPr/>
          <p:nvPr/>
        </p:nvSpPr>
        <p:spPr>
          <a:xfrm>
            <a:off x="4297680" y="2606040"/>
            <a:ext cx="54864" cy="411480"/>
          </a:xfrm>
          <a:prstGeom prst="rect">
            <a:avLst/>
          </a:prstGeom>
          <a:solidFill>
            <a:srgbClr val="7CE38B"/>
          </a:solidFill>
          <a:ln w="12700">
            <a:solidFill>
              <a:srgbClr val="7CE38B"/>
            </a:solidFill>
            <a:prstDash val="solid"/>
          </a:ln>
        </p:spPr>
      </p:sp>
      <p:sp>
        <p:nvSpPr>
          <p:cNvPr id="11" name="Text 9"/>
          <p:cNvSpPr/>
          <p:nvPr/>
        </p:nvSpPr>
        <p:spPr>
          <a:xfrm>
            <a:off x="4434840" y="2606040"/>
            <a:ext cx="3566160" cy="411480"/>
          </a:xfrm>
          <a:prstGeom prst="rect">
            <a:avLst/>
          </a:prstGeom>
          <a:noFill/>
          <a:ln/>
        </p:spPr>
        <p:txBody>
          <a:bodyPr wrap="square" lIns="0" tIns="0" rIns="0" bIns="0" rtlCol="0" anchor="ctr"/>
          <a:lstStyle/>
          <a:p>
            <a:pPr indent="0" marL="0">
              <a:buNone/>
            </a:pPr>
            <a:r>
              <a:rPr lang="en-US" sz="1200" dirty="0">
                <a:solidFill>
                  <a:srgbClr val="E6EDF3"/>
                </a:solidFill>
                <a:latin typeface="Consolas" pitchFamily="34" charset="0"/>
                <a:ea typeface="Consolas" pitchFamily="34" charset="-122"/>
                <a:cs typeface="Consolas" pitchFamily="34" charset="-120"/>
              </a:rPr>
              <a:t>2. Frontend language</a:t>
            </a:r>
            <a:endParaRPr lang="en-US" sz="1200" dirty="0"/>
          </a:p>
        </p:txBody>
      </p:sp>
      <p:sp>
        <p:nvSpPr>
          <p:cNvPr id="12" name="Shape 10"/>
          <p:cNvSpPr/>
          <p:nvPr/>
        </p:nvSpPr>
        <p:spPr>
          <a:xfrm>
            <a:off x="8229600" y="2606040"/>
            <a:ext cx="3749040" cy="411480"/>
          </a:xfrm>
          <a:prstGeom prst="rect">
            <a:avLst/>
          </a:prstGeom>
          <a:solidFill>
            <a:srgbClr val="161B22"/>
          </a:solidFill>
          <a:ln w="12700">
            <a:solidFill>
              <a:srgbClr val="30363D"/>
            </a:solidFill>
            <a:prstDash val="solid"/>
          </a:ln>
        </p:spPr>
      </p:sp>
      <p:sp>
        <p:nvSpPr>
          <p:cNvPr id="13" name="Shape 11"/>
          <p:cNvSpPr/>
          <p:nvPr/>
        </p:nvSpPr>
        <p:spPr>
          <a:xfrm>
            <a:off x="8229600" y="2606040"/>
            <a:ext cx="54864" cy="411480"/>
          </a:xfrm>
          <a:prstGeom prst="rect">
            <a:avLst/>
          </a:prstGeom>
          <a:solidFill>
            <a:srgbClr val="7CE38B"/>
          </a:solidFill>
          <a:ln w="12700">
            <a:solidFill>
              <a:srgbClr val="7CE38B"/>
            </a:solidFill>
            <a:prstDash val="solid"/>
          </a:ln>
        </p:spPr>
      </p:sp>
      <p:sp>
        <p:nvSpPr>
          <p:cNvPr id="14" name="Text 12"/>
          <p:cNvSpPr/>
          <p:nvPr/>
        </p:nvSpPr>
        <p:spPr>
          <a:xfrm>
            <a:off x="8366760" y="2606040"/>
            <a:ext cx="3566160" cy="411480"/>
          </a:xfrm>
          <a:prstGeom prst="rect">
            <a:avLst/>
          </a:prstGeom>
          <a:noFill/>
          <a:ln/>
        </p:spPr>
        <p:txBody>
          <a:bodyPr wrap="square" lIns="0" tIns="0" rIns="0" bIns="0" rtlCol="0" anchor="ctr"/>
          <a:lstStyle/>
          <a:p>
            <a:pPr indent="0" marL="0">
              <a:buNone/>
            </a:pPr>
            <a:r>
              <a:rPr lang="en-US" sz="1200" dirty="0">
                <a:solidFill>
                  <a:srgbClr val="E6EDF3"/>
                </a:solidFill>
                <a:latin typeface="Consolas" pitchFamily="34" charset="0"/>
                <a:ea typeface="Consolas" pitchFamily="34" charset="-122"/>
                <a:cs typeface="Consolas" pitchFamily="34" charset="-120"/>
              </a:rPr>
              <a:t>3. UI / design system</a:t>
            </a:r>
            <a:endParaRPr lang="en-US" sz="1200" dirty="0"/>
          </a:p>
        </p:txBody>
      </p:sp>
      <p:sp>
        <p:nvSpPr>
          <p:cNvPr id="15" name="Shape 13"/>
          <p:cNvSpPr/>
          <p:nvPr/>
        </p:nvSpPr>
        <p:spPr>
          <a:xfrm>
            <a:off x="365760" y="3108960"/>
            <a:ext cx="3749040" cy="411480"/>
          </a:xfrm>
          <a:prstGeom prst="rect">
            <a:avLst/>
          </a:prstGeom>
          <a:solidFill>
            <a:srgbClr val="161B22"/>
          </a:solidFill>
          <a:ln w="12700">
            <a:solidFill>
              <a:srgbClr val="30363D"/>
            </a:solidFill>
            <a:prstDash val="solid"/>
          </a:ln>
        </p:spPr>
      </p:sp>
      <p:sp>
        <p:nvSpPr>
          <p:cNvPr id="16" name="Shape 14"/>
          <p:cNvSpPr/>
          <p:nvPr/>
        </p:nvSpPr>
        <p:spPr>
          <a:xfrm>
            <a:off x="365760" y="3108960"/>
            <a:ext cx="54864" cy="411480"/>
          </a:xfrm>
          <a:prstGeom prst="rect">
            <a:avLst/>
          </a:prstGeom>
          <a:solidFill>
            <a:srgbClr val="7CE38B"/>
          </a:solidFill>
          <a:ln w="12700">
            <a:solidFill>
              <a:srgbClr val="7CE38B"/>
            </a:solidFill>
            <a:prstDash val="solid"/>
          </a:ln>
        </p:spPr>
      </p:sp>
      <p:sp>
        <p:nvSpPr>
          <p:cNvPr id="17" name="Text 15"/>
          <p:cNvSpPr/>
          <p:nvPr/>
        </p:nvSpPr>
        <p:spPr>
          <a:xfrm>
            <a:off x="502920" y="3108960"/>
            <a:ext cx="3566160" cy="411480"/>
          </a:xfrm>
          <a:prstGeom prst="rect">
            <a:avLst/>
          </a:prstGeom>
          <a:noFill/>
          <a:ln/>
        </p:spPr>
        <p:txBody>
          <a:bodyPr wrap="square" lIns="0" tIns="0" rIns="0" bIns="0" rtlCol="0" anchor="ctr"/>
          <a:lstStyle/>
          <a:p>
            <a:pPr indent="0" marL="0">
              <a:buNone/>
            </a:pPr>
            <a:r>
              <a:rPr lang="en-US" sz="1200" dirty="0">
                <a:solidFill>
                  <a:srgbClr val="E6EDF3"/>
                </a:solidFill>
                <a:latin typeface="Consolas" pitchFamily="34" charset="0"/>
                <a:ea typeface="Consolas" pitchFamily="34" charset="-122"/>
                <a:cs typeface="Consolas" pitchFamily="34" charset="-120"/>
              </a:rPr>
              <a:t>4. Backend language</a:t>
            </a:r>
            <a:endParaRPr lang="en-US" sz="1200" dirty="0"/>
          </a:p>
        </p:txBody>
      </p:sp>
      <p:sp>
        <p:nvSpPr>
          <p:cNvPr id="18" name="Shape 16"/>
          <p:cNvSpPr/>
          <p:nvPr/>
        </p:nvSpPr>
        <p:spPr>
          <a:xfrm>
            <a:off x="4297680" y="3108960"/>
            <a:ext cx="3749040" cy="411480"/>
          </a:xfrm>
          <a:prstGeom prst="rect">
            <a:avLst/>
          </a:prstGeom>
          <a:solidFill>
            <a:srgbClr val="161B22"/>
          </a:solidFill>
          <a:ln w="12700">
            <a:solidFill>
              <a:srgbClr val="30363D"/>
            </a:solidFill>
            <a:prstDash val="solid"/>
          </a:ln>
        </p:spPr>
      </p:sp>
      <p:sp>
        <p:nvSpPr>
          <p:cNvPr id="19" name="Shape 17"/>
          <p:cNvSpPr/>
          <p:nvPr/>
        </p:nvSpPr>
        <p:spPr>
          <a:xfrm>
            <a:off x="4297680" y="3108960"/>
            <a:ext cx="54864" cy="411480"/>
          </a:xfrm>
          <a:prstGeom prst="rect">
            <a:avLst/>
          </a:prstGeom>
          <a:solidFill>
            <a:srgbClr val="7CE38B"/>
          </a:solidFill>
          <a:ln w="12700">
            <a:solidFill>
              <a:srgbClr val="7CE38B"/>
            </a:solidFill>
            <a:prstDash val="solid"/>
          </a:ln>
        </p:spPr>
      </p:sp>
      <p:sp>
        <p:nvSpPr>
          <p:cNvPr id="20" name="Text 18"/>
          <p:cNvSpPr/>
          <p:nvPr/>
        </p:nvSpPr>
        <p:spPr>
          <a:xfrm>
            <a:off x="4434840" y="3108960"/>
            <a:ext cx="3566160" cy="411480"/>
          </a:xfrm>
          <a:prstGeom prst="rect">
            <a:avLst/>
          </a:prstGeom>
          <a:noFill/>
          <a:ln/>
        </p:spPr>
        <p:txBody>
          <a:bodyPr wrap="square" lIns="0" tIns="0" rIns="0" bIns="0" rtlCol="0" anchor="ctr"/>
          <a:lstStyle/>
          <a:p>
            <a:pPr indent="0" marL="0">
              <a:buNone/>
            </a:pPr>
            <a:r>
              <a:rPr lang="en-US" sz="1200" dirty="0">
                <a:solidFill>
                  <a:srgbClr val="E6EDF3"/>
                </a:solidFill>
                <a:latin typeface="Consolas" pitchFamily="34" charset="0"/>
                <a:ea typeface="Consolas" pitchFamily="34" charset="-122"/>
                <a:cs typeface="Consolas" pitchFamily="34" charset="-120"/>
              </a:rPr>
              <a:t>5. Backend framework</a:t>
            </a:r>
            <a:endParaRPr lang="en-US" sz="1200" dirty="0"/>
          </a:p>
        </p:txBody>
      </p:sp>
      <p:sp>
        <p:nvSpPr>
          <p:cNvPr id="21" name="Shape 19"/>
          <p:cNvSpPr/>
          <p:nvPr/>
        </p:nvSpPr>
        <p:spPr>
          <a:xfrm>
            <a:off x="8229600" y="3108960"/>
            <a:ext cx="3749040" cy="411480"/>
          </a:xfrm>
          <a:prstGeom prst="rect">
            <a:avLst/>
          </a:prstGeom>
          <a:solidFill>
            <a:srgbClr val="161B22"/>
          </a:solidFill>
          <a:ln w="12700">
            <a:solidFill>
              <a:srgbClr val="30363D"/>
            </a:solidFill>
            <a:prstDash val="solid"/>
          </a:ln>
        </p:spPr>
      </p:sp>
      <p:sp>
        <p:nvSpPr>
          <p:cNvPr id="22" name="Shape 20"/>
          <p:cNvSpPr/>
          <p:nvPr/>
        </p:nvSpPr>
        <p:spPr>
          <a:xfrm>
            <a:off x="8229600" y="3108960"/>
            <a:ext cx="54864" cy="411480"/>
          </a:xfrm>
          <a:prstGeom prst="rect">
            <a:avLst/>
          </a:prstGeom>
          <a:solidFill>
            <a:srgbClr val="7CE38B"/>
          </a:solidFill>
          <a:ln w="12700">
            <a:solidFill>
              <a:srgbClr val="7CE38B"/>
            </a:solidFill>
            <a:prstDash val="solid"/>
          </a:ln>
        </p:spPr>
      </p:sp>
      <p:sp>
        <p:nvSpPr>
          <p:cNvPr id="23" name="Text 21"/>
          <p:cNvSpPr/>
          <p:nvPr/>
        </p:nvSpPr>
        <p:spPr>
          <a:xfrm>
            <a:off x="8366760" y="3108960"/>
            <a:ext cx="3566160" cy="411480"/>
          </a:xfrm>
          <a:prstGeom prst="rect">
            <a:avLst/>
          </a:prstGeom>
          <a:noFill/>
          <a:ln/>
        </p:spPr>
        <p:txBody>
          <a:bodyPr wrap="square" lIns="0" tIns="0" rIns="0" bIns="0" rtlCol="0" anchor="ctr"/>
          <a:lstStyle/>
          <a:p>
            <a:pPr indent="0" marL="0">
              <a:buNone/>
            </a:pPr>
            <a:r>
              <a:rPr lang="en-US" sz="1200" dirty="0">
                <a:solidFill>
                  <a:srgbClr val="E6EDF3"/>
                </a:solidFill>
                <a:latin typeface="Consolas" pitchFamily="34" charset="0"/>
                <a:ea typeface="Consolas" pitchFamily="34" charset="-122"/>
                <a:cs typeface="Consolas" pitchFamily="34" charset="-120"/>
              </a:rPr>
              <a:t>6. Primary datastore</a:t>
            </a:r>
            <a:endParaRPr lang="en-US" sz="1200" dirty="0"/>
          </a:p>
        </p:txBody>
      </p:sp>
      <p:sp>
        <p:nvSpPr>
          <p:cNvPr id="24" name="Shape 22"/>
          <p:cNvSpPr/>
          <p:nvPr/>
        </p:nvSpPr>
        <p:spPr>
          <a:xfrm>
            <a:off x="365760" y="3611880"/>
            <a:ext cx="3749040" cy="411480"/>
          </a:xfrm>
          <a:prstGeom prst="rect">
            <a:avLst/>
          </a:prstGeom>
          <a:solidFill>
            <a:srgbClr val="161B22"/>
          </a:solidFill>
          <a:ln w="12700">
            <a:solidFill>
              <a:srgbClr val="30363D"/>
            </a:solidFill>
            <a:prstDash val="solid"/>
          </a:ln>
        </p:spPr>
      </p:sp>
      <p:sp>
        <p:nvSpPr>
          <p:cNvPr id="25" name="Shape 23"/>
          <p:cNvSpPr/>
          <p:nvPr/>
        </p:nvSpPr>
        <p:spPr>
          <a:xfrm>
            <a:off x="365760" y="3611880"/>
            <a:ext cx="54864" cy="411480"/>
          </a:xfrm>
          <a:prstGeom prst="rect">
            <a:avLst/>
          </a:prstGeom>
          <a:solidFill>
            <a:srgbClr val="7CE38B"/>
          </a:solidFill>
          <a:ln w="12700">
            <a:solidFill>
              <a:srgbClr val="7CE38B"/>
            </a:solidFill>
            <a:prstDash val="solid"/>
          </a:ln>
        </p:spPr>
      </p:sp>
      <p:sp>
        <p:nvSpPr>
          <p:cNvPr id="26" name="Text 24"/>
          <p:cNvSpPr/>
          <p:nvPr/>
        </p:nvSpPr>
        <p:spPr>
          <a:xfrm>
            <a:off x="502920" y="3611880"/>
            <a:ext cx="3566160" cy="411480"/>
          </a:xfrm>
          <a:prstGeom prst="rect">
            <a:avLst/>
          </a:prstGeom>
          <a:noFill/>
          <a:ln/>
        </p:spPr>
        <p:txBody>
          <a:bodyPr wrap="square" lIns="0" tIns="0" rIns="0" bIns="0" rtlCol="0" anchor="ctr"/>
          <a:lstStyle/>
          <a:p>
            <a:pPr indent="0" marL="0">
              <a:buNone/>
            </a:pPr>
            <a:r>
              <a:rPr lang="en-US" sz="1200" dirty="0">
                <a:solidFill>
                  <a:srgbClr val="E6EDF3"/>
                </a:solidFill>
                <a:latin typeface="Consolas" pitchFamily="34" charset="0"/>
                <a:ea typeface="Consolas" pitchFamily="34" charset="-122"/>
                <a:cs typeface="Consolas" pitchFamily="34" charset="-120"/>
              </a:rPr>
              <a:t>7. ORM / data layer</a:t>
            </a:r>
            <a:endParaRPr lang="en-US" sz="1200" dirty="0"/>
          </a:p>
        </p:txBody>
      </p:sp>
      <p:sp>
        <p:nvSpPr>
          <p:cNvPr id="27" name="Shape 25"/>
          <p:cNvSpPr/>
          <p:nvPr/>
        </p:nvSpPr>
        <p:spPr>
          <a:xfrm>
            <a:off x="4297680" y="3611880"/>
            <a:ext cx="3749040" cy="411480"/>
          </a:xfrm>
          <a:prstGeom prst="rect">
            <a:avLst/>
          </a:prstGeom>
          <a:solidFill>
            <a:srgbClr val="161B22"/>
          </a:solidFill>
          <a:ln w="12700">
            <a:solidFill>
              <a:srgbClr val="30363D"/>
            </a:solidFill>
            <a:prstDash val="solid"/>
          </a:ln>
        </p:spPr>
      </p:sp>
      <p:sp>
        <p:nvSpPr>
          <p:cNvPr id="28" name="Shape 26"/>
          <p:cNvSpPr/>
          <p:nvPr/>
        </p:nvSpPr>
        <p:spPr>
          <a:xfrm>
            <a:off x="4297680" y="3611880"/>
            <a:ext cx="54864" cy="411480"/>
          </a:xfrm>
          <a:prstGeom prst="rect">
            <a:avLst/>
          </a:prstGeom>
          <a:solidFill>
            <a:srgbClr val="7CE38B"/>
          </a:solidFill>
          <a:ln w="12700">
            <a:solidFill>
              <a:srgbClr val="7CE38B"/>
            </a:solidFill>
            <a:prstDash val="solid"/>
          </a:ln>
        </p:spPr>
      </p:sp>
      <p:sp>
        <p:nvSpPr>
          <p:cNvPr id="29" name="Text 27"/>
          <p:cNvSpPr/>
          <p:nvPr/>
        </p:nvSpPr>
        <p:spPr>
          <a:xfrm>
            <a:off x="4434840" y="3611880"/>
            <a:ext cx="3566160" cy="411480"/>
          </a:xfrm>
          <a:prstGeom prst="rect">
            <a:avLst/>
          </a:prstGeom>
          <a:noFill/>
          <a:ln/>
        </p:spPr>
        <p:txBody>
          <a:bodyPr wrap="square" lIns="0" tIns="0" rIns="0" bIns="0" rtlCol="0" anchor="ctr"/>
          <a:lstStyle/>
          <a:p>
            <a:pPr indent="0" marL="0">
              <a:buNone/>
            </a:pPr>
            <a:r>
              <a:rPr lang="en-US" sz="1200" dirty="0">
                <a:solidFill>
                  <a:srgbClr val="E6EDF3"/>
                </a:solidFill>
                <a:latin typeface="Consolas" pitchFamily="34" charset="0"/>
                <a:ea typeface="Consolas" pitchFamily="34" charset="-122"/>
                <a:cs typeface="Consolas" pitchFamily="34" charset="-120"/>
              </a:rPr>
              <a:t>8. Auth approach</a:t>
            </a:r>
            <a:endParaRPr lang="en-US" sz="1200" dirty="0"/>
          </a:p>
        </p:txBody>
      </p:sp>
      <p:sp>
        <p:nvSpPr>
          <p:cNvPr id="30" name="Shape 28"/>
          <p:cNvSpPr/>
          <p:nvPr/>
        </p:nvSpPr>
        <p:spPr>
          <a:xfrm>
            <a:off x="8229600" y="3611880"/>
            <a:ext cx="3749040" cy="411480"/>
          </a:xfrm>
          <a:prstGeom prst="rect">
            <a:avLst/>
          </a:prstGeom>
          <a:solidFill>
            <a:srgbClr val="161B22"/>
          </a:solidFill>
          <a:ln w="12700">
            <a:solidFill>
              <a:srgbClr val="30363D"/>
            </a:solidFill>
            <a:prstDash val="solid"/>
          </a:ln>
        </p:spPr>
      </p:sp>
      <p:sp>
        <p:nvSpPr>
          <p:cNvPr id="31" name="Shape 29"/>
          <p:cNvSpPr/>
          <p:nvPr/>
        </p:nvSpPr>
        <p:spPr>
          <a:xfrm>
            <a:off x="8229600" y="3611880"/>
            <a:ext cx="54864" cy="411480"/>
          </a:xfrm>
          <a:prstGeom prst="rect">
            <a:avLst/>
          </a:prstGeom>
          <a:solidFill>
            <a:srgbClr val="7CE38B"/>
          </a:solidFill>
          <a:ln w="12700">
            <a:solidFill>
              <a:srgbClr val="7CE38B"/>
            </a:solidFill>
            <a:prstDash val="solid"/>
          </a:ln>
        </p:spPr>
      </p:sp>
      <p:sp>
        <p:nvSpPr>
          <p:cNvPr id="32" name="Text 30"/>
          <p:cNvSpPr/>
          <p:nvPr/>
        </p:nvSpPr>
        <p:spPr>
          <a:xfrm>
            <a:off x="8366760" y="3611880"/>
            <a:ext cx="3566160" cy="411480"/>
          </a:xfrm>
          <a:prstGeom prst="rect">
            <a:avLst/>
          </a:prstGeom>
          <a:noFill/>
          <a:ln/>
        </p:spPr>
        <p:txBody>
          <a:bodyPr wrap="square" lIns="0" tIns="0" rIns="0" bIns="0" rtlCol="0" anchor="ctr"/>
          <a:lstStyle/>
          <a:p>
            <a:pPr indent="0" marL="0">
              <a:buNone/>
            </a:pPr>
            <a:r>
              <a:rPr lang="en-US" sz="1200" dirty="0">
                <a:solidFill>
                  <a:srgbClr val="E6EDF3"/>
                </a:solidFill>
                <a:latin typeface="Consolas" pitchFamily="34" charset="0"/>
                <a:ea typeface="Consolas" pitchFamily="34" charset="-122"/>
                <a:cs typeface="Consolas" pitchFamily="34" charset="-120"/>
              </a:rPr>
              <a:t>9. Cache / queue / search</a:t>
            </a:r>
            <a:endParaRPr lang="en-US" sz="1200" dirty="0"/>
          </a:p>
        </p:txBody>
      </p:sp>
      <p:sp>
        <p:nvSpPr>
          <p:cNvPr id="33" name="Shape 31"/>
          <p:cNvSpPr/>
          <p:nvPr/>
        </p:nvSpPr>
        <p:spPr>
          <a:xfrm>
            <a:off x="365760" y="4114800"/>
            <a:ext cx="3749040" cy="411480"/>
          </a:xfrm>
          <a:prstGeom prst="rect">
            <a:avLst/>
          </a:prstGeom>
          <a:solidFill>
            <a:srgbClr val="161B22"/>
          </a:solidFill>
          <a:ln w="12700">
            <a:solidFill>
              <a:srgbClr val="30363D"/>
            </a:solidFill>
            <a:prstDash val="solid"/>
          </a:ln>
        </p:spPr>
      </p:sp>
      <p:sp>
        <p:nvSpPr>
          <p:cNvPr id="34" name="Shape 32"/>
          <p:cNvSpPr/>
          <p:nvPr/>
        </p:nvSpPr>
        <p:spPr>
          <a:xfrm>
            <a:off x="365760" y="4114800"/>
            <a:ext cx="54864" cy="411480"/>
          </a:xfrm>
          <a:prstGeom prst="rect">
            <a:avLst/>
          </a:prstGeom>
          <a:solidFill>
            <a:srgbClr val="7CE38B"/>
          </a:solidFill>
          <a:ln w="12700">
            <a:solidFill>
              <a:srgbClr val="7CE38B"/>
            </a:solidFill>
            <a:prstDash val="solid"/>
          </a:ln>
        </p:spPr>
      </p:sp>
      <p:sp>
        <p:nvSpPr>
          <p:cNvPr id="35" name="Text 33"/>
          <p:cNvSpPr/>
          <p:nvPr/>
        </p:nvSpPr>
        <p:spPr>
          <a:xfrm>
            <a:off x="502920" y="4114800"/>
            <a:ext cx="3566160" cy="411480"/>
          </a:xfrm>
          <a:prstGeom prst="rect">
            <a:avLst/>
          </a:prstGeom>
          <a:noFill/>
          <a:ln/>
        </p:spPr>
        <p:txBody>
          <a:bodyPr wrap="square" lIns="0" tIns="0" rIns="0" bIns="0" rtlCol="0" anchor="ctr"/>
          <a:lstStyle/>
          <a:p>
            <a:pPr indent="0" marL="0">
              <a:buNone/>
            </a:pPr>
            <a:r>
              <a:rPr lang="en-US" sz="1200" dirty="0">
                <a:solidFill>
                  <a:srgbClr val="E6EDF3"/>
                </a:solidFill>
                <a:latin typeface="Consolas" pitchFamily="34" charset="0"/>
                <a:ea typeface="Consolas" pitchFamily="34" charset="-122"/>
                <a:cs typeface="Consolas" pitchFamily="34" charset="-120"/>
              </a:rPr>
              <a:t>10. Hosting target</a:t>
            </a:r>
            <a:endParaRPr lang="en-US" sz="1200" dirty="0"/>
          </a:p>
        </p:txBody>
      </p:sp>
      <p:sp>
        <p:nvSpPr>
          <p:cNvPr id="36" name="Shape 34"/>
          <p:cNvSpPr/>
          <p:nvPr/>
        </p:nvSpPr>
        <p:spPr>
          <a:xfrm>
            <a:off x="4297680" y="4114800"/>
            <a:ext cx="3749040" cy="411480"/>
          </a:xfrm>
          <a:prstGeom prst="rect">
            <a:avLst/>
          </a:prstGeom>
          <a:solidFill>
            <a:srgbClr val="161B22"/>
          </a:solidFill>
          <a:ln w="12700">
            <a:solidFill>
              <a:srgbClr val="30363D"/>
            </a:solidFill>
            <a:prstDash val="solid"/>
          </a:ln>
        </p:spPr>
      </p:sp>
      <p:sp>
        <p:nvSpPr>
          <p:cNvPr id="37" name="Shape 35"/>
          <p:cNvSpPr/>
          <p:nvPr/>
        </p:nvSpPr>
        <p:spPr>
          <a:xfrm>
            <a:off x="4297680" y="4114800"/>
            <a:ext cx="54864" cy="411480"/>
          </a:xfrm>
          <a:prstGeom prst="rect">
            <a:avLst/>
          </a:prstGeom>
          <a:solidFill>
            <a:srgbClr val="7CE38B"/>
          </a:solidFill>
          <a:ln w="12700">
            <a:solidFill>
              <a:srgbClr val="7CE38B"/>
            </a:solidFill>
            <a:prstDash val="solid"/>
          </a:ln>
        </p:spPr>
      </p:sp>
      <p:sp>
        <p:nvSpPr>
          <p:cNvPr id="38" name="Text 36"/>
          <p:cNvSpPr/>
          <p:nvPr/>
        </p:nvSpPr>
        <p:spPr>
          <a:xfrm>
            <a:off x="4434840" y="4114800"/>
            <a:ext cx="3566160" cy="411480"/>
          </a:xfrm>
          <a:prstGeom prst="rect">
            <a:avLst/>
          </a:prstGeom>
          <a:noFill/>
          <a:ln/>
        </p:spPr>
        <p:txBody>
          <a:bodyPr wrap="square" lIns="0" tIns="0" rIns="0" bIns="0" rtlCol="0" anchor="ctr"/>
          <a:lstStyle/>
          <a:p>
            <a:pPr indent="0" marL="0">
              <a:buNone/>
            </a:pPr>
            <a:r>
              <a:rPr lang="en-US" sz="1200" dirty="0">
                <a:solidFill>
                  <a:srgbClr val="E6EDF3"/>
                </a:solidFill>
                <a:latin typeface="Consolas" pitchFamily="34" charset="0"/>
                <a:ea typeface="Consolas" pitchFamily="34" charset="-122"/>
                <a:cs typeface="Consolas" pitchFamily="34" charset="-120"/>
              </a:rPr>
              <a:t>11. Code layout</a:t>
            </a:r>
            <a:endParaRPr lang="en-US" sz="1200" dirty="0"/>
          </a:p>
        </p:txBody>
      </p:sp>
      <p:sp>
        <p:nvSpPr>
          <p:cNvPr id="39" name="Shape 37"/>
          <p:cNvSpPr/>
          <p:nvPr/>
        </p:nvSpPr>
        <p:spPr>
          <a:xfrm>
            <a:off x="8229600" y="4114800"/>
            <a:ext cx="3749040" cy="411480"/>
          </a:xfrm>
          <a:prstGeom prst="rect">
            <a:avLst/>
          </a:prstGeom>
          <a:solidFill>
            <a:srgbClr val="161B22"/>
          </a:solidFill>
          <a:ln w="12700">
            <a:solidFill>
              <a:srgbClr val="30363D"/>
            </a:solidFill>
            <a:prstDash val="solid"/>
          </a:ln>
        </p:spPr>
      </p:sp>
      <p:sp>
        <p:nvSpPr>
          <p:cNvPr id="40" name="Shape 38"/>
          <p:cNvSpPr/>
          <p:nvPr/>
        </p:nvSpPr>
        <p:spPr>
          <a:xfrm>
            <a:off x="8229600" y="4114800"/>
            <a:ext cx="54864" cy="411480"/>
          </a:xfrm>
          <a:prstGeom prst="rect">
            <a:avLst/>
          </a:prstGeom>
          <a:solidFill>
            <a:srgbClr val="7CE38B"/>
          </a:solidFill>
          <a:ln w="12700">
            <a:solidFill>
              <a:srgbClr val="7CE38B"/>
            </a:solidFill>
            <a:prstDash val="solid"/>
          </a:ln>
        </p:spPr>
      </p:sp>
      <p:sp>
        <p:nvSpPr>
          <p:cNvPr id="41" name="Text 39"/>
          <p:cNvSpPr/>
          <p:nvPr/>
        </p:nvSpPr>
        <p:spPr>
          <a:xfrm>
            <a:off x="8366760" y="4114800"/>
            <a:ext cx="3566160" cy="411480"/>
          </a:xfrm>
          <a:prstGeom prst="rect">
            <a:avLst/>
          </a:prstGeom>
          <a:noFill/>
          <a:ln/>
        </p:spPr>
        <p:txBody>
          <a:bodyPr wrap="square" lIns="0" tIns="0" rIns="0" bIns="0" rtlCol="0" anchor="ctr"/>
          <a:lstStyle/>
          <a:p>
            <a:pPr indent="0" marL="0">
              <a:buNone/>
            </a:pPr>
            <a:r>
              <a:rPr lang="en-US" sz="1200" dirty="0">
                <a:solidFill>
                  <a:srgbClr val="E6EDF3"/>
                </a:solidFill>
                <a:latin typeface="Consolas" pitchFamily="34" charset="0"/>
                <a:ea typeface="Consolas" pitchFamily="34" charset="-122"/>
                <a:cs typeface="Consolas" pitchFamily="34" charset="-120"/>
              </a:rPr>
              <a:t>12. Package manager</a:t>
            </a:r>
            <a:endParaRPr lang="en-US" sz="1200" dirty="0"/>
          </a:p>
        </p:txBody>
      </p:sp>
      <p:sp>
        <p:nvSpPr>
          <p:cNvPr id="42" name="Text 40"/>
          <p:cNvSpPr/>
          <p:nvPr/>
        </p:nvSpPr>
        <p:spPr>
          <a:xfrm>
            <a:off x="365760" y="5989320"/>
            <a:ext cx="11430000" cy="457200"/>
          </a:xfrm>
          <a:prstGeom prst="rect">
            <a:avLst/>
          </a:prstGeom>
          <a:noFill/>
          <a:ln/>
        </p:spPr>
        <p:txBody>
          <a:bodyPr wrap="square" lIns="0" tIns="0" rIns="0" bIns="0" rtlCol="0" anchor="ctr"/>
          <a:lstStyle/>
          <a:p>
            <a:pPr algn="ctr" indent="0" marL="0">
              <a:buNone/>
            </a:pPr>
            <a:r>
              <a:rPr lang="en-US" sz="1100" i="1" dirty="0">
                <a:solidFill>
                  <a:srgbClr val="D29922"/>
                </a:solidFill>
                <a:latin typeface="Calibri" pitchFamily="34" charset="0"/>
                <a:ea typeface="Calibri" pitchFamily="34" charset="-122"/>
                <a:cs typeface="Calibri" pitchFamily="34" charset="-120"/>
              </a:rPr>
              <a:t>Sau khi user trả lời, SA quote answer verbatim vào TECH_STACK.md + dòng "Confirmed by user (qid: SA_xxx)". Phase 1 gate kiểm tra dòng này.</a:t>
            </a:r>
            <a:endParaRPr lang="en-US" sz="1100" dirty="0"/>
          </a:p>
        </p:txBody>
      </p:sp>
      <p:sp>
        <p:nvSpPr>
          <p:cNvPr id="43" name="Text 41"/>
          <p:cNvSpPr/>
          <p:nvPr/>
        </p:nvSpPr>
        <p:spPr>
          <a:xfrm>
            <a:off x="11338560" y="6492240"/>
            <a:ext cx="731520" cy="228600"/>
          </a:xfrm>
          <a:prstGeom prst="rect">
            <a:avLst/>
          </a:prstGeom>
          <a:noFill/>
          <a:ln/>
        </p:spPr>
        <p:txBody>
          <a:bodyPr wrap="square" lIns="0" tIns="0" rIns="0" bIns="0" rtlCol="0" anchor="ctr"/>
          <a:lstStyle/>
          <a:p>
            <a:pPr algn="r" indent="0" marL="0">
              <a:buNone/>
            </a:pPr>
            <a:r>
              <a:rPr lang="en-US" sz="900" dirty="0">
                <a:solidFill>
                  <a:srgbClr val="8B949E"/>
                </a:solidFill>
                <a:latin typeface="Consolas" pitchFamily="34" charset="0"/>
                <a:ea typeface="Consolas" pitchFamily="34" charset="-122"/>
                <a:cs typeface="Consolas" pitchFamily="34" charset="-120"/>
              </a:rPr>
              <a:t>24 / 32</a:t>
            </a:r>
            <a:endParaRPr lang="en-US" sz="900" dirty="0"/>
          </a:p>
        </p:txBody>
      </p:sp>
      <p:sp>
        <p:nvSpPr>
          <p:cNvPr id="44" name="Text 42"/>
          <p:cNvSpPr/>
          <p:nvPr/>
        </p:nvSpPr>
        <p:spPr>
          <a:xfrm>
            <a:off x="365760" y="6492240"/>
            <a:ext cx="1097280" cy="228600"/>
          </a:xfrm>
          <a:prstGeom prst="rect">
            <a:avLst/>
          </a:prstGeom>
          <a:noFill/>
          <a:ln/>
        </p:spPr>
        <p:txBody>
          <a:bodyPr wrap="square" lIns="0" tIns="0" rIns="0" bIns="0" rtlCol="0" anchor="ctr"/>
          <a:lstStyle/>
          <a:p>
            <a:pPr algn="l" indent="0" marL="0">
              <a:buNone/>
            </a:pPr>
            <a:r>
              <a:rPr lang="en-US" sz="900" dirty="0">
                <a:solidFill>
                  <a:srgbClr val="8B949E"/>
                </a:solidFill>
                <a:latin typeface="Consolas" pitchFamily="34" charset="0"/>
                <a:ea typeface="Consolas" pitchFamily="34" charset="-122"/>
                <a:cs typeface="Consolas" pitchFamily="34" charset="-120"/>
              </a:rPr>
              <a:t>v10.12</a:t>
            </a:r>
            <a:endParaRPr lang="en-US" sz="900" dirty="0"/>
          </a:p>
        </p:txBody>
      </p:sp>
      <p:sp>
        <p:nvSpPr>
          <p:cNvPr id="45" name="Text 43"/>
          <p:cNvSpPr/>
          <p:nvPr/>
        </p:nvSpPr>
        <p:spPr>
          <a:xfrm>
            <a:off x="4572000" y="6492240"/>
            <a:ext cx="6400800" cy="228600"/>
          </a:xfrm>
          <a:prstGeom prst="rect">
            <a:avLst/>
          </a:prstGeom>
          <a:noFill/>
          <a:ln/>
        </p:spPr>
        <p:txBody>
          <a:bodyPr wrap="square" lIns="0" tIns="0" rIns="0" bIns="0" rtlCol="0" anchor="ctr"/>
          <a:lstStyle/>
          <a:p>
            <a:pPr algn="ctr" indent="0" marL="0">
              <a:buNone/>
            </a:pPr>
            <a:r>
              <a:rPr lang="en-US" sz="900" dirty="0">
                <a:solidFill>
                  <a:srgbClr val="8B949E"/>
                </a:solidFill>
                <a:latin typeface="Consolas" pitchFamily="34" charset="0"/>
                <a:ea typeface="Consolas" pitchFamily="34" charset="-122"/>
                <a:cs typeface="Consolas" pitchFamily="34" charset="-120"/>
              </a:rPr>
              <a:t>Product Engineering Agent Framework</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365760" y="228600"/>
            <a:ext cx="8229600" cy="274320"/>
          </a:xfrm>
          <a:prstGeom prst="rect">
            <a:avLst/>
          </a:prstGeom>
          <a:noFill/>
          <a:ln/>
        </p:spPr>
        <p:txBody>
          <a:bodyPr wrap="square" lIns="0" tIns="0" rIns="0" bIns="0" rtlCol="0" anchor="ctr"/>
          <a:lstStyle/>
          <a:p>
            <a:pPr indent="0" marL="0">
              <a:buNone/>
            </a:pPr>
            <a:r>
              <a:rPr lang="en-US" sz="1100" dirty="0">
                <a:solidFill>
                  <a:srgbClr val="2EA043"/>
                </a:solidFill>
                <a:latin typeface="Consolas" pitchFamily="34" charset="0"/>
                <a:ea typeface="Consolas" pitchFamily="34" charset="-122"/>
                <a:cs typeface="Consolas" pitchFamily="34" charset="-120"/>
              </a:rPr>
              <a:t>$ </a:t>
            </a:r>
            <a:pPr indent="0" marL="0">
              <a:buNone/>
            </a:pPr>
            <a:r>
              <a:rPr lang="en-US" sz="1100" dirty="0">
                <a:solidFill>
                  <a:srgbClr val="8B949E"/>
                </a:solidFill>
                <a:latin typeface="Consolas" pitchFamily="34" charset="0"/>
                <a:ea typeface="Consolas" pitchFamily="34" charset="-122"/>
                <a:cs typeface="Consolas" pitchFamily="34" charset="-120"/>
              </a:rPr>
              <a:t>21_stay_in_lane.md</a:t>
            </a:r>
            <a:endParaRPr lang="en-US" sz="1100" dirty="0"/>
          </a:p>
        </p:txBody>
      </p:sp>
      <p:sp>
        <p:nvSpPr>
          <p:cNvPr id="3" name="Text 1"/>
          <p:cNvSpPr/>
          <p:nvPr/>
        </p:nvSpPr>
        <p:spPr>
          <a:xfrm>
            <a:off x="365760" y="548640"/>
            <a:ext cx="11430000" cy="640080"/>
          </a:xfrm>
          <a:prstGeom prst="rect">
            <a:avLst/>
          </a:prstGeom>
          <a:noFill/>
          <a:ln/>
        </p:spPr>
        <p:txBody>
          <a:bodyPr wrap="square" lIns="0" tIns="0" rIns="0" bIns="0" rtlCol="0" anchor="ctr"/>
          <a:lstStyle/>
          <a:p>
            <a:pPr indent="0" marL="0">
              <a:buNone/>
            </a:pPr>
            <a:r>
              <a:rPr lang="en-US" sz="3000" b="1" dirty="0">
                <a:solidFill>
                  <a:srgbClr val="E6EDF3"/>
                </a:solidFill>
                <a:latin typeface="Consolas" pitchFamily="34" charset="0"/>
                <a:ea typeface="Consolas" pitchFamily="34" charset="-122"/>
                <a:cs typeface="Consolas" pitchFamily="34" charset="-120"/>
              </a:rPr>
              <a:t>Stay in your lane (v10.10)</a:t>
            </a:r>
            <a:endParaRPr lang="en-US" sz="3000" dirty="0"/>
          </a:p>
        </p:txBody>
      </p:sp>
      <p:sp>
        <p:nvSpPr>
          <p:cNvPr id="4" name="Text 2"/>
          <p:cNvSpPr/>
          <p:nvPr/>
        </p:nvSpPr>
        <p:spPr>
          <a:xfrm>
            <a:off x="365760" y="1143000"/>
            <a:ext cx="11430000" cy="365760"/>
          </a:xfrm>
          <a:prstGeom prst="rect">
            <a:avLst/>
          </a:prstGeom>
          <a:noFill/>
          <a:ln/>
        </p:spPr>
        <p:txBody>
          <a:bodyPr wrap="square" lIns="0" tIns="0" rIns="0" bIns="0" rtlCol="0" anchor="ctr"/>
          <a:lstStyle/>
          <a:p>
            <a:pPr indent="0" marL="0">
              <a:buNone/>
            </a:pPr>
            <a:r>
              <a:rPr lang="en-US" sz="1400" i="1" dirty="0">
                <a:solidFill>
                  <a:srgbClr val="8B949E"/>
                </a:solidFill>
                <a:latin typeface="Calibri" pitchFamily="34" charset="0"/>
                <a:ea typeface="Calibri" pitchFamily="34" charset="-122"/>
                <a:cs typeface="Calibri" pitchFamily="34" charset="-120"/>
              </a:rPr>
              <a:t>Mỗi role có write boundary. Cross-boundary = route owner, không tự làm.</a:t>
            </a:r>
            <a:endParaRPr lang="en-US" sz="1400" dirty="0"/>
          </a:p>
        </p:txBody>
      </p:sp>
      <p:sp>
        <p:nvSpPr>
          <p:cNvPr id="5" name="Shape 3"/>
          <p:cNvSpPr/>
          <p:nvPr/>
        </p:nvSpPr>
        <p:spPr>
          <a:xfrm>
            <a:off x="365760" y="1783080"/>
            <a:ext cx="11430000" cy="457200"/>
          </a:xfrm>
          <a:prstGeom prst="rect">
            <a:avLst/>
          </a:prstGeom>
          <a:solidFill>
            <a:srgbClr val="161B22"/>
          </a:solidFill>
          <a:ln w="12700">
            <a:solidFill>
              <a:srgbClr val="30363D"/>
            </a:solidFill>
            <a:prstDash val="solid"/>
          </a:ln>
        </p:spPr>
      </p:sp>
      <p:sp>
        <p:nvSpPr>
          <p:cNvPr id="6" name="Shape 4"/>
          <p:cNvSpPr/>
          <p:nvPr/>
        </p:nvSpPr>
        <p:spPr>
          <a:xfrm>
            <a:off x="365760" y="1783080"/>
            <a:ext cx="73152" cy="457200"/>
          </a:xfrm>
          <a:prstGeom prst="rect">
            <a:avLst/>
          </a:prstGeom>
          <a:solidFill>
            <a:srgbClr val="7CE38B"/>
          </a:solidFill>
          <a:ln w="12700">
            <a:solidFill>
              <a:srgbClr val="7CE38B"/>
            </a:solidFill>
            <a:prstDash val="solid"/>
          </a:ln>
        </p:spPr>
      </p:sp>
      <p:sp>
        <p:nvSpPr>
          <p:cNvPr id="7" name="Text 5"/>
          <p:cNvSpPr/>
          <p:nvPr/>
        </p:nvSpPr>
        <p:spPr>
          <a:xfrm>
            <a:off x="548640" y="1783080"/>
            <a:ext cx="1828800" cy="457200"/>
          </a:xfrm>
          <a:prstGeom prst="rect">
            <a:avLst/>
          </a:prstGeom>
          <a:noFill/>
          <a:ln/>
        </p:spPr>
        <p:txBody>
          <a:bodyPr wrap="square" lIns="0" tIns="0" rIns="0" bIns="0" rtlCol="0" anchor="ctr"/>
          <a:lstStyle/>
          <a:p>
            <a:pPr indent="0" marL="0">
              <a:buNone/>
            </a:pPr>
            <a:r>
              <a:rPr lang="en-US" sz="1300" b="1" dirty="0">
                <a:solidFill>
                  <a:srgbClr val="7CE38B"/>
                </a:solidFill>
                <a:latin typeface="Consolas" pitchFamily="34" charset="0"/>
                <a:ea typeface="Consolas" pitchFamily="34" charset="-122"/>
                <a:cs typeface="Consolas" pitchFamily="34" charset="-120"/>
              </a:rPr>
              <a:t>PM</a:t>
            </a:r>
            <a:endParaRPr lang="en-US" sz="1300" dirty="0"/>
          </a:p>
        </p:txBody>
      </p:sp>
      <p:sp>
        <p:nvSpPr>
          <p:cNvPr id="8" name="Text 6"/>
          <p:cNvSpPr/>
          <p:nvPr/>
        </p:nvSpPr>
        <p:spPr>
          <a:xfrm>
            <a:off x="2468880" y="1783080"/>
            <a:ext cx="9235440" cy="457200"/>
          </a:xfrm>
          <a:prstGeom prst="rect">
            <a:avLst/>
          </a:prstGeom>
          <a:noFill/>
          <a:ln/>
        </p:spPr>
        <p:txBody>
          <a:bodyPr wrap="square" lIns="0" tIns="0" rIns="0" bIns="0" rtlCol="0" anchor="ctr"/>
          <a:lstStyle/>
          <a:p>
            <a:pPr indent="0" marL="0">
              <a:buNone/>
            </a:pPr>
            <a:r>
              <a:rPr lang="en-US" sz="1100" dirty="0">
                <a:solidFill>
                  <a:srgbClr val="E6EDF3"/>
                </a:solidFill>
                <a:latin typeface="Consolas" pitchFamily="34" charset="0"/>
                <a:ea typeface="Consolas" pitchFamily="34" charset="-122"/>
                <a:cs typeface="Consolas" pitchFamily="34" charset="-120"/>
              </a:rPr>
              <a:t>docs/product/{PRD,ROADMAP}.md, planning/{BACKLOG,OPEN_QUESTIONS}.md</a:t>
            </a:r>
            <a:endParaRPr lang="en-US" sz="1100" dirty="0"/>
          </a:p>
        </p:txBody>
      </p:sp>
      <p:sp>
        <p:nvSpPr>
          <p:cNvPr id="9" name="Shape 7"/>
          <p:cNvSpPr/>
          <p:nvPr/>
        </p:nvSpPr>
        <p:spPr>
          <a:xfrm>
            <a:off x="365760" y="2286000"/>
            <a:ext cx="11430000" cy="457200"/>
          </a:xfrm>
          <a:prstGeom prst="rect">
            <a:avLst/>
          </a:prstGeom>
          <a:solidFill>
            <a:srgbClr val="1C2128"/>
          </a:solidFill>
          <a:ln w="12700">
            <a:solidFill>
              <a:srgbClr val="30363D"/>
            </a:solidFill>
            <a:prstDash val="solid"/>
          </a:ln>
        </p:spPr>
      </p:sp>
      <p:sp>
        <p:nvSpPr>
          <p:cNvPr id="10" name="Shape 8"/>
          <p:cNvSpPr/>
          <p:nvPr/>
        </p:nvSpPr>
        <p:spPr>
          <a:xfrm>
            <a:off x="365760" y="2286000"/>
            <a:ext cx="73152" cy="457200"/>
          </a:xfrm>
          <a:prstGeom prst="rect">
            <a:avLst/>
          </a:prstGeom>
          <a:solidFill>
            <a:srgbClr val="7CE38B"/>
          </a:solidFill>
          <a:ln w="12700">
            <a:solidFill>
              <a:srgbClr val="7CE38B"/>
            </a:solidFill>
            <a:prstDash val="solid"/>
          </a:ln>
        </p:spPr>
      </p:sp>
      <p:sp>
        <p:nvSpPr>
          <p:cNvPr id="11" name="Text 9"/>
          <p:cNvSpPr/>
          <p:nvPr/>
        </p:nvSpPr>
        <p:spPr>
          <a:xfrm>
            <a:off x="548640" y="2286000"/>
            <a:ext cx="1828800" cy="457200"/>
          </a:xfrm>
          <a:prstGeom prst="rect">
            <a:avLst/>
          </a:prstGeom>
          <a:noFill/>
          <a:ln/>
        </p:spPr>
        <p:txBody>
          <a:bodyPr wrap="square" lIns="0" tIns="0" rIns="0" bIns="0" rtlCol="0" anchor="ctr"/>
          <a:lstStyle/>
          <a:p>
            <a:pPr indent="0" marL="0">
              <a:buNone/>
            </a:pPr>
            <a:r>
              <a:rPr lang="en-US" sz="1300" b="1" dirty="0">
                <a:solidFill>
                  <a:srgbClr val="7CE38B"/>
                </a:solidFill>
                <a:latin typeface="Consolas" pitchFamily="34" charset="0"/>
                <a:ea typeface="Consolas" pitchFamily="34" charset="-122"/>
                <a:cs typeface="Consolas" pitchFamily="34" charset="-120"/>
              </a:rPr>
              <a:t>SA</a:t>
            </a:r>
            <a:endParaRPr lang="en-US" sz="1300" dirty="0"/>
          </a:p>
        </p:txBody>
      </p:sp>
      <p:sp>
        <p:nvSpPr>
          <p:cNvPr id="12" name="Text 10"/>
          <p:cNvSpPr/>
          <p:nvPr/>
        </p:nvSpPr>
        <p:spPr>
          <a:xfrm>
            <a:off x="2468880" y="2286000"/>
            <a:ext cx="9235440" cy="457200"/>
          </a:xfrm>
          <a:prstGeom prst="rect">
            <a:avLst/>
          </a:prstGeom>
          <a:noFill/>
          <a:ln/>
        </p:spPr>
        <p:txBody>
          <a:bodyPr wrap="square" lIns="0" tIns="0" rIns="0" bIns="0" rtlCol="0" anchor="ctr"/>
          <a:lstStyle/>
          <a:p>
            <a:pPr indent="0" marL="0">
              <a:buNone/>
            </a:pPr>
            <a:r>
              <a:rPr lang="en-US" sz="1100" dirty="0">
                <a:solidFill>
                  <a:srgbClr val="E6EDF3"/>
                </a:solidFill>
                <a:latin typeface="Consolas" pitchFamily="34" charset="0"/>
                <a:ea typeface="Consolas" pitchFamily="34" charset="-122"/>
                <a:cs typeface="Consolas" pitchFamily="34" charset="-120"/>
              </a:rPr>
              <a:t>docs/architecture/*.md</a:t>
            </a:r>
            <a:endParaRPr lang="en-US" sz="1100" dirty="0"/>
          </a:p>
        </p:txBody>
      </p:sp>
      <p:sp>
        <p:nvSpPr>
          <p:cNvPr id="13" name="Shape 11"/>
          <p:cNvSpPr/>
          <p:nvPr/>
        </p:nvSpPr>
        <p:spPr>
          <a:xfrm>
            <a:off x="365760" y="2788920"/>
            <a:ext cx="11430000" cy="457200"/>
          </a:xfrm>
          <a:prstGeom prst="rect">
            <a:avLst/>
          </a:prstGeom>
          <a:solidFill>
            <a:srgbClr val="161B22"/>
          </a:solidFill>
          <a:ln w="12700">
            <a:solidFill>
              <a:srgbClr val="30363D"/>
            </a:solidFill>
            <a:prstDash val="solid"/>
          </a:ln>
        </p:spPr>
      </p:sp>
      <p:sp>
        <p:nvSpPr>
          <p:cNvPr id="14" name="Shape 12"/>
          <p:cNvSpPr/>
          <p:nvPr/>
        </p:nvSpPr>
        <p:spPr>
          <a:xfrm>
            <a:off x="365760" y="2788920"/>
            <a:ext cx="73152" cy="457200"/>
          </a:xfrm>
          <a:prstGeom prst="rect">
            <a:avLst/>
          </a:prstGeom>
          <a:solidFill>
            <a:srgbClr val="7CE38B"/>
          </a:solidFill>
          <a:ln w="12700">
            <a:solidFill>
              <a:srgbClr val="7CE38B"/>
            </a:solidFill>
            <a:prstDash val="solid"/>
          </a:ln>
        </p:spPr>
      </p:sp>
      <p:sp>
        <p:nvSpPr>
          <p:cNvPr id="15" name="Text 13"/>
          <p:cNvSpPr/>
          <p:nvPr/>
        </p:nvSpPr>
        <p:spPr>
          <a:xfrm>
            <a:off x="548640" y="2788920"/>
            <a:ext cx="1828800" cy="457200"/>
          </a:xfrm>
          <a:prstGeom prst="rect">
            <a:avLst/>
          </a:prstGeom>
          <a:noFill/>
          <a:ln/>
        </p:spPr>
        <p:txBody>
          <a:bodyPr wrap="square" lIns="0" tIns="0" rIns="0" bIns="0" rtlCol="0" anchor="ctr"/>
          <a:lstStyle/>
          <a:p>
            <a:pPr indent="0" marL="0">
              <a:buNone/>
            </a:pPr>
            <a:r>
              <a:rPr lang="en-US" sz="1300" b="1" dirty="0">
                <a:solidFill>
                  <a:srgbClr val="7CE38B"/>
                </a:solidFill>
                <a:latin typeface="Consolas" pitchFamily="34" charset="0"/>
                <a:ea typeface="Consolas" pitchFamily="34" charset="-122"/>
                <a:cs typeface="Consolas" pitchFamily="34" charset="-120"/>
              </a:rPr>
              <a:t>BA</a:t>
            </a:r>
            <a:endParaRPr lang="en-US" sz="1300" dirty="0"/>
          </a:p>
        </p:txBody>
      </p:sp>
      <p:sp>
        <p:nvSpPr>
          <p:cNvPr id="16" name="Text 14"/>
          <p:cNvSpPr/>
          <p:nvPr/>
        </p:nvSpPr>
        <p:spPr>
          <a:xfrm>
            <a:off x="2468880" y="2788920"/>
            <a:ext cx="9235440" cy="457200"/>
          </a:xfrm>
          <a:prstGeom prst="rect">
            <a:avLst/>
          </a:prstGeom>
          <a:noFill/>
          <a:ln/>
        </p:spPr>
        <p:txBody>
          <a:bodyPr wrap="square" lIns="0" tIns="0" rIns="0" bIns="0" rtlCol="0" anchor="ctr"/>
          <a:lstStyle/>
          <a:p>
            <a:pPr indent="0" marL="0">
              <a:buNone/>
            </a:pPr>
            <a:r>
              <a:rPr lang="en-US" sz="1100" dirty="0">
                <a:solidFill>
                  <a:srgbClr val="E6EDF3"/>
                </a:solidFill>
                <a:latin typeface="Consolas" pitchFamily="34" charset="0"/>
                <a:ea typeface="Consolas" pitchFamily="34" charset="-122"/>
                <a:cs typeface="Consolas" pitchFamily="34" charset="-120"/>
              </a:rPr>
              <a:t>docs/business/*.md</a:t>
            </a:r>
            <a:endParaRPr lang="en-US" sz="1100" dirty="0"/>
          </a:p>
        </p:txBody>
      </p:sp>
      <p:sp>
        <p:nvSpPr>
          <p:cNvPr id="17" name="Shape 15"/>
          <p:cNvSpPr/>
          <p:nvPr/>
        </p:nvSpPr>
        <p:spPr>
          <a:xfrm>
            <a:off x="365760" y="3291840"/>
            <a:ext cx="11430000" cy="457200"/>
          </a:xfrm>
          <a:prstGeom prst="rect">
            <a:avLst/>
          </a:prstGeom>
          <a:solidFill>
            <a:srgbClr val="1C2128"/>
          </a:solidFill>
          <a:ln w="12700">
            <a:solidFill>
              <a:srgbClr val="30363D"/>
            </a:solidFill>
            <a:prstDash val="solid"/>
          </a:ln>
        </p:spPr>
      </p:sp>
      <p:sp>
        <p:nvSpPr>
          <p:cNvPr id="18" name="Shape 16"/>
          <p:cNvSpPr/>
          <p:nvPr/>
        </p:nvSpPr>
        <p:spPr>
          <a:xfrm>
            <a:off x="365760" y="3291840"/>
            <a:ext cx="73152" cy="457200"/>
          </a:xfrm>
          <a:prstGeom prst="rect">
            <a:avLst/>
          </a:prstGeom>
          <a:solidFill>
            <a:srgbClr val="7CE38B"/>
          </a:solidFill>
          <a:ln w="12700">
            <a:solidFill>
              <a:srgbClr val="7CE38B"/>
            </a:solidFill>
            <a:prstDash val="solid"/>
          </a:ln>
        </p:spPr>
      </p:sp>
      <p:sp>
        <p:nvSpPr>
          <p:cNvPr id="19" name="Text 17"/>
          <p:cNvSpPr/>
          <p:nvPr/>
        </p:nvSpPr>
        <p:spPr>
          <a:xfrm>
            <a:off x="548640" y="3291840"/>
            <a:ext cx="1828800" cy="457200"/>
          </a:xfrm>
          <a:prstGeom prst="rect">
            <a:avLst/>
          </a:prstGeom>
          <a:noFill/>
          <a:ln/>
        </p:spPr>
        <p:txBody>
          <a:bodyPr wrap="square" lIns="0" tIns="0" rIns="0" bIns="0" rtlCol="0" anchor="ctr"/>
          <a:lstStyle/>
          <a:p>
            <a:pPr indent="0" marL="0">
              <a:buNone/>
            </a:pPr>
            <a:r>
              <a:rPr lang="en-US" sz="1300" b="1" dirty="0">
                <a:solidFill>
                  <a:srgbClr val="7CE38B"/>
                </a:solidFill>
                <a:latin typeface="Consolas" pitchFamily="34" charset="0"/>
                <a:ea typeface="Consolas" pitchFamily="34" charset="-122"/>
                <a:cs typeface="Consolas" pitchFamily="34" charset="-120"/>
              </a:rPr>
              <a:t>UX</a:t>
            </a:r>
            <a:endParaRPr lang="en-US" sz="1300" dirty="0"/>
          </a:p>
        </p:txBody>
      </p:sp>
      <p:sp>
        <p:nvSpPr>
          <p:cNvPr id="20" name="Text 18"/>
          <p:cNvSpPr/>
          <p:nvPr/>
        </p:nvSpPr>
        <p:spPr>
          <a:xfrm>
            <a:off x="2468880" y="3291840"/>
            <a:ext cx="9235440" cy="457200"/>
          </a:xfrm>
          <a:prstGeom prst="rect">
            <a:avLst/>
          </a:prstGeom>
          <a:noFill/>
          <a:ln/>
        </p:spPr>
        <p:txBody>
          <a:bodyPr wrap="square" lIns="0" tIns="0" rIns="0" bIns="0" rtlCol="0" anchor="ctr"/>
          <a:lstStyle/>
          <a:p>
            <a:pPr indent="0" marL="0">
              <a:buNone/>
            </a:pPr>
            <a:r>
              <a:rPr lang="en-US" sz="1100" dirty="0">
                <a:solidFill>
                  <a:srgbClr val="E6EDF3"/>
                </a:solidFill>
                <a:latin typeface="Consolas" pitchFamily="34" charset="0"/>
                <a:ea typeface="Consolas" pitchFamily="34" charset="-122"/>
                <a:cs typeface="Consolas" pitchFamily="34" charset="-120"/>
              </a:rPr>
              <a:t>docs/product/{UX_FLOW,WIREFRAMES,DESIGN_NOTES}.md</a:t>
            </a:r>
            <a:endParaRPr lang="en-US" sz="1100" dirty="0"/>
          </a:p>
        </p:txBody>
      </p:sp>
      <p:sp>
        <p:nvSpPr>
          <p:cNvPr id="21" name="Shape 19"/>
          <p:cNvSpPr/>
          <p:nvPr/>
        </p:nvSpPr>
        <p:spPr>
          <a:xfrm>
            <a:off x="365760" y="3794760"/>
            <a:ext cx="11430000" cy="457200"/>
          </a:xfrm>
          <a:prstGeom prst="rect">
            <a:avLst/>
          </a:prstGeom>
          <a:solidFill>
            <a:srgbClr val="161B22"/>
          </a:solidFill>
          <a:ln w="12700">
            <a:solidFill>
              <a:srgbClr val="30363D"/>
            </a:solidFill>
            <a:prstDash val="solid"/>
          </a:ln>
        </p:spPr>
      </p:sp>
      <p:sp>
        <p:nvSpPr>
          <p:cNvPr id="22" name="Shape 20"/>
          <p:cNvSpPr/>
          <p:nvPr/>
        </p:nvSpPr>
        <p:spPr>
          <a:xfrm>
            <a:off x="365760" y="3794760"/>
            <a:ext cx="73152" cy="457200"/>
          </a:xfrm>
          <a:prstGeom prst="rect">
            <a:avLst/>
          </a:prstGeom>
          <a:solidFill>
            <a:srgbClr val="7CE38B"/>
          </a:solidFill>
          <a:ln w="12700">
            <a:solidFill>
              <a:srgbClr val="7CE38B"/>
            </a:solidFill>
            <a:prstDash val="solid"/>
          </a:ln>
        </p:spPr>
      </p:sp>
      <p:sp>
        <p:nvSpPr>
          <p:cNvPr id="23" name="Text 21"/>
          <p:cNvSpPr/>
          <p:nvPr/>
        </p:nvSpPr>
        <p:spPr>
          <a:xfrm>
            <a:off x="548640" y="3794760"/>
            <a:ext cx="1828800" cy="457200"/>
          </a:xfrm>
          <a:prstGeom prst="rect">
            <a:avLst/>
          </a:prstGeom>
          <a:noFill/>
          <a:ln/>
        </p:spPr>
        <p:txBody>
          <a:bodyPr wrap="square" lIns="0" tIns="0" rIns="0" bIns="0" rtlCol="0" anchor="ctr"/>
          <a:lstStyle/>
          <a:p>
            <a:pPr indent="0" marL="0">
              <a:buNone/>
            </a:pPr>
            <a:r>
              <a:rPr lang="en-US" sz="1300" b="1" dirty="0">
                <a:solidFill>
                  <a:srgbClr val="7CE38B"/>
                </a:solidFill>
                <a:latin typeface="Consolas" pitchFamily="34" charset="0"/>
                <a:ea typeface="Consolas" pitchFamily="34" charset="-122"/>
                <a:cs typeface="Consolas" pitchFamily="34" charset="-120"/>
              </a:rPr>
              <a:t>BE</a:t>
            </a:r>
            <a:endParaRPr lang="en-US" sz="1300" dirty="0"/>
          </a:p>
        </p:txBody>
      </p:sp>
      <p:sp>
        <p:nvSpPr>
          <p:cNvPr id="24" name="Text 22"/>
          <p:cNvSpPr/>
          <p:nvPr/>
        </p:nvSpPr>
        <p:spPr>
          <a:xfrm>
            <a:off x="2468880" y="3794760"/>
            <a:ext cx="9235440" cy="457200"/>
          </a:xfrm>
          <a:prstGeom prst="rect">
            <a:avLst/>
          </a:prstGeom>
          <a:noFill/>
          <a:ln/>
        </p:spPr>
        <p:txBody>
          <a:bodyPr wrap="square" lIns="0" tIns="0" rIns="0" bIns="0" rtlCol="0" anchor="ctr"/>
          <a:lstStyle/>
          <a:p>
            <a:pPr indent="0" marL="0">
              <a:buNone/>
            </a:pPr>
            <a:r>
              <a:rPr lang="en-US" sz="1100" dirty="0">
                <a:solidFill>
                  <a:srgbClr val="E6EDF3"/>
                </a:solidFill>
                <a:latin typeface="Consolas" pitchFamily="34" charset="0"/>
                <a:ea typeface="Consolas" pitchFamily="34" charset="-122"/>
                <a:cs typeface="Consolas" pitchFamily="34" charset="-120"/>
              </a:rPr>
              <a:t>backend/* (source), planning/BE_PLAN.md</a:t>
            </a:r>
            <a:endParaRPr lang="en-US" sz="1100" dirty="0"/>
          </a:p>
        </p:txBody>
      </p:sp>
      <p:sp>
        <p:nvSpPr>
          <p:cNvPr id="25" name="Shape 23"/>
          <p:cNvSpPr/>
          <p:nvPr/>
        </p:nvSpPr>
        <p:spPr>
          <a:xfrm>
            <a:off x="365760" y="4297680"/>
            <a:ext cx="11430000" cy="457200"/>
          </a:xfrm>
          <a:prstGeom prst="rect">
            <a:avLst/>
          </a:prstGeom>
          <a:solidFill>
            <a:srgbClr val="1C2128"/>
          </a:solidFill>
          <a:ln w="12700">
            <a:solidFill>
              <a:srgbClr val="30363D"/>
            </a:solidFill>
            <a:prstDash val="solid"/>
          </a:ln>
        </p:spPr>
      </p:sp>
      <p:sp>
        <p:nvSpPr>
          <p:cNvPr id="26" name="Shape 24"/>
          <p:cNvSpPr/>
          <p:nvPr/>
        </p:nvSpPr>
        <p:spPr>
          <a:xfrm>
            <a:off x="365760" y="4297680"/>
            <a:ext cx="73152" cy="457200"/>
          </a:xfrm>
          <a:prstGeom prst="rect">
            <a:avLst/>
          </a:prstGeom>
          <a:solidFill>
            <a:srgbClr val="7CE38B"/>
          </a:solidFill>
          <a:ln w="12700">
            <a:solidFill>
              <a:srgbClr val="7CE38B"/>
            </a:solidFill>
            <a:prstDash val="solid"/>
          </a:ln>
        </p:spPr>
      </p:sp>
      <p:sp>
        <p:nvSpPr>
          <p:cNvPr id="27" name="Text 25"/>
          <p:cNvSpPr/>
          <p:nvPr/>
        </p:nvSpPr>
        <p:spPr>
          <a:xfrm>
            <a:off x="548640" y="4297680"/>
            <a:ext cx="1828800" cy="457200"/>
          </a:xfrm>
          <a:prstGeom prst="rect">
            <a:avLst/>
          </a:prstGeom>
          <a:noFill/>
          <a:ln/>
        </p:spPr>
        <p:txBody>
          <a:bodyPr wrap="square" lIns="0" tIns="0" rIns="0" bIns="0" rtlCol="0" anchor="ctr"/>
          <a:lstStyle/>
          <a:p>
            <a:pPr indent="0" marL="0">
              <a:buNone/>
            </a:pPr>
            <a:r>
              <a:rPr lang="en-US" sz="1300" b="1" dirty="0">
                <a:solidFill>
                  <a:srgbClr val="7CE38B"/>
                </a:solidFill>
                <a:latin typeface="Consolas" pitchFamily="34" charset="0"/>
                <a:ea typeface="Consolas" pitchFamily="34" charset="-122"/>
                <a:cs typeface="Consolas" pitchFamily="34" charset="-120"/>
              </a:rPr>
              <a:t>FE</a:t>
            </a:r>
            <a:endParaRPr lang="en-US" sz="1300" dirty="0"/>
          </a:p>
        </p:txBody>
      </p:sp>
      <p:sp>
        <p:nvSpPr>
          <p:cNvPr id="28" name="Text 26"/>
          <p:cNvSpPr/>
          <p:nvPr/>
        </p:nvSpPr>
        <p:spPr>
          <a:xfrm>
            <a:off x="2468880" y="4297680"/>
            <a:ext cx="9235440" cy="457200"/>
          </a:xfrm>
          <a:prstGeom prst="rect">
            <a:avLst/>
          </a:prstGeom>
          <a:noFill/>
          <a:ln/>
        </p:spPr>
        <p:txBody>
          <a:bodyPr wrap="square" lIns="0" tIns="0" rIns="0" bIns="0" rtlCol="0" anchor="ctr"/>
          <a:lstStyle/>
          <a:p>
            <a:pPr indent="0" marL="0">
              <a:buNone/>
            </a:pPr>
            <a:r>
              <a:rPr lang="en-US" sz="1100" dirty="0">
                <a:solidFill>
                  <a:srgbClr val="E6EDF3"/>
                </a:solidFill>
                <a:latin typeface="Consolas" pitchFamily="34" charset="0"/>
                <a:ea typeface="Consolas" pitchFamily="34" charset="-122"/>
                <a:cs typeface="Consolas" pitchFamily="34" charset="-120"/>
              </a:rPr>
              <a:t>frontend/* (source), planning/FE_PLAN.md</a:t>
            </a:r>
            <a:endParaRPr lang="en-US" sz="1100" dirty="0"/>
          </a:p>
        </p:txBody>
      </p:sp>
      <p:sp>
        <p:nvSpPr>
          <p:cNvPr id="29" name="Shape 27"/>
          <p:cNvSpPr/>
          <p:nvPr/>
        </p:nvSpPr>
        <p:spPr>
          <a:xfrm>
            <a:off x="365760" y="4800600"/>
            <a:ext cx="11430000" cy="457200"/>
          </a:xfrm>
          <a:prstGeom prst="rect">
            <a:avLst/>
          </a:prstGeom>
          <a:solidFill>
            <a:srgbClr val="161B22"/>
          </a:solidFill>
          <a:ln w="12700">
            <a:solidFill>
              <a:srgbClr val="30363D"/>
            </a:solidFill>
            <a:prstDash val="solid"/>
          </a:ln>
        </p:spPr>
      </p:sp>
      <p:sp>
        <p:nvSpPr>
          <p:cNvPr id="30" name="Shape 28"/>
          <p:cNvSpPr/>
          <p:nvPr/>
        </p:nvSpPr>
        <p:spPr>
          <a:xfrm>
            <a:off x="365760" y="4800600"/>
            <a:ext cx="73152" cy="457200"/>
          </a:xfrm>
          <a:prstGeom prst="rect">
            <a:avLst/>
          </a:prstGeom>
          <a:solidFill>
            <a:srgbClr val="7CE38B"/>
          </a:solidFill>
          <a:ln w="12700">
            <a:solidFill>
              <a:srgbClr val="7CE38B"/>
            </a:solidFill>
            <a:prstDash val="solid"/>
          </a:ln>
        </p:spPr>
      </p:sp>
      <p:sp>
        <p:nvSpPr>
          <p:cNvPr id="31" name="Text 29"/>
          <p:cNvSpPr/>
          <p:nvPr/>
        </p:nvSpPr>
        <p:spPr>
          <a:xfrm>
            <a:off x="548640" y="4800600"/>
            <a:ext cx="1828800" cy="457200"/>
          </a:xfrm>
          <a:prstGeom prst="rect">
            <a:avLst/>
          </a:prstGeom>
          <a:noFill/>
          <a:ln/>
        </p:spPr>
        <p:txBody>
          <a:bodyPr wrap="square" lIns="0" tIns="0" rIns="0" bIns="0" rtlCol="0" anchor="ctr"/>
          <a:lstStyle/>
          <a:p>
            <a:pPr indent="0" marL="0">
              <a:buNone/>
            </a:pPr>
            <a:r>
              <a:rPr lang="en-US" sz="1300" b="1" dirty="0">
                <a:solidFill>
                  <a:srgbClr val="7CE38B"/>
                </a:solidFill>
                <a:latin typeface="Consolas" pitchFamily="34" charset="0"/>
                <a:ea typeface="Consolas" pitchFamily="34" charset="-122"/>
                <a:cs typeface="Consolas" pitchFamily="34" charset="-120"/>
              </a:rPr>
              <a:t>QA</a:t>
            </a:r>
            <a:endParaRPr lang="en-US" sz="1300" dirty="0"/>
          </a:p>
        </p:txBody>
      </p:sp>
      <p:sp>
        <p:nvSpPr>
          <p:cNvPr id="32" name="Text 30"/>
          <p:cNvSpPr/>
          <p:nvPr/>
        </p:nvSpPr>
        <p:spPr>
          <a:xfrm>
            <a:off x="2468880" y="4800600"/>
            <a:ext cx="9235440" cy="457200"/>
          </a:xfrm>
          <a:prstGeom prst="rect">
            <a:avLst/>
          </a:prstGeom>
          <a:noFill/>
          <a:ln/>
        </p:spPr>
        <p:txBody>
          <a:bodyPr wrap="square" lIns="0" tIns="0" rIns="0" bIns="0" rtlCol="0" anchor="ctr"/>
          <a:lstStyle/>
          <a:p>
            <a:pPr indent="0" marL="0">
              <a:buNone/>
            </a:pPr>
            <a:r>
              <a:rPr lang="en-US" sz="1100" dirty="0">
                <a:solidFill>
                  <a:srgbClr val="E6EDF3"/>
                </a:solidFill>
                <a:latin typeface="Consolas" pitchFamily="34" charset="0"/>
                <a:ea typeface="Consolas" pitchFamily="34" charset="-122"/>
                <a:cs typeface="Consolas" pitchFamily="34" charset="-120"/>
              </a:rPr>
              <a:t>docs/qa/*.md, reports/*.md, plus tests if BE/FE didn't</a:t>
            </a:r>
            <a:endParaRPr lang="en-US" sz="1100" dirty="0"/>
          </a:p>
        </p:txBody>
      </p:sp>
      <p:sp>
        <p:nvSpPr>
          <p:cNvPr id="33" name="Shape 31"/>
          <p:cNvSpPr/>
          <p:nvPr/>
        </p:nvSpPr>
        <p:spPr>
          <a:xfrm>
            <a:off x="365760" y="5303520"/>
            <a:ext cx="11430000" cy="457200"/>
          </a:xfrm>
          <a:prstGeom prst="rect">
            <a:avLst/>
          </a:prstGeom>
          <a:solidFill>
            <a:srgbClr val="1C2128"/>
          </a:solidFill>
          <a:ln w="12700">
            <a:solidFill>
              <a:srgbClr val="30363D"/>
            </a:solidFill>
            <a:prstDash val="solid"/>
          </a:ln>
        </p:spPr>
      </p:sp>
      <p:sp>
        <p:nvSpPr>
          <p:cNvPr id="34" name="Shape 32"/>
          <p:cNvSpPr/>
          <p:nvPr/>
        </p:nvSpPr>
        <p:spPr>
          <a:xfrm>
            <a:off x="365760" y="5303520"/>
            <a:ext cx="73152" cy="457200"/>
          </a:xfrm>
          <a:prstGeom prst="rect">
            <a:avLst/>
          </a:prstGeom>
          <a:solidFill>
            <a:srgbClr val="7CE38B"/>
          </a:solidFill>
          <a:ln w="12700">
            <a:solidFill>
              <a:srgbClr val="7CE38B"/>
            </a:solidFill>
            <a:prstDash val="solid"/>
          </a:ln>
        </p:spPr>
      </p:sp>
      <p:sp>
        <p:nvSpPr>
          <p:cNvPr id="35" name="Text 33"/>
          <p:cNvSpPr/>
          <p:nvPr/>
        </p:nvSpPr>
        <p:spPr>
          <a:xfrm>
            <a:off x="548640" y="5303520"/>
            <a:ext cx="1828800" cy="457200"/>
          </a:xfrm>
          <a:prstGeom prst="rect">
            <a:avLst/>
          </a:prstGeom>
          <a:noFill/>
          <a:ln/>
        </p:spPr>
        <p:txBody>
          <a:bodyPr wrap="square" lIns="0" tIns="0" rIns="0" bIns="0" rtlCol="0" anchor="ctr"/>
          <a:lstStyle/>
          <a:p>
            <a:pPr indent="0" marL="0">
              <a:buNone/>
            </a:pPr>
            <a:r>
              <a:rPr lang="en-US" sz="1300" b="1" dirty="0">
                <a:solidFill>
                  <a:srgbClr val="7CE38B"/>
                </a:solidFill>
                <a:latin typeface="Consolas" pitchFamily="34" charset="0"/>
                <a:ea typeface="Consolas" pitchFamily="34" charset="-122"/>
                <a:cs typeface="Consolas" pitchFamily="34" charset="-120"/>
              </a:rPr>
              <a:t>DELIVERY</a:t>
            </a:r>
            <a:endParaRPr lang="en-US" sz="1300" dirty="0"/>
          </a:p>
        </p:txBody>
      </p:sp>
      <p:sp>
        <p:nvSpPr>
          <p:cNvPr id="36" name="Text 34"/>
          <p:cNvSpPr/>
          <p:nvPr/>
        </p:nvSpPr>
        <p:spPr>
          <a:xfrm>
            <a:off x="2468880" y="5303520"/>
            <a:ext cx="9235440" cy="457200"/>
          </a:xfrm>
          <a:prstGeom prst="rect">
            <a:avLst/>
          </a:prstGeom>
          <a:noFill/>
          <a:ln/>
        </p:spPr>
        <p:txBody>
          <a:bodyPr wrap="square" lIns="0" tIns="0" rIns="0" bIns="0" rtlCol="0" anchor="ctr"/>
          <a:lstStyle/>
          <a:p>
            <a:pPr indent="0" marL="0">
              <a:buNone/>
            </a:pPr>
            <a:r>
              <a:rPr lang="en-US" sz="1100" dirty="0">
                <a:solidFill>
                  <a:srgbClr val="E6EDF3"/>
                </a:solidFill>
                <a:latin typeface="Consolas" pitchFamily="34" charset="0"/>
                <a:ea typeface="Consolas" pitchFamily="34" charset="-122"/>
                <a:cs typeface="Consolas" pitchFamily="34" charset="-120"/>
              </a:rPr>
              <a:t>Dockerfiles, docker-compose.yml, .env.example, docs/delivery/*</a:t>
            </a:r>
            <a:endParaRPr lang="en-US" sz="1100" dirty="0"/>
          </a:p>
        </p:txBody>
      </p:sp>
      <p:sp>
        <p:nvSpPr>
          <p:cNvPr id="37" name="Shape 35"/>
          <p:cNvSpPr/>
          <p:nvPr/>
        </p:nvSpPr>
        <p:spPr>
          <a:xfrm>
            <a:off x="365760" y="5806440"/>
            <a:ext cx="11430000" cy="457200"/>
          </a:xfrm>
          <a:prstGeom prst="rect">
            <a:avLst/>
          </a:prstGeom>
          <a:solidFill>
            <a:srgbClr val="161B22"/>
          </a:solidFill>
          <a:ln w="12700">
            <a:solidFill>
              <a:srgbClr val="30363D"/>
            </a:solidFill>
            <a:prstDash val="solid"/>
          </a:ln>
        </p:spPr>
      </p:sp>
      <p:sp>
        <p:nvSpPr>
          <p:cNvPr id="38" name="Shape 36"/>
          <p:cNvSpPr/>
          <p:nvPr/>
        </p:nvSpPr>
        <p:spPr>
          <a:xfrm>
            <a:off x="365760" y="5806440"/>
            <a:ext cx="73152" cy="457200"/>
          </a:xfrm>
          <a:prstGeom prst="rect">
            <a:avLst/>
          </a:prstGeom>
          <a:solidFill>
            <a:srgbClr val="7CE38B"/>
          </a:solidFill>
          <a:ln w="12700">
            <a:solidFill>
              <a:srgbClr val="7CE38B"/>
            </a:solidFill>
            <a:prstDash val="solid"/>
          </a:ln>
        </p:spPr>
      </p:sp>
      <p:sp>
        <p:nvSpPr>
          <p:cNvPr id="39" name="Text 37"/>
          <p:cNvSpPr/>
          <p:nvPr/>
        </p:nvSpPr>
        <p:spPr>
          <a:xfrm>
            <a:off x="548640" y="5806440"/>
            <a:ext cx="1828800" cy="457200"/>
          </a:xfrm>
          <a:prstGeom prst="rect">
            <a:avLst/>
          </a:prstGeom>
          <a:noFill/>
          <a:ln/>
        </p:spPr>
        <p:txBody>
          <a:bodyPr wrap="square" lIns="0" tIns="0" rIns="0" bIns="0" rtlCol="0" anchor="ctr"/>
          <a:lstStyle/>
          <a:p>
            <a:pPr indent="0" marL="0">
              <a:buNone/>
            </a:pPr>
            <a:r>
              <a:rPr lang="en-US" sz="1300" b="1" dirty="0">
                <a:solidFill>
                  <a:srgbClr val="7CE38B"/>
                </a:solidFill>
                <a:latin typeface="Consolas" pitchFamily="34" charset="0"/>
                <a:ea typeface="Consolas" pitchFamily="34" charset="-122"/>
                <a:cs typeface="Consolas" pitchFamily="34" charset="-120"/>
              </a:rPr>
              <a:t>ORCHESTRATOR</a:t>
            </a:r>
            <a:endParaRPr lang="en-US" sz="1300" dirty="0"/>
          </a:p>
        </p:txBody>
      </p:sp>
      <p:sp>
        <p:nvSpPr>
          <p:cNvPr id="40" name="Text 38"/>
          <p:cNvSpPr/>
          <p:nvPr/>
        </p:nvSpPr>
        <p:spPr>
          <a:xfrm>
            <a:off x="2468880" y="5806440"/>
            <a:ext cx="9235440" cy="457200"/>
          </a:xfrm>
          <a:prstGeom prst="rect">
            <a:avLst/>
          </a:prstGeom>
          <a:noFill/>
          <a:ln/>
        </p:spPr>
        <p:txBody>
          <a:bodyPr wrap="square" lIns="0" tIns="0" rIns="0" bIns="0" rtlCol="0" anchor="ctr"/>
          <a:lstStyle/>
          <a:p>
            <a:pPr indent="0" marL="0">
              <a:buNone/>
            </a:pPr>
            <a:r>
              <a:rPr lang="en-US" sz="1100" dirty="0">
                <a:solidFill>
                  <a:srgbClr val="E6EDF3"/>
                </a:solidFill>
                <a:latin typeface="Consolas" pitchFamily="34" charset="0"/>
                <a:ea typeface="Consolas" pitchFamily="34" charset="-122"/>
                <a:cs typeface="Consolas" pitchFamily="34" charset="-120"/>
              </a:rPr>
              <a:t>TASK.md, memory/_PROJECT_STATE.md (coordinator only)</a:t>
            </a:r>
            <a:endParaRPr lang="en-US" sz="1100" dirty="0"/>
          </a:p>
        </p:txBody>
      </p:sp>
      <p:sp>
        <p:nvSpPr>
          <p:cNvPr id="41" name="Text 39"/>
          <p:cNvSpPr/>
          <p:nvPr/>
        </p:nvSpPr>
        <p:spPr>
          <a:xfrm>
            <a:off x="365760" y="6126480"/>
            <a:ext cx="11430000" cy="320040"/>
          </a:xfrm>
          <a:prstGeom prst="rect">
            <a:avLst/>
          </a:prstGeom>
          <a:noFill/>
          <a:ln/>
        </p:spPr>
        <p:txBody>
          <a:bodyPr wrap="square" lIns="0" tIns="0" rIns="0" bIns="0" rtlCol="0" anchor="ctr"/>
          <a:lstStyle/>
          <a:p>
            <a:pPr algn="ctr" indent="0" marL="0">
              <a:buNone/>
            </a:pPr>
            <a:r>
              <a:rPr lang="en-US" sz="1100" i="1" dirty="0">
                <a:solidFill>
                  <a:srgbClr val="D29922"/>
                </a:solidFill>
                <a:latin typeface="Calibri" pitchFamily="34" charset="0"/>
                <a:ea typeface="Calibri" pitchFamily="34" charset="-122"/>
                <a:cs typeface="Calibri" pitchFamily="34" charset="-120"/>
              </a:rPr>
              <a:t>Đọc tự do, ghi giới hạn. DELIVERY hit FE build bug → route FE (hoặc SA triage), KHÔNG tự sửa frontend/.</a:t>
            </a:r>
            <a:endParaRPr lang="en-US" sz="1100" dirty="0"/>
          </a:p>
        </p:txBody>
      </p:sp>
      <p:sp>
        <p:nvSpPr>
          <p:cNvPr id="42" name="Text 40"/>
          <p:cNvSpPr/>
          <p:nvPr/>
        </p:nvSpPr>
        <p:spPr>
          <a:xfrm>
            <a:off x="11338560" y="6492240"/>
            <a:ext cx="731520" cy="228600"/>
          </a:xfrm>
          <a:prstGeom prst="rect">
            <a:avLst/>
          </a:prstGeom>
          <a:noFill/>
          <a:ln/>
        </p:spPr>
        <p:txBody>
          <a:bodyPr wrap="square" lIns="0" tIns="0" rIns="0" bIns="0" rtlCol="0" anchor="ctr"/>
          <a:lstStyle/>
          <a:p>
            <a:pPr algn="r" indent="0" marL="0">
              <a:buNone/>
            </a:pPr>
            <a:r>
              <a:rPr lang="en-US" sz="900" dirty="0">
                <a:solidFill>
                  <a:srgbClr val="8B949E"/>
                </a:solidFill>
                <a:latin typeface="Consolas" pitchFamily="34" charset="0"/>
                <a:ea typeface="Consolas" pitchFamily="34" charset="-122"/>
                <a:cs typeface="Consolas" pitchFamily="34" charset="-120"/>
              </a:rPr>
              <a:t>25 / 32</a:t>
            </a:r>
            <a:endParaRPr lang="en-US" sz="900" dirty="0"/>
          </a:p>
        </p:txBody>
      </p:sp>
      <p:sp>
        <p:nvSpPr>
          <p:cNvPr id="43" name="Text 41"/>
          <p:cNvSpPr/>
          <p:nvPr/>
        </p:nvSpPr>
        <p:spPr>
          <a:xfrm>
            <a:off x="365760" y="6492240"/>
            <a:ext cx="1097280" cy="228600"/>
          </a:xfrm>
          <a:prstGeom prst="rect">
            <a:avLst/>
          </a:prstGeom>
          <a:noFill/>
          <a:ln/>
        </p:spPr>
        <p:txBody>
          <a:bodyPr wrap="square" lIns="0" tIns="0" rIns="0" bIns="0" rtlCol="0" anchor="ctr"/>
          <a:lstStyle/>
          <a:p>
            <a:pPr algn="l" indent="0" marL="0">
              <a:buNone/>
            </a:pPr>
            <a:r>
              <a:rPr lang="en-US" sz="900" dirty="0">
                <a:solidFill>
                  <a:srgbClr val="8B949E"/>
                </a:solidFill>
                <a:latin typeface="Consolas" pitchFamily="34" charset="0"/>
                <a:ea typeface="Consolas" pitchFamily="34" charset="-122"/>
                <a:cs typeface="Consolas" pitchFamily="34" charset="-120"/>
              </a:rPr>
              <a:t>v10.12</a:t>
            </a:r>
            <a:endParaRPr lang="en-US" sz="900" dirty="0"/>
          </a:p>
        </p:txBody>
      </p:sp>
      <p:sp>
        <p:nvSpPr>
          <p:cNvPr id="44" name="Text 42"/>
          <p:cNvSpPr/>
          <p:nvPr/>
        </p:nvSpPr>
        <p:spPr>
          <a:xfrm>
            <a:off x="4572000" y="6492240"/>
            <a:ext cx="6400800" cy="228600"/>
          </a:xfrm>
          <a:prstGeom prst="rect">
            <a:avLst/>
          </a:prstGeom>
          <a:noFill/>
          <a:ln/>
        </p:spPr>
        <p:txBody>
          <a:bodyPr wrap="square" lIns="0" tIns="0" rIns="0" bIns="0" rtlCol="0" anchor="ctr"/>
          <a:lstStyle/>
          <a:p>
            <a:pPr algn="ctr" indent="0" marL="0">
              <a:buNone/>
            </a:pPr>
            <a:r>
              <a:rPr lang="en-US" sz="900" dirty="0">
                <a:solidFill>
                  <a:srgbClr val="8B949E"/>
                </a:solidFill>
                <a:latin typeface="Consolas" pitchFamily="34" charset="0"/>
                <a:ea typeface="Consolas" pitchFamily="34" charset="-122"/>
                <a:cs typeface="Consolas" pitchFamily="34" charset="-120"/>
              </a:rPr>
              <a:t>Product Engineering Agent Framework</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365760" y="228600"/>
            <a:ext cx="8229600" cy="274320"/>
          </a:xfrm>
          <a:prstGeom prst="rect">
            <a:avLst/>
          </a:prstGeom>
          <a:noFill/>
          <a:ln/>
        </p:spPr>
        <p:txBody>
          <a:bodyPr wrap="square" lIns="0" tIns="0" rIns="0" bIns="0" rtlCol="0" anchor="ctr"/>
          <a:lstStyle/>
          <a:p>
            <a:pPr indent="0" marL="0">
              <a:buNone/>
            </a:pPr>
            <a:r>
              <a:rPr lang="en-US" sz="1100" dirty="0">
                <a:solidFill>
                  <a:srgbClr val="2EA043"/>
                </a:solidFill>
                <a:latin typeface="Consolas" pitchFamily="34" charset="0"/>
                <a:ea typeface="Consolas" pitchFamily="34" charset="-122"/>
                <a:cs typeface="Consolas" pitchFamily="34" charset="-120"/>
              </a:rPr>
              <a:t>$ </a:t>
            </a:r>
            <a:pPr indent="0" marL="0">
              <a:buNone/>
            </a:pPr>
            <a:r>
              <a:rPr lang="en-US" sz="1100" dirty="0">
                <a:solidFill>
                  <a:srgbClr val="8B949E"/>
                </a:solidFill>
                <a:latin typeface="Consolas" pitchFamily="34" charset="0"/>
                <a:ea typeface="Consolas" pitchFamily="34" charset="-122"/>
                <a:cs typeface="Consolas" pitchFamily="34" charset="-120"/>
              </a:rPr>
              <a:t>22_prerequisite_check.md</a:t>
            </a:r>
            <a:endParaRPr lang="en-US" sz="1100" dirty="0"/>
          </a:p>
        </p:txBody>
      </p:sp>
      <p:sp>
        <p:nvSpPr>
          <p:cNvPr id="3" name="Text 1"/>
          <p:cNvSpPr/>
          <p:nvPr/>
        </p:nvSpPr>
        <p:spPr>
          <a:xfrm>
            <a:off x="365760" y="548640"/>
            <a:ext cx="11430000" cy="640080"/>
          </a:xfrm>
          <a:prstGeom prst="rect">
            <a:avLst/>
          </a:prstGeom>
          <a:noFill/>
          <a:ln/>
        </p:spPr>
        <p:txBody>
          <a:bodyPr wrap="square" lIns="0" tIns="0" rIns="0" bIns="0" rtlCol="0" anchor="ctr"/>
          <a:lstStyle/>
          <a:p>
            <a:pPr indent="0" marL="0">
              <a:buNone/>
            </a:pPr>
            <a:r>
              <a:rPr lang="en-US" sz="3000" b="1" dirty="0">
                <a:solidFill>
                  <a:srgbClr val="E6EDF3"/>
                </a:solidFill>
                <a:latin typeface="Consolas" pitchFamily="34" charset="0"/>
                <a:ea typeface="Consolas" pitchFamily="34" charset="-122"/>
                <a:cs typeface="Consolas" pitchFamily="34" charset="-120"/>
              </a:rPr>
              <a:t>Prerequisite check (v10.8)</a:t>
            </a:r>
            <a:endParaRPr lang="en-US" sz="3000" dirty="0"/>
          </a:p>
        </p:txBody>
      </p:sp>
      <p:sp>
        <p:nvSpPr>
          <p:cNvPr id="4" name="Text 2"/>
          <p:cNvSpPr/>
          <p:nvPr/>
        </p:nvSpPr>
        <p:spPr>
          <a:xfrm>
            <a:off x="365760" y="1143000"/>
            <a:ext cx="11430000" cy="365760"/>
          </a:xfrm>
          <a:prstGeom prst="rect">
            <a:avLst/>
          </a:prstGeom>
          <a:noFill/>
          <a:ln/>
        </p:spPr>
        <p:txBody>
          <a:bodyPr wrap="square" lIns="0" tIns="0" rIns="0" bIns="0" rtlCol="0" anchor="ctr"/>
          <a:lstStyle/>
          <a:p>
            <a:pPr indent="0" marL="0">
              <a:buNone/>
            </a:pPr>
            <a:r>
              <a:rPr lang="en-US" sz="1400" i="1" dirty="0">
                <a:solidFill>
                  <a:srgbClr val="8B949E"/>
                </a:solidFill>
                <a:latin typeface="Calibri" pitchFamily="34" charset="0"/>
                <a:ea typeface="Calibri" pitchFamily="34" charset="-122"/>
                <a:cs typeface="Calibri" pitchFamily="34" charset="-120"/>
              </a:rPr>
              <a:t>Worker không bao giờ guess thiếu input — block và route upstream</a:t>
            </a:r>
            <a:endParaRPr lang="en-US" sz="1400" dirty="0"/>
          </a:p>
        </p:txBody>
      </p:sp>
      <p:sp>
        <p:nvSpPr>
          <p:cNvPr id="5" name="Shape 3"/>
          <p:cNvSpPr/>
          <p:nvPr/>
        </p:nvSpPr>
        <p:spPr>
          <a:xfrm>
            <a:off x="365760" y="1783080"/>
            <a:ext cx="5852160" cy="4480560"/>
          </a:xfrm>
          <a:prstGeom prst="rect">
            <a:avLst/>
          </a:prstGeom>
          <a:solidFill>
            <a:srgbClr val="161B22"/>
          </a:solidFill>
          <a:ln w="12700">
            <a:solidFill>
              <a:srgbClr val="30363D"/>
            </a:solidFill>
            <a:prstDash val="solid"/>
          </a:ln>
        </p:spPr>
      </p:sp>
      <p:sp>
        <p:nvSpPr>
          <p:cNvPr id="6" name="Shape 4"/>
          <p:cNvSpPr/>
          <p:nvPr/>
        </p:nvSpPr>
        <p:spPr>
          <a:xfrm>
            <a:off x="457200" y="1874520"/>
            <a:ext cx="91440" cy="91440"/>
          </a:xfrm>
          <a:prstGeom prst="ellipse">
            <a:avLst/>
          </a:prstGeom>
          <a:solidFill>
            <a:srgbClr val="F85149"/>
          </a:solidFill>
          <a:ln w="12700">
            <a:solidFill>
              <a:srgbClr val="F85149"/>
            </a:solidFill>
            <a:prstDash val="solid"/>
          </a:ln>
        </p:spPr>
      </p:sp>
      <p:sp>
        <p:nvSpPr>
          <p:cNvPr id="7" name="Shape 5"/>
          <p:cNvSpPr/>
          <p:nvPr/>
        </p:nvSpPr>
        <p:spPr>
          <a:xfrm>
            <a:off x="585216" y="1874520"/>
            <a:ext cx="91440" cy="91440"/>
          </a:xfrm>
          <a:prstGeom prst="ellipse">
            <a:avLst/>
          </a:prstGeom>
          <a:solidFill>
            <a:srgbClr val="D29922"/>
          </a:solidFill>
          <a:ln w="12700">
            <a:solidFill>
              <a:srgbClr val="D29922"/>
            </a:solidFill>
            <a:prstDash val="solid"/>
          </a:ln>
        </p:spPr>
      </p:sp>
      <p:sp>
        <p:nvSpPr>
          <p:cNvPr id="8" name="Shape 6"/>
          <p:cNvSpPr/>
          <p:nvPr/>
        </p:nvSpPr>
        <p:spPr>
          <a:xfrm>
            <a:off x="713232" y="1874520"/>
            <a:ext cx="91440" cy="91440"/>
          </a:xfrm>
          <a:prstGeom prst="ellipse">
            <a:avLst/>
          </a:prstGeom>
          <a:solidFill>
            <a:srgbClr val="3FB950"/>
          </a:solidFill>
          <a:ln w="12700">
            <a:solidFill>
              <a:srgbClr val="3FB950"/>
            </a:solidFill>
            <a:prstDash val="solid"/>
          </a:ln>
        </p:spPr>
      </p:sp>
      <p:sp>
        <p:nvSpPr>
          <p:cNvPr id="9" name="Text 7"/>
          <p:cNvSpPr/>
          <p:nvPr/>
        </p:nvSpPr>
        <p:spPr>
          <a:xfrm>
            <a:off x="502920" y="2103120"/>
            <a:ext cx="5577840" cy="4114800"/>
          </a:xfrm>
          <a:prstGeom prst="rect">
            <a:avLst/>
          </a:prstGeom>
          <a:noFill/>
          <a:ln/>
        </p:spPr>
        <p:txBody>
          <a:bodyPr wrap="square" lIns="0" tIns="0" rIns="0" bIns="0" rtlCol="0" anchor="t"/>
          <a:lstStyle/>
          <a:p>
            <a:pPr indent="0" marL="0">
              <a:buNone/>
            </a:pPr>
            <a:r>
              <a:rPr lang="en-US" sz="1200" dirty="0">
                <a:solidFill>
                  <a:srgbClr val="8B949E"/>
                </a:solidFill>
                <a:latin typeface="Consolas" pitchFamily="34" charset="0"/>
                <a:ea typeface="Consolas" pitchFamily="34" charset="-122"/>
                <a:cs typeface="Consolas" pitchFamily="34" charset="-120"/>
              </a:rPr>
              <a:t># Worker chạy đầu mọi task:</a:t>
            </a:r>
            <a:endParaRPr lang="en-US" sz="1200" dirty="0"/>
          </a:p>
          <a:p>
            <a:pPr indent="0" marL="0">
              <a:buNone/>
            </a:pPr>
            <a:r>
              <a:rPr lang="en-US" sz="1200" dirty="0">
                <a:solidFill>
                  <a:srgbClr val="7CE38B"/>
                </a:solidFill>
                <a:latin typeface="Consolas" pitchFamily="34" charset="0"/>
                <a:ea typeface="Consolas" pitchFamily="34" charset="-122"/>
                <a:cs typeface="Consolas" pitchFamily="34" charset="-120"/>
              </a:rPr>
              <a:t>$ bash scripts/check_prerequisites.sh BE</a:t>
            </a:r>
            <a:endParaRPr lang="en-US" sz="1200" dirty="0"/>
          </a:p>
          <a:p>
            <a:pPr indent="0" marL="0">
              <a:buNone/>
            </a:pPr>
            <a:endParaRPr lang="en-US" sz="1200" dirty="0"/>
          </a:p>
          <a:p>
            <a:pPr indent="0" marL="0">
              <a:buNone/>
            </a:pPr>
            <a:r>
              <a:rPr lang="en-US" sz="1200" dirty="0">
                <a:solidFill>
                  <a:srgbClr val="E6EDF3"/>
                </a:solidFill>
                <a:latin typeface="Consolas" pitchFamily="34" charset="0"/>
                <a:ea typeface="Consolas" pitchFamily="34" charset="-122"/>
                <a:cs typeface="Consolas" pitchFamily="34" charset="-120"/>
              </a:rPr>
              <a:t>Prerequisite check for BE</a:t>
            </a:r>
            <a:endParaRPr lang="en-US" sz="1200" dirty="0"/>
          </a:p>
          <a:p>
            <a:pPr indent="0" marL="0">
              <a:buNone/>
            </a:pPr>
            <a:r>
              <a:rPr lang="en-US" sz="1200" dirty="0">
                <a:solidFill>
                  <a:srgbClr val="E6EDF3"/>
                </a:solidFill>
                <a:latin typeface="Consolas" pitchFamily="34" charset="0"/>
                <a:ea typeface="Consolas" pitchFamily="34" charset="-122"/>
                <a:cs typeface="Consolas" pitchFamily="34" charset="-120"/>
              </a:rPr>
              <a:t>  docs/architecture/API_CONTRACT.md   MISSING</a:t>
            </a:r>
            <a:endParaRPr lang="en-US" sz="1200" dirty="0"/>
          </a:p>
          <a:p>
            <a:pPr indent="0" marL="0">
              <a:buNone/>
            </a:pPr>
            <a:r>
              <a:rPr lang="en-US" sz="1200" dirty="0">
                <a:solidFill>
                  <a:srgbClr val="E6EDF3"/>
                </a:solidFill>
                <a:latin typeface="Consolas" pitchFamily="34" charset="0"/>
                <a:ea typeface="Consolas" pitchFamily="34" charset="-122"/>
                <a:cs typeface="Consolas" pitchFamily="34" charset="-120"/>
              </a:rPr>
              <a:t>  docs/architecture/TECH_STACK.md     OK</a:t>
            </a:r>
            <a:endParaRPr lang="en-US" sz="1200" dirty="0"/>
          </a:p>
          <a:p>
            <a:pPr indent="0" marL="0">
              <a:buNone/>
            </a:pPr>
            <a:r>
              <a:rPr lang="en-US" sz="1200" dirty="0">
                <a:solidFill>
                  <a:srgbClr val="E6EDF3"/>
                </a:solidFill>
                <a:latin typeface="Consolas" pitchFamily="34" charset="0"/>
                <a:ea typeface="Consolas" pitchFamily="34" charset="-122"/>
                <a:cs typeface="Consolas" pitchFamily="34" charset="-120"/>
              </a:rPr>
              <a:t>  planning/BE_PLAN.md                 SKELETON</a:t>
            </a:r>
            <a:endParaRPr lang="en-US" sz="1200" dirty="0"/>
          </a:p>
          <a:p>
            <a:pPr indent="0" marL="0">
              <a:buNone/>
            </a:pPr>
            <a:endParaRPr lang="en-US" sz="1200" dirty="0"/>
          </a:p>
          <a:p>
            <a:pPr indent="0" marL="0">
              <a:buNone/>
            </a:pPr>
            <a:r>
              <a:rPr lang="en-US" sz="1200" dirty="0">
                <a:solidFill>
                  <a:srgbClr val="E6EDF3"/>
                </a:solidFill>
                <a:latin typeface="Consolas" pitchFamily="34" charset="0"/>
                <a:ea typeface="Consolas" pitchFamily="34" charset="-122"/>
                <a:cs typeface="Consolas" pitchFamily="34" charset="-120"/>
              </a:rPr>
              <a:t>BLOCKED — BE cannot proceed. 2 missing.</a:t>
            </a:r>
            <a:endParaRPr lang="en-US" sz="1200" dirty="0"/>
          </a:p>
          <a:p>
            <a:pPr indent="0" marL="0">
              <a:buNone/>
            </a:pPr>
            <a:endParaRPr lang="en-US" sz="1200" dirty="0"/>
          </a:p>
          <a:p>
            <a:pPr indent="0" marL="0">
              <a:buNone/>
            </a:pPr>
            <a:r>
              <a:rPr lang="en-US" sz="1200" dirty="0">
                <a:solidFill>
                  <a:srgbClr val="E6EDF3"/>
                </a:solidFill>
                <a:latin typeface="Consolas" pitchFamily="34" charset="0"/>
                <a:ea typeface="Consolas" pitchFamily="34" charset="-122"/>
                <a:cs typeface="Consolas" pitchFamily="34" charset="-120"/>
              </a:rPr>
              <a:t>Required action:</a:t>
            </a:r>
            <a:endParaRPr lang="en-US" sz="1200" dirty="0"/>
          </a:p>
          <a:p>
            <a:pPr indent="0" marL="0">
              <a:buNone/>
            </a:pPr>
            <a:r>
              <a:rPr lang="en-US" sz="1200" dirty="0">
                <a:solidFill>
                  <a:srgbClr val="E6EDF3"/>
                </a:solidFill>
                <a:latin typeface="Consolas" pitchFamily="34" charset="0"/>
                <a:ea typeface="Consolas" pitchFamily="34" charset="-122"/>
                <a:cs typeface="Consolas" pitchFamily="34" charset="-120"/>
              </a:rPr>
              <a:t>  notify_orchestrator.sh BE \</a:t>
            </a:r>
            <a:endParaRPr lang="en-US" sz="1200" dirty="0"/>
          </a:p>
          <a:p>
            <a:pPr indent="0" marL="0">
              <a:buNone/>
            </a:pPr>
            <a:r>
              <a:rPr lang="en-US" sz="1200" dirty="0">
                <a:solidFill>
                  <a:srgbClr val="E6EDF3"/>
                </a:solidFill>
                <a:latin typeface="Consolas" pitchFamily="34" charset="0"/>
                <a:ea typeface="Consolas" pitchFamily="34" charset="-122"/>
                <a:cs typeface="Consolas" pitchFamily="34" charset="-120"/>
              </a:rPr>
              <a:t>  "Cannot proceed — missing API_CONTRACT.md,</a:t>
            </a:r>
            <a:endParaRPr lang="en-US" sz="1200" dirty="0"/>
          </a:p>
          <a:p>
            <a:pPr indent="0" marL="0">
              <a:buNone/>
            </a:pPr>
            <a:r>
              <a:rPr lang="en-US" sz="1200" dirty="0">
                <a:solidFill>
                  <a:srgbClr val="E6EDF3"/>
                </a:solidFill>
                <a:latin typeface="Consolas" pitchFamily="34" charset="0"/>
                <a:ea typeface="Consolas" pitchFamily="34" charset="-122"/>
                <a:cs typeface="Consolas" pitchFamily="34" charset="-120"/>
              </a:rPr>
              <a:t>   BE_PLAN.md. Need SA, BE to produce."</a:t>
            </a:r>
            <a:endParaRPr lang="en-US" sz="1200" dirty="0"/>
          </a:p>
        </p:txBody>
      </p:sp>
      <p:sp>
        <p:nvSpPr>
          <p:cNvPr id="10" name="Shape 8"/>
          <p:cNvSpPr/>
          <p:nvPr/>
        </p:nvSpPr>
        <p:spPr>
          <a:xfrm>
            <a:off x="6492240" y="1874520"/>
            <a:ext cx="54864" cy="292608"/>
          </a:xfrm>
          <a:prstGeom prst="rect">
            <a:avLst/>
          </a:prstGeom>
          <a:solidFill>
            <a:srgbClr val="7CE38B"/>
          </a:solidFill>
          <a:ln w="12700">
            <a:solidFill>
              <a:srgbClr val="7CE38B"/>
            </a:solidFill>
            <a:prstDash val="solid"/>
          </a:ln>
        </p:spPr>
      </p:sp>
      <p:sp>
        <p:nvSpPr>
          <p:cNvPr id="11" name="Text 9"/>
          <p:cNvSpPr/>
          <p:nvPr/>
        </p:nvSpPr>
        <p:spPr>
          <a:xfrm>
            <a:off x="6629400" y="1874520"/>
            <a:ext cx="5166360" cy="292608"/>
          </a:xfrm>
          <a:prstGeom prst="rect">
            <a:avLst/>
          </a:prstGeom>
          <a:noFill/>
          <a:ln/>
        </p:spPr>
        <p:txBody>
          <a:bodyPr wrap="square" lIns="0" tIns="0" rIns="0" bIns="0" rtlCol="0" anchor="ctr"/>
          <a:lstStyle/>
          <a:p>
            <a:pPr indent="0" marL="0">
              <a:buNone/>
            </a:pPr>
            <a:r>
              <a:rPr lang="en-US" sz="1400" b="1" dirty="0">
                <a:solidFill>
                  <a:srgbClr val="E6EDF3"/>
                </a:solidFill>
                <a:latin typeface="Consolas" pitchFamily="34" charset="0"/>
                <a:ea typeface="Consolas" pitchFamily="34" charset="-122"/>
                <a:cs typeface="Consolas" pitchFamily="34" charset="-120"/>
              </a:rPr>
              <a:t>Orchestrator coordinates</a:t>
            </a:r>
            <a:endParaRPr lang="en-US" sz="1400" dirty="0"/>
          </a:p>
        </p:txBody>
      </p:sp>
      <p:sp>
        <p:nvSpPr>
          <p:cNvPr id="12" name="Text 10"/>
          <p:cNvSpPr/>
          <p:nvPr/>
        </p:nvSpPr>
        <p:spPr>
          <a:xfrm>
            <a:off x="6492240" y="2286000"/>
            <a:ext cx="5303520" cy="3931920"/>
          </a:xfrm>
          <a:prstGeom prst="rect">
            <a:avLst/>
          </a:prstGeom>
          <a:noFill/>
          <a:ln/>
        </p:spPr>
        <p:txBody>
          <a:bodyPr wrap="square" lIns="0" tIns="0" rIns="0" bIns="0" rtlCol="0" anchor="ctr"/>
          <a:lstStyle/>
          <a:p>
            <a:pPr indent="0" marL="0">
              <a:spcAft>
                <a:spcPts val="400"/>
              </a:spcAft>
              <a:buNone/>
            </a:pPr>
            <a:r>
              <a:rPr lang="en-US" sz="1100" dirty="0">
                <a:solidFill>
                  <a:srgbClr val="E6EDF3"/>
                </a:solidFill>
                <a:latin typeface="Calibri" pitchFamily="34" charset="0"/>
                <a:ea typeface="Calibri" pitchFamily="34" charset="-122"/>
                <a:cs typeface="Calibri" pitchFamily="34" charset="-120"/>
              </a:rPr>
              <a:t>1. Nhận notification BE blocked.</a:t>
            </a:r>
            <a:endParaRPr lang="en-US" sz="1100" dirty="0"/>
          </a:p>
          <a:p>
            <a:pPr indent="0" marL="0">
              <a:spcAft>
                <a:spcPts val="400"/>
              </a:spcAft>
              <a:buNone/>
            </a:pPr>
            <a:r>
              <a:rPr lang="en-US" sz="1100" dirty="0">
                <a:solidFill>
                  <a:srgbClr val="E6EDF3"/>
                </a:solidFill>
                <a:latin typeface="Calibri" pitchFamily="34" charset="0"/>
                <a:ea typeface="Calibri" pitchFamily="34" charset="-122"/>
                <a:cs typeface="Calibri" pitchFamily="34" charset="-120"/>
              </a:rPr>
              <a:t>2. Parse missing list + owners.</a:t>
            </a:r>
            <a:endParaRPr lang="en-US" sz="1100" dirty="0"/>
          </a:p>
          <a:p>
            <a:pPr indent="0" marL="0">
              <a:spcAft>
                <a:spcPts val="400"/>
              </a:spcAft>
              <a:buNone/>
            </a:pPr>
            <a:r>
              <a:rPr lang="en-US" sz="1100" dirty="0">
                <a:solidFill>
                  <a:srgbClr val="E6EDF3"/>
                </a:solidFill>
                <a:latin typeface="Calibri" pitchFamily="34" charset="0"/>
                <a:ea typeface="Calibri" pitchFamily="34" charset="-122"/>
                <a:cs typeface="Calibri" pitchFamily="34" charset="-120"/>
              </a:rPr>
              <a:t>3. Route mỗi upstream owner:</a:t>
            </a:r>
            <a:endParaRPr lang="en-US" sz="1100" dirty="0"/>
          </a:p>
          <a:p>
            <a:pPr indent="0" marL="0">
              <a:spcAft>
                <a:spcPts val="400"/>
              </a:spcAft>
              <a:buNone/>
            </a:pPr>
            <a:r>
              <a:rPr lang="en-US" sz="1100" dirty="0">
                <a:solidFill>
                  <a:srgbClr val="79C0FF"/>
                </a:solidFill>
                <a:latin typeface="Consolas" pitchFamily="34" charset="0"/>
                <a:ea typeface="Consolas" pitchFamily="34" charset="-122"/>
                <a:cs typeface="Consolas" pitchFamily="34" charset="-120"/>
              </a:rPr>
              <a:t>     → SA: produce API_CONTRACT.md</a:t>
            </a:r>
            <a:endParaRPr lang="en-US" sz="1100" dirty="0"/>
          </a:p>
          <a:p>
            <a:pPr indent="0" marL="0">
              <a:spcAft>
                <a:spcPts val="400"/>
              </a:spcAft>
              <a:buNone/>
            </a:pPr>
            <a:r>
              <a:rPr lang="en-US" sz="1100" dirty="0">
                <a:solidFill>
                  <a:srgbClr val="E6EDF3"/>
                </a:solidFill>
                <a:latin typeface="Calibri" pitchFamily="34" charset="0"/>
                <a:ea typeface="Calibri" pitchFamily="34" charset="-122"/>
                <a:cs typeface="Calibri" pitchFamily="34" charset="-120"/>
              </a:rPr>
              <a:t>4. Update memory/_PROJECT_STATE.md</a:t>
            </a:r>
            <a:endParaRPr lang="en-US" sz="1100" dirty="0"/>
          </a:p>
          <a:p>
            <a:pPr indent="0" marL="0">
              <a:spcAft>
                <a:spcPts val="400"/>
              </a:spcAft>
              <a:buNone/>
            </a:pPr>
            <a:r>
              <a:rPr lang="en-US" sz="1100" dirty="0">
                <a:solidFill>
                  <a:srgbClr val="8B949E"/>
                </a:solidFill>
                <a:latin typeface="Consolas" pitchFamily="34" charset="0"/>
                <a:ea typeface="Consolas" pitchFamily="34" charset="-122"/>
                <a:cs typeface="Consolas" pitchFamily="34" charset="-120"/>
              </a:rPr>
              <a:t>     Active workstreams = SA writing</a:t>
            </a:r>
            <a:endParaRPr lang="en-US" sz="1100" dirty="0"/>
          </a:p>
          <a:p>
            <a:pPr indent="0" marL="0">
              <a:spcAft>
                <a:spcPts val="400"/>
              </a:spcAft>
              <a:buNone/>
            </a:pPr>
            <a:r>
              <a:rPr lang="en-US" sz="1100" dirty="0">
                <a:solidFill>
                  <a:srgbClr val="E6EDF3"/>
                </a:solidFill>
                <a:latin typeface="Calibri" pitchFamily="34" charset="0"/>
                <a:ea typeface="Calibri" pitchFamily="34" charset="-122"/>
                <a:cs typeface="Calibri" pitchFamily="34" charset="-120"/>
              </a:rPr>
              <a:t>5. Khi SA notify "done":</a:t>
            </a:r>
            <a:endParaRPr lang="en-US" sz="1100" dirty="0"/>
          </a:p>
          <a:p>
            <a:pPr indent="0" marL="0">
              <a:spcAft>
                <a:spcPts val="400"/>
              </a:spcAft>
              <a:buNone/>
            </a:pPr>
            <a:r>
              <a:rPr lang="en-US" sz="1100" dirty="0">
                <a:solidFill>
                  <a:srgbClr val="7CE38B"/>
                </a:solidFill>
                <a:latin typeface="Consolas" pitchFamily="34" charset="0"/>
                <a:ea typeface="Consolas" pitchFamily="34" charset="-122"/>
                <a:cs typeface="Consolas" pitchFamily="34" charset="-120"/>
              </a:rPr>
              <a:t>     check_prerequisites.sh BE → OK</a:t>
            </a:r>
            <a:endParaRPr lang="en-US" sz="1100" dirty="0"/>
          </a:p>
          <a:p>
            <a:pPr indent="0" marL="0">
              <a:spcAft>
                <a:spcPts val="400"/>
              </a:spcAft>
              <a:buNone/>
            </a:pPr>
            <a:r>
              <a:rPr lang="en-US" sz="1100" dirty="0">
                <a:solidFill>
                  <a:srgbClr val="7CE38B"/>
                </a:solidFill>
                <a:latin typeface="Consolas" pitchFamily="34" charset="0"/>
                <a:ea typeface="Consolas" pitchFamily="34" charset="-122"/>
                <a:cs typeface="Consolas" pitchFamily="34" charset="-120"/>
              </a:rPr>
              <a:t>     route_to_pane.sh BE "&lt;orig task&gt;"</a:t>
            </a:r>
            <a:endParaRPr lang="en-US" sz="1100" dirty="0"/>
          </a:p>
        </p:txBody>
      </p:sp>
      <p:sp>
        <p:nvSpPr>
          <p:cNvPr id="13" name="Text 11"/>
          <p:cNvSpPr/>
          <p:nvPr/>
        </p:nvSpPr>
        <p:spPr>
          <a:xfrm>
            <a:off x="11338560" y="6492240"/>
            <a:ext cx="731520" cy="228600"/>
          </a:xfrm>
          <a:prstGeom prst="rect">
            <a:avLst/>
          </a:prstGeom>
          <a:noFill/>
          <a:ln/>
        </p:spPr>
        <p:txBody>
          <a:bodyPr wrap="square" lIns="0" tIns="0" rIns="0" bIns="0" rtlCol="0" anchor="ctr"/>
          <a:lstStyle/>
          <a:p>
            <a:pPr algn="r" indent="0" marL="0">
              <a:buNone/>
            </a:pPr>
            <a:r>
              <a:rPr lang="en-US" sz="900" dirty="0">
                <a:solidFill>
                  <a:srgbClr val="8B949E"/>
                </a:solidFill>
                <a:latin typeface="Consolas" pitchFamily="34" charset="0"/>
                <a:ea typeface="Consolas" pitchFamily="34" charset="-122"/>
                <a:cs typeface="Consolas" pitchFamily="34" charset="-120"/>
              </a:rPr>
              <a:t>26 / 32</a:t>
            </a:r>
            <a:endParaRPr lang="en-US" sz="900" dirty="0"/>
          </a:p>
        </p:txBody>
      </p:sp>
      <p:sp>
        <p:nvSpPr>
          <p:cNvPr id="14" name="Text 12"/>
          <p:cNvSpPr/>
          <p:nvPr/>
        </p:nvSpPr>
        <p:spPr>
          <a:xfrm>
            <a:off x="365760" y="6492240"/>
            <a:ext cx="1097280" cy="228600"/>
          </a:xfrm>
          <a:prstGeom prst="rect">
            <a:avLst/>
          </a:prstGeom>
          <a:noFill/>
          <a:ln/>
        </p:spPr>
        <p:txBody>
          <a:bodyPr wrap="square" lIns="0" tIns="0" rIns="0" bIns="0" rtlCol="0" anchor="ctr"/>
          <a:lstStyle/>
          <a:p>
            <a:pPr algn="l" indent="0" marL="0">
              <a:buNone/>
            </a:pPr>
            <a:r>
              <a:rPr lang="en-US" sz="900" dirty="0">
                <a:solidFill>
                  <a:srgbClr val="8B949E"/>
                </a:solidFill>
                <a:latin typeface="Consolas" pitchFamily="34" charset="0"/>
                <a:ea typeface="Consolas" pitchFamily="34" charset="-122"/>
                <a:cs typeface="Consolas" pitchFamily="34" charset="-120"/>
              </a:rPr>
              <a:t>v10.12</a:t>
            </a:r>
            <a:endParaRPr lang="en-US" sz="900" dirty="0"/>
          </a:p>
        </p:txBody>
      </p:sp>
      <p:sp>
        <p:nvSpPr>
          <p:cNvPr id="15" name="Text 13"/>
          <p:cNvSpPr/>
          <p:nvPr/>
        </p:nvSpPr>
        <p:spPr>
          <a:xfrm>
            <a:off x="4572000" y="6492240"/>
            <a:ext cx="6400800" cy="228600"/>
          </a:xfrm>
          <a:prstGeom prst="rect">
            <a:avLst/>
          </a:prstGeom>
          <a:noFill/>
          <a:ln/>
        </p:spPr>
        <p:txBody>
          <a:bodyPr wrap="square" lIns="0" tIns="0" rIns="0" bIns="0" rtlCol="0" anchor="ctr"/>
          <a:lstStyle/>
          <a:p>
            <a:pPr algn="ctr" indent="0" marL="0">
              <a:buNone/>
            </a:pPr>
            <a:r>
              <a:rPr lang="en-US" sz="900" dirty="0">
                <a:solidFill>
                  <a:srgbClr val="8B949E"/>
                </a:solidFill>
                <a:latin typeface="Consolas" pitchFamily="34" charset="0"/>
                <a:ea typeface="Consolas" pitchFamily="34" charset="-122"/>
                <a:cs typeface="Consolas" pitchFamily="34" charset="-120"/>
              </a:rPr>
              <a:t>Product Engineering Agent Framework</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365760" y="228600"/>
            <a:ext cx="8229600" cy="274320"/>
          </a:xfrm>
          <a:prstGeom prst="rect">
            <a:avLst/>
          </a:prstGeom>
          <a:noFill/>
          <a:ln/>
        </p:spPr>
        <p:txBody>
          <a:bodyPr wrap="square" lIns="0" tIns="0" rIns="0" bIns="0" rtlCol="0" anchor="ctr"/>
          <a:lstStyle/>
          <a:p>
            <a:pPr indent="0" marL="0">
              <a:buNone/>
            </a:pPr>
            <a:r>
              <a:rPr lang="en-US" sz="1100" dirty="0">
                <a:solidFill>
                  <a:srgbClr val="2EA043"/>
                </a:solidFill>
                <a:latin typeface="Consolas" pitchFamily="34" charset="0"/>
                <a:ea typeface="Consolas" pitchFamily="34" charset="-122"/>
                <a:cs typeface="Consolas" pitchFamily="34" charset="-120"/>
              </a:rPr>
              <a:t>$ </a:t>
            </a:r>
            <a:pPr indent="0" marL="0">
              <a:buNone/>
            </a:pPr>
            <a:r>
              <a:rPr lang="en-US" sz="1100" dirty="0">
                <a:solidFill>
                  <a:srgbClr val="8B949E"/>
                </a:solidFill>
                <a:latin typeface="Consolas" pitchFamily="34" charset="0"/>
                <a:ea typeface="Consolas" pitchFamily="34" charset="-122"/>
                <a:cs typeface="Consolas" pitchFamily="34" charset="-120"/>
              </a:rPr>
              <a:t>23_build_failure_routing.md</a:t>
            </a:r>
            <a:endParaRPr lang="en-US" sz="1100" dirty="0"/>
          </a:p>
        </p:txBody>
      </p:sp>
      <p:sp>
        <p:nvSpPr>
          <p:cNvPr id="3" name="Text 1"/>
          <p:cNvSpPr/>
          <p:nvPr/>
        </p:nvSpPr>
        <p:spPr>
          <a:xfrm>
            <a:off x="365760" y="548640"/>
            <a:ext cx="11430000" cy="640080"/>
          </a:xfrm>
          <a:prstGeom prst="rect">
            <a:avLst/>
          </a:prstGeom>
          <a:noFill/>
          <a:ln/>
        </p:spPr>
        <p:txBody>
          <a:bodyPr wrap="square" lIns="0" tIns="0" rIns="0" bIns="0" rtlCol="0" anchor="ctr"/>
          <a:lstStyle/>
          <a:p>
            <a:pPr indent="0" marL="0">
              <a:buNone/>
            </a:pPr>
            <a:r>
              <a:rPr lang="en-US" sz="3000" b="1" dirty="0">
                <a:solidFill>
                  <a:srgbClr val="E6EDF3"/>
                </a:solidFill>
                <a:latin typeface="Consolas" pitchFamily="34" charset="0"/>
                <a:ea typeface="Consolas" pitchFamily="34" charset="-122"/>
                <a:cs typeface="Consolas" pitchFamily="34" charset="-120"/>
              </a:rPr>
              <a:t>Build failure routing (v10.10)</a:t>
            </a:r>
            <a:endParaRPr lang="en-US" sz="3000" dirty="0"/>
          </a:p>
        </p:txBody>
      </p:sp>
      <p:sp>
        <p:nvSpPr>
          <p:cNvPr id="4" name="Text 2"/>
          <p:cNvSpPr/>
          <p:nvPr/>
        </p:nvSpPr>
        <p:spPr>
          <a:xfrm>
            <a:off x="365760" y="1143000"/>
            <a:ext cx="11430000" cy="365760"/>
          </a:xfrm>
          <a:prstGeom prst="rect">
            <a:avLst/>
          </a:prstGeom>
          <a:noFill/>
          <a:ln/>
        </p:spPr>
        <p:txBody>
          <a:bodyPr wrap="square" lIns="0" tIns="0" rIns="0" bIns="0" rtlCol="0" anchor="ctr"/>
          <a:lstStyle/>
          <a:p>
            <a:pPr indent="0" marL="0">
              <a:buNone/>
            </a:pPr>
            <a:r>
              <a:rPr lang="en-US" sz="1400" i="1" dirty="0">
                <a:solidFill>
                  <a:srgbClr val="8B949E"/>
                </a:solidFill>
                <a:latin typeface="Calibri" pitchFamily="34" charset="0"/>
                <a:ea typeface="Calibri" pitchFamily="34" charset="-122"/>
                <a:cs typeface="Calibri" pitchFamily="34" charset="-120"/>
              </a:rPr>
              <a:t>DELIVERY phát hiện lỗi build → route đúng owner, KHÔNG tự sửa</a:t>
            </a:r>
            <a:endParaRPr lang="en-US" sz="1400" dirty="0"/>
          </a:p>
        </p:txBody>
      </p:sp>
      <p:sp>
        <p:nvSpPr>
          <p:cNvPr id="5" name="Shape 3"/>
          <p:cNvSpPr/>
          <p:nvPr/>
        </p:nvSpPr>
        <p:spPr>
          <a:xfrm>
            <a:off x="365760" y="1783080"/>
            <a:ext cx="11430000" cy="4572000"/>
          </a:xfrm>
          <a:prstGeom prst="rect">
            <a:avLst/>
          </a:prstGeom>
          <a:solidFill>
            <a:srgbClr val="161B22"/>
          </a:solidFill>
          <a:ln w="12700">
            <a:solidFill>
              <a:srgbClr val="30363D"/>
            </a:solidFill>
            <a:prstDash val="solid"/>
          </a:ln>
        </p:spPr>
      </p:sp>
      <p:sp>
        <p:nvSpPr>
          <p:cNvPr id="6" name="Shape 4"/>
          <p:cNvSpPr/>
          <p:nvPr/>
        </p:nvSpPr>
        <p:spPr>
          <a:xfrm>
            <a:off x="457200" y="1874520"/>
            <a:ext cx="91440" cy="91440"/>
          </a:xfrm>
          <a:prstGeom prst="ellipse">
            <a:avLst/>
          </a:prstGeom>
          <a:solidFill>
            <a:srgbClr val="F85149"/>
          </a:solidFill>
          <a:ln w="12700">
            <a:solidFill>
              <a:srgbClr val="F85149"/>
            </a:solidFill>
            <a:prstDash val="solid"/>
          </a:ln>
        </p:spPr>
      </p:sp>
      <p:sp>
        <p:nvSpPr>
          <p:cNvPr id="7" name="Shape 5"/>
          <p:cNvSpPr/>
          <p:nvPr/>
        </p:nvSpPr>
        <p:spPr>
          <a:xfrm>
            <a:off x="585216" y="1874520"/>
            <a:ext cx="91440" cy="91440"/>
          </a:xfrm>
          <a:prstGeom prst="ellipse">
            <a:avLst/>
          </a:prstGeom>
          <a:solidFill>
            <a:srgbClr val="D29922"/>
          </a:solidFill>
          <a:ln w="12700">
            <a:solidFill>
              <a:srgbClr val="D29922"/>
            </a:solidFill>
            <a:prstDash val="solid"/>
          </a:ln>
        </p:spPr>
      </p:sp>
      <p:sp>
        <p:nvSpPr>
          <p:cNvPr id="8" name="Shape 6"/>
          <p:cNvSpPr/>
          <p:nvPr/>
        </p:nvSpPr>
        <p:spPr>
          <a:xfrm>
            <a:off x="713232" y="1874520"/>
            <a:ext cx="91440" cy="91440"/>
          </a:xfrm>
          <a:prstGeom prst="ellipse">
            <a:avLst/>
          </a:prstGeom>
          <a:solidFill>
            <a:srgbClr val="3FB950"/>
          </a:solidFill>
          <a:ln w="12700">
            <a:solidFill>
              <a:srgbClr val="3FB950"/>
            </a:solidFill>
            <a:prstDash val="solid"/>
          </a:ln>
        </p:spPr>
      </p:sp>
      <p:sp>
        <p:nvSpPr>
          <p:cNvPr id="9" name="Text 7"/>
          <p:cNvSpPr/>
          <p:nvPr/>
        </p:nvSpPr>
        <p:spPr>
          <a:xfrm>
            <a:off x="502920" y="2103120"/>
            <a:ext cx="11155680" cy="4206240"/>
          </a:xfrm>
          <a:prstGeom prst="rect">
            <a:avLst/>
          </a:prstGeom>
          <a:noFill/>
          <a:ln/>
        </p:spPr>
        <p:txBody>
          <a:bodyPr wrap="square" lIns="0" tIns="0" rIns="0" bIns="0" rtlCol="0" anchor="t"/>
          <a:lstStyle/>
          <a:p>
            <a:pPr indent="0" marL="0">
              <a:buNone/>
            </a:pPr>
            <a:r>
              <a:rPr lang="en-US" sz="1200" dirty="0">
                <a:solidFill>
                  <a:srgbClr val="8B949E"/>
                </a:solidFill>
                <a:latin typeface="Consolas" pitchFamily="34" charset="0"/>
                <a:ea typeface="Consolas" pitchFamily="34" charset="-122"/>
                <a:cs typeface="Consolas" pitchFamily="34" charset="-120"/>
              </a:rPr>
              <a:t># Anti-pattern (v10.10 forbids):</a:t>
            </a:r>
            <a:endParaRPr lang="en-US" sz="1200" dirty="0"/>
          </a:p>
          <a:p>
            <a:pPr indent="0" marL="0">
              <a:buNone/>
            </a:pPr>
            <a:r>
              <a:rPr lang="en-US" sz="1200" dirty="0">
                <a:solidFill>
                  <a:srgbClr val="E6EDF3"/>
                </a:solidFill>
                <a:latin typeface="Consolas" pitchFamily="34" charset="0"/>
                <a:ea typeface="Consolas" pitchFamily="34" charset="-122"/>
                <a:cs typeface="Consolas" pitchFamily="34" charset="-120"/>
              </a:rPr>
              <a:t>[DELIVERY]  docker compose build → fails: "HStack.justify"</a:t>
            </a:r>
            <a:endParaRPr lang="en-US" sz="1200" dirty="0"/>
          </a:p>
          <a:p>
            <a:pPr indent="0" marL="0">
              <a:buNone/>
            </a:pPr>
            <a:r>
              <a:rPr lang="en-US" sz="1200" dirty="0">
                <a:solidFill>
                  <a:srgbClr val="E6EDF3"/>
                </a:solidFill>
                <a:latin typeface="Consolas" pitchFamily="34" charset="0"/>
                <a:ea typeface="Consolas" pitchFamily="34" charset="-122"/>
                <a:cs typeface="Consolas" pitchFamily="34" charset="-120"/>
              </a:rPr>
              <a:t>            → reads frontend/nestfi/pages/family_selection.py    ✗ WRONG</a:t>
            </a:r>
            <a:endParaRPr lang="en-US" sz="1200" dirty="0"/>
          </a:p>
          <a:p>
            <a:pPr indent="0" marL="0">
              <a:buNone/>
            </a:pPr>
            <a:r>
              <a:rPr lang="en-US" sz="1200" dirty="0">
                <a:solidFill>
                  <a:srgbClr val="E6EDF3"/>
                </a:solidFill>
                <a:latin typeface="Consolas" pitchFamily="34" charset="0"/>
                <a:ea typeface="Consolas" pitchFamily="34" charset="-122"/>
                <a:cs typeface="Consolas" pitchFamily="34" charset="-120"/>
              </a:rPr>
              <a:t>            → greps "justify" in frontend/nestfi               ✗ WRONG</a:t>
            </a:r>
            <a:endParaRPr lang="en-US" sz="1200" dirty="0"/>
          </a:p>
          <a:p>
            <a:pPr indent="0" marL="0">
              <a:buNone/>
            </a:pPr>
            <a:r>
              <a:rPr lang="en-US" sz="1200" dirty="0">
                <a:solidFill>
                  <a:srgbClr val="E6EDF3"/>
                </a:solidFill>
                <a:latin typeface="Consolas" pitchFamily="34" charset="0"/>
                <a:ea typeface="Consolas" pitchFamily="34" charset="-122"/>
                <a:cs typeface="Consolas" pitchFamily="34" charset="-120"/>
              </a:rPr>
              <a:t>            → edits FE source                                     ✗✗ VERY WRONG</a:t>
            </a:r>
            <a:endParaRPr lang="en-US" sz="1200" dirty="0"/>
          </a:p>
          <a:p>
            <a:pPr indent="0" marL="0">
              <a:buNone/>
            </a:pPr>
            <a:endParaRPr lang="en-US" sz="1200" dirty="0"/>
          </a:p>
          <a:p>
            <a:pPr indent="0" marL="0">
              <a:buNone/>
            </a:pPr>
            <a:r>
              <a:rPr lang="en-US" sz="1200" dirty="0">
                <a:solidFill>
                  <a:srgbClr val="8B949E"/>
                </a:solidFill>
                <a:latin typeface="Consolas" pitchFamily="34" charset="0"/>
                <a:ea typeface="Consolas" pitchFamily="34" charset="-122"/>
                <a:cs typeface="Consolas" pitchFamily="34" charset="-120"/>
              </a:rPr>
              <a:t># Correct flow (v10.10):</a:t>
            </a:r>
            <a:endParaRPr lang="en-US" sz="1200" dirty="0"/>
          </a:p>
          <a:p>
            <a:pPr indent="0" marL="0">
              <a:buNone/>
            </a:pPr>
            <a:r>
              <a:rPr lang="en-US" sz="1200" dirty="0">
                <a:solidFill>
                  <a:srgbClr val="E6EDF3"/>
                </a:solidFill>
                <a:latin typeface="Consolas" pitchFamily="34" charset="0"/>
                <a:ea typeface="Consolas" pitchFamily="34" charset="-122"/>
                <a:cs typeface="Consolas" pitchFamily="34" charset="-120"/>
              </a:rPr>
              <a:t>[DELIVERY]  tail -50 docs/delivery/_last_build.log</a:t>
            </a:r>
            <a:endParaRPr lang="en-US" sz="1200" dirty="0"/>
          </a:p>
          <a:p>
            <a:pPr indent="0" marL="0">
              <a:buNone/>
            </a:pPr>
            <a:r>
              <a:rPr lang="en-US" sz="1200" dirty="0">
                <a:solidFill>
                  <a:srgbClr val="E6EDF3"/>
                </a:solidFill>
                <a:latin typeface="Consolas" pitchFamily="34" charset="0"/>
                <a:ea typeface="Consolas" pitchFamily="34" charset="-122"/>
                <a:cs typeface="Consolas" pitchFamily="34" charset="-120"/>
              </a:rPr>
              <a:t>            → "target frontend: failed to solve"</a:t>
            </a:r>
            <a:endParaRPr lang="en-US" sz="1200" dirty="0"/>
          </a:p>
          <a:p>
            <a:pPr indent="0" marL="0">
              <a:buNone/>
            </a:pPr>
            <a:r>
              <a:rPr lang="en-US" sz="1200" dirty="0">
                <a:solidFill>
                  <a:srgbClr val="E6EDF3"/>
                </a:solidFill>
                <a:latin typeface="Consolas" pitchFamily="34" charset="0"/>
                <a:ea typeface="Consolas" pitchFamily="34" charset="-122"/>
                <a:cs typeface="Consolas" pitchFamily="34" charset="-120"/>
              </a:rPr>
              <a:t>            $ route_to_pane.sh FE "Build failed. See _last_build.log.</a:t>
            </a:r>
            <a:endParaRPr lang="en-US" sz="1200" dirty="0"/>
          </a:p>
          <a:p>
            <a:pPr indent="0" marL="0">
              <a:buNone/>
            </a:pPr>
            <a:r>
              <a:rPr lang="en-US" sz="1200" dirty="0">
                <a:solidFill>
                  <a:srgbClr val="E6EDF3"/>
                </a:solidFill>
                <a:latin typeface="Consolas" pitchFamily="34" charset="0"/>
                <a:ea typeface="Consolas" pitchFamily="34" charset="-122"/>
                <a:cs typeface="Consolas" pitchFamily="34" charset="-120"/>
              </a:rPr>
              <a:t>                  Failing line: HStack.justify. Likely outdated Reflex</a:t>
            </a:r>
            <a:endParaRPr lang="en-US" sz="1200" dirty="0"/>
          </a:p>
          <a:p>
            <a:pPr indent="0" marL="0">
              <a:buNone/>
            </a:pPr>
            <a:r>
              <a:rPr lang="en-US" sz="1200" dirty="0">
                <a:solidFill>
                  <a:srgbClr val="E6EDF3"/>
                </a:solidFill>
                <a:latin typeface="Consolas" pitchFamily="34" charset="0"/>
                <a:ea typeface="Consolas" pitchFamily="34" charset="-122"/>
                <a:cs typeface="Consolas" pitchFamily="34" charset="-120"/>
              </a:rPr>
              <a:t>                  API in pages/. Fix FE source. Notify when ready."</a:t>
            </a:r>
            <a:endParaRPr lang="en-US" sz="1200" dirty="0"/>
          </a:p>
          <a:p>
            <a:pPr indent="0" marL="0">
              <a:buNone/>
            </a:pPr>
            <a:r>
              <a:rPr lang="en-US" sz="1200" dirty="0">
                <a:solidFill>
                  <a:srgbClr val="E6EDF3"/>
                </a:solidFill>
                <a:latin typeface="Consolas" pitchFamily="34" charset="0"/>
                <a:ea typeface="Consolas" pitchFamily="34" charset="-122"/>
                <a:cs typeface="Consolas" pitchFamily="34" charset="-120"/>
              </a:rPr>
              <a:t>            $ notify_orchestrator.sh DELIVERY "Build FAIL — routed FE"</a:t>
            </a:r>
            <a:endParaRPr lang="en-US" sz="1200" dirty="0"/>
          </a:p>
          <a:p>
            <a:pPr indent="0" marL="0">
              <a:buNone/>
            </a:pPr>
            <a:r>
              <a:rPr lang="en-US" sz="1200" dirty="0">
                <a:solidFill>
                  <a:srgbClr val="E6EDF3"/>
                </a:solidFill>
                <a:latin typeface="Consolas" pitchFamily="34" charset="0"/>
                <a:ea typeface="Consolas" pitchFamily="34" charset="-122"/>
                <a:cs typeface="Consolas" pitchFamily="34" charset="-120"/>
              </a:rPr>
              <a:t>            → exit</a:t>
            </a:r>
            <a:endParaRPr lang="en-US" sz="1200" dirty="0"/>
          </a:p>
          <a:p>
            <a:pPr indent="0" marL="0">
              <a:buNone/>
            </a:pPr>
            <a:r>
              <a:rPr lang="en-US" sz="1200" dirty="0">
                <a:solidFill>
                  <a:srgbClr val="E6EDF3"/>
                </a:solidFill>
                <a:latin typeface="Consolas" pitchFamily="34" charset="0"/>
                <a:ea typeface="Consolas" pitchFamily="34" charset="-122"/>
                <a:cs typeface="Consolas" pitchFamily="34" charset="-120"/>
              </a:rPr>
              <a:t>[Orch]      ack user → wait FE notify done → re-route DELIVERY</a:t>
            </a:r>
            <a:endParaRPr lang="en-US" sz="1200" dirty="0"/>
          </a:p>
        </p:txBody>
      </p:sp>
      <p:sp>
        <p:nvSpPr>
          <p:cNvPr id="10" name="Text 8"/>
          <p:cNvSpPr/>
          <p:nvPr/>
        </p:nvSpPr>
        <p:spPr>
          <a:xfrm>
            <a:off x="11338560" y="6492240"/>
            <a:ext cx="731520" cy="228600"/>
          </a:xfrm>
          <a:prstGeom prst="rect">
            <a:avLst/>
          </a:prstGeom>
          <a:noFill/>
          <a:ln/>
        </p:spPr>
        <p:txBody>
          <a:bodyPr wrap="square" lIns="0" tIns="0" rIns="0" bIns="0" rtlCol="0" anchor="ctr"/>
          <a:lstStyle/>
          <a:p>
            <a:pPr algn="r" indent="0" marL="0">
              <a:buNone/>
            </a:pPr>
            <a:r>
              <a:rPr lang="en-US" sz="900" dirty="0">
                <a:solidFill>
                  <a:srgbClr val="8B949E"/>
                </a:solidFill>
                <a:latin typeface="Consolas" pitchFamily="34" charset="0"/>
                <a:ea typeface="Consolas" pitchFamily="34" charset="-122"/>
                <a:cs typeface="Consolas" pitchFamily="34" charset="-120"/>
              </a:rPr>
              <a:t>27 / 32</a:t>
            </a:r>
            <a:endParaRPr lang="en-US" sz="900" dirty="0"/>
          </a:p>
        </p:txBody>
      </p:sp>
      <p:sp>
        <p:nvSpPr>
          <p:cNvPr id="11" name="Text 9"/>
          <p:cNvSpPr/>
          <p:nvPr/>
        </p:nvSpPr>
        <p:spPr>
          <a:xfrm>
            <a:off x="365760" y="6492240"/>
            <a:ext cx="1097280" cy="228600"/>
          </a:xfrm>
          <a:prstGeom prst="rect">
            <a:avLst/>
          </a:prstGeom>
          <a:noFill/>
          <a:ln/>
        </p:spPr>
        <p:txBody>
          <a:bodyPr wrap="square" lIns="0" tIns="0" rIns="0" bIns="0" rtlCol="0" anchor="ctr"/>
          <a:lstStyle/>
          <a:p>
            <a:pPr algn="l" indent="0" marL="0">
              <a:buNone/>
            </a:pPr>
            <a:r>
              <a:rPr lang="en-US" sz="900" dirty="0">
                <a:solidFill>
                  <a:srgbClr val="8B949E"/>
                </a:solidFill>
                <a:latin typeface="Consolas" pitchFamily="34" charset="0"/>
                <a:ea typeface="Consolas" pitchFamily="34" charset="-122"/>
                <a:cs typeface="Consolas" pitchFamily="34" charset="-120"/>
              </a:rPr>
              <a:t>v10.12</a:t>
            </a:r>
            <a:endParaRPr lang="en-US" sz="900" dirty="0"/>
          </a:p>
        </p:txBody>
      </p:sp>
      <p:sp>
        <p:nvSpPr>
          <p:cNvPr id="12" name="Text 10"/>
          <p:cNvSpPr/>
          <p:nvPr/>
        </p:nvSpPr>
        <p:spPr>
          <a:xfrm>
            <a:off x="4572000" y="6492240"/>
            <a:ext cx="6400800" cy="228600"/>
          </a:xfrm>
          <a:prstGeom prst="rect">
            <a:avLst/>
          </a:prstGeom>
          <a:noFill/>
          <a:ln/>
        </p:spPr>
        <p:txBody>
          <a:bodyPr wrap="square" lIns="0" tIns="0" rIns="0" bIns="0" rtlCol="0" anchor="ctr"/>
          <a:lstStyle/>
          <a:p>
            <a:pPr algn="ctr" indent="0" marL="0">
              <a:buNone/>
            </a:pPr>
            <a:r>
              <a:rPr lang="en-US" sz="900" dirty="0">
                <a:solidFill>
                  <a:srgbClr val="8B949E"/>
                </a:solidFill>
                <a:latin typeface="Consolas" pitchFamily="34" charset="0"/>
                <a:ea typeface="Consolas" pitchFamily="34" charset="-122"/>
                <a:cs typeface="Consolas" pitchFamily="34" charset="-120"/>
              </a:rPr>
              <a:t>Product Engineering Agent Framework</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365760" y="228600"/>
            <a:ext cx="8229600" cy="274320"/>
          </a:xfrm>
          <a:prstGeom prst="rect">
            <a:avLst/>
          </a:prstGeom>
          <a:noFill/>
          <a:ln/>
        </p:spPr>
        <p:txBody>
          <a:bodyPr wrap="square" lIns="0" tIns="0" rIns="0" bIns="0" rtlCol="0" anchor="ctr"/>
          <a:lstStyle/>
          <a:p>
            <a:pPr indent="0" marL="0">
              <a:buNone/>
            </a:pPr>
            <a:r>
              <a:rPr lang="en-US" sz="1100" dirty="0">
                <a:solidFill>
                  <a:srgbClr val="2EA043"/>
                </a:solidFill>
                <a:latin typeface="Consolas" pitchFamily="34" charset="0"/>
                <a:ea typeface="Consolas" pitchFamily="34" charset="-122"/>
                <a:cs typeface="Consolas" pitchFamily="34" charset="-120"/>
              </a:rPr>
              <a:t>$ </a:t>
            </a:r>
            <a:pPr indent="0" marL="0">
              <a:buNone/>
            </a:pPr>
            <a:r>
              <a:rPr lang="en-US" sz="1100" dirty="0">
                <a:solidFill>
                  <a:srgbClr val="8B949E"/>
                </a:solidFill>
                <a:latin typeface="Consolas" pitchFamily="34" charset="0"/>
                <a:ea typeface="Consolas" pitchFamily="34" charset="-122"/>
                <a:cs typeface="Consolas" pitchFamily="34" charset="-120"/>
              </a:rPr>
              <a:t>24_framework_immutable.md</a:t>
            </a:r>
            <a:endParaRPr lang="en-US" sz="1100" dirty="0"/>
          </a:p>
        </p:txBody>
      </p:sp>
      <p:sp>
        <p:nvSpPr>
          <p:cNvPr id="3" name="Text 1"/>
          <p:cNvSpPr/>
          <p:nvPr/>
        </p:nvSpPr>
        <p:spPr>
          <a:xfrm>
            <a:off x="365760" y="548640"/>
            <a:ext cx="11430000" cy="640080"/>
          </a:xfrm>
          <a:prstGeom prst="rect">
            <a:avLst/>
          </a:prstGeom>
          <a:noFill/>
          <a:ln/>
        </p:spPr>
        <p:txBody>
          <a:bodyPr wrap="square" lIns="0" tIns="0" rIns="0" bIns="0" rtlCol="0" anchor="ctr"/>
          <a:lstStyle/>
          <a:p>
            <a:pPr indent="0" marL="0">
              <a:buNone/>
            </a:pPr>
            <a:r>
              <a:rPr lang="en-US" sz="3000" b="1" dirty="0">
                <a:solidFill>
                  <a:srgbClr val="E6EDF3"/>
                </a:solidFill>
                <a:latin typeface="Consolas" pitchFamily="34" charset="0"/>
                <a:ea typeface="Consolas" pitchFamily="34" charset="-122"/>
                <a:cs typeface="Consolas" pitchFamily="34" charset="-120"/>
              </a:rPr>
              <a:t>Framework files immutable (v10.11)</a:t>
            </a:r>
            <a:endParaRPr lang="en-US" sz="3000" dirty="0"/>
          </a:p>
        </p:txBody>
      </p:sp>
      <p:sp>
        <p:nvSpPr>
          <p:cNvPr id="4" name="Text 2"/>
          <p:cNvSpPr/>
          <p:nvPr/>
        </p:nvSpPr>
        <p:spPr>
          <a:xfrm>
            <a:off x="365760" y="1143000"/>
            <a:ext cx="11430000" cy="365760"/>
          </a:xfrm>
          <a:prstGeom prst="rect">
            <a:avLst/>
          </a:prstGeom>
          <a:noFill/>
          <a:ln/>
        </p:spPr>
        <p:txBody>
          <a:bodyPr wrap="square" lIns="0" tIns="0" rIns="0" bIns="0" rtlCol="0" anchor="ctr"/>
          <a:lstStyle/>
          <a:p>
            <a:pPr indent="0" marL="0">
              <a:buNone/>
            </a:pPr>
            <a:r>
              <a:rPr lang="en-US" sz="1400" i="1" dirty="0">
                <a:solidFill>
                  <a:srgbClr val="8B949E"/>
                </a:solidFill>
                <a:latin typeface="Calibri" pitchFamily="34" charset="0"/>
                <a:ea typeface="Calibri" pitchFamily="34" charset="-122"/>
                <a:cs typeface="Calibri" pitchFamily="34" charset="-120"/>
              </a:rPr>
              <a:t>Agents không sửa AGENTS.md, prompts/, scripts/, config/ … Sync template bằng script.</a:t>
            </a:r>
            <a:endParaRPr lang="en-US" sz="1400" dirty="0"/>
          </a:p>
        </p:txBody>
      </p:sp>
      <p:sp>
        <p:nvSpPr>
          <p:cNvPr id="5" name="Shape 3"/>
          <p:cNvSpPr/>
          <p:nvPr/>
        </p:nvSpPr>
        <p:spPr>
          <a:xfrm>
            <a:off x="365760" y="1783080"/>
            <a:ext cx="5669280" cy="4572000"/>
          </a:xfrm>
          <a:prstGeom prst="rect">
            <a:avLst/>
          </a:prstGeom>
          <a:solidFill>
            <a:srgbClr val="161B22"/>
          </a:solidFill>
          <a:ln w="12700">
            <a:solidFill>
              <a:srgbClr val="30363D"/>
            </a:solidFill>
            <a:prstDash val="solid"/>
          </a:ln>
        </p:spPr>
      </p:sp>
      <p:sp>
        <p:nvSpPr>
          <p:cNvPr id="6" name="Text 4"/>
          <p:cNvSpPr/>
          <p:nvPr/>
        </p:nvSpPr>
        <p:spPr>
          <a:xfrm>
            <a:off x="457200" y="1874520"/>
            <a:ext cx="5486400" cy="365760"/>
          </a:xfrm>
          <a:prstGeom prst="rect">
            <a:avLst/>
          </a:prstGeom>
          <a:noFill/>
          <a:ln/>
        </p:spPr>
        <p:txBody>
          <a:bodyPr wrap="square" lIns="0" tIns="0" rIns="0" bIns="0" rtlCol="0" anchor="ctr"/>
          <a:lstStyle/>
          <a:p>
            <a:pPr indent="0" marL="0">
              <a:buNone/>
            </a:pPr>
            <a:r>
              <a:rPr lang="en-US" sz="1400" b="1" dirty="0">
                <a:solidFill>
                  <a:srgbClr val="F85149"/>
                </a:solidFill>
                <a:latin typeface="Consolas" pitchFamily="34" charset="0"/>
                <a:ea typeface="Consolas" pitchFamily="34" charset="-122"/>
                <a:cs typeface="Consolas" pitchFamily="34" charset="-120"/>
              </a:rPr>
              <a:t>Read-only cho mọi agent</a:t>
            </a:r>
            <a:endParaRPr lang="en-US" sz="1400" dirty="0"/>
          </a:p>
        </p:txBody>
      </p:sp>
      <p:sp>
        <p:nvSpPr>
          <p:cNvPr id="7" name="Text 5"/>
          <p:cNvSpPr/>
          <p:nvPr/>
        </p:nvSpPr>
        <p:spPr>
          <a:xfrm>
            <a:off x="457200" y="2331720"/>
            <a:ext cx="5486400" cy="3931920"/>
          </a:xfrm>
          <a:prstGeom prst="rect">
            <a:avLst/>
          </a:prstGeom>
          <a:noFill/>
          <a:ln/>
        </p:spPr>
        <p:txBody>
          <a:bodyPr wrap="square" lIns="0" tIns="0" rIns="0" bIns="0" rtlCol="0" anchor="t"/>
          <a:lstStyle/>
          <a:p>
            <a:pPr indent="0" marL="0">
              <a:buNone/>
            </a:pPr>
            <a:r>
              <a:rPr lang="en-US" sz="1100" dirty="0">
                <a:solidFill>
                  <a:srgbClr val="E6EDF3"/>
                </a:solidFill>
                <a:latin typeface="Consolas" pitchFamily="34" charset="0"/>
                <a:ea typeface="Consolas" pitchFamily="34" charset="-122"/>
                <a:cs typeface="Consolas" pitchFamily="34" charset="-120"/>
              </a:rPr>
              <a:t>  AGENTS.md</a:t>
            </a:r>
            <a:endParaRPr lang="en-US" sz="1100" dirty="0"/>
          </a:p>
          <a:p>
            <a:pPr indent="0" marL="0">
              <a:buNone/>
            </a:pPr>
            <a:r>
              <a:rPr lang="en-US" sz="1100" dirty="0">
                <a:solidFill>
                  <a:srgbClr val="E6EDF3"/>
                </a:solidFill>
                <a:latin typeface="Consolas" pitchFamily="34" charset="0"/>
                <a:ea typeface="Consolas" pitchFamily="34" charset="-122"/>
                <a:cs typeface="Consolas" pitchFamily="34" charset="-120"/>
              </a:rPr>
              <a:t>  README.md  VERSION.md  LICENSE  .gitignore</a:t>
            </a:r>
            <a:endParaRPr lang="en-US" sz="1100" dirty="0"/>
          </a:p>
          <a:p>
            <a:pPr indent="0" marL="0">
              <a:buNone/>
            </a:pPr>
            <a:r>
              <a:rPr lang="en-US" sz="1100" dirty="0">
                <a:solidFill>
                  <a:srgbClr val="E6EDF3"/>
                </a:solidFill>
                <a:latin typeface="Consolas" pitchFamily="34" charset="0"/>
                <a:ea typeface="Consolas" pitchFamily="34" charset="-122"/>
                <a:cs typeface="Consolas" pitchFamily="34" charset="-120"/>
              </a:rPr>
              <a:t>  PRODUCT_ENGINEERING.md</a:t>
            </a:r>
            <a:endParaRPr lang="en-US" sz="1100" dirty="0"/>
          </a:p>
          <a:p>
            <a:pPr indent="0" marL="0">
              <a:buNone/>
            </a:pPr>
            <a:r>
              <a:rPr lang="en-US" sz="1100" dirty="0">
                <a:solidFill>
                  <a:srgbClr val="E6EDF3"/>
                </a:solidFill>
                <a:latin typeface="Consolas" pitchFamily="34" charset="0"/>
                <a:ea typeface="Consolas" pitchFamily="34" charset="-122"/>
                <a:cs typeface="Consolas" pitchFamily="34" charset="-120"/>
              </a:rPr>
              <a:t>  .opencode/config.json  opencode.json</a:t>
            </a:r>
            <a:endParaRPr lang="en-US" sz="1100" dirty="0"/>
          </a:p>
          <a:p>
            <a:pPr indent="0" marL="0">
              <a:buNone/>
            </a:pPr>
            <a:r>
              <a:rPr lang="en-US" sz="1100" dirty="0">
                <a:solidFill>
                  <a:srgbClr val="E6EDF3"/>
                </a:solidFill>
                <a:latin typeface="Consolas" pitchFamily="34" charset="0"/>
                <a:ea typeface="Consolas" pitchFamily="34" charset="-122"/>
                <a:cs typeface="Consolas" pitchFamily="34" charset="-120"/>
              </a:rPr>
              <a:t>  scripts/*.sh                 (toàn bộ)</a:t>
            </a:r>
            <a:endParaRPr lang="en-US" sz="1100" dirty="0"/>
          </a:p>
          <a:p>
            <a:pPr indent="0" marL="0">
              <a:buNone/>
            </a:pPr>
            <a:r>
              <a:rPr lang="en-US" sz="1100" dirty="0">
                <a:solidFill>
                  <a:srgbClr val="E6EDF3"/>
                </a:solidFill>
                <a:latin typeface="Consolas" pitchFamily="34" charset="0"/>
                <a:ea typeface="Consolas" pitchFamily="34" charset="-122"/>
                <a:cs typeface="Consolas" pitchFamily="34" charset="-120"/>
              </a:rPr>
              <a:t>  prompts/agents/*.md          (mọi role prompt)</a:t>
            </a:r>
            <a:endParaRPr lang="en-US" sz="1100" dirty="0"/>
          </a:p>
          <a:p>
            <a:pPr indent="0" marL="0">
              <a:buNone/>
            </a:pPr>
            <a:r>
              <a:rPr lang="en-US" sz="1100" dirty="0">
                <a:solidFill>
                  <a:srgbClr val="E6EDF3"/>
                </a:solidFill>
                <a:latin typeface="Consolas" pitchFamily="34" charset="0"/>
                <a:ea typeface="Consolas" pitchFamily="34" charset="-122"/>
                <a:cs typeface="Consolas" pitchFamily="34" charset="-120"/>
              </a:rPr>
              <a:t>  config/*                     (env, json, md)</a:t>
            </a:r>
            <a:endParaRPr lang="en-US" sz="1100" dirty="0"/>
          </a:p>
          <a:p>
            <a:pPr indent="0" marL="0">
              <a:buNone/>
            </a:pPr>
            <a:r>
              <a:rPr lang="en-US" sz="1100" dirty="0">
                <a:solidFill>
                  <a:srgbClr val="E6EDF3"/>
                </a:solidFill>
                <a:latin typeface="Consolas" pitchFamily="34" charset="0"/>
                <a:ea typeface="Consolas" pitchFamily="34" charset="-122"/>
                <a:cs typeface="Consolas" pitchFamily="34" charset="-120"/>
              </a:rPr>
              <a:t>  planning/{PANE_ROUTING,ORCH_RUNTIME,AGENT_WORKFLOW}.md</a:t>
            </a:r>
            <a:endParaRPr lang="en-US" sz="1100" dirty="0"/>
          </a:p>
          <a:p>
            <a:pPr indent="0" marL="0">
              <a:buNone/>
            </a:pPr>
            <a:r>
              <a:rPr lang="en-US" sz="1100" dirty="0">
                <a:solidFill>
                  <a:srgbClr val="E6EDF3"/>
                </a:solidFill>
                <a:latin typeface="Consolas" pitchFamily="34" charset="0"/>
                <a:ea typeface="Consolas" pitchFamily="34" charset="-122"/>
                <a:cs typeface="Consolas" pitchFamily="34" charset="-120"/>
              </a:rPr>
              <a:t>  docs/delivery/{OPENCODE_SETUP,TMUX_USAGE}.md</a:t>
            </a:r>
            <a:endParaRPr lang="en-US" sz="1100" dirty="0"/>
          </a:p>
          <a:p>
            <a:pPr indent="0" marL="0">
              <a:buNone/>
            </a:pPr>
            <a:r>
              <a:rPr lang="en-US" sz="1100" dirty="0">
                <a:solidFill>
                  <a:srgbClr val="E6EDF3"/>
                </a:solidFill>
                <a:latin typeface="Consolas" pitchFamily="34" charset="0"/>
                <a:ea typeface="Consolas" pitchFamily="34" charset="-122"/>
                <a:cs typeface="Consolas" pitchFamily="34" charset="-120"/>
              </a:rPr>
              <a:t>  memory/README.md</a:t>
            </a:r>
            <a:endParaRPr lang="en-US" sz="1100" dirty="0"/>
          </a:p>
        </p:txBody>
      </p:sp>
      <p:sp>
        <p:nvSpPr>
          <p:cNvPr id="8" name="Shape 6"/>
          <p:cNvSpPr/>
          <p:nvPr/>
        </p:nvSpPr>
        <p:spPr>
          <a:xfrm>
            <a:off x="6217920" y="1783080"/>
            <a:ext cx="5577840" cy="4572000"/>
          </a:xfrm>
          <a:prstGeom prst="rect">
            <a:avLst/>
          </a:prstGeom>
          <a:solidFill>
            <a:srgbClr val="161B22"/>
          </a:solidFill>
          <a:ln w="12700">
            <a:solidFill>
              <a:srgbClr val="30363D"/>
            </a:solidFill>
            <a:prstDash val="solid"/>
          </a:ln>
        </p:spPr>
      </p:sp>
      <p:sp>
        <p:nvSpPr>
          <p:cNvPr id="9" name="Text 7"/>
          <p:cNvSpPr/>
          <p:nvPr/>
        </p:nvSpPr>
        <p:spPr>
          <a:xfrm>
            <a:off x="6309360" y="1874520"/>
            <a:ext cx="5394960" cy="365760"/>
          </a:xfrm>
          <a:prstGeom prst="rect">
            <a:avLst/>
          </a:prstGeom>
          <a:noFill/>
          <a:ln/>
        </p:spPr>
        <p:txBody>
          <a:bodyPr wrap="square" lIns="0" tIns="0" rIns="0" bIns="0" rtlCol="0" anchor="ctr"/>
          <a:lstStyle/>
          <a:p>
            <a:pPr indent="0" marL="0">
              <a:buNone/>
            </a:pPr>
            <a:r>
              <a:rPr lang="en-US" sz="1400" b="1" dirty="0">
                <a:solidFill>
                  <a:srgbClr val="7CE38B"/>
                </a:solidFill>
                <a:latin typeface="Consolas" pitchFamily="34" charset="0"/>
                <a:ea typeface="Consolas" pitchFamily="34" charset="-122"/>
                <a:cs typeface="Consolas" pitchFamily="34" charset="-120"/>
              </a:rPr>
              <a:t>Sync an toàn từ template mới</a:t>
            </a:r>
            <a:endParaRPr lang="en-US" sz="1400" dirty="0"/>
          </a:p>
        </p:txBody>
      </p:sp>
      <p:sp>
        <p:nvSpPr>
          <p:cNvPr id="10" name="Text 8"/>
          <p:cNvSpPr/>
          <p:nvPr/>
        </p:nvSpPr>
        <p:spPr>
          <a:xfrm>
            <a:off x="6309360" y="2331720"/>
            <a:ext cx="5394960" cy="3931920"/>
          </a:xfrm>
          <a:prstGeom prst="rect">
            <a:avLst/>
          </a:prstGeom>
          <a:noFill/>
          <a:ln/>
        </p:spPr>
        <p:txBody>
          <a:bodyPr wrap="square" lIns="0" tIns="0" rIns="0" bIns="0" rtlCol="0" anchor="t"/>
          <a:lstStyle/>
          <a:p>
            <a:pPr indent="0" marL="0">
              <a:buNone/>
            </a:pPr>
            <a:r>
              <a:rPr lang="en-US" sz="1100" dirty="0">
                <a:solidFill>
                  <a:srgbClr val="8B949E"/>
                </a:solidFill>
                <a:latin typeface="Consolas" pitchFamily="34" charset="0"/>
                <a:ea typeface="Consolas" pitchFamily="34" charset="-122"/>
                <a:cs typeface="Consolas" pitchFamily="34" charset="-120"/>
              </a:rPr>
              <a:t># Dry-run xem sẽ làm gì:</a:t>
            </a:r>
            <a:endParaRPr lang="en-US" sz="1100" dirty="0"/>
          </a:p>
          <a:p>
            <a:pPr indent="0" marL="0">
              <a:buNone/>
            </a:pPr>
            <a:r>
              <a:rPr lang="en-US" sz="1100" dirty="0">
                <a:solidFill>
                  <a:srgbClr val="7CE38B"/>
                </a:solidFill>
                <a:latin typeface="Consolas" pitchFamily="34" charset="0"/>
                <a:ea typeface="Consolas" pitchFamily="34" charset="-122"/>
                <a:cs typeface="Consolas" pitchFamily="34" charset="-120"/>
              </a:rPr>
              <a:t>$ bash scripts/sync_framework_from_template.sh \</a:t>
            </a:r>
            <a:endParaRPr lang="en-US" sz="1100" dirty="0"/>
          </a:p>
          <a:p>
            <a:pPr indent="0" marL="0">
              <a:buNone/>
            </a:pPr>
            <a:r>
              <a:rPr lang="en-US" sz="1100" dirty="0">
                <a:solidFill>
                  <a:srgbClr val="7CE38B"/>
                </a:solidFill>
                <a:latin typeface="Consolas" pitchFamily="34" charset="0"/>
                <a:ea typeface="Consolas" pitchFamily="34" charset="-122"/>
                <a:cs typeface="Consolas" pitchFamily="34" charset="-120"/>
              </a:rPr>
              <a:t>    ../product-engineering-template --dry-run</a:t>
            </a:r>
            <a:endParaRPr lang="en-US" sz="1100" dirty="0"/>
          </a:p>
          <a:p>
            <a:pPr indent="0" marL="0">
              <a:buNone/>
            </a:pPr>
            <a:endParaRPr lang="en-US" sz="1100" dirty="0"/>
          </a:p>
          <a:p>
            <a:pPr indent="0" marL="0">
              <a:buNone/>
            </a:pPr>
            <a:r>
              <a:rPr lang="en-US" sz="1100" dirty="0">
                <a:solidFill>
                  <a:srgbClr val="8B949E"/>
                </a:solidFill>
                <a:latin typeface="Consolas" pitchFamily="34" charset="0"/>
                <a:ea typeface="Consolas" pitchFamily="34" charset="-122"/>
                <a:cs typeface="Consolas" pitchFamily="34" charset="-120"/>
              </a:rPr>
              <a:t># Apply:</a:t>
            </a:r>
            <a:endParaRPr lang="en-US" sz="1100" dirty="0"/>
          </a:p>
          <a:p>
            <a:pPr indent="0" marL="0">
              <a:buNone/>
            </a:pPr>
            <a:r>
              <a:rPr lang="en-US" sz="1100" dirty="0">
                <a:solidFill>
                  <a:srgbClr val="7CE38B"/>
                </a:solidFill>
                <a:latin typeface="Consolas" pitchFamily="34" charset="0"/>
                <a:ea typeface="Consolas" pitchFamily="34" charset="-122"/>
                <a:cs typeface="Consolas" pitchFamily="34" charset="-120"/>
              </a:rPr>
              <a:t>$ bash scripts/sync_framework_from_template.sh \</a:t>
            </a:r>
            <a:endParaRPr lang="en-US" sz="1100" dirty="0"/>
          </a:p>
          <a:p>
            <a:pPr indent="0" marL="0">
              <a:buNone/>
            </a:pPr>
            <a:r>
              <a:rPr lang="en-US" sz="1100" dirty="0">
                <a:solidFill>
                  <a:srgbClr val="7CE38B"/>
                </a:solidFill>
                <a:latin typeface="Consolas" pitchFamily="34" charset="0"/>
                <a:ea typeface="Consolas" pitchFamily="34" charset="-122"/>
                <a:cs typeface="Consolas" pitchFamily="34" charset="-120"/>
              </a:rPr>
              <a:t>    ../product-engineering-template</a:t>
            </a:r>
            <a:endParaRPr lang="en-US" sz="1100" dirty="0"/>
          </a:p>
          <a:p>
            <a:pPr indent="0" marL="0">
              <a:buNone/>
            </a:pPr>
            <a:endParaRPr lang="en-US" sz="1100" dirty="0"/>
          </a:p>
          <a:p>
            <a:pPr indent="0" marL="0">
              <a:buNone/>
            </a:pPr>
            <a:r>
              <a:rPr lang="en-US" sz="1100" dirty="0">
                <a:solidFill>
                  <a:srgbClr val="E6EDF3"/>
                </a:solidFill>
                <a:latin typeface="Calibri" pitchFamily="34" charset="0"/>
                <a:ea typeface="Calibri" pitchFamily="34" charset="-122"/>
                <a:cs typeface="Calibri" pitchFamily="34" charset="-120"/>
              </a:rPr>
              <a:t>Mọi file bị overwrite được backup vào</a:t>
            </a:r>
            <a:endParaRPr lang="en-US" sz="1100" dirty="0"/>
          </a:p>
          <a:p>
            <a:pPr indent="0" marL="0">
              <a:buNone/>
            </a:pPr>
            <a:r>
              <a:rPr lang="en-US" sz="1100" dirty="0">
                <a:solidFill>
                  <a:srgbClr val="79C0FF"/>
                </a:solidFill>
                <a:latin typeface="Consolas" pitchFamily="34" charset="0"/>
                <a:ea typeface="Consolas" pitchFamily="34" charset="-122"/>
                <a:cs typeface="Consolas" pitchFamily="34" charset="-120"/>
              </a:rPr>
              <a:t>.framework_sync_backup/&lt;timestamp&gt;/</a:t>
            </a:r>
            <a:endParaRPr lang="en-US" sz="1100" dirty="0"/>
          </a:p>
          <a:p>
            <a:pPr indent="0" marL="0">
              <a:buNone/>
            </a:pPr>
            <a:endParaRPr lang="en-US" sz="1100" dirty="0"/>
          </a:p>
          <a:p>
            <a:pPr indent="0" marL="0">
              <a:buNone/>
            </a:pPr>
            <a:r>
              <a:rPr lang="en-US" sz="1100" dirty="0">
                <a:solidFill>
                  <a:srgbClr val="E6EDF3"/>
                </a:solidFill>
                <a:latin typeface="Calibri" pitchFamily="34" charset="0"/>
                <a:ea typeface="Calibri" pitchFamily="34" charset="-122"/>
                <a:cs typeface="Calibri" pitchFamily="34" charset="-120"/>
              </a:rPr>
              <a:t>PRODUCT_IDEA.md, TASK.md, memory/*, docs/</a:t>
            </a:r>
            <a:endParaRPr lang="en-US" sz="1100" dirty="0"/>
          </a:p>
          <a:p>
            <a:pPr indent="0" marL="0">
              <a:buNone/>
            </a:pPr>
            <a:r>
              <a:rPr lang="en-US" sz="1100" dirty="0">
                <a:solidFill>
                  <a:srgbClr val="E6EDF3"/>
                </a:solidFill>
                <a:latin typeface="Calibri" pitchFamily="34" charset="0"/>
                <a:ea typeface="Calibri" pitchFamily="34" charset="-122"/>
                <a:cs typeface="Calibri" pitchFamily="34" charset="-120"/>
              </a:rPr>
              <a:t>outputs, backend/, frontend/ KHÔNG bị đụng.</a:t>
            </a:r>
            <a:endParaRPr lang="en-US" sz="1100" dirty="0"/>
          </a:p>
        </p:txBody>
      </p:sp>
      <p:sp>
        <p:nvSpPr>
          <p:cNvPr id="11" name="Text 9"/>
          <p:cNvSpPr/>
          <p:nvPr/>
        </p:nvSpPr>
        <p:spPr>
          <a:xfrm>
            <a:off x="11338560" y="6492240"/>
            <a:ext cx="731520" cy="228600"/>
          </a:xfrm>
          <a:prstGeom prst="rect">
            <a:avLst/>
          </a:prstGeom>
          <a:noFill/>
          <a:ln/>
        </p:spPr>
        <p:txBody>
          <a:bodyPr wrap="square" lIns="0" tIns="0" rIns="0" bIns="0" rtlCol="0" anchor="ctr"/>
          <a:lstStyle/>
          <a:p>
            <a:pPr algn="r" indent="0" marL="0">
              <a:buNone/>
            </a:pPr>
            <a:r>
              <a:rPr lang="en-US" sz="900" dirty="0">
                <a:solidFill>
                  <a:srgbClr val="8B949E"/>
                </a:solidFill>
                <a:latin typeface="Consolas" pitchFamily="34" charset="0"/>
                <a:ea typeface="Consolas" pitchFamily="34" charset="-122"/>
                <a:cs typeface="Consolas" pitchFamily="34" charset="-120"/>
              </a:rPr>
              <a:t>28 / 32</a:t>
            </a:r>
            <a:endParaRPr lang="en-US" sz="900" dirty="0"/>
          </a:p>
        </p:txBody>
      </p:sp>
      <p:sp>
        <p:nvSpPr>
          <p:cNvPr id="12" name="Text 10"/>
          <p:cNvSpPr/>
          <p:nvPr/>
        </p:nvSpPr>
        <p:spPr>
          <a:xfrm>
            <a:off x="365760" y="6492240"/>
            <a:ext cx="1097280" cy="228600"/>
          </a:xfrm>
          <a:prstGeom prst="rect">
            <a:avLst/>
          </a:prstGeom>
          <a:noFill/>
          <a:ln/>
        </p:spPr>
        <p:txBody>
          <a:bodyPr wrap="square" lIns="0" tIns="0" rIns="0" bIns="0" rtlCol="0" anchor="ctr"/>
          <a:lstStyle/>
          <a:p>
            <a:pPr algn="l" indent="0" marL="0">
              <a:buNone/>
            </a:pPr>
            <a:r>
              <a:rPr lang="en-US" sz="900" dirty="0">
                <a:solidFill>
                  <a:srgbClr val="8B949E"/>
                </a:solidFill>
                <a:latin typeface="Consolas" pitchFamily="34" charset="0"/>
                <a:ea typeface="Consolas" pitchFamily="34" charset="-122"/>
                <a:cs typeface="Consolas" pitchFamily="34" charset="-120"/>
              </a:rPr>
              <a:t>v10.12</a:t>
            </a:r>
            <a:endParaRPr lang="en-US" sz="900" dirty="0"/>
          </a:p>
        </p:txBody>
      </p:sp>
      <p:sp>
        <p:nvSpPr>
          <p:cNvPr id="13" name="Text 11"/>
          <p:cNvSpPr/>
          <p:nvPr/>
        </p:nvSpPr>
        <p:spPr>
          <a:xfrm>
            <a:off x="4572000" y="6492240"/>
            <a:ext cx="6400800" cy="228600"/>
          </a:xfrm>
          <a:prstGeom prst="rect">
            <a:avLst/>
          </a:prstGeom>
          <a:noFill/>
          <a:ln/>
        </p:spPr>
        <p:txBody>
          <a:bodyPr wrap="square" lIns="0" tIns="0" rIns="0" bIns="0" rtlCol="0" anchor="ctr"/>
          <a:lstStyle/>
          <a:p>
            <a:pPr algn="ctr" indent="0" marL="0">
              <a:buNone/>
            </a:pPr>
            <a:r>
              <a:rPr lang="en-US" sz="900" dirty="0">
                <a:solidFill>
                  <a:srgbClr val="8B949E"/>
                </a:solidFill>
                <a:latin typeface="Consolas" pitchFamily="34" charset="0"/>
                <a:ea typeface="Consolas" pitchFamily="34" charset="-122"/>
                <a:cs typeface="Consolas" pitchFamily="34" charset="-120"/>
              </a:rPr>
              <a:t>Product Engineering Agent Framework</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365760" y="228600"/>
            <a:ext cx="8229600" cy="274320"/>
          </a:xfrm>
          <a:prstGeom prst="rect">
            <a:avLst/>
          </a:prstGeom>
          <a:noFill/>
          <a:ln/>
        </p:spPr>
        <p:txBody>
          <a:bodyPr wrap="square" lIns="0" tIns="0" rIns="0" bIns="0" rtlCol="0" anchor="ctr"/>
          <a:lstStyle/>
          <a:p>
            <a:pPr indent="0" marL="0">
              <a:buNone/>
            </a:pPr>
            <a:r>
              <a:rPr lang="en-US" sz="1100" dirty="0">
                <a:solidFill>
                  <a:srgbClr val="2EA043"/>
                </a:solidFill>
                <a:latin typeface="Consolas" pitchFamily="34" charset="0"/>
                <a:ea typeface="Consolas" pitchFamily="34" charset="-122"/>
                <a:cs typeface="Consolas" pitchFamily="34" charset="-120"/>
              </a:rPr>
              <a:t>$ </a:t>
            </a:r>
            <a:pPr indent="0" marL="0">
              <a:buNone/>
            </a:pPr>
            <a:r>
              <a:rPr lang="en-US" sz="1100" dirty="0">
                <a:solidFill>
                  <a:srgbClr val="8B949E"/>
                </a:solidFill>
                <a:latin typeface="Consolas" pitchFamily="34" charset="0"/>
                <a:ea typeface="Consolas" pitchFamily="34" charset="-122"/>
                <a:cs typeface="Consolas" pitchFamily="34" charset="-120"/>
              </a:rPr>
              <a:t>25_troubleshooting.md</a:t>
            </a:r>
            <a:endParaRPr lang="en-US" sz="1100" dirty="0"/>
          </a:p>
        </p:txBody>
      </p:sp>
      <p:sp>
        <p:nvSpPr>
          <p:cNvPr id="3" name="Text 1"/>
          <p:cNvSpPr/>
          <p:nvPr/>
        </p:nvSpPr>
        <p:spPr>
          <a:xfrm>
            <a:off x="365760" y="548640"/>
            <a:ext cx="11430000" cy="640080"/>
          </a:xfrm>
          <a:prstGeom prst="rect">
            <a:avLst/>
          </a:prstGeom>
          <a:noFill/>
          <a:ln/>
        </p:spPr>
        <p:txBody>
          <a:bodyPr wrap="square" lIns="0" tIns="0" rIns="0" bIns="0" rtlCol="0" anchor="ctr"/>
          <a:lstStyle/>
          <a:p>
            <a:pPr indent="0" marL="0">
              <a:buNone/>
            </a:pPr>
            <a:r>
              <a:rPr lang="en-US" sz="3000" b="1" dirty="0">
                <a:solidFill>
                  <a:srgbClr val="E6EDF3"/>
                </a:solidFill>
                <a:latin typeface="Consolas" pitchFamily="34" charset="0"/>
                <a:ea typeface="Consolas" pitchFamily="34" charset="-122"/>
                <a:cs typeface="Consolas" pitchFamily="34" charset="-120"/>
              </a:rPr>
              <a:t>Troubleshooting cheat sheet</a:t>
            </a:r>
            <a:endParaRPr lang="en-US" sz="3000" dirty="0"/>
          </a:p>
        </p:txBody>
      </p:sp>
      <p:sp>
        <p:nvSpPr>
          <p:cNvPr id="4" name="Text 2"/>
          <p:cNvSpPr/>
          <p:nvPr/>
        </p:nvSpPr>
        <p:spPr>
          <a:xfrm>
            <a:off x="365760" y="1143000"/>
            <a:ext cx="11430000" cy="365760"/>
          </a:xfrm>
          <a:prstGeom prst="rect">
            <a:avLst/>
          </a:prstGeom>
          <a:noFill/>
          <a:ln/>
        </p:spPr>
        <p:txBody>
          <a:bodyPr wrap="square" lIns="0" tIns="0" rIns="0" bIns="0" rtlCol="0" anchor="ctr"/>
          <a:lstStyle/>
          <a:p>
            <a:pPr indent="0" marL="0">
              <a:buNone/>
            </a:pPr>
            <a:r>
              <a:rPr lang="en-US" sz="1400" i="1" dirty="0">
                <a:solidFill>
                  <a:srgbClr val="8B949E"/>
                </a:solidFill>
                <a:latin typeface="Calibri" pitchFamily="34" charset="0"/>
                <a:ea typeface="Calibri" pitchFamily="34" charset="-122"/>
                <a:cs typeface="Calibri" pitchFamily="34" charset="-120"/>
              </a:rPr>
              <a:t>Những lỗi phổ biến và cách thoát nhanh</a:t>
            </a:r>
            <a:endParaRPr lang="en-US" sz="1400" dirty="0"/>
          </a:p>
        </p:txBody>
      </p:sp>
      <p:sp>
        <p:nvSpPr>
          <p:cNvPr id="5" name="Shape 3"/>
          <p:cNvSpPr/>
          <p:nvPr/>
        </p:nvSpPr>
        <p:spPr>
          <a:xfrm>
            <a:off x="365760" y="1783080"/>
            <a:ext cx="11430000" cy="566928"/>
          </a:xfrm>
          <a:prstGeom prst="rect">
            <a:avLst/>
          </a:prstGeom>
          <a:solidFill>
            <a:srgbClr val="161B22"/>
          </a:solidFill>
          <a:ln w="12700">
            <a:solidFill>
              <a:srgbClr val="30363D"/>
            </a:solidFill>
            <a:prstDash val="solid"/>
          </a:ln>
        </p:spPr>
      </p:sp>
      <p:sp>
        <p:nvSpPr>
          <p:cNvPr id="6" name="Shape 4"/>
          <p:cNvSpPr/>
          <p:nvPr/>
        </p:nvSpPr>
        <p:spPr>
          <a:xfrm>
            <a:off x="365760" y="1783080"/>
            <a:ext cx="73152" cy="566928"/>
          </a:xfrm>
          <a:prstGeom prst="rect">
            <a:avLst/>
          </a:prstGeom>
          <a:solidFill>
            <a:srgbClr val="D29922"/>
          </a:solidFill>
          <a:ln w="12700">
            <a:solidFill>
              <a:srgbClr val="D29922"/>
            </a:solidFill>
            <a:prstDash val="solid"/>
          </a:ln>
        </p:spPr>
      </p:sp>
      <p:sp>
        <p:nvSpPr>
          <p:cNvPr id="7" name="Text 5"/>
          <p:cNvSpPr/>
          <p:nvPr/>
        </p:nvSpPr>
        <p:spPr>
          <a:xfrm>
            <a:off x="548640" y="1783080"/>
            <a:ext cx="3931920" cy="566928"/>
          </a:xfrm>
          <a:prstGeom prst="rect">
            <a:avLst/>
          </a:prstGeom>
          <a:noFill/>
          <a:ln/>
        </p:spPr>
        <p:txBody>
          <a:bodyPr wrap="square" lIns="0" tIns="0" rIns="0" bIns="0" rtlCol="0" anchor="ctr"/>
          <a:lstStyle/>
          <a:p>
            <a:pPr indent="0" marL="0">
              <a:buNone/>
            </a:pPr>
            <a:r>
              <a:rPr lang="en-US" sz="1200" b="1" dirty="0">
                <a:solidFill>
                  <a:srgbClr val="D29922"/>
                </a:solidFill>
                <a:latin typeface="Consolas" pitchFamily="34" charset="0"/>
                <a:ea typeface="Consolas" pitchFamily="34" charset="-122"/>
                <a:cs typeface="Consolas" pitchFamily="34" charset="-120"/>
              </a:rPr>
              <a:t>Pane 1 stuck ở dquote&gt;</a:t>
            </a:r>
            <a:endParaRPr lang="en-US" sz="1200" dirty="0"/>
          </a:p>
        </p:txBody>
      </p:sp>
      <p:sp>
        <p:nvSpPr>
          <p:cNvPr id="8" name="Text 6"/>
          <p:cNvSpPr/>
          <p:nvPr/>
        </p:nvSpPr>
        <p:spPr>
          <a:xfrm>
            <a:off x="4572000" y="1783080"/>
            <a:ext cx="7223760" cy="566928"/>
          </a:xfrm>
          <a:prstGeom prst="rect">
            <a:avLst/>
          </a:prstGeom>
          <a:noFill/>
          <a:ln/>
        </p:spPr>
        <p:txBody>
          <a:bodyPr wrap="square" lIns="0" tIns="0" rIns="0" bIns="0" rtlCol="0" anchor="ctr"/>
          <a:lstStyle/>
          <a:p>
            <a:pPr indent="0" marL="0">
              <a:buNone/>
            </a:pPr>
            <a:r>
              <a:rPr lang="en-US" sz="1100" dirty="0">
                <a:solidFill>
                  <a:srgbClr val="E6EDF3"/>
                </a:solidFill>
                <a:latin typeface="Consolas" pitchFamily="34" charset="0"/>
                <a:ea typeface="Consolas" pitchFamily="34" charset="-122"/>
                <a:cs typeface="Consolas" pitchFamily="34" charset="-120"/>
              </a:rPr>
              <a:t>Ctrl+C → auto-relaunch loop sẽ prompt Enter để vào lại TUI</a:t>
            </a:r>
            <a:endParaRPr lang="en-US" sz="1100" dirty="0"/>
          </a:p>
        </p:txBody>
      </p:sp>
      <p:sp>
        <p:nvSpPr>
          <p:cNvPr id="9" name="Shape 7"/>
          <p:cNvSpPr/>
          <p:nvPr/>
        </p:nvSpPr>
        <p:spPr>
          <a:xfrm>
            <a:off x="365760" y="2414016"/>
            <a:ext cx="11430000" cy="566928"/>
          </a:xfrm>
          <a:prstGeom prst="rect">
            <a:avLst/>
          </a:prstGeom>
          <a:solidFill>
            <a:srgbClr val="1C2128"/>
          </a:solidFill>
          <a:ln w="12700">
            <a:solidFill>
              <a:srgbClr val="30363D"/>
            </a:solidFill>
            <a:prstDash val="solid"/>
          </a:ln>
        </p:spPr>
      </p:sp>
      <p:sp>
        <p:nvSpPr>
          <p:cNvPr id="10" name="Shape 8"/>
          <p:cNvSpPr/>
          <p:nvPr/>
        </p:nvSpPr>
        <p:spPr>
          <a:xfrm>
            <a:off x="365760" y="2414016"/>
            <a:ext cx="73152" cy="566928"/>
          </a:xfrm>
          <a:prstGeom prst="rect">
            <a:avLst/>
          </a:prstGeom>
          <a:solidFill>
            <a:srgbClr val="D29922"/>
          </a:solidFill>
          <a:ln w="12700">
            <a:solidFill>
              <a:srgbClr val="D29922"/>
            </a:solidFill>
            <a:prstDash val="solid"/>
          </a:ln>
        </p:spPr>
      </p:sp>
      <p:sp>
        <p:nvSpPr>
          <p:cNvPr id="11" name="Text 9"/>
          <p:cNvSpPr/>
          <p:nvPr/>
        </p:nvSpPr>
        <p:spPr>
          <a:xfrm>
            <a:off x="548640" y="2414016"/>
            <a:ext cx="3931920" cy="566928"/>
          </a:xfrm>
          <a:prstGeom prst="rect">
            <a:avLst/>
          </a:prstGeom>
          <a:noFill/>
          <a:ln/>
        </p:spPr>
        <p:txBody>
          <a:bodyPr wrap="square" lIns="0" tIns="0" rIns="0" bIns="0" rtlCol="0" anchor="ctr"/>
          <a:lstStyle/>
          <a:p>
            <a:pPr indent="0" marL="0">
              <a:buNone/>
            </a:pPr>
            <a:r>
              <a:rPr lang="en-US" sz="1200" b="1" dirty="0">
                <a:solidFill>
                  <a:srgbClr val="D29922"/>
                </a:solidFill>
                <a:latin typeface="Consolas" pitchFamily="34" charset="0"/>
                <a:ea typeface="Consolas" pitchFamily="34" charset="-122"/>
                <a:cs typeface="Consolas" pitchFamily="34" charset="-120"/>
              </a:rPr>
              <a:t>Orch nói routed nhưng không thấy</a:t>
            </a:r>
            <a:endParaRPr lang="en-US" sz="1200" dirty="0"/>
          </a:p>
        </p:txBody>
      </p:sp>
      <p:sp>
        <p:nvSpPr>
          <p:cNvPr id="12" name="Text 10"/>
          <p:cNvSpPr/>
          <p:nvPr/>
        </p:nvSpPr>
        <p:spPr>
          <a:xfrm>
            <a:off x="4572000" y="2414016"/>
            <a:ext cx="7223760" cy="566928"/>
          </a:xfrm>
          <a:prstGeom prst="rect">
            <a:avLst/>
          </a:prstGeom>
          <a:noFill/>
          <a:ln/>
        </p:spPr>
        <p:txBody>
          <a:bodyPr wrap="square" lIns="0" tIns="0" rIns="0" bIns="0" rtlCol="0" anchor="ctr"/>
          <a:lstStyle/>
          <a:p>
            <a:pPr indent="0" marL="0">
              <a:buNone/>
            </a:pPr>
            <a:r>
              <a:rPr lang="en-US" sz="1100" dirty="0">
                <a:solidFill>
                  <a:srgbClr val="E6EDF3"/>
                </a:solidFill>
                <a:latin typeface="Consolas" pitchFamily="34" charset="0"/>
                <a:ea typeface="Consolas" pitchFamily="34" charset="-122"/>
                <a:cs typeface="Consolas" pitchFamily="34" charset="-120"/>
              </a:rPr>
              <a:t>$ bash scripts/verify_routing.sh  — nếu trống, Orch chỉ chat, chưa thực sự bash</a:t>
            </a:r>
            <a:endParaRPr lang="en-US" sz="1100" dirty="0"/>
          </a:p>
        </p:txBody>
      </p:sp>
      <p:sp>
        <p:nvSpPr>
          <p:cNvPr id="13" name="Shape 11"/>
          <p:cNvSpPr/>
          <p:nvPr/>
        </p:nvSpPr>
        <p:spPr>
          <a:xfrm>
            <a:off x="365760" y="3044952"/>
            <a:ext cx="11430000" cy="566928"/>
          </a:xfrm>
          <a:prstGeom prst="rect">
            <a:avLst/>
          </a:prstGeom>
          <a:solidFill>
            <a:srgbClr val="161B22"/>
          </a:solidFill>
          <a:ln w="12700">
            <a:solidFill>
              <a:srgbClr val="30363D"/>
            </a:solidFill>
            <a:prstDash val="solid"/>
          </a:ln>
        </p:spPr>
      </p:sp>
      <p:sp>
        <p:nvSpPr>
          <p:cNvPr id="14" name="Shape 12"/>
          <p:cNvSpPr/>
          <p:nvPr/>
        </p:nvSpPr>
        <p:spPr>
          <a:xfrm>
            <a:off x="365760" y="3044952"/>
            <a:ext cx="73152" cy="566928"/>
          </a:xfrm>
          <a:prstGeom prst="rect">
            <a:avLst/>
          </a:prstGeom>
          <a:solidFill>
            <a:srgbClr val="D29922"/>
          </a:solidFill>
          <a:ln w="12700">
            <a:solidFill>
              <a:srgbClr val="D29922"/>
            </a:solidFill>
            <a:prstDash val="solid"/>
          </a:ln>
        </p:spPr>
      </p:sp>
      <p:sp>
        <p:nvSpPr>
          <p:cNvPr id="15" name="Text 13"/>
          <p:cNvSpPr/>
          <p:nvPr/>
        </p:nvSpPr>
        <p:spPr>
          <a:xfrm>
            <a:off x="548640" y="3044952"/>
            <a:ext cx="3931920" cy="566928"/>
          </a:xfrm>
          <a:prstGeom prst="rect">
            <a:avLst/>
          </a:prstGeom>
          <a:noFill/>
          <a:ln/>
        </p:spPr>
        <p:txBody>
          <a:bodyPr wrap="square" lIns="0" tIns="0" rIns="0" bIns="0" rtlCol="0" anchor="ctr"/>
          <a:lstStyle/>
          <a:p>
            <a:pPr indent="0" marL="0">
              <a:buNone/>
            </a:pPr>
            <a:r>
              <a:rPr lang="en-US" sz="1200" b="1" dirty="0">
                <a:solidFill>
                  <a:srgbClr val="D29922"/>
                </a:solidFill>
                <a:latin typeface="Consolas" pitchFamily="34" charset="0"/>
                <a:ea typeface="Consolas" pitchFamily="34" charset="-122"/>
                <a:cs typeface="Consolas" pitchFamily="34" charset="-120"/>
              </a:rPr>
              <a:t>Có Q pending mà Orch im lặng</a:t>
            </a:r>
            <a:endParaRPr lang="en-US" sz="1200" dirty="0"/>
          </a:p>
        </p:txBody>
      </p:sp>
      <p:sp>
        <p:nvSpPr>
          <p:cNvPr id="16" name="Text 14"/>
          <p:cNvSpPr/>
          <p:nvPr/>
        </p:nvSpPr>
        <p:spPr>
          <a:xfrm>
            <a:off x="4572000" y="3044952"/>
            <a:ext cx="7223760" cy="566928"/>
          </a:xfrm>
          <a:prstGeom prst="rect">
            <a:avLst/>
          </a:prstGeom>
          <a:noFill/>
          <a:ln/>
        </p:spPr>
        <p:txBody>
          <a:bodyPr wrap="square" lIns="0" tIns="0" rIns="0" bIns="0" rtlCol="0" anchor="ctr"/>
          <a:lstStyle/>
          <a:p>
            <a:pPr indent="0" marL="0">
              <a:buNone/>
            </a:pPr>
            <a:r>
              <a:rPr lang="en-US" sz="1100" dirty="0">
                <a:solidFill>
                  <a:srgbClr val="E6EDF3"/>
                </a:solidFill>
                <a:latin typeface="Consolas" pitchFamily="34" charset="0"/>
                <a:ea typeface="Consolas" pitchFamily="34" charset="-122"/>
                <a:cs typeface="Consolas" pitchFamily="34" charset="-120"/>
              </a:rPr>
              <a:t>Gõ 'có câu hỏi gì pending không?' — Orch chạy list_pending_questions.sh</a:t>
            </a:r>
            <a:endParaRPr lang="en-US" sz="1100" dirty="0"/>
          </a:p>
        </p:txBody>
      </p:sp>
      <p:sp>
        <p:nvSpPr>
          <p:cNvPr id="17" name="Shape 15"/>
          <p:cNvSpPr/>
          <p:nvPr/>
        </p:nvSpPr>
        <p:spPr>
          <a:xfrm>
            <a:off x="365760" y="3675888"/>
            <a:ext cx="11430000" cy="566928"/>
          </a:xfrm>
          <a:prstGeom prst="rect">
            <a:avLst/>
          </a:prstGeom>
          <a:solidFill>
            <a:srgbClr val="1C2128"/>
          </a:solidFill>
          <a:ln w="12700">
            <a:solidFill>
              <a:srgbClr val="30363D"/>
            </a:solidFill>
            <a:prstDash val="solid"/>
          </a:ln>
        </p:spPr>
      </p:sp>
      <p:sp>
        <p:nvSpPr>
          <p:cNvPr id="18" name="Shape 16"/>
          <p:cNvSpPr/>
          <p:nvPr/>
        </p:nvSpPr>
        <p:spPr>
          <a:xfrm>
            <a:off x="365760" y="3675888"/>
            <a:ext cx="73152" cy="566928"/>
          </a:xfrm>
          <a:prstGeom prst="rect">
            <a:avLst/>
          </a:prstGeom>
          <a:solidFill>
            <a:srgbClr val="D29922"/>
          </a:solidFill>
          <a:ln w="12700">
            <a:solidFill>
              <a:srgbClr val="D29922"/>
            </a:solidFill>
            <a:prstDash val="solid"/>
          </a:ln>
        </p:spPr>
      </p:sp>
      <p:sp>
        <p:nvSpPr>
          <p:cNvPr id="19" name="Text 17"/>
          <p:cNvSpPr/>
          <p:nvPr/>
        </p:nvSpPr>
        <p:spPr>
          <a:xfrm>
            <a:off x="548640" y="3675888"/>
            <a:ext cx="3931920" cy="566928"/>
          </a:xfrm>
          <a:prstGeom prst="rect">
            <a:avLst/>
          </a:prstGeom>
          <a:noFill/>
          <a:ln/>
        </p:spPr>
        <p:txBody>
          <a:bodyPr wrap="square" lIns="0" tIns="0" rIns="0" bIns="0" rtlCol="0" anchor="ctr"/>
          <a:lstStyle/>
          <a:p>
            <a:pPr indent="0" marL="0">
              <a:buNone/>
            </a:pPr>
            <a:r>
              <a:rPr lang="en-US" sz="1200" b="1" dirty="0">
                <a:solidFill>
                  <a:srgbClr val="D29922"/>
                </a:solidFill>
                <a:latin typeface="Consolas" pitchFamily="34" charset="0"/>
                <a:ea typeface="Consolas" pitchFamily="34" charset="-122"/>
                <a:cs typeface="Consolas" pitchFamily="34" charset="-120"/>
              </a:rPr>
              <a:t>DELIVERY refuse deploy</a:t>
            </a:r>
            <a:endParaRPr lang="en-US" sz="1200" dirty="0"/>
          </a:p>
        </p:txBody>
      </p:sp>
      <p:sp>
        <p:nvSpPr>
          <p:cNvPr id="20" name="Text 18"/>
          <p:cNvSpPr/>
          <p:nvPr/>
        </p:nvSpPr>
        <p:spPr>
          <a:xfrm>
            <a:off x="4572000" y="3675888"/>
            <a:ext cx="7223760" cy="566928"/>
          </a:xfrm>
          <a:prstGeom prst="rect">
            <a:avLst/>
          </a:prstGeom>
          <a:noFill/>
          <a:ln/>
        </p:spPr>
        <p:txBody>
          <a:bodyPr wrap="square" lIns="0" tIns="0" rIns="0" bIns="0" rtlCol="0" anchor="ctr"/>
          <a:lstStyle/>
          <a:p>
            <a:pPr indent="0" marL="0">
              <a:buNone/>
            </a:pPr>
            <a:r>
              <a:rPr lang="en-US" sz="1100" dirty="0">
                <a:solidFill>
                  <a:srgbClr val="E6EDF3"/>
                </a:solidFill>
                <a:latin typeface="Consolas" pitchFamily="34" charset="0"/>
                <a:ea typeface="Consolas" pitchFamily="34" charset="-122"/>
                <a:cs typeface="Consolas" pitchFamily="34" charset="-120"/>
              </a:rPr>
              <a:t>Đọc reports/TEST_REPORT.md + BUG_REPORT.md — fix blocker rồi re-route</a:t>
            </a:r>
            <a:endParaRPr lang="en-US" sz="1100" dirty="0"/>
          </a:p>
        </p:txBody>
      </p:sp>
      <p:sp>
        <p:nvSpPr>
          <p:cNvPr id="21" name="Shape 19"/>
          <p:cNvSpPr/>
          <p:nvPr/>
        </p:nvSpPr>
        <p:spPr>
          <a:xfrm>
            <a:off x="365760" y="4306824"/>
            <a:ext cx="11430000" cy="566928"/>
          </a:xfrm>
          <a:prstGeom prst="rect">
            <a:avLst/>
          </a:prstGeom>
          <a:solidFill>
            <a:srgbClr val="161B22"/>
          </a:solidFill>
          <a:ln w="12700">
            <a:solidFill>
              <a:srgbClr val="30363D"/>
            </a:solidFill>
            <a:prstDash val="solid"/>
          </a:ln>
        </p:spPr>
      </p:sp>
      <p:sp>
        <p:nvSpPr>
          <p:cNvPr id="22" name="Shape 20"/>
          <p:cNvSpPr/>
          <p:nvPr/>
        </p:nvSpPr>
        <p:spPr>
          <a:xfrm>
            <a:off x="365760" y="4306824"/>
            <a:ext cx="73152" cy="566928"/>
          </a:xfrm>
          <a:prstGeom prst="rect">
            <a:avLst/>
          </a:prstGeom>
          <a:solidFill>
            <a:srgbClr val="D29922"/>
          </a:solidFill>
          <a:ln w="12700">
            <a:solidFill>
              <a:srgbClr val="D29922"/>
            </a:solidFill>
            <a:prstDash val="solid"/>
          </a:ln>
        </p:spPr>
      </p:sp>
      <p:sp>
        <p:nvSpPr>
          <p:cNvPr id="23" name="Text 21"/>
          <p:cNvSpPr/>
          <p:nvPr/>
        </p:nvSpPr>
        <p:spPr>
          <a:xfrm>
            <a:off x="548640" y="4306824"/>
            <a:ext cx="3931920" cy="566928"/>
          </a:xfrm>
          <a:prstGeom prst="rect">
            <a:avLst/>
          </a:prstGeom>
          <a:noFill/>
          <a:ln/>
        </p:spPr>
        <p:txBody>
          <a:bodyPr wrap="square" lIns="0" tIns="0" rIns="0" bIns="0" rtlCol="0" anchor="ctr"/>
          <a:lstStyle/>
          <a:p>
            <a:pPr indent="0" marL="0">
              <a:buNone/>
            </a:pPr>
            <a:r>
              <a:rPr lang="en-US" sz="1200" b="1" dirty="0">
                <a:solidFill>
                  <a:srgbClr val="D29922"/>
                </a:solidFill>
                <a:latin typeface="Consolas" pitchFamily="34" charset="0"/>
                <a:ea typeface="Consolas" pitchFamily="34" charset="-122"/>
                <a:cs typeface="Consolas" pitchFamily="34" charset="-120"/>
              </a:rPr>
              <a:t>Build fails — DELIVERY tự sửa FE</a:t>
            </a:r>
            <a:endParaRPr lang="en-US" sz="1200" dirty="0"/>
          </a:p>
        </p:txBody>
      </p:sp>
      <p:sp>
        <p:nvSpPr>
          <p:cNvPr id="24" name="Text 22"/>
          <p:cNvSpPr/>
          <p:nvPr/>
        </p:nvSpPr>
        <p:spPr>
          <a:xfrm>
            <a:off x="4572000" y="4306824"/>
            <a:ext cx="7223760" cy="566928"/>
          </a:xfrm>
          <a:prstGeom prst="rect">
            <a:avLst/>
          </a:prstGeom>
          <a:noFill/>
          <a:ln/>
        </p:spPr>
        <p:txBody>
          <a:bodyPr wrap="square" lIns="0" tIns="0" rIns="0" bIns="0" rtlCol="0" anchor="ctr"/>
          <a:lstStyle/>
          <a:p>
            <a:pPr indent="0" marL="0">
              <a:buNone/>
            </a:pPr>
            <a:r>
              <a:rPr lang="en-US" sz="1100" dirty="0">
                <a:solidFill>
                  <a:srgbClr val="E6EDF3"/>
                </a:solidFill>
                <a:latin typeface="Consolas" pitchFamily="34" charset="0"/>
                <a:ea typeface="Consolas" pitchFamily="34" charset="-122"/>
                <a:cs typeface="Consolas" pitchFamily="34" charset="-120"/>
              </a:rPr>
              <a:t>Stop. Re-route DELIVERY với hint follow Build Failure Routing Protocol</a:t>
            </a:r>
            <a:endParaRPr lang="en-US" sz="1100" dirty="0"/>
          </a:p>
        </p:txBody>
      </p:sp>
      <p:sp>
        <p:nvSpPr>
          <p:cNvPr id="25" name="Shape 23"/>
          <p:cNvSpPr/>
          <p:nvPr/>
        </p:nvSpPr>
        <p:spPr>
          <a:xfrm>
            <a:off x="365760" y="4937760"/>
            <a:ext cx="11430000" cy="566928"/>
          </a:xfrm>
          <a:prstGeom prst="rect">
            <a:avLst/>
          </a:prstGeom>
          <a:solidFill>
            <a:srgbClr val="1C2128"/>
          </a:solidFill>
          <a:ln w="12700">
            <a:solidFill>
              <a:srgbClr val="30363D"/>
            </a:solidFill>
            <a:prstDash val="solid"/>
          </a:ln>
        </p:spPr>
      </p:sp>
      <p:sp>
        <p:nvSpPr>
          <p:cNvPr id="26" name="Shape 24"/>
          <p:cNvSpPr/>
          <p:nvPr/>
        </p:nvSpPr>
        <p:spPr>
          <a:xfrm>
            <a:off x="365760" y="4937760"/>
            <a:ext cx="73152" cy="566928"/>
          </a:xfrm>
          <a:prstGeom prst="rect">
            <a:avLst/>
          </a:prstGeom>
          <a:solidFill>
            <a:srgbClr val="D29922"/>
          </a:solidFill>
          <a:ln w="12700">
            <a:solidFill>
              <a:srgbClr val="D29922"/>
            </a:solidFill>
            <a:prstDash val="solid"/>
          </a:ln>
        </p:spPr>
      </p:sp>
      <p:sp>
        <p:nvSpPr>
          <p:cNvPr id="27" name="Text 25"/>
          <p:cNvSpPr/>
          <p:nvPr/>
        </p:nvSpPr>
        <p:spPr>
          <a:xfrm>
            <a:off x="548640" y="4937760"/>
            <a:ext cx="3931920" cy="566928"/>
          </a:xfrm>
          <a:prstGeom prst="rect">
            <a:avLst/>
          </a:prstGeom>
          <a:noFill/>
          <a:ln/>
        </p:spPr>
        <p:txBody>
          <a:bodyPr wrap="square" lIns="0" tIns="0" rIns="0" bIns="0" rtlCol="0" anchor="ctr"/>
          <a:lstStyle/>
          <a:p>
            <a:pPr indent="0" marL="0">
              <a:buNone/>
            </a:pPr>
            <a:r>
              <a:rPr lang="en-US" sz="1200" b="1" dirty="0">
                <a:solidFill>
                  <a:srgbClr val="D29922"/>
                </a:solidFill>
                <a:latin typeface="Consolas" pitchFamily="34" charset="0"/>
                <a:ea typeface="Consolas" pitchFamily="34" charset="-122"/>
                <a:cs typeface="Consolas" pitchFamily="34" charset="-120"/>
              </a:rPr>
              <a:t>Model not found</a:t>
            </a:r>
            <a:endParaRPr lang="en-US" sz="1200" dirty="0"/>
          </a:p>
        </p:txBody>
      </p:sp>
      <p:sp>
        <p:nvSpPr>
          <p:cNvPr id="28" name="Text 26"/>
          <p:cNvSpPr/>
          <p:nvPr/>
        </p:nvSpPr>
        <p:spPr>
          <a:xfrm>
            <a:off x="4572000" y="4937760"/>
            <a:ext cx="7223760" cy="566928"/>
          </a:xfrm>
          <a:prstGeom prst="rect">
            <a:avLst/>
          </a:prstGeom>
          <a:noFill/>
          <a:ln/>
        </p:spPr>
        <p:txBody>
          <a:bodyPr wrap="square" lIns="0" tIns="0" rIns="0" bIns="0" rtlCol="0" anchor="ctr"/>
          <a:lstStyle/>
          <a:p>
            <a:pPr indent="0" marL="0">
              <a:buNone/>
            </a:pPr>
            <a:r>
              <a:rPr lang="en-US" sz="1100" dirty="0">
                <a:solidFill>
                  <a:srgbClr val="E6EDF3"/>
                </a:solidFill>
                <a:latin typeface="Consolas" pitchFamily="34" charset="0"/>
                <a:ea typeface="Consolas" pitchFamily="34" charset="-122"/>
                <a:cs typeface="Consolas" pitchFamily="34" charset="-120"/>
              </a:rPr>
              <a:t>$ bash scripts/check_models.sh &lt;engine&gt; — fix config/engines/&lt;engine&gt;.env</a:t>
            </a:r>
            <a:endParaRPr lang="en-US" sz="1100" dirty="0"/>
          </a:p>
        </p:txBody>
      </p:sp>
      <p:sp>
        <p:nvSpPr>
          <p:cNvPr id="29" name="Shape 27"/>
          <p:cNvSpPr/>
          <p:nvPr/>
        </p:nvSpPr>
        <p:spPr>
          <a:xfrm>
            <a:off x="365760" y="5568696"/>
            <a:ext cx="11430000" cy="566928"/>
          </a:xfrm>
          <a:prstGeom prst="rect">
            <a:avLst/>
          </a:prstGeom>
          <a:solidFill>
            <a:srgbClr val="161B22"/>
          </a:solidFill>
          <a:ln w="12700">
            <a:solidFill>
              <a:srgbClr val="30363D"/>
            </a:solidFill>
            <a:prstDash val="solid"/>
          </a:ln>
        </p:spPr>
      </p:sp>
      <p:sp>
        <p:nvSpPr>
          <p:cNvPr id="30" name="Shape 28"/>
          <p:cNvSpPr/>
          <p:nvPr/>
        </p:nvSpPr>
        <p:spPr>
          <a:xfrm>
            <a:off x="365760" y="5568696"/>
            <a:ext cx="73152" cy="566928"/>
          </a:xfrm>
          <a:prstGeom prst="rect">
            <a:avLst/>
          </a:prstGeom>
          <a:solidFill>
            <a:srgbClr val="D29922"/>
          </a:solidFill>
          <a:ln w="12700">
            <a:solidFill>
              <a:srgbClr val="D29922"/>
            </a:solidFill>
            <a:prstDash val="solid"/>
          </a:ln>
        </p:spPr>
      </p:sp>
      <p:sp>
        <p:nvSpPr>
          <p:cNvPr id="31" name="Text 29"/>
          <p:cNvSpPr/>
          <p:nvPr/>
        </p:nvSpPr>
        <p:spPr>
          <a:xfrm>
            <a:off x="548640" y="5568696"/>
            <a:ext cx="3931920" cy="566928"/>
          </a:xfrm>
          <a:prstGeom prst="rect">
            <a:avLst/>
          </a:prstGeom>
          <a:noFill/>
          <a:ln/>
        </p:spPr>
        <p:txBody>
          <a:bodyPr wrap="square" lIns="0" tIns="0" rIns="0" bIns="0" rtlCol="0" anchor="ctr"/>
          <a:lstStyle/>
          <a:p>
            <a:pPr indent="0" marL="0">
              <a:buNone/>
            </a:pPr>
            <a:r>
              <a:rPr lang="en-US" sz="1200" b="1" dirty="0">
                <a:solidFill>
                  <a:srgbClr val="D29922"/>
                </a:solidFill>
                <a:latin typeface="Consolas" pitchFamily="34" charset="0"/>
                <a:ea typeface="Consolas" pitchFamily="34" charset="-122"/>
                <a:cs typeface="Consolas" pitchFamily="34" charset="-120"/>
              </a:rPr>
              <a:t>memory/ drift khỏi reality</a:t>
            </a:r>
            <a:endParaRPr lang="en-US" sz="1200" dirty="0"/>
          </a:p>
        </p:txBody>
      </p:sp>
      <p:sp>
        <p:nvSpPr>
          <p:cNvPr id="32" name="Text 30"/>
          <p:cNvSpPr/>
          <p:nvPr/>
        </p:nvSpPr>
        <p:spPr>
          <a:xfrm>
            <a:off x="4572000" y="5568696"/>
            <a:ext cx="7223760" cy="566928"/>
          </a:xfrm>
          <a:prstGeom prst="rect">
            <a:avLst/>
          </a:prstGeom>
          <a:noFill/>
          <a:ln/>
        </p:spPr>
        <p:txBody>
          <a:bodyPr wrap="square" lIns="0" tIns="0" rIns="0" bIns="0" rtlCol="0" anchor="ctr"/>
          <a:lstStyle/>
          <a:p>
            <a:pPr indent="0" marL="0">
              <a:buNone/>
            </a:pPr>
            <a:r>
              <a:rPr lang="en-US" sz="1100" dirty="0">
                <a:solidFill>
                  <a:srgbClr val="E6EDF3"/>
                </a:solidFill>
                <a:latin typeface="Consolas" pitchFamily="34" charset="0"/>
                <a:ea typeface="Consolas" pitchFamily="34" charset="-122"/>
                <a:cs typeface="Consolas" pitchFamily="34" charset="-120"/>
              </a:rPr>
              <a:t>$ bash scripts/rescan_project.sh — Orch update memory/_PROJECT_STATE.md</a:t>
            </a:r>
            <a:endParaRPr lang="en-US" sz="1100" dirty="0"/>
          </a:p>
        </p:txBody>
      </p:sp>
      <p:sp>
        <p:nvSpPr>
          <p:cNvPr id="33" name="Text 31"/>
          <p:cNvSpPr/>
          <p:nvPr/>
        </p:nvSpPr>
        <p:spPr>
          <a:xfrm>
            <a:off x="11338560" y="6492240"/>
            <a:ext cx="731520" cy="228600"/>
          </a:xfrm>
          <a:prstGeom prst="rect">
            <a:avLst/>
          </a:prstGeom>
          <a:noFill/>
          <a:ln/>
        </p:spPr>
        <p:txBody>
          <a:bodyPr wrap="square" lIns="0" tIns="0" rIns="0" bIns="0" rtlCol="0" anchor="ctr"/>
          <a:lstStyle/>
          <a:p>
            <a:pPr algn="r" indent="0" marL="0">
              <a:buNone/>
            </a:pPr>
            <a:r>
              <a:rPr lang="en-US" sz="900" dirty="0">
                <a:solidFill>
                  <a:srgbClr val="8B949E"/>
                </a:solidFill>
                <a:latin typeface="Consolas" pitchFamily="34" charset="0"/>
                <a:ea typeface="Consolas" pitchFamily="34" charset="-122"/>
                <a:cs typeface="Consolas" pitchFamily="34" charset="-120"/>
              </a:rPr>
              <a:t>29 / 32</a:t>
            </a:r>
            <a:endParaRPr lang="en-US" sz="900" dirty="0"/>
          </a:p>
        </p:txBody>
      </p:sp>
      <p:sp>
        <p:nvSpPr>
          <p:cNvPr id="34" name="Text 32"/>
          <p:cNvSpPr/>
          <p:nvPr/>
        </p:nvSpPr>
        <p:spPr>
          <a:xfrm>
            <a:off x="365760" y="6492240"/>
            <a:ext cx="1097280" cy="228600"/>
          </a:xfrm>
          <a:prstGeom prst="rect">
            <a:avLst/>
          </a:prstGeom>
          <a:noFill/>
          <a:ln/>
        </p:spPr>
        <p:txBody>
          <a:bodyPr wrap="square" lIns="0" tIns="0" rIns="0" bIns="0" rtlCol="0" anchor="ctr"/>
          <a:lstStyle/>
          <a:p>
            <a:pPr algn="l" indent="0" marL="0">
              <a:buNone/>
            </a:pPr>
            <a:r>
              <a:rPr lang="en-US" sz="900" dirty="0">
                <a:solidFill>
                  <a:srgbClr val="8B949E"/>
                </a:solidFill>
                <a:latin typeface="Consolas" pitchFamily="34" charset="0"/>
                <a:ea typeface="Consolas" pitchFamily="34" charset="-122"/>
                <a:cs typeface="Consolas" pitchFamily="34" charset="-120"/>
              </a:rPr>
              <a:t>v10.12</a:t>
            </a:r>
            <a:endParaRPr lang="en-US" sz="900" dirty="0"/>
          </a:p>
        </p:txBody>
      </p:sp>
      <p:sp>
        <p:nvSpPr>
          <p:cNvPr id="35" name="Text 33"/>
          <p:cNvSpPr/>
          <p:nvPr/>
        </p:nvSpPr>
        <p:spPr>
          <a:xfrm>
            <a:off x="4572000" y="6492240"/>
            <a:ext cx="6400800" cy="228600"/>
          </a:xfrm>
          <a:prstGeom prst="rect">
            <a:avLst/>
          </a:prstGeom>
          <a:noFill/>
          <a:ln/>
        </p:spPr>
        <p:txBody>
          <a:bodyPr wrap="square" lIns="0" tIns="0" rIns="0" bIns="0" rtlCol="0" anchor="ctr"/>
          <a:lstStyle/>
          <a:p>
            <a:pPr algn="ctr" indent="0" marL="0">
              <a:buNone/>
            </a:pPr>
            <a:r>
              <a:rPr lang="en-US" sz="900" dirty="0">
                <a:solidFill>
                  <a:srgbClr val="8B949E"/>
                </a:solidFill>
                <a:latin typeface="Consolas" pitchFamily="34" charset="0"/>
                <a:ea typeface="Consolas" pitchFamily="34" charset="-122"/>
                <a:cs typeface="Consolas" pitchFamily="34" charset="-120"/>
              </a:rPr>
              <a:t>Product Engineering Agent Framework</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365760" y="228600"/>
            <a:ext cx="8229600" cy="274320"/>
          </a:xfrm>
          <a:prstGeom prst="rect">
            <a:avLst/>
          </a:prstGeom>
          <a:noFill/>
          <a:ln/>
        </p:spPr>
        <p:txBody>
          <a:bodyPr wrap="square" lIns="0" tIns="0" rIns="0" bIns="0" rtlCol="0" anchor="ctr"/>
          <a:lstStyle/>
          <a:p>
            <a:pPr indent="0" marL="0">
              <a:buNone/>
            </a:pPr>
            <a:r>
              <a:rPr lang="en-US" sz="1100" dirty="0">
                <a:solidFill>
                  <a:srgbClr val="2EA043"/>
                </a:solidFill>
                <a:latin typeface="Consolas" pitchFamily="34" charset="0"/>
                <a:ea typeface="Consolas" pitchFamily="34" charset="-122"/>
                <a:cs typeface="Consolas" pitchFamily="34" charset="-120"/>
              </a:rPr>
              <a:t>$ </a:t>
            </a:r>
            <a:pPr indent="0" marL="0">
              <a:buNone/>
            </a:pPr>
            <a:r>
              <a:rPr lang="en-US" sz="1100" dirty="0">
                <a:solidFill>
                  <a:srgbClr val="8B949E"/>
                </a:solidFill>
                <a:latin typeface="Consolas" pitchFamily="34" charset="0"/>
                <a:ea typeface="Consolas" pitchFamily="34" charset="-122"/>
                <a:cs typeface="Consolas" pitchFamily="34" charset="-120"/>
              </a:rPr>
              <a:t>26_version_history.md</a:t>
            </a:r>
            <a:endParaRPr lang="en-US" sz="1100" dirty="0"/>
          </a:p>
        </p:txBody>
      </p:sp>
      <p:sp>
        <p:nvSpPr>
          <p:cNvPr id="3" name="Text 1"/>
          <p:cNvSpPr/>
          <p:nvPr/>
        </p:nvSpPr>
        <p:spPr>
          <a:xfrm>
            <a:off x="365760" y="548640"/>
            <a:ext cx="11430000" cy="640080"/>
          </a:xfrm>
          <a:prstGeom prst="rect">
            <a:avLst/>
          </a:prstGeom>
          <a:noFill/>
          <a:ln/>
        </p:spPr>
        <p:txBody>
          <a:bodyPr wrap="square" lIns="0" tIns="0" rIns="0" bIns="0" rtlCol="0" anchor="ctr"/>
          <a:lstStyle/>
          <a:p>
            <a:pPr indent="0" marL="0">
              <a:buNone/>
            </a:pPr>
            <a:r>
              <a:rPr lang="en-US" sz="3000" b="1" dirty="0">
                <a:solidFill>
                  <a:srgbClr val="E6EDF3"/>
                </a:solidFill>
                <a:latin typeface="Consolas" pitchFamily="34" charset="0"/>
                <a:ea typeface="Consolas" pitchFamily="34" charset="-122"/>
                <a:cs typeface="Consolas" pitchFamily="34" charset="-120"/>
              </a:rPr>
              <a:t>Version history</a:t>
            </a:r>
            <a:endParaRPr lang="en-US" sz="3000" dirty="0"/>
          </a:p>
        </p:txBody>
      </p:sp>
      <p:sp>
        <p:nvSpPr>
          <p:cNvPr id="4" name="Text 2"/>
          <p:cNvSpPr/>
          <p:nvPr/>
        </p:nvSpPr>
        <p:spPr>
          <a:xfrm>
            <a:off x="365760" y="1143000"/>
            <a:ext cx="11430000" cy="365760"/>
          </a:xfrm>
          <a:prstGeom prst="rect">
            <a:avLst/>
          </a:prstGeom>
          <a:noFill/>
          <a:ln/>
        </p:spPr>
        <p:txBody>
          <a:bodyPr wrap="square" lIns="0" tIns="0" rIns="0" bIns="0" rtlCol="0" anchor="ctr"/>
          <a:lstStyle/>
          <a:p>
            <a:pPr indent="0" marL="0">
              <a:buNone/>
            </a:pPr>
            <a:r>
              <a:rPr lang="en-US" sz="1400" i="1" dirty="0">
                <a:solidFill>
                  <a:srgbClr val="8B949E"/>
                </a:solidFill>
                <a:latin typeface="Calibri" pitchFamily="34" charset="0"/>
                <a:ea typeface="Calibri" pitchFamily="34" charset="-122"/>
                <a:cs typeface="Calibri" pitchFamily="34" charset="-120"/>
              </a:rPr>
              <a:t>Từ ý tưởng cho tới v10.12 — mỗi bước thuần additive, không phá rule cũ</a:t>
            </a:r>
            <a:endParaRPr lang="en-US" sz="1400" dirty="0"/>
          </a:p>
        </p:txBody>
      </p:sp>
      <p:sp>
        <p:nvSpPr>
          <p:cNvPr id="5" name="Shape 3"/>
          <p:cNvSpPr/>
          <p:nvPr/>
        </p:nvSpPr>
        <p:spPr>
          <a:xfrm>
            <a:off x="365760" y="1783080"/>
            <a:ext cx="11430000" cy="310896"/>
          </a:xfrm>
          <a:prstGeom prst="rect">
            <a:avLst/>
          </a:prstGeom>
          <a:solidFill>
            <a:srgbClr val="161B22"/>
          </a:solidFill>
          <a:ln w="12700">
            <a:solidFill>
              <a:srgbClr val="30363D"/>
            </a:solidFill>
            <a:prstDash val="solid"/>
          </a:ln>
        </p:spPr>
      </p:sp>
      <p:sp>
        <p:nvSpPr>
          <p:cNvPr id="6" name="Text 4"/>
          <p:cNvSpPr/>
          <p:nvPr/>
        </p:nvSpPr>
        <p:spPr>
          <a:xfrm>
            <a:off x="502920" y="1783080"/>
            <a:ext cx="914400" cy="310896"/>
          </a:xfrm>
          <a:prstGeom prst="rect">
            <a:avLst/>
          </a:prstGeom>
          <a:noFill/>
          <a:ln/>
        </p:spPr>
        <p:txBody>
          <a:bodyPr wrap="square" lIns="0" tIns="0" rIns="0" bIns="0" rtlCol="0" anchor="ctr"/>
          <a:lstStyle/>
          <a:p>
            <a:pPr indent="0" marL="0">
              <a:buNone/>
            </a:pPr>
            <a:r>
              <a:rPr lang="en-US" sz="1000" b="1" dirty="0">
                <a:solidFill>
                  <a:srgbClr val="7CE38B"/>
                </a:solidFill>
                <a:latin typeface="Consolas" pitchFamily="34" charset="0"/>
                <a:ea typeface="Consolas" pitchFamily="34" charset="-122"/>
                <a:cs typeface="Consolas" pitchFamily="34" charset="-120"/>
              </a:rPr>
              <a:t>v10.0</a:t>
            </a:r>
            <a:endParaRPr lang="en-US" sz="1000" dirty="0"/>
          </a:p>
        </p:txBody>
      </p:sp>
      <p:sp>
        <p:nvSpPr>
          <p:cNvPr id="7" name="Text 5"/>
          <p:cNvSpPr/>
          <p:nvPr/>
        </p:nvSpPr>
        <p:spPr>
          <a:xfrm>
            <a:off x="1554480" y="1783080"/>
            <a:ext cx="10149840" cy="310896"/>
          </a:xfrm>
          <a:prstGeom prst="rect">
            <a:avLst/>
          </a:prstGeom>
          <a:noFill/>
          <a:ln/>
        </p:spPr>
        <p:txBody>
          <a:bodyPr wrap="square" lIns="0" tIns="0" rIns="0" bIns="0" rtlCol="0" anchor="ctr"/>
          <a:lstStyle/>
          <a:p>
            <a:pPr indent="0" marL="0">
              <a:buNone/>
            </a:pPr>
            <a:r>
              <a:rPr lang="en-US" sz="1000" dirty="0">
                <a:solidFill>
                  <a:srgbClr val="E6EDF3"/>
                </a:solidFill>
                <a:latin typeface="Calibri" pitchFamily="34" charset="0"/>
                <a:ea typeface="Calibri" pitchFamily="34" charset="-122"/>
                <a:cs typeface="Calibri" pitchFamily="34" charset="-120"/>
              </a:rPr>
              <a:t>Real config + Task subagent disabled + verify_routing</a:t>
            </a:r>
            <a:endParaRPr lang="en-US" sz="1000" dirty="0"/>
          </a:p>
        </p:txBody>
      </p:sp>
      <p:sp>
        <p:nvSpPr>
          <p:cNvPr id="8" name="Shape 6"/>
          <p:cNvSpPr/>
          <p:nvPr/>
        </p:nvSpPr>
        <p:spPr>
          <a:xfrm>
            <a:off x="365760" y="2112264"/>
            <a:ext cx="11430000" cy="310896"/>
          </a:xfrm>
          <a:prstGeom prst="rect">
            <a:avLst/>
          </a:prstGeom>
          <a:solidFill>
            <a:srgbClr val="1C2128"/>
          </a:solidFill>
          <a:ln w="12700">
            <a:solidFill>
              <a:srgbClr val="30363D"/>
            </a:solidFill>
            <a:prstDash val="solid"/>
          </a:ln>
        </p:spPr>
      </p:sp>
      <p:sp>
        <p:nvSpPr>
          <p:cNvPr id="9" name="Text 7"/>
          <p:cNvSpPr/>
          <p:nvPr/>
        </p:nvSpPr>
        <p:spPr>
          <a:xfrm>
            <a:off x="502920" y="2112264"/>
            <a:ext cx="914400" cy="310896"/>
          </a:xfrm>
          <a:prstGeom prst="rect">
            <a:avLst/>
          </a:prstGeom>
          <a:noFill/>
          <a:ln/>
        </p:spPr>
        <p:txBody>
          <a:bodyPr wrap="square" lIns="0" tIns="0" rIns="0" bIns="0" rtlCol="0" anchor="ctr"/>
          <a:lstStyle/>
          <a:p>
            <a:pPr indent="0" marL="0">
              <a:buNone/>
            </a:pPr>
            <a:r>
              <a:rPr lang="en-US" sz="1000" b="1" dirty="0">
                <a:solidFill>
                  <a:srgbClr val="7CE38B"/>
                </a:solidFill>
                <a:latin typeface="Consolas" pitchFamily="34" charset="0"/>
                <a:ea typeface="Consolas" pitchFamily="34" charset="-122"/>
                <a:cs typeface="Consolas" pitchFamily="34" charset="-120"/>
              </a:rPr>
              <a:t>v10.1</a:t>
            </a:r>
            <a:endParaRPr lang="en-US" sz="1000" dirty="0"/>
          </a:p>
        </p:txBody>
      </p:sp>
      <p:sp>
        <p:nvSpPr>
          <p:cNvPr id="10" name="Text 8"/>
          <p:cNvSpPr/>
          <p:nvPr/>
        </p:nvSpPr>
        <p:spPr>
          <a:xfrm>
            <a:off x="1554480" y="2112264"/>
            <a:ext cx="10149840" cy="310896"/>
          </a:xfrm>
          <a:prstGeom prst="rect">
            <a:avLst/>
          </a:prstGeom>
          <a:noFill/>
          <a:ln/>
        </p:spPr>
        <p:txBody>
          <a:bodyPr wrap="square" lIns="0" tIns="0" rIns="0" bIns="0" rtlCol="0" anchor="ctr"/>
          <a:lstStyle/>
          <a:p>
            <a:pPr indent="0" marL="0">
              <a:buNone/>
            </a:pPr>
            <a:r>
              <a:rPr lang="en-US" sz="1000" dirty="0">
                <a:solidFill>
                  <a:srgbClr val="E6EDF3"/>
                </a:solidFill>
                <a:latin typeface="Calibri" pitchFamily="34" charset="0"/>
                <a:ea typeface="Calibri" pitchFamily="34" charset="-122"/>
                <a:cs typeface="Calibri" pitchFamily="34" charset="-120"/>
              </a:rPr>
              <a:t>Drop --config flag; AGENTS.md autoload; kill racy auto-paste</a:t>
            </a:r>
            <a:endParaRPr lang="en-US" sz="1000" dirty="0"/>
          </a:p>
        </p:txBody>
      </p:sp>
      <p:sp>
        <p:nvSpPr>
          <p:cNvPr id="11" name="Shape 9"/>
          <p:cNvSpPr/>
          <p:nvPr/>
        </p:nvSpPr>
        <p:spPr>
          <a:xfrm>
            <a:off x="365760" y="2441448"/>
            <a:ext cx="11430000" cy="310896"/>
          </a:xfrm>
          <a:prstGeom prst="rect">
            <a:avLst/>
          </a:prstGeom>
          <a:solidFill>
            <a:srgbClr val="161B22"/>
          </a:solidFill>
          <a:ln w="12700">
            <a:solidFill>
              <a:srgbClr val="30363D"/>
            </a:solidFill>
            <a:prstDash val="solid"/>
          </a:ln>
        </p:spPr>
      </p:sp>
      <p:sp>
        <p:nvSpPr>
          <p:cNvPr id="12" name="Text 10"/>
          <p:cNvSpPr/>
          <p:nvPr/>
        </p:nvSpPr>
        <p:spPr>
          <a:xfrm>
            <a:off x="502920" y="2441448"/>
            <a:ext cx="914400" cy="310896"/>
          </a:xfrm>
          <a:prstGeom prst="rect">
            <a:avLst/>
          </a:prstGeom>
          <a:noFill/>
          <a:ln/>
        </p:spPr>
        <p:txBody>
          <a:bodyPr wrap="square" lIns="0" tIns="0" rIns="0" bIns="0" rtlCol="0" anchor="ctr"/>
          <a:lstStyle/>
          <a:p>
            <a:pPr indent="0" marL="0">
              <a:buNone/>
            </a:pPr>
            <a:r>
              <a:rPr lang="en-US" sz="1000" b="1" dirty="0">
                <a:solidFill>
                  <a:srgbClr val="7CE38B"/>
                </a:solidFill>
                <a:latin typeface="Consolas" pitchFamily="34" charset="0"/>
                <a:ea typeface="Consolas" pitchFamily="34" charset="-122"/>
                <a:cs typeface="Consolas" pitchFamily="34" charset="-120"/>
              </a:rPr>
              <a:t>v10.2</a:t>
            </a:r>
            <a:endParaRPr lang="en-US" sz="1000" dirty="0"/>
          </a:p>
        </p:txBody>
      </p:sp>
      <p:sp>
        <p:nvSpPr>
          <p:cNvPr id="13" name="Text 11"/>
          <p:cNvSpPr/>
          <p:nvPr/>
        </p:nvSpPr>
        <p:spPr>
          <a:xfrm>
            <a:off x="1554480" y="2441448"/>
            <a:ext cx="10149840" cy="310896"/>
          </a:xfrm>
          <a:prstGeom prst="rect">
            <a:avLst/>
          </a:prstGeom>
          <a:noFill/>
          <a:ln/>
        </p:spPr>
        <p:txBody>
          <a:bodyPr wrap="square" lIns="0" tIns="0" rIns="0" bIns="0" rtlCol="0" anchor="ctr"/>
          <a:lstStyle/>
          <a:p>
            <a:pPr indent="0" marL="0">
              <a:buNone/>
            </a:pPr>
            <a:r>
              <a:rPr lang="en-US" sz="1000" dirty="0">
                <a:solidFill>
                  <a:srgbClr val="E6EDF3"/>
                </a:solidFill>
                <a:latin typeface="Calibri" pitchFamily="34" charset="0"/>
                <a:ea typeface="Calibri" pitchFamily="34" charset="-122"/>
                <a:cs typeface="Calibri" pitchFamily="34" charset="-120"/>
              </a:rPr>
              <a:t>Clarification loop (ask/answer/list) + Orch auto-relaunch</a:t>
            </a:r>
            <a:endParaRPr lang="en-US" sz="1000" dirty="0"/>
          </a:p>
        </p:txBody>
      </p:sp>
      <p:sp>
        <p:nvSpPr>
          <p:cNvPr id="14" name="Shape 12"/>
          <p:cNvSpPr/>
          <p:nvPr/>
        </p:nvSpPr>
        <p:spPr>
          <a:xfrm>
            <a:off x="365760" y="2770632"/>
            <a:ext cx="11430000" cy="310896"/>
          </a:xfrm>
          <a:prstGeom prst="rect">
            <a:avLst/>
          </a:prstGeom>
          <a:solidFill>
            <a:srgbClr val="1C2128"/>
          </a:solidFill>
          <a:ln w="12700">
            <a:solidFill>
              <a:srgbClr val="30363D"/>
            </a:solidFill>
            <a:prstDash val="solid"/>
          </a:ln>
        </p:spPr>
      </p:sp>
      <p:sp>
        <p:nvSpPr>
          <p:cNvPr id="15" name="Text 13"/>
          <p:cNvSpPr/>
          <p:nvPr/>
        </p:nvSpPr>
        <p:spPr>
          <a:xfrm>
            <a:off x="502920" y="2770632"/>
            <a:ext cx="914400" cy="310896"/>
          </a:xfrm>
          <a:prstGeom prst="rect">
            <a:avLst/>
          </a:prstGeom>
          <a:noFill/>
          <a:ln/>
        </p:spPr>
        <p:txBody>
          <a:bodyPr wrap="square" lIns="0" tIns="0" rIns="0" bIns="0" rtlCol="0" anchor="ctr"/>
          <a:lstStyle/>
          <a:p>
            <a:pPr indent="0" marL="0">
              <a:buNone/>
            </a:pPr>
            <a:r>
              <a:rPr lang="en-US" sz="1000" b="1" dirty="0">
                <a:solidFill>
                  <a:srgbClr val="7CE38B"/>
                </a:solidFill>
                <a:latin typeface="Consolas" pitchFamily="34" charset="0"/>
                <a:ea typeface="Consolas" pitchFamily="34" charset="-122"/>
                <a:cs typeface="Consolas" pitchFamily="34" charset="-120"/>
              </a:rPr>
              <a:t>v10.3</a:t>
            </a:r>
            <a:endParaRPr lang="en-US" sz="1000" dirty="0"/>
          </a:p>
        </p:txBody>
      </p:sp>
      <p:sp>
        <p:nvSpPr>
          <p:cNvPr id="16" name="Text 14"/>
          <p:cNvSpPr/>
          <p:nvPr/>
        </p:nvSpPr>
        <p:spPr>
          <a:xfrm>
            <a:off x="1554480" y="2770632"/>
            <a:ext cx="10149840" cy="310896"/>
          </a:xfrm>
          <a:prstGeom prst="rect">
            <a:avLst/>
          </a:prstGeom>
          <a:noFill/>
          <a:ln/>
        </p:spPr>
        <p:txBody>
          <a:bodyPr wrap="square" lIns="0" tIns="0" rIns="0" bIns="0" rtlCol="0" anchor="ctr"/>
          <a:lstStyle/>
          <a:p>
            <a:pPr indent="0" marL="0">
              <a:buNone/>
            </a:pPr>
            <a:r>
              <a:rPr lang="en-US" sz="1000" dirty="0">
                <a:solidFill>
                  <a:srgbClr val="E6EDF3"/>
                </a:solidFill>
                <a:latin typeface="Calibri" pitchFamily="34" charset="0"/>
                <a:ea typeface="Calibri" pitchFamily="34" charset="-122"/>
                <a:cs typeface="Calibri" pitchFamily="34" charset="-120"/>
              </a:rPr>
              <a:t>QA verdict gate; DELIVERY ships end-to-end; notify_orchestrator</a:t>
            </a:r>
            <a:endParaRPr lang="en-US" sz="1000" dirty="0"/>
          </a:p>
        </p:txBody>
      </p:sp>
      <p:sp>
        <p:nvSpPr>
          <p:cNvPr id="17" name="Shape 15"/>
          <p:cNvSpPr/>
          <p:nvPr/>
        </p:nvSpPr>
        <p:spPr>
          <a:xfrm>
            <a:off x="365760" y="3099816"/>
            <a:ext cx="11430000" cy="310896"/>
          </a:xfrm>
          <a:prstGeom prst="rect">
            <a:avLst/>
          </a:prstGeom>
          <a:solidFill>
            <a:srgbClr val="161B22"/>
          </a:solidFill>
          <a:ln w="12700">
            <a:solidFill>
              <a:srgbClr val="30363D"/>
            </a:solidFill>
            <a:prstDash val="solid"/>
          </a:ln>
        </p:spPr>
      </p:sp>
      <p:sp>
        <p:nvSpPr>
          <p:cNvPr id="18" name="Text 16"/>
          <p:cNvSpPr/>
          <p:nvPr/>
        </p:nvSpPr>
        <p:spPr>
          <a:xfrm>
            <a:off x="502920" y="3099816"/>
            <a:ext cx="914400" cy="310896"/>
          </a:xfrm>
          <a:prstGeom prst="rect">
            <a:avLst/>
          </a:prstGeom>
          <a:noFill/>
          <a:ln/>
        </p:spPr>
        <p:txBody>
          <a:bodyPr wrap="square" lIns="0" tIns="0" rIns="0" bIns="0" rtlCol="0" anchor="ctr"/>
          <a:lstStyle/>
          <a:p>
            <a:pPr indent="0" marL="0">
              <a:buNone/>
            </a:pPr>
            <a:r>
              <a:rPr lang="en-US" sz="1000" b="1" dirty="0">
                <a:solidFill>
                  <a:srgbClr val="7CE38B"/>
                </a:solidFill>
                <a:latin typeface="Consolas" pitchFamily="34" charset="0"/>
                <a:ea typeface="Consolas" pitchFamily="34" charset="-122"/>
                <a:cs typeface="Consolas" pitchFamily="34" charset="-120"/>
              </a:rPr>
              <a:t>v10.4</a:t>
            </a:r>
            <a:endParaRPr lang="en-US" sz="1000" dirty="0"/>
          </a:p>
        </p:txBody>
      </p:sp>
      <p:sp>
        <p:nvSpPr>
          <p:cNvPr id="19" name="Text 17"/>
          <p:cNvSpPr/>
          <p:nvPr/>
        </p:nvSpPr>
        <p:spPr>
          <a:xfrm>
            <a:off x="1554480" y="3099816"/>
            <a:ext cx="10149840" cy="310896"/>
          </a:xfrm>
          <a:prstGeom prst="rect">
            <a:avLst/>
          </a:prstGeom>
          <a:noFill/>
          <a:ln/>
        </p:spPr>
        <p:txBody>
          <a:bodyPr wrap="square" lIns="0" tIns="0" rIns="0" bIns="0" rtlCol="0" anchor="ctr"/>
          <a:lstStyle/>
          <a:p>
            <a:pPr indent="0" marL="0">
              <a:buNone/>
            </a:pPr>
            <a:r>
              <a:rPr lang="en-US" sz="1000" dirty="0">
                <a:solidFill>
                  <a:srgbClr val="E6EDF3"/>
                </a:solidFill>
                <a:latin typeface="Calibri" pitchFamily="34" charset="0"/>
                <a:ea typeface="Calibri" pitchFamily="34" charset="-122"/>
                <a:cs typeface="Calibri" pitchFamily="34" charset="-120"/>
              </a:rPr>
              <a:t>Auto-wake Orchestrator via [INBOX] keystroke ping</a:t>
            </a:r>
            <a:endParaRPr lang="en-US" sz="1000" dirty="0"/>
          </a:p>
        </p:txBody>
      </p:sp>
      <p:sp>
        <p:nvSpPr>
          <p:cNvPr id="20" name="Shape 18"/>
          <p:cNvSpPr/>
          <p:nvPr/>
        </p:nvSpPr>
        <p:spPr>
          <a:xfrm>
            <a:off x="365760" y="3429000"/>
            <a:ext cx="11430000" cy="310896"/>
          </a:xfrm>
          <a:prstGeom prst="rect">
            <a:avLst/>
          </a:prstGeom>
          <a:solidFill>
            <a:srgbClr val="1C2128"/>
          </a:solidFill>
          <a:ln w="12700">
            <a:solidFill>
              <a:srgbClr val="30363D"/>
            </a:solidFill>
            <a:prstDash val="solid"/>
          </a:ln>
        </p:spPr>
      </p:sp>
      <p:sp>
        <p:nvSpPr>
          <p:cNvPr id="21" name="Text 19"/>
          <p:cNvSpPr/>
          <p:nvPr/>
        </p:nvSpPr>
        <p:spPr>
          <a:xfrm>
            <a:off x="502920" y="3429000"/>
            <a:ext cx="914400" cy="310896"/>
          </a:xfrm>
          <a:prstGeom prst="rect">
            <a:avLst/>
          </a:prstGeom>
          <a:noFill/>
          <a:ln/>
        </p:spPr>
        <p:txBody>
          <a:bodyPr wrap="square" lIns="0" tIns="0" rIns="0" bIns="0" rtlCol="0" anchor="ctr"/>
          <a:lstStyle/>
          <a:p>
            <a:pPr indent="0" marL="0">
              <a:buNone/>
            </a:pPr>
            <a:r>
              <a:rPr lang="en-US" sz="1000" b="1" dirty="0">
                <a:solidFill>
                  <a:srgbClr val="7CE38B"/>
                </a:solidFill>
                <a:latin typeface="Consolas" pitchFamily="34" charset="0"/>
                <a:ea typeface="Consolas" pitchFamily="34" charset="-122"/>
                <a:cs typeface="Consolas" pitchFamily="34" charset="-120"/>
              </a:rPr>
              <a:t>v10.5</a:t>
            </a:r>
            <a:endParaRPr lang="en-US" sz="1000" dirty="0"/>
          </a:p>
        </p:txBody>
      </p:sp>
      <p:sp>
        <p:nvSpPr>
          <p:cNvPr id="22" name="Text 20"/>
          <p:cNvSpPr/>
          <p:nvPr/>
        </p:nvSpPr>
        <p:spPr>
          <a:xfrm>
            <a:off x="1554480" y="3429000"/>
            <a:ext cx="10149840" cy="310896"/>
          </a:xfrm>
          <a:prstGeom prst="rect">
            <a:avLst/>
          </a:prstGeom>
          <a:noFill/>
          <a:ln/>
        </p:spPr>
        <p:txBody>
          <a:bodyPr wrap="square" lIns="0" tIns="0" rIns="0" bIns="0" rtlCol="0" anchor="ctr"/>
          <a:lstStyle/>
          <a:p>
            <a:pPr indent="0" marL="0">
              <a:buNone/>
            </a:pPr>
            <a:r>
              <a:rPr lang="en-US" sz="1000" dirty="0">
                <a:solidFill>
                  <a:srgbClr val="E6EDF3"/>
                </a:solidFill>
                <a:latin typeface="Calibri" pitchFamily="34" charset="0"/>
                <a:ea typeface="Calibri" pitchFamily="34" charset="-122"/>
                <a:cs typeface="Calibri" pitchFamily="34" charset="-120"/>
              </a:rPr>
              <a:t>Durable memory/ layer + session resume + rescan_project</a:t>
            </a:r>
            <a:endParaRPr lang="en-US" sz="1000" dirty="0"/>
          </a:p>
        </p:txBody>
      </p:sp>
      <p:sp>
        <p:nvSpPr>
          <p:cNvPr id="23" name="Shape 21"/>
          <p:cNvSpPr/>
          <p:nvPr/>
        </p:nvSpPr>
        <p:spPr>
          <a:xfrm>
            <a:off x="365760" y="3758184"/>
            <a:ext cx="11430000" cy="310896"/>
          </a:xfrm>
          <a:prstGeom prst="rect">
            <a:avLst/>
          </a:prstGeom>
          <a:solidFill>
            <a:srgbClr val="161B22"/>
          </a:solidFill>
          <a:ln w="12700">
            <a:solidFill>
              <a:srgbClr val="30363D"/>
            </a:solidFill>
            <a:prstDash val="solid"/>
          </a:ln>
        </p:spPr>
      </p:sp>
      <p:sp>
        <p:nvSpPr>
          <p:cNvPr id="24" name="Text 22"/>
          <p:cNvSpPr/>
          <p:nvPr/>
        </p:nvSpPr>
        <p:spPr>
          <a:xfrm>
            <a:off x="502920" y="3758184"/>
            <a:ext cx="914400" cy="310896"/>
          </a:xfrm>
          <a:prstGeom prst="rect">
            <a:avLst/>
          </a:prstGeom>
          <a:noFill/>
          <a:ln/>
        </p:spPr>
        <p:txBody>
          <a:bodyPr wrap="square" lIns="0" tIns="0" rIns="0" bIns="0" rtlCol="0" anchor="ctr"/>
          <a:lstStyle/>
          <a:p>
            <a:pPr indent="0" marL="0">
              <a:buNone/>
            </a:pPr>
            <a:r>
              <a:rPr lang="en-US" sz="1000" b="1" dirty="0">
                <a:solidFill>
                  <a:srgbClr val="7CE38B"/>
                </a:solidFill>
                <a:latin typeface="Consolas" pitchFamily="34" charset="0"/>
                <a:ea typeface="Consolas" pitchFamily="34" charset="-122"/>
                <a:cs typeface="Consolas" pitchFamily="34" charset="-120"/>
              </a:rPr>
              <a:t>v10.6</a:t>
            </a:r>
            <a:endParaRPr lang="en-US" sz="1000" dirty="0"/>
          </a:p>
        </p:txBody>
      </p:sp>
      <p:sp>
        <p:nvSpPr>
          <p:cNvPr id="25" name="Text 23"/>
          <p:cNvSpPr/>
          <p:nvPr/>
        </p:nvSpPr>
        <p:spPr>
          <a:xfrm>
            <a:off x="1554480" y="3758184"/>
            <a:ext cx="10149840" cy="310896"/>
          </a:xfrm>
          <a:prstGeom prst="rect">
            <a:avLst/>
          </a:prstGeom>
          <a:noFill/>
          <a:ln/>
        </p:spPr>
        <p:txBody>
          <a:bodyPr wrap="square" lIns="0" tIns="0" rIns="0" bIns="0" rtlCol="0" anchor="ctr"/>
          <a:lstStyle/>
          <a:p>
            <a:pPr indent="0" marL="0">
              <a:buNone/>
            </a:pPr>
            <a:r>
              <a:rPr lang="en-US" sz="1000" dirty="0">
                <a:solidFill>
                  <a:srgbClr val="E6EDF3"/>
                </a:solidFill>
                <a:latin typeface="Calibri" pitchFamily="34" charset="0"/>
                <a:ea typeface="Calibri" pitchFamily="34" charset="-122"/>
                <a:cs typeface="Calibri" pitchFamily="34" charset="-120"/>
              </a:rPr>
              <a:t>Lean role-specific read list (cut token waste ~50%)</a:t>
            </a:r>
            <a:endParaRPr lang="en-US" sz="1000" dirty="0"/>
          </a:p>
        </p:txBody>
      </p:sp>
      <p:sp>
        <p:nvSpPr>
          <p:cNvPr id="26" name="Shape 24"/>
          <p:cNvSpPr/>
          <p:nvPr/>
        </p:nvSpPr>
        <p:spPr>
          <a:xfrm>
            <a:off x="365760" y="4087368"/>
            <a:ext cx="11430000" cy="310896"/>
          </a:xfrm>
          <a:prstGeom prst="rect">
            <a:avLst/>
          </a:prstGeom>
          <a:solidFill>
            <a:srgbClr val="1C2128"/>
          </a:solidFill>
          <a:ln w="12700">
            <a:solidFill>
              <a:srgbClr val="30363D"/>
            </a:solidFill>
            <a:prstDash val="solid"/>
          </a:ln>
        </p:spPr>
      </p:sp>
      <p:sp>
        <p:nvSpPr>
          <p:cNvPr id="27" name="Text 25"/>
          <p:cNvSpPr/>
          <p:nvPr/>
        </p:nvSpPr>
        <p:spPr>
          <a:xfrm>
            <a:off x="502920" y="4087368"/>
            <a:ext cx="914400" cy="310896"/>
          </a:xfrm>
          <a:prstGeom prst="rect">
            <a:avLst/>
          </a:prstGeom>
          <a:noFill/>
          <a:ln/>
        </p:spPr>
        <p:txBody>
          <a:bodyPr wrap="square" lIns="0" tIns="0" rIns="0" bIns="0" rtlCol="0" anchor="ctr"/>
          <a:lstStyle/>
          <a:p>
            <a:pPr indent="0" marL="0">
              <a:buNone/>
            </a:pPr>
            <a:r>
              <a:rPr lang="en-US" sz="1000" b="1" dirty="0">
                <a:solidFill>
                  <a:srgbClr val="7CE38B"/>
                </a:solidFill>
                <a:latin typeface="Consolas" pitchFamily="34" charset="0"/>
                <a:ea typeface="Consolas" pitchFamily="34" charset="-122"/>
                <a:cs typeface="Consolas" pitchFamily="34" charset="-120"/>
              </a:rPr>
              <a:t>v10.7</a:t>
            </a:r>
            <a:endParaRPr lang="en-US" sz="1000" dirty="0"/>
          </a:p>
        </p:txBody>
      </p:sp>
      <p:sp>
        <p:nvSpPr>
          <p:cNvPr id="28" name="Text 26"/>
          <p:cNvSpPr/>
          <p:nvPr/>
        </p:nvSpPr>
        <p:spPr>
          <a:xfrm>
            <a:off x="1554480" y="4087368"/>
            <a:ext cx="10149840" cy="310896"/>
          </a:xfrm>
          <a:prstGeom prst="rect">
            <a:avLst/>
          </a:prstGeom>
          <a:noFill/>
          <a:ln/>
        </p:spPr>
        <p:txBody>
          <a:bodyPr wrap="square" lIns="0" tIns="0" rIns="0" bIns="0" rtlCol="0" anchor="ctr"/>
          <a:lstStyle/>
          <a:p>
            <a:pPr indent="0" marL="0">
              <a:buNone/>
            </a:pPr>
            <a:r>
              <a:rPr lang="en-US" sz="1000" dirty="0">
                <a:solidFill>
                  <a:srgbClr val="E6EDF3"/>
                </a:solidFill>
                <a:latin typeface="Calibri" pitchFamily="34" charset="0"/>
                <a:ea typeface="Calibri" pitchFamily="34" charset="-122"/>
                <a:cs typeface="Calibri" pitchFamily="34" charset="-120"/>
              </a:rPr>
              <a:t>Tech Stack Confirmation Protocol (SA + BE/FE addenda)</a:t>
            </a:r>
            <a:endParaRPr lang="en-US" sz="1000" dirty="0"/>
          </a:p>
        </p:txBody>
      </p:sp>
      <p:sp>
        <p:nvSpPr>
          <p:cNvPr id="29" name="Shape 27"/>
          <p:cNvSpPr/>
          <p:nvPr/>
        </p:nvSpPr>
        <p:spPr>
          <a:xfrm>
            <a:off x="365760" y="4416552"/>
            <a:ext cx="11430000" cy="310896"/>
          </a:xfrm>
          <a:prstGeom prst="rect">
            <a:avLst/>
          </a:prstGeom>
          <a:solidFill>
            <a:srgbClr val="161B22"/>
          </a:solidFill>
          <a:ln w="12700">
            <a:solidFill>
              <a:srgbClr val="30363D"/>
            </a:solidFill>
            <a:prstDash val="solid"/>
          </a:ln>
        </p:spPr>
      </p:sp>
      <p:sp>
        <p:nvSpPr>
          <p:cNvPr id="30" name="Text 28"/>
          <p:cNvSpPr/>
          <p:nvPr/>
        </p:nvSpPr>
        <p:spPr>
          <a:xfrm>
            <a:off x="502920" y="4416552"/>
            <a:ext cx="914400" cy="310896"/>
          </a:xfrm>
          <a:prstGeom prst="rect">
            <a:avLst/>
          </a:prstGeom>
          <a:noFill/>
          <a:ln/>
        </p:spPr>
        <p:txBody>
          <a:bodyPr wrap="square" lIns="0" tIns="0" rIns="0" bIns="0" rtlCol="0" anchor="ctr"/>
          <a:lstStyle/>
          <a:p>
            <a:pPr indent="0" marL="0">
              <a:buNone/>
            </a:pPr>
            <a:r>
              <a:rPr lang="en-US" sz="1000" b="1" dirty="0">
                <a:solidFill>
                  <a:srgbClr val="7CE38B"/>
                </a:solidFill>
                <a:latin typeface="Consolas" pitchFamily="34" charset="0"/>
                <a:ea typeface="Consolas" pitchFamily="34" charset="-122"/>
                <a:cs typeface="Consolas" pitchFamily="34" charset="-120"/>
              </a:rPr>
              <a:t>v10.8</a:t>
            </a:r>
            <a:endParaRPr lang="en-US" sz="1000" dirty="0"/>
          </a:p>
        </p:txBody>
      </p:sp>
      <p:sp>
        <p:nvSpPr>
          <p:cNvPr id="31" name="Text 29"/>
          <p:cNvSpPr/>
          <p:nvPr/>
        </p:nvSpPr>
        <p:spPr>
          <a:xfrm>
            <a:off x="1554480" y="4416552"/>
            <a:ext cx="10149840" cy="310896"/>
          </a:xfrm>
          <a:prstGeom prst="rect">
            <a:avLst/>
          </a:prstGeom>
          <a:noFill/>
          <a:ln/>
        </p:spPr>
        <p:txBody>
          <a:bodyPr wrap="square" lIns="0" tIns="0" rIns="0" bIns="0" rtlCol="0" anchor="ctr"/>
          <a:lstStyle/>
          <a:p>
            <a:pPr indent="0" marL="0">
              <a:buNone/>
            </a:pPr>
            <a:r>
              <a:rPr lang="en-US" sz="1000" dirty="0">
                <a:solidFill>
                  <a:srgbClr val="E6EDF3"/>
                </a:solidFill>
                <a:latin typeface="Calibri" pitchFamily="34" charset="0"/>
                <a:ea typeface="Calibri" pitchFamily="34" charset="-122"/>
                <a:cs typeface="Calibri" pitchFamily="34" charset="-120"/>
              </a:rPr>
              <a:t>Prerequisite check — fail fast on missing inputs</a:t>
            </a:r>
            <a:endParaRPr lang="en-US" sz="1000" dirty="0"/>
          </a:p>
        </p:txBody>
      </p:sp>
      <p:sp>
        <p:nvSpPr>
          <p:cNvPr id="32" name="Shape 30"/>
          <p:cNvSpPr/>
          <p:nvPr/>
        </p:nvSpPr>
        <p:spPr>
          <a:xfrm>
            <a:off x="365760" y="4745736"/>
            <a:ext cx="11430000" cy="310896"/>
          </a:xfrm>
          <a:prstGeom prst="rect">
            <a:avLst/>
          </a:prstGeom>
          <a:solidFill>
            <a:srgbClr val="1C2128"/>
          </a:solidFill>
          <a:ln w="12700">
            <a:solidFill>
              <a:srgbClr val="30363D"/>
            </a:solidFill>
            <a:prstDash val="solid"/>
          </a:ln>
        </p:spPr>
      </p:sp>
      <p:sp>
        <p:nvSpPr>
          <p:cNvPr id="33" name="Text 31"/>
          <p:cNvSpPr/>
          <p:nvPr/>
        </p:nvSpPr>
        <p:spPr>
          <a:xfrm>
            <a:off x="502920" y="4745736"/>
            <a:ext cx="914400" cy="310896"/>
          </a:xfrm>
          <a:prstGeom prst="rect">
            <a:avLst/>
          </a:prstGeom>
          <a:noFill/>
          <a:ln/>
        </p:spPr>
        <p:txBody>
          <a:bodyPr wrap="square" lIns="0" tIns="0" rIns="0" bIns="0" rtlCol="0" anchor="ctr"/>
          <a:lstStyle/>
          <a:p>
            <a:pPr indent="0" marL="0">
              <a:buNone/>
            </a:pPr>
            <a:r>
              <a:rPr lang="en-US" sz="1000" b="1" dirty="0">
                <a:solidFill>
                  <a:srgbClr val="7CE38B"/>
                </a:solidFill>
                <a:latin typeface="Consolas" pitchFamily="34" charset="0"/>
                <a:ea typeface="Consolas" pitchFamily="34" charset="-122"/>
                <a:cs typeface="Consolas" pitchFamily="34" charset="-120"/>
              </a:rPr>
              <a:t>v10.9</a:t>
            </a:r>
            <a:endParaRPr lang="en-US" sz="1000" dirty="0"/>
          </a:p>
        </p:txBody>
      </p:sp>
      <p:sp>
        <p:nvSpPr>
          <p:cNvPr id="34" name="Text 32"/>
          <p:cNvSpPr/>
          <p:nvPr/>
        </p:nvSpPr>
        <p:spPr>
          <a:xfrm>
            <a:off x="1554480" y="4745736"/>
            <a:ext cx="10149840" cy="310896"/>
          </a:xfrm>
          <a:prstGeom prst="rect">
            <a:avLst/>
          </a:prstGeom>
          <a:noFill/>
          <a:ln/>
        </p:spPr>
        <p:txBody>
          <a:bodyPr wrap="square" lIns="0" tIns="0" rIns="0" bIns="0" rtlCol="0" anchor="ctr"/>
          <a:lstStyle/>
          <a:p>
            <a:pPr indent="0" marL="0">
              <a:buNone/>
            </a:pPr>
            <a:r>
              <a:rPr lang="en-US" sz="1000" dirty="0">
                <a:solidFill>
                  <a:srgbClr val="E6EDF3"/>
                </a:solidFill>
                <a:latin typeface="Calibri" pitchFamily="34" charset="0"/>
                <a:ea typeface="Calibri" pitchFamily="34" charset="-122"/>
                <a:cs typeface="Calibri" pitchFamily="34" charset="-120"/>
              </a:rPr>
              <a:t>Phase gates + quality gates (VERDICT, no critical bugs)</a:t>
            </a:r>
            <a:endParaRPr lang="en-US" sz="1000" dirty="0"/>
          </a:p>
        </p:txBody>
      </p:sp>
      <p:sp>
        <p:nvSpPr>
          <p:cNvPr id="35" name="Shape 33"/>
          <p:cNvSpPr/>
          <p:nvPr/>
        </p:nvSpPr>
        <p:spPr>
          <a:xfrm>
            <a:off x="365760" y="5074920"/>
            <a:ext cx="11430000" cy="310896"/>
          </a:xfrm>
          <a:prstGeom prst="rect">
            <a:avLst/>
          </a:prstGeom>
          <a:solidFill>
            <a:srgbClr val="161B22"/>
          </a:solidFill>
          <a:ln w="12700">
            <a:solidFill>
              <a:srgbClr val="30363D"/>
            </a:solidFill>
            <a:prstDash val="solid"/>
          </a:ln>
        </p:spPr>
      </p:sp>
      <p:sp>
        <p:nvSpPr>
          <p:cNvPr id="36" name="Text 34"/>
          <p:cNvSpPr/>
          <p:nvPr/>
        </p:nvSpPr>
        <p:spPr>
          <a:xfrm>
            <a:off x="502920" y="5074920"/>
            <a:ext cx="914400" cy="310896"/>
          </a:xfrm>
          <a:prstGeom prst="rect">
            <a:avLst/>
          </a:prstGeom>
          <a:noFill/>
          <a:ln/>
        </p:spPr>
        <p:txBody>
          <a:bodyPr wrap="square" lIns="0" tIns="0" rIns="0" bIns="0" rtlCol="0" anchor="ctr"/>
          <a:lstStyle/>
          <a:p>
            <a:pPr indent="0" marL="0">
              <a:buNone/>
            </a:pPr>
            <a:r>
              <a:rPr lang="en-US" sz="1000" b="1" dirty="0">
                <a:solidFill>
                  <a:srgbClr val="7CE38B"/>
                </a:solidFill>
                <a:latin typeface="Consolas" pitchFamily="34" charset="0"/>
                <a:ea typeface="Consolas" pitchFamily="34" charset="-122"/>
                <a:cs typeface="Consolas" pitchFamily="34" charset="-120"/>
              </a:rPr>
              <a:t>v10.10</a:t>
            </a:r>
            <a:endParaRPr lang="en-US" sz="1000" dirty="0"/>
          </a:p>
        </p:txBody>
      </p:sp>
      <p:sp>
        <p:nvSpPr>
          <p:cNvPr id="37" name="Text 35"/>
          <p:cNvSpPr/>
          <p:nvPr/>
        </p:nvSpPr>
        <p:spPr>
          <a:xfrm>
            <a:off x="1554480" y="5074920"/>
            <a:ext cx="10149840" cy="310896"/>
          </a:xfrm>
          <a:prstGeom prst="rect">
            <a:avLst/>
          </a:prstGeom>
          <a:noFill/>
          <a:ln/>
        </p:spPr>
        <p:txBody>
          <a:bodyPr wrap="square" lIns="0" tIns="0" rIns="0" bIns="0" rtlCol="0" anchor="ctr"/>
          <a:lstStyle/>
          <a:p>
            <a:pPr indent="0" marL="0">
              <a:buNone/>
            </a:pPr>
            <a:r>
              <a:rPr lang="en-US" sz="1000" dirty="0">
                <a:solidFill>
                  <a:srgbClr val="E6EDF3"/>
                </a:solidFill>
                <a:latin typeface="Calibri" pitchFamily="34" charset="0"/>
                <a:ea typeface="Calibri" pitchFamily="34" charset="-122"/>
                <a:cs typeface="Calibri" pitchFamily="34" charset="-120"/>
              </a:rPr>
              <a:t>Stay-in-lane + Build Failure Routing Protocol</a:t>
            </a:r>
            <a:endParaRPr lang="en-US" sz="1000" dirty="0"/>
          </a:p>
        </p:txBody>
      </p:sp>
      <p:sp>
        <p:nvSpPr>
          <p:cNvPr id="38" name="Shape 36"/>
          <p:cNvSpPr/>
          <p:nvPr/>
        </p:nvSpPr>
        <p:spPr>
          <a:xfrm>
            <a:off x="365760" y="5404104"/>
            <a:ext cx="11430000" cy="310896"/>
          </a:xfrm>
          <a:prstGeom prst="rect">
            <a:avLst/>
          </a:prstGeom>
          <a:solidFill>
            <a:srgbClr val="1C2128"/>
          </a:solidFill>
          <a:ln w="12700">
            <a:solidFill>
              <a:srgbClr val="30363D"/>
            </a:solidFill>
            <a:prstDash val="solid"/>
          </a:ln>
        </p:spPr>
      </p:sp>
      <p:sp>
        <p:nvSpPr>
          <p:cNvPr id="39" name="Text 37"/>
          <p:cNvSpPr/>
          <p:nvPr/>
        </p:nvSpPr>
        <p:spPr>
          <a:xfrm>
            <a:off x="502920" y="5404104"/>
            <a:ext cx="914400" cy="310896"/>
          </a:xfrm>
          <a:prstGeom prst="rect">
            <a:avLst/>
          </a:prstGeom>
          <a:noFill/>
          <a:ln/>
        </p:spPr>
        <p:txBody>
          <a:bodyPr wrap="square" lIns="0" tIns="0" rIns="0" bIns="0" rtlCol="0" anchor="ctr"/>
          <a:lstStyle/>
          <a:p>
            <a:pPr indent="0" marL="0">
              <a:buNone/>
            </a:pPr>
            <a:r>
              <a:rPr lang="en-US" sz="1000" b="1" dirty="0">
                <a:solidFill>
                  <a:srgbClr val="7CE38B"/>
                </a:solidFill>
                <a:latin typeface="Consolas" pitchFamily="34" charset="0"/>
                <a:ea typeface="Consolas" pitchFamily="34" charset="-122"/>
                <a:cs typeface="Consolas" pitchFamily="34" charset="-120"/>
              </a:rPr>
              <a:t>v10.11</a:t>
            </a:r>
            <a:endParaRPr lang="en-US" sz="1000" dirty="0"/>
          </a:p>
        </p:txBody>
      </p:sp>
      <p:sp>
        <p:nvSpPr>
          <p:cNvPr id="40" name="Text 38"/>
          <p:cNvSpPr/>
          <p:nvPr/>
        </p:nvSpPr>
        <p:spPr>
          <a:xfrm>
            <a:off x="1554480" y="5404104"/>
            <a:ext cx="10149840" cy="310896"/>
          </a:xfrm>
          <a:prstGeom prst="rect">
            <a:avLst/>
          </a:prstGeom>
          <a:noFill/>
          <a:ln/>
        </p:spPr>
        <p:txBody>
          <a:bodyPr wrap="square" lIns="0" tIns="0" rIns="0" bIns="0" rtlCol="0" anchor="ctr"/>
          <a:lstStyle/>
          <a:p>
            <a:pPr indent="0" marL="0">
              <a:buNone/>
            </a:pPr>
            <a:r>
              <a:rPr lang="en-US" sz="1000" dirty="0">
                <a:solidFill>
                  <a:srgbClr val="E6EDF3"/>
                </a:solidFill>
                <a:latin typeface="Calibri" pitchFamily="34" charset="0"/>
                <a:ea typeface="Calibri" pitchFamily="34" charset="-122"/>
                <a:cs typeface="Calibri" pitchFamily="34" charset="-120"/>
              </a:rPr>
              <a:t>Framework files immutable + safe sync script</a:t>
            </a:r>
            <a:endParaRPr lang="en-US" sz="1000" dirty="0"/>
          </a:p>
        </p:txBody>
      </p:sp>
      <p:sp>
        <p:nvSpPr>
          <p:cNvPr id="41" name="Shape 39"/>
          <p:cNvSpPr/>
          <p:nvPr/>
        </p:nvSpPr>
        <p:spPr>
          <a:xfrm>
            <a:off x="365760" y="5733288"/>
            <a:ext cx="11430000" cy="310896"/>
          </a:xfrm>
          <a:prstGeom prst="rect">
            <a:avLst/>
          </a:prstGeom>
          <a:solidFill>
            <a:srgbClr val="161B22"/>
          </a:solidFill>
          <a:ln w="12700">
            <a:solidFill>
              <a:srgbClr val="30363D"/>
            </a:solidFill>
            <a:prstDash val="solid"/>
          </a:ln>
        </p:spPr>
      </p:sp>
      <p:sp>
        <p:nvSpPr>
          <p:cNvPr id="42" name="Text 40"/>
          <p:cNvSpPr/>
          <p:nvPr/>
        </p:nvSpPr>
        <p:spPr>
          <a:xfrm>
            <a:off x="502920" y="5733288"/>
            <a:ext cx="914400" cy="310896"/>
          </a:xfrm>
          <a:prstGeom prst="rect">
            <a:avLst/>
          </a:prstGeom>
          <a:noFill/>
          <a:ln/>
        </p:spPr>
        <p:txBody>
          <a:bodyPr wrap="square" lIns="0" tIns="0" rIns="0" bIns="0" rtlCol="0" anchor="ctr"/>
          <a:lstStyle/>
          <a:p>
            <a:pPr indent="0" marL="0">
              <a:buNone/>
            </a:pPr>
            <a:r>
              <a:rPr lang="en-US" sz="1000" b="1" dirty="0">
                <a:solidFill>
                  <a:srgbClr val="7CE38B"/>
                </a:solidFill>
                <a:latin typeface="Consolas" pitchFamily="34" charset="0"/>
                <a:ea typeface="Consolas" pitchFamily="34" charset="-122"/>
                <a:cs typeface="Consolas" pitchFamily="34" charset="-120"/>
              </a:rPr>
              <a:t>v10.12</a:t>
            </a:r>
            <a:endParaRPr lang="en-US" sz="1000" dirty="0"/>
          </a:p>
        </p:txBody>
      </p:sp>
      <p:sp>
        <p:nvSpPr>
          <p:cNvPr id="43" name="Text 41"/>
          <p:cNvSpPr/>
          <p:nvPr/>
        </p:nvSpPr>
        <p:spPr>
          <a:xfrm>
            <a:off x="1554480" y="5733288"/>
            <a:ext cx="10149840" cy="310896"/>
          </a:xfrm>
          <a:prstGeom prst="rect">
            <a:avLst/>
          </a:prstGeom>
          <a:noFill/>
          <a:ln/>
        </p:spPr>
        <p:txBody>
          <a:bodyPr wrap="square" lIns="0" tIns="0" rIns="0" bIns="0" rtlCol="0" anchor="ctr"/>
          <a:lstStyle/>
          <a:p>
            <a:pPr indent="0" marL="0">
              <a:buNone/>
            </a:pPr>
            <a:r>
              <a:rPr lang="en-US" sz="1000" dirty="0">
                <a:solidFill>
                  <a:srgbClr val="E6EDF3"/>
                </a:solidFill>
                <a:latin typeface="Calibri" pitchFamily="34" charset="0"/>
                <a:ea typeface="Calibri" pitchFamily="34" charset="-122"/>
                <a:cs typeface="Calibri" pitchFamily="34" charset="-120"/>
              </a:rPr>
              <a:t>Engine choice (OpenCode | Claude) + 3-window tmux layout</a:t>
            </a:r>
            <a:endParaRPr lang="en-US" sz="1000" dirty="0"/>
          </a:p>
        </p:txBody>
      </p:sp>
      <p:sp>
        <p:nvSpPr>
          <p:cNvPr id="44" name="Text 42"/>
          <p:cNvSpPr/>
          <p:nvPr/>
        </p:nvSpPr>
        <p:spPr>
          <a:xfrm>
            <a:off x="365760" y="6199632"/>
            <a:ext cx="11430000" cy="274320"/>
          </a:xfrm>
          <a:prstGeom prst="rect">
            <a:avLst/>
          </a:prstGeom>
          <a:noFill/>
          <a:ln/>
        </p:spPr>
        <p:txBody>
          <a:bodyPr wrap="square" lIns="0" tIns="0" rIns="0" bIns="0" rtlCol="0" anchor="ctr"/>
          <a:lstStyle/>
          <a:p>
            <a:pPr algn="ctr" indent="0" marL="0">
              <a:buNone/>
            </a:pPr>
            <a:r>
              <a:rPr lang="en-US" sz="1100" i="1" dirty="0">
                <a:solidFill>
                  <a:srgbClr val="8B949E"/>
                </a:solidFill>
                <a:latin typeface="Calibri" pitchFamily="34" charset="0"/>
                <a:ea typeface="Calibri" pitchFamily="34" charset="-122"/>
                <a:cs typeface="Calibri" pitchFamily="34" charset="-120"/>
              </a:rPr>
              <a:t>Nguyên tắc: mỗi version thêm chứ không bớt. Grep verify trước và sau mỗi thay đổi.</a:t>
            </a:r>
            <a:endParaRPr lang="en-US" sz="1100" dirty="0"/>
          </a:p>
        </p:txBody>
      </p:sp>
      <p:sp>
        <p:nvSpPr>
          <p:cNvPr id="45" name="Text 43"/>
          <p:cNvSpPr/>
          <p:nvPr/>
        </p:nvSpPr>
        <p:spPr>
          <a:xfrm>
            <a:off x="11338560" y="6492240"/>
            <a:ext cx="731520" cy="228600"/>
          </a:xfrm>
          <a:prstGeom prst="rect">
            <a:avLst/>
          </a:prstGeom>
          <a:noFill/>
          <a:ln/>
        </p:spPr>
        <p:txBody>
          <a:bodyPr wrap="square" lIns="0" tIns="0" rIns="0" bIns="0" rtlCol="0" anchor="ctr"/>
          <a:lstStyle/>
          <a:p>
            <a:pPr algn="r" indent="0" marL="0">
              <a:buNone/>
            </a:pPr>
            <a:r>
              <a:rPr lang="en-US" sz="900" dirty="0">
                <a:solidFill>
                  <a:srgbClr val="8B949E"/>
                </a:solidFill>
                <a:latin typeface="Consolas" pitchFamily="34" charset="0"/>
                <a:ea typeface="Consolas" pitchFamily="34" charset="-122"/>
                <a:cs typeface="Consolas" pitchFamily="34" charset="-120"/>
              </a:rPr>
              <a:t>30 / 32</a:t>
            </a:r>
            <a:endParaRPr lang="en-US" sz="900" dirty="0"/>
          </a:p>
        </p:txBody>
      </p:sp>
      <p:sp>
        <p:nvSpPr>
          <p:cNvPr id="46" name="Text 44"/>
          <p:cNvSpPr/>
          <p:nvPr/>
        </p:nvSpPr>
        <p:spPr>
          <a:xfrm>
            <a:off x="365760" y="6492240"/>
            <a:ext cx="1097280" cy="228600"/>
          </a:xfrm>
          <a:prstGeom prst="rect">
            <a:avLst/>
          </a:prstGeom>
          <a:noFill/>
          <a:ln/>
        </p:spPr>
        <p:txBody>
          <a:bodyPr wrap="square" lIns="0" tIns="0" rIns="0" bIns="0" rtlCol="0" anchor="ctr"/>
          <a:lstStyle/>
          <a:p>
            <a:pPr algn="l" indent="0" marL="0">
              <a:buNone/>
            </a:pPr>
            <a:r>
              <a:rPr lang="en-US" sz="900" dirty="0">
                <a:solidFill>
                  <a:srgbClr val="8B949E"/>
                </a:solidFill>
                <a:latin typeface="Consolas" pitchFamily="34" charset="0"/>
                <a:ea typeface="Consolas" pitchFamily="34" charset="-122"/>
                <a:cs typeface="Consolas" pitchFamily="34" charset="-120"/>
              </a:rPr>
              <a:t>v10.12</a:t>
            </a:r>
            <a:endParaRPr lang="en-US" sz="900" dirty="0"/>
          </a:p>
        </p:txBody>
      </p:sp>
      <p:sp>
        <p:nvSpPr>
          <p:cNvPr id="47" name="Text 45"/>
          <p:cNvSpPr/>
          <p:nvPr/>
        </p:nvSpPr>
        <p:spPr>
          <a:xfrm>
            <a:off x="4572000" y="6492240"/>
            <a:ext cx="6400800" cy="228600"/>
          </a:xfrm>
          <a:prstGeom prst="rect">
            <a:avLst/>
          </a:prstGeom>
          <a:noFill/>
          <a:ln/>
        </p:spPr>
        <p:txBody>
          <a:bodyPr wrap="square" lIns="0" tIns="0" rIns="0" bIns="0" rtlCol="0" anchor="ctr"/>
          <a:lstStyle/>
          <a:p>
            <a:pPr algn="ctr" indent="0" marL="0">
              <a:buNone/>
            </a:pPr>
            <a:r>
              <a:rPr lang="en-US" sz="900" dirty="0">
                <a:solidFill>
                  <a:srgbClr val="8B949E"/>
                </a:solidFill>
                <a:latin typeface="Consolas" pitchFamily="34" charset="0"/>
                <a:ea typeface="Consolas" pitchFamily="34" charset="-122"/>
                <a:cs typeface="Consolas" pitchFamily="34" charset="-120"/>
              </a:rPr>
              <a:t>Product Engineering Agent Framework</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365760" y="228600"/>
            <a:ext cx="8229600" cy="274320"/>
          </a:xfrm>
          <a:prstGeom prst="rect">
            <a:avLst/>
          </a:prstGeom>
          <a:noFill/>
          <a:ln/>
        </p:spPr>
        <p:txBody>
          <a:bodyPr wrap="square" lIns="0" tIns="0" rIns="0" bIns="0" rtlCol="0" anchor="ctr"/>
          <a:lstStyle/>
          <a:p>
            <a:pPr indent="0" marL="0">
              <a:buNone/>
            </a:pPr>
            <a:r>
              <a:rPr lang="en-US" sz="1100" dirty="0">
                <a:solidFill>
                  <a:srgbClr val="2EA043"/>
                </a:solidFill>
                <a:latin typeface="Consolas" pitchFamily="34" charset="0"/>
                <a:ea typeface="Consolas" pitchFamily="34" charset="-122"/>
                <a:cs typeface="Consolas" pitchFamily="34" charset="-120"/>
              </a:rPr>
              <a:t>$ </a:t>
            </a:r>
            <a:pPr indent="0" marL="0">
              <a:buNone/>
            </a:pPr>
            <a:r>
              <a:rPr lang="en-US" sz="1100" dirty="0">
                <a:solidFill>
                  <a:srgbClr val="8B949E"/>
                </a:solidFill>
                <a:latin typeface="Consolas" pitchFamily="34" charset="0"/>
                <a:ea typeface="Consolas" pitchFamily="34" charset="-122"/>
                <a:cs typeface="Consolas" pitchFamily="34" charset="-120"/>
              </a:rPr>
              <a:t>27_next_update.md</a:t>
            </a:r>
            <a:endParaRPr lang="en-US" sz="1100" dirty="0"/>
          </a:p>
        </p:txBody>
      </p:sp>
      <p:sp>
        <p:nvSpPr>
          <p:cNvPr id="3" name="Text 1"/>
          <p:cNvSpPr/>
          <p:nvPr/>
        </p:nvSpPr>
        <p:spPr>
          <a:xfrm>
            <a:off x="365760" y="548640"/>
            <a:ext cx="11430000" cy="640080"/>
          </a:xfrm>
          <a:prstGeom prst="rect">
            <a:avLst/>
          </a:prstGeom>
          <a:noFill/>
          <a:ln/>
        </p:spPr>
        <p:txBody>
          <a:bodyPr wrap="square" lIns="0" tIns="0" rIns="0" bIns="0" rtlCol="0" anchor="ctr"/>
          <a:lstStyle/>
          <a:p>
            <a:pPr indent="0" marL="0">
              <a:buNone/>
            </a:pPr>
            <a:r>
              <a:rPr lang="en-US" sz="3000" b="1" dirty="0">
                <a:solidFill>
                  <a:srgbClr val="E6EDF3"/>
                </a:solidFill>
                <a:latin typeface="Consolas" pitchFamily="34" charset="0"/>
                <a:ea typeface="Consolas" pitchFamily="34" charset="-122"/>
                <a:cs typeface="Consolas" pitchFamily="34" charset="-120"/>
              </a:rPr>
              <a:t>Next update for this framework</a:t>
            </a:r>
            <a:endParaRPr lang="en-US" sz="3000" dirty="0"/>
          </a:p>
        </p:txBody>
      </p:sp>
      <p:sp>
        <p:nvSpPr>
          <p:cNvPr id="4" name="Text 2"/>
          <p:cNvSpPr/>
          <p:nvPr/>
        </p:nvSpPr>
        <p:spPr>
          <a:xfrm>
            <a:off x="365760" y="1143000"/>
            <a:ext cx="11430000" cy="365760"/>
          </a:xfrm>
          <a:prstGeom prst="rect">
            <a:avLst/>
          </a:prstGeom>
          <a:noFill/>
          <a:ln/>
        </p:spPr>
        <p:txBody>
          <a:bodyPr wrap="square" lIns="0" tIns="0" rIns="0" bIns="0" rtlCol="0" anchor="ctr"/>
          <a:lstStyle/>
          <a:p>
            <a:pPr indent="0" marL="0">
              <a:buNone/>
            </a:pPr>
            <a:r>
              <a:rPr lang="en-US" sz="1400" i="1" dirty="0">
                <a:solidFill>
                  <a:srgbClr val="8B949E"/>
                </a:solidFill>
                <a:latin typeface="Calibri" pitchFamily="34" charset="0"/>
                <a:ea typeface="Calibri" pitchFamily="34" charset="-122"/>
                <a:cs typeface="Calibri" pitchFamily="34" charset="-120"/>
              </a:rPr>
              <a:t>Coming soon — đang trong giai đoạn thiết kế</a:t>
            </a:r>
            <a:endParaRPr lang="en-US" sz="1400" dirty="0"/>
          </a:p>
        </p:txBody>
      </p:sp>
      <p:sp>
        <p:nvSpPr>
          <p:cNvPr id="5" name="Shape 3"/>
          <p:cNvSpPr/>
          <p:nvPr/>
        </p:nvSpPr>
        <p:spPr>
          <a:xfrm>
            <a:off x="1280160" y="2194560"/>
            <a:ext cx="9601200" cy="1554480"/>
          </a:xfrm>
          <a:prstGeom prst="rect">
            <a:avLst/>
          </a:prstGeom>
          <a:solidFill>
            <a:srgbClr val="161B22"/>
          </a:solidFill>
          <a:ln w="12700">
            <a:solidFill>
              <a:srgbClr val="30363D"/>
            </a:solidFill>
            <a:prstDash val="solid"/>
          </a:ln>
        </p:spPr>
      </p:sp>
      <p:sp>
        <p:nvSpPr>
          <p:cNvPr id="6" name="Shape 4"/>
          <p:cNvSpPr/>
          <p:nvPr/>
        </p:nvSpPr>
        <p:spPr>
          <a:xfrm>
            <a:off x="1280160" y="2194560"/>
            <a:ext cx="91440" cy="1554480"/>
          </a:xfrm>
          <a:prstGeom prst="rect">
            <a:avLst/>
          </a:prstGeom>
          <a:solidFill>
            <a:srgbClr val="D2A8FF"/>
          </a:solidFill>
          <a:ln w="12700">
            <a:solidFill>
              <a:srgbClr val="D2A8FF"/>
            </a:solidFill>
            <a:prstDash val="solid"/>
          </a:ln>
        </p:spPr>
      </p:sp>
      <p:sp>
        <p:nvSpPr>
          <p:cNvPr id="7" name="Text 5"/>
          <p:cNvSpPr/>
          <p:nvPr/>
        </p:nvSpPr>
        <p:spPr>
          <a:xfrm>
            <a:off x="1554480" y="2331720"/>
            <a:ext cx="9144000" cy="640080"/>
          </a:xfrm>
          <a:prstGeom prst="rect">
            <a:avLst/>
          </a:prstGeom>
          <a:noFill/>
          <a:ln/>
        </p:spPr>
        <p:txBody>
          <a:bodyPr wrap="square" lIns="0" tIns="0" rIns="0" bIns="0" rtlCol="0" anchor="ctr"/>
          <a:lstStyle/>
          <a:p>
            <a:pPr indent="0" marL="0">
              <a:buNone/>
            </a:pPr>
            <a:r>
              <a:rPr lang="en-US" sz="3000" b="1" dirty="0">
                <a:solidFill>
                  <a:srgbClr val="D2A8FF"/>
                </a:solidFill>
                <a:latin typeface="Consolas" pitchFamily="34" charset="0"/>
                <a:ea typeface="Consolas" pitchFamily="34" charset="-122"/>
                <a:cs typeface="Consolas" pitchFamily="34" charset="-120"/>
              </a:rPr>
              <a:t>Scrum Master  +  agile cadence</a:t>
            </a:r>
            <a:endParaRPr lang="en-US" sz="3000" dirty="0"/>
          </a:p>
        </p:txBody>
      </p:sp>
      <p:sp>
        <p:nvSpPr>
          <p:cNvPr id="8" name="Text 6"/>
          <p:cNvSpPr/>
          <p:nvPr/>
        </p:nvSpPr>
        <p:spPr>
          <a:xfrm>
            <a:off x="1554480" y="2971800"/>
            <a:ext cx="9144000" cy="685800"/>
          </a:xfrm>
          <a:prstGeom prst="rect">
            <a:avLst/>
          </a:prstGeom>
          <a:noFill/>
          <a:ln/>
        </p:spPr>
        <p:txBody>
          <a:bodyPr wrap="square" lIns="0" tIns="0" rIns="0" bIns="0" rtlCol="0" anchor="t"/>
          <a:lstStyle/>
          <a:p>
            <a:pPr indent="0" marL="0">
              <a:buNone/>
            </a:pPr>
            <a:r>
              <a:rPr lang="en-US" sz="1300" i="1" dirty="0">
                <a:solidFill>
                  <a:srgbClr val="E6EDF3"/>
                </a:solidFill>
                <a:latin typeface="Calibri" pitchFamily="34" charset="0"/>
                <a:ea typeface="Calibri" pitchFamily="34" charset="-122"/>
                <a:cs typeface="Calibri" pitchFamily="34" charset="-120"/>
              </a:rPr>
              <a:t>v10.12 (planned) — vai trò facilitator để team có retrospective, theo dõi impediment, và đo health của project</a:t>
            </a:r>
            <a:endParaRPr lang="en-US" sz="1300" dirty="0"/>
          </a:p>
        </p:txBody>
      </p:sp>
      <p:sp>
        <p:nvSpPr>
          <p:cNvPr id="9" name="Shape 7"/>
          <p:cNvSpPr/>
          <p:nvPr/>
        </p:nvSpPr>
        <p:spPr>
          <a:xfrm>
            <a:off x="365760" y="3977640"/>
            <a:ext cx="3749040" cy="2103120"/>
          </a:xfrm>
          <a:prstGeom prst="rect">
            <a:avLst/>
          </a:prstGeom>
          <a:solidFill>
            <a:srgbClr val="1C2128"/>
          </a:solidFill>
          <a:ln w="12700">
            <a:solidFill>
              <a:srgbClr val="30363D"/>
            </a:solidFill>
            <a:prstDash val="solid"/>
          </a:ln>
        </p:spPr>
      </p:sp>
      <p:sp>
        <p:nvSpPr>
          <p:cNvPr id="10" name="Text 8"/>
          <p:cNvSpPr/>
          <p:nvPr/>
        </p:nvSpPr>
        <p:spPr>
          <a:xfrm>
            <a:off x="548640" y="4114800"/>
            <a:ext cx="3566160" cy="457200"/>
          </a:xfrm>
          <a:prstGeom prst="rect">
            <a:avLst/>
          </a:prstGeom>
          <a:noFill/>
          <a:ln/>
        </p:spPr>
        <p:txBody>
          <a:bodyPr wrap="square" lIns="0" tIns="0" rIns="0" bIns="0" rtlCol="0" anchor="ctr"/>
          <a:lstStyle/>
          <a:p>
            <a:pPr indent="0" marL="0">
              <a:buNone/>
            </a:pPr>
            <a:r>
              <a:rPr lang="en-US" sz="1600" b="1" dirty="0">
                <a:solidFill>
                  <a:srgbClr val="7CE38B"/>
                </a:solidFill>
                <a:latin typeface="Consolas" pitchFamily="34" charset="0"/>
                <a:ea typeface="Consolas" pitchFamily="34" charset="-122"/>
                <a:cs typeface="Consolas" pitchFamily="34" charset="-120"/>
              </a:rPr>
              <a:t>📓  Retrospective</a:t>
            </a:r>
            <a:endParaRPr lang="en-US" sz="1600" dirty="0"/>
          </a:p>
        </p:txBody>
      </p:sp>
      <p:sp>
        <p:nvSpPr>
          <p:cNvPr id="11" name="Text 9"/>
          <p:cNvSpPr/>
          <p:nvPr/>
        </p:nvSpPr>
        <p:spPr>
          <a:xfrm>
            <a:off x="548640" y="4617720"/>
            <a:ext cx="3566160" cy="1371600"/>
          </a:xfrm>
          <a:prstGeom prst="rect">
            <a:avLst/>
          </a:prstGeom>
          <a:noFill/>
          <a:ln/>
        </p:spPr>
        <p:txBody>
          <a:bodyPr wrap="square" lIns="0" tIns="0" rIns="0" bIns="0" rtlCol="0" anchor="t"/>
          <a:lstStyle/>
          <a:p>
            <a:pPr indent="0" marL="0">
              <a:buNone/>
            </a:pPr>
            <a:r>
              <a:rPr lang="en-US" sz="1200" dirty="0">
                <a:solidFill>
                  <a:srgbClr val="E6EDF3"/>
                </a:solidFill>
                <a:latin typeface="Calibri" pitchFamily="34" charset="0"/>
                <a:ea typeface="Calibri" pitchFamily="34" charset="-122"/>
                <a:cs typeface="Calibri" pitchFamily="34" charset="-120"/>
              </a:rPr>
              <a:t>Sau mỗi phase, tổng hợp 'what went well / didn't / improve' vào docs/process/RETRO.md</a:t>
            </a:r>
            <a:endParaRPr lang="en-US" sz="1200" dirty="0"/>
          </a:p>
        </p:txBody>
      </p:sp>
      <p:sp>
        <p:nvSpPr>
          <p:cNvPr id="12" name="Shape 10"/>
          <p:cNvSpPr/>
          <p:nvPr/>
        </p:nvSpPr>
        <p:spPr>
          <a:xfrm>
            <a:off x="4297680" y="3977640"/>
            <a:ext cx="3749040" cy="2103120"/>
          </a:xfrm>
          <a:prstGeom prst="rect">
            <a:avLst/>
          </a:prstGeom>
          <a:solidFill>
            <a:srgbClr val="1C2128"/>
          </a:solidFill>
          <a:ln w="12700">
            <a:solidFill>
              <a:srgbClr val="30363D"/>
            </a:solidFill>
            <a:prstDash val="solid"/>
          </a:ln>
        </p:spPr>
      </p:sp>
      <p:sp>
        <p:nvSpPr>
          <p:cNvPr id="13" name="Text 11"/>
          <p:cNvSpPr/>
          <p:nvPr/>
        </p:nvSpPr>
        <p:spPr>
          <a:xfrm>
            <a:off x="4480560" y="4114800"/>
            <a:ext cx="3566160" cy="457200"/>
          </a:xfrm>
          <a:prstGeom prst="rect">
            <a:avLst/>
          </a:prstGeom>
          <a:noFill/>
          <a:ln/>
        </p:spPr>
        <p:txBody>
          <a:bodyPr wrap="square" lIns="0" tIns="0" rIns="0" bIns="0" rtlCol="0" anchor="ctr"/>
          <a:lstStyle/>
          <a:p>
            <a:pPr indent="0" marL="0">
              <a:buNone/>
            </a:pPr>
            <a:r>
              <a:rPr lang="en-US" sz="1600" b="1" dirty="0">
                <a:solidFill>
                  <a:srgbClr val="7CE38B"/>
                </a:solidFill>
                <a:latin typeface="Consolas" pitchFamily="34" charset="0"/>
                <a:ea typeface="Consolas" pitchFamily="34" charset="-122"/>
                <a:cs typeface="Consolas" pitchFamily="34" charset="-120"/>
              </a:rPr>
              <a:t>🚧  Impediment log</a:t>
            </a:r>
            <a:endParaRPr lang="en-US" sz="1600" dirty="0"/>
          </a:p>
        </p:txBody>
      </p:sp>
      <p:sp>
        <p:nvSpPr>
          <p:cNvPr id="14" name="Text 12"/>
          <p:cNvSpPr/>
          <p:nvPr/>
        </p:nvSpPr>
        <p:spPr>
          <a:xfrm>
            <a:off x="4480560" y="4617720"/>
            <a:ext cx="3566160" cy="1371600"/>
          </a:xfrm>
          <a:prstGeom prst="rect">
            <a:avLst/>
          </a:prstGeom>
          <a:noFill/>
          <a:ln/>
        </p:spPr>
        <p:txBody>
          <a:bodyPr wrap="square" lIns="0" tIns="0" rIns="0" bIns="0" rtlCol="0" anchor="t"/>
          <a:lstStyle/>
          <a:p>
            <a:pPr indent="0" marL="0">
              <a:buNone/>
            </a:pPr>
            <a:r>
              <a:rPr lang="en-US" sz="1200" dirty="0">
                <a:solidFill>
                  <a:srgbClr val="E6EDF3"/>
                </a:solidFill>
                <a:latin typeface="Calibri" pitchFamily="34" charset="0"/>
                <a:ea typeface="Calibri" pitchFamily="34" charset="-122"/>
                <a:cs typeface="Calibri" pitchFamily="34" charset="-120"/>
              </a:rPr>
              <a:t>Track Q pending lâu, bug lặp, role hay block → escalate cho Orchestrator</a:t>
            </a:r>
            <a:endParaRPr lang="en-US" sz="1200" dirty="0"/>
          </a:p>
        </p:txBody>
      </p:sp>
      <p:sp>
        <p:nvSpPr>
          <p:cNvPr id="15" name="Shape 13"/>
          <p:cNvSpPr/>
          <p:nvPr/>
        </p:nvSpPr>
        <p:spPr>
          <a:xfrm>
            <a:off x="8229600" y="3977640"/>
            <a:ext cx="3749040" cy="2103120"/>
          </a:xfrm>
          <a:prstGeom prst="rect">
            <a:avLst/>
          </a:prstGeom>
          <a:solidFill>
            <a:srgbClr val="1C2128"/>
          </a:solidFill>
          <a:ln w="12700">
            <a:solidFill>
              <a:srgbClr val="30363D"/>
            </a:solidFill>
            <a:prstDash val="solid"/>
          </a:ln>
        </p:spPr>
      </p:sp>
      <p:sp>
        <p:nvSpPr>
          <p:cNvPr id="16" name="Text 14"/>
          <p:cNvSpPr/>
          <p:nvPr/>
        </p:nvSpPr>
        <p:spPr>
          <a:xfrm>
            <a:off x="8412480" y="4114800"/>
            <a:ext cx="3566160" cy="457200"/>
          </a:xfrm>
          <a:prstGeom prst="rect">
            <a:avLst/>
          </a:prstGeom>
          <a:noFill/>
          <a:ln/>
        </p:spPr>
        <p:txBody>
          <a:bodyPr wrap="square" lIns="0" tIns="0" rIns="0" bIns="0" rtlCol="0" anchor="ctr"/>
          <a:lstStyle/>
          <a:p>
            <a:pPr indent="0" marL="0">
              <a:buNone/>
            </a:pPr>
            <a:r>
              <a:rPr lang="en-US" sz="1600" b="1" dirty="0">
                <a:solidFill>
                  <a:srgbClr val="7CE38B"/>
                </a:solidFill>
                <a:latin typeface="Consolas" pitchFamily="34" charset="0"/>
                <a:ea typeface="Consolas" pitchFamily="34" charset="-122"/>
                <a:cs typeface="Consolas" pitchFamily="34" charset="-120"/>
              </a:rPr>
              <a:t>📊  Health metrics</a:t>
            </a:r>
            <a:endParaRPr lang="en-US" sz="1600" dirty="0"/>
          </a:p>
        </p:txBody>
      </p:sp>
      <p:sp>
        <p:nvSpPr>
          <p:cNvPr id="17" name="Text 15"/>
          <p:cNvSpPr/>
          <p:nvPr/>
        </p:nvSpPr>
        <p:spPr>
          <a:xfrm>
            <a:off x="8412480" y="4617720"/>
            <a:ext cx="3566160" cy="1371600"/>
          </a:xfrm>
          <a:prstGeom prst="rect">
            <a:avLst/>
          </a:prstGeom>
          <a:noFill/>
          <a:ln/>
        </p:spPr>
        <p:txBody>
          <a:bodyPr wrap="square" lIns="0" tIns="0" rIns="0" bIns="0" rtlCol="0" anchor="t"/>
          <a:lstStyle/>
          <a:p>
            <a:pPr indent="0" marL="0">
              <a:buNone/>
            </a:pPr>
            <a:r>
              <a:rPr lang="en-US" sz="1200" dirty="0">
                <a:solidFill>
                  <a:srgbClr val="E6EDF3"/>
                </a:solidFill>
                <a:latin typeface="Calibri" pitchFamily="34" charset="0"/>
                <a:ea typeface="Calibri" pitchFamily="34" charset="-122"/>
                <a:cs typeface="Calibri" pitchFamily="34" charset="-120"/>
              </a:rPr>
              <a:t>Turn / phase, Q / role, rework ratio, time-to-PASS — visibility cho user</a:t>
            </a:r>
            <a:endParaRPr lang="en-US" sz="1200" dirty="0"/>
          </a:p>
        </p:txBody>
      </p:sp>
      <p:sp>
        <p:nvSpPr>
          <p:cNvPr id="18" name="Text 16"/>
          <p:cNvSpPr/>
          <p:nvPr/>
        </p:nvSpPr>
        <p:spPr>
          <a:xfrm>
            <a:off x="365760" y="6263640"/>
            <a:ext cx="11430000" cy="274320"/>
          </a:xfrm>
          <a:prstGeom prst="rect">
            <a:avLst/>
          </a:prstGeom>
          <a:noFill/>
          <a:ln/>
        </p:spPr>
        <p:txBody>
          <a:bodyPr wrap="square" lIns="0" tIns="0" rIns="0" bIns="0" rtlCol="0" anchor="ctr"/>
          <a:lstStyle/>
          <a:p>
            <a:pPr algn="ctr" indent="0" marL="0">
              <a:buNone/>
            </a:pPr>
            <a:r>
              <a:rPr lang="en-US" sz="1100" i="1" dirty="0">
                <a:solidFill>
                  <a:srgbClr val="8B949E"/>
                </a:solidFill>
                <a:latin typeface="Calibri" pitchFamily="34" charset="0"/>
                <a:ea typeface="Calibri" pitchFamily="34" charset="-122"/>
                <a:cs typeface="Calibri" pitchFamily="34" charset="-120"/>
              </a:rPr>
              <a:t>Đang cân nhắc: SM là 1 pane riêng (pane 10) hay merge vào Orchestrator. Quyết định sau khi thử nghiệm.</a:t>
            </a:r>
            <a:endParaRPr lang="en-US" sz="1100" dirty="0"/>
          </a:p>
        </p:txBody>
      </p:sp>
      <p:sp>
        <p:nvSpPr>
          <p:cNvPr id="19" name="Text 17"/>
          <p:cNvSpPr/>
          <p:nvPr/>
        </p:nvSpPr>
        <p:spPr>
          <a:xfrm>
            <a:off x="11338560" y="6492240"/>
            <a:ext cx="731520" cy="228600"/>
          </a:xfrm>
          <a:prstGeom prst="rect">
            <a:avLst/>
          </a:prstGeom>
          <a:noFill/>
          <a:ln/>
        </p:spPr>
        <p:txBody>
          <a:bodyPr wrap="square" lIns="0" tIns="0" rIns="0" bIns="0" rtlCol="0" anchor="ctr"/>
          <a:lstStyle/>
          <a:p>
            <a:pPr algn="r" indent="0" marL="0">
              <a:buNone/>
            </a:pPr>
            <a:r>
              <a:rPr lang="en-US" sz="900" dirty="0">
                <a:solidFill>
                  <a:srgbClr val="8B949E"/>
                </a:solidFill>
                <a:latin typeface="Consolas" pitchFamily="34" charset="0"/>
                <a:ea typeface="Consolas" pitchFamily="34" charset="-122"/>
                <a:cs typeface="Consolas" pitchFamily="34" charset="-120"/>
              </a:rPr>
              <a:t>31 / 32</a:t>
            </a:r>
            <a:endParaRPr lang="en-US" sz="900" dirty="0"/>
          </a:p>
        </p:txBody>
      </p:sp>
      <p:sp>
        <p:nvSpPr>
          <p:cNvPr id="20" name="Text 18"/>
          <p:cNvSpPr/>
          <p:nvPr/>
        </p:nvSpPr>
        <p:spPr>
          <a:xfrm>
            <a:off x="365760" y="6492240"/>
            <a:ext cx="1097280" cy="228600"/>
          </a:xfrm>
          <a:prstGeom prst="rect">
            <a:avLst/>
          </a:prstGeom>
          <a:noFill/>
          <a:ln/>
        </p:spPr>
        <p:txBody>
          <a:bodyPr wrap="square" lIns="0" tIns="0" rIns="0" bIns="0" rtlCol="0" anchor="ctr"/>
          <a:lstStyle/>
          <a:p>
            <a:pPr algn="l" indent="0" marL="0">
              <a:buNone/>
            </a:pPr>
            <a:r>
              <a:rPr lang="en-US" sz="900" dirty="0">
                <a:solidFill>
                  <a:srgbClr val="8B949E"/>
                </a:solidFill>
                <a:latin typeface="Consolas" pitchFamily="34" charset="0"/>
                <a:ea typeface="Consolas" pitchFamily="34" charset="-122"/>
                <a:cs typeface="Consolas" pitchFamily="34" charset="-120"/>
              </a:rPr>
              <a:t>v10.12</a:t>
            </a:r>
            <a:endParaRPr lang="en-US" sz="900" dirty="0"/>
          </a:p>
        </p:txBody>
      </p:sp>
      <p:sp>
        <p:nvSpPr>
          <p:cNvPr id="21" name="Text 19"/>
          <p:cNvSpPr/>
          <p:nvPr/>
        </p:nvSpPr>
        <p:spPr>
          <a:xfrm>
            <a:off x="4572000" y="6492240"/>
            <a:ext cx="6400800" cy="228600"/>
          </a:xfrm>
          <a:prstGeom prst="rect">
            <a:avLst/>
          </a:prstGeom>
          <a:noFill/>
          <a:ln/>
        </p:spPr>
        <p:txBody>
          <a:bodyPr wrap="square" lIns="0" tIns="0" rIns="0" bIns="0" rtlCol="0" anchor="ctr"/>
          <a:lstStyle/>
          <a:p>
            <a:pPr algn="ctr" indent="0" marL="0">
              <a:buNone/>
            </a:pPr>
            <a:r>
              <a:rPr lang="en-US" sz="900" dirty="0">
                <a:solidFill>
                  <a:srgbClr val="8B949E"/>
                </a:solidFill>
                <a:latin typeface="Consolas" pitchFamily="34" charset="0"/>
                <a:ea typeface="Consolas" pitchFamily="34" charset="-122"/>
                <a:cs typeface="Consolas" pitchFamily="34" charset="-120"/>
              </a:rPr>
              <a:t>Product Engineering Agent Framework</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548640" y="640080"/>
            <a:ext cx="10972800" cy="457200"/>
          </a:xfrm>
          <a:prstGeom prst="rect">
            <a:avLst/>
          </a:prstGeom>
          <a:noFill/>
          <a:ln/>
        </p:spPr>
        <p:txBody>
          <a:bodyPr wrap="square" lIns="0" tIns="0" rIns="0" bIns="0" rtlCol="0" anchor="ctr"/>
          <a:lstStyle/>
          <a:p>
            <a:pPr indent="0" marL="0">
              <a:buNone/>
            </a:pPr>
            <a:r>
              <a:rPr lang="en-US" sz="1700" b="1" dirty="0">
                <a:solidFill>
                  <a:srgbClr val="7CE38B"/>
                </a:solidFill>
                <a:latin typeface="Consolas" pitchFamily="34" charset="0"/>
                <a:ea typeface="Consolas" pitchFamily="34" charset="-122"/>
                <a:cs typeface="Consolas" pitchFamily="34" charset="-120"/>
              </a:rPr>
              <a:t>$ </a:t>
            </a:r>
            <a:pPr indent="0" marL="0">
              <a:buNone/>
            </a:pPr>
            <a:r>
              <a:rPr lang="en-US" sz="1700" dirty="0">
                <a:solidFill>
                  <a:srgbClr val="E6EDF3"/>
                </a:solidFill>
                <a:latin typeface="Consolas" pitchFamily="34" charset="0"/>
                <a:ea typeface="Consolas" pitchFamily="34" charset="-122"/>
                <a:cs typeface="Consolas" pitchFamily="34" charset="-120"/>
              </a:rPr>
              <a:t>git clone </a:t>
            </a:r>
            <a:pPr indent="0" marL="0">
              <a:buNone/>
            </a:pPr>
            <a:r>
              <a:rPr lang="en-US" sz="1700" dirty="0">
                <a:solidFill>
                  <a:srgbClr val="79C0FF"/>
                </a:solidFill>
                <a:latin typeface="Consolas" pitchFamily="34" charset="0"/>
                <a:ea typeface="Consolas" pitchFamily="34" charset="-122"/>
                <a:cs typeface="Consolas" pitchFamily="34" charset="-120"/>
              </a:rPr>
              <a:t>github.com/minhtuan-labs/learning-vault</a:t>
            </a:r>
            <a:endParaRPr lang="en-US" sz="1700" dirty="0"/>
          </a:p>
        </p:txBody>
      </p:sp>
      <p:sp>
        <p:nvSpPr>
          <p:cNvPr id="3" name="Text 1"/>
          <p:cNvSpPr/>
          <p:nvPr/>
        </p:nvSpPr>
        <p:spPr>
          <a:xfrm>
            <a:off x="548640" y="1143000"/>
            <a:ext cx="10972800" cy="457200"/>
          </a:xfrm>
          <a:prstGeom prst="rect">
            <a:avLst/>
          </a:prstGeom>
          <a:noFill/>
          <a:ln/>
        </p:spPr>
        <p:txBody>
          <a:bodyPr wrap="square" lIns="0" tIns="0" rIns="0" bIns="0" rtlCol="0" anchor="ctr"/>
          <a:lstStyle/>
          <a:p>
            <a:pPr indent="0" marL="0">
              <a:buNone/>
            </a:pPr>
            <a:r>
              <a:rPr lang="en-US" sz="1700" b="1" dirty="0">
                <a:solidFill>
                  <a:srgbClr val="7CE38B"/>
                </a:solidFill>
                <a:latin typeface="Consolas" pitchFamily="34" charset="0"/>
                <a:ea typeface="Consolas" pitchFamily="34" charset="-122"/>
                <a:cs typeface="Consolas" pitchFamily="34" charset="-120"/>
              </a:rPr>
              <a:t>$ </a:t>
            </a:r>
            <a:pPr indent="0" marL="0">
              <a:buNone/>
            </a:pPr>
            <a:r>
              <a:rPr lang="en-US" sz="1700" dirty="0">
                <a:solidFill>
                  <a:srgbClr val="E6EDF3"/>
                </a:solidFill>
                <a:latin typeface="Consolas" pitchFamily="34" charset="0"/>
                <a:ea typeface="Consolas" pitchFamily="34" charset="-122"/>
                <a:cs typeface="Consolas" pitchFamily="34" charset="-120"/>
              </a:rPr>
              <a:t>cd learning-vault/frameworks/product-engineering-template</a:t>
            </a:r>
            <a:endParaRPr lang="en-US" sz="1700" dirty="0"/>
          </a:p>
        </p:txBody>
      </p:sp>
      <p:sp>
        <p:nvSpPr>
          <p:cNvPr id="4" name="Text 2"/>
          <p:cNvSpPr/>
          <p:nvPr/>
        </p:nvSpPr>
        <p:spPr>
          <a:xfrm>
            <a:off x="548640" y="1645920"/>
            <a:ext cx="10972800" cy="457200"/>
          </a:xfrm>
          <a:prstGeom prst="rect">
            <a:avLst/>
          </a:prstGeom>
          <a:noFill/>
          <a:ln/>
        </p:spPr>
        <p:txBody>
          <a:bodyPr wrap="square" lIns="0" tIns="0" rIns="0" bIns="0" rtlCol="0" anchor="ctr"/>
          <a:lstStyle/>
          <a:p>
            <a:pPr indent="0" marL="0">
              <a:buNone/>
            </a:pPr>
            <a:r>
              <a:rPr lang="en-US" sz="1700" b="1" dirty="0">
                <a:solidFill>
                  <a:srgbClr val="7CE38B"/>
                </a:solidFill>
                <a:latin typeface="Consolas" pitchFamily="34" charset="0"/>
                <a:ea typeface="Consolas" pitchFamily="34" charset="-122"/>
                <a:cs typeface="Consolas" pitchFamily="34" charset="-120"/>
              </a:rPr>
              <a:t>$ </a:t>
            </a:r>
            <a:pPr indent="0" marL="0">
              <a:buNone/>
            </a:pPr>
            <a:r>
              <a:rPr lang="en-US" sz="1700" dirty="0">
                <a:solidFill>
                  <a:srgbClr val="E6EDF3"/>
                </a:solidFill>
                <a:latin typeface="Consolas" pitchFamily="34" charset="0"/>
                <a:ea typeface="Consolas" pitchFamily="34" charset="-122"/>
                <a:cs typeface="Consolas" pitchFamily="34" charset="-120"/>
              </a:rPr>
              <a:t>bash scripts/start_agents_tmux.sh </a:t>
            </a:r>
            <a:pPr indent="0" marL="0">
              <a:buNone/>
            </a:pPr>
            <a:r>
              <a:rPr lang="en-US" sz="1700" dirty="0">
                <a:solidFill>
                  <a:srgbClr val="79C0FF"/>
                </a:solidFill>
                <a:latin typeface="Consolas" pitchFamily="34" charset="0"/>
                <a:ea typeface="Consolas" pitchFamily="34" charset="-122"/>
                <a:cs typeface="Consolas" pitchFamily="34" charset="-120"/>
              </a:rPr>
              <a:t>my-project</a:t>
            </a:r>
            <a:endParaRPr lang="en-US" sz="1700" dirty="0"/>
          </a:p>
        </p:txBody>
      </p:sp>
      <p:sp>
        <p:nvSpPr>
          <p:cNvPr id="5" name="Text 3"/>
          <p:cNvSpPr/>
          <p:nvPr/>
        </p:nvSpPr>
        <p:spPr>
          <a:xfrm>
            <a:off x="548640" y="2148840"/>
            <a:ext cx="10972800" cy="457200"/>
          </a:xfrm>
          <a:prstGeom prst="rect">
            <a:avLst/>
          </a:prstGeom>
          <a:noFill/>
          <a:ln/>
        </p:spPr>
        <p:txBody>
          <a:bodyPr wrap="square" lIns="0" tIns="0" rIns="0" bIns="0" rtlCol="0" anchor="ctr"/>
          <a:lstStyle/>
          <a:p>
            <a:pPr indent="0" marL="0">
              <a:buNone/>
            </a:pPr>
            <a:r>
              <a:rPr lang="en-US" sz="1700" b="1" dirty="0">
                <a:solidFill>
                  <a:srgbClr val="7CE38B"/>
                </a:solidFill>
                <a:latin typeface="Consolas" pitchFamily="34" charset="0"/>
                <a:ea typeface="Consolas" pitchFamily="34" charset="-122"/>
                <a:cs typeface="Consolas" pitchFamily="34" charset="-120"/>
              </a:rPr>
              <a:t>$ </a:t>
            </a:r>
            <a:pPr indent="0" marL="0">
              <a:buNone/>
            </a:pPr>
            <a:r>
              <a:rPr lang="en-US" sz="1700" dirty="0">
                <a:solidFill>
                  <a:srgbClr val="8B949E"/>
                </a:solidFill>
                <a:latin typeface="Consolas" pitchFamily="34" charset="0"/>
                <a:ea typeface="Consolas" pitchFamily="34" charset="-122"/>
                <a:cs typeface="Consolas" pitchFamily="34" charset="-120"/>
              </a:rPr>
              <a:t># nói với pane 1: "bắt đầu dự án X"</a:t>
            </a:r>
            <a:endParaRPr lang="en-US" sz="1700" dirty="0"/>
          </a:p>
        </p:txBody>
      </p:sp>
      <p:sp>
        <p:nvSpPr>
          <p:cNvPr id="6" name="Shape 4"/>
          <p:cNvSpPr/>
          <p:nvPr/>
        </p:nvSpPr>
        <p:spPr>
          <a:xfrm>
            <a:off x="0" y="3108960"/>
            <a:ext cx="12161520" cy="36576"/>
          </a:xfrm>
          <a:prstGeom prst="rect">
            <a:avLst/>
          </a:prstGeom>
          <a:solidFill>
            <a:srgbClr val="7CE38B"/>
          </a:solidFill>
          <a:ln w="12700">
            <a:solidFill>
              <a:srgbClr val="7CE38B"/>
            </a:solidFill>
            <a:prstDash val="solid"/>
          </a:ln>
        </p:spPr>
      </p:sp>
      <p:sp>
        <p:nvSpPr>
          <p:cNvPr id="7" name="Text 5"/>
          <p:cNvSpPr/>
          <p:nvPr/>
        </p:nvSpPr>
        <p:spPr>
          <a:xfrm>
            <a:off x="548640" y="3474720"/>
            <a:ext cx="10972800" cy="640080"/>
          </a:xfrm>
          <a:prstGeom prst="rect">
            <a:avLst/>
          </a:prstGeom>
          <a:noFill/>
          <a:ln/>
        </p:spPr>
        <p:txBody>
          <a:bodyPr wrap="square" lIns="0" tIns="0" rIns="0" bIns="0" rtlCol="0" anchor="ctr"/>
          <a:lstStyle/>
          <a:p>
            <a:pPr indent="0" marL="0">
              <a:buNone/>
            </a:pPr>
            <a:r>
              <a:rPr lang="en-US" sz="4200" b="1" dirty="0">
                <a:solidFill>
                  <a:srgbClr val="E6EDF3"/>
                </a:solidFill>
                <a:latin typeface="Consolas" pitchFamily="34" charset="0"/>
                <a:ea typeface="Consolas" pitchFamily="34" charset="-122"/>
                <a:cs typeface="Consolas" pitchFamily="34" charset="-120"/>
              </a:rPr>
              <a:t>Cảm ơn đã đọc tới đây.</a:t>
            </a:r>
            <a:endParaRPr lang="en-US" sz="4200" dirty="0"/>
          </a:p>
        </p:txBody>
      </p:sp>
      <p:sp>
        <p:nvSpPr>
          <p:cNvPr id="8" name="Text 6"/>
          <p:cNvSpPr/>
          <p:nvPr/>
        </p:nvSpPr>
        <p:spPr>
          <a:xfrm>
            <a:off x="548640" y="4297680"/>
            <a:ext cx="10972800" cy="1097280"/>
          </a:xfrm>
          <a:prstGeom prst="rect">
            <a:avLst/>
          </a:prstGeom>
          <a:noFill/>
          <a:ln/>
        </p:spPr>
        <p:txBody>
          <a:bodyPr wrap="square" lIns="0" tIns="0" rIns="0" bIns="0" rtlCol="0" anchor="ctr"/>
          <a:lstStyle/>
          <a:p>
            <a:pPr indent="0" marL="0">
              <a:buNone/>
            </a:pPr>
            <a:r>
              <a:rPr lang="en-US" sz="1600" i="1" dirty="0">
                <a:solidFill>
                  <a:srgbClr val="8B949E"/>
                </a:solidFill>
                <a:latin typeface="Calibri" pitchFamily="34" charset="0"/>
                <a:ea typeface="Calibri" pitchFamily="34" charset="-122"/>
                <a:cs typeface="Calibri" pitchFamily="34" charset="-120"/>
              </a:rPr>
              <a:t>Framework này là một dự án nhỏ — phản hồi, issue, PR đều rất welcome.</a:t>
            </a:r>
            <a:endParaRPr lang="en-US" sz="1600" dirty="0"/>
          </a:p>
          <a:p>
            <a:pPr indent="0" marL="0">
              <a:buNone/>
            </a:pPr>
            <a:r>
              <a:rPr lang="en-US" sz="1600" i="1" dirty="0">
                <a:solidFill>
                  <a:srgbClr val="8B949E"/>
                </a:solidFill>
                <a:latin typeface="Calibri" pitchFamily="34" charset="0"/>
                <a:ea typeface="Calibri" pitchFamily="34" charset="-122"/>
                <a:cs typeface="Calibri" pitchFamily="34" charset="-120"/>
              </a:rPr>
              <a:t>Đặc biệt nếu bạn thử với engine khác (aider, goose, codex, gemini-cli…) hoặc model provider khác và gặp gì lạ.</a:t>
            </a:r>
            <a:endParaRPr lang="en-US" sz="1600" dirty="0"/>
          </a:p>
        </p:txBody>
      </p:sp>
      <p:sp>
        <p:nvSpPr>
          <p:cNvPr id="9" name="Shape 7"/>
          <p:cNvSpPr/>
          <p:nvPr/>
        </p:nvSpPr>
        <p:spPr>
          <a:xfrm>
            <a:off x="548640" y="5943600"/>
            <a:ext cx="2286000" cy="292608"/>
          </a:xfrm>
          <a:prstGeom prst="roundRect">
            <a:avLst>
              <a:gd name="adj" fmla="val 18750"/>
            </a:avLst>
          </a:prstGeom>
          <a:solidFill>
            <a:srgbClr val="2EA043"/>
          </a:solidFill>
          <a:ln w="12700">
            <a:solidFill>
              <a:srgbClr val="2EA043"/>
            </a:solidFill>
            <a:prstDash val="solid"/>
          </a:ln>
        </p:spPr>
      </p:sp>
      <p:sp>
        <p:nvSpPr>
          <p:cNvPr id="10" name="Text 8"/>
          <p:cNvSpPr/>
          <p:nvPr/>
        </p:nvSpPr>
        <p:spPr>
          <a:xfrm>
            <a:off x="548640" y="5943600"/>
            <a:ext cx="2286000" cy="292608"/>
          </a:xfrm>
          <a:prstGeom prst="rect">
            <a:avLst/>
          </a:prstGeom>
          <a:noFill/>
          <a:ln/>
        </p:spPr>
        <p:txBody>
          <a:bodyPr wrap="square" lIns="0" tIns="0" rIns="0" bIns="0" rtlCol="0" anchor="ctr"/>
          <a:lstStyle/>
          <a:p>
            <a:pPr algn="ctr" indent="0" marL="0">
              <a:buNone/>
            </a:pPr>
            <a:r>
              <a:rPr lang="en-US" sz="1100" b="1" dirty="0">
                <a:solidFill>
                  <a:srgbClr val="0D1117"/>
                </a:solidFill>
                <a:latin typeface="Consolas" pitchFamily="34" charset="0"/>
                <a:ea typeface="Consolas" pitchFamily="34" charset="-122"/>
                <a:cs typeface="Consolas" pitchFamily="34" charset="-120"/>
              </a:rPr>
              <a:t>MIT License</a:t>
            </a:r>
            <a:endParaRPr lang="en-US" sz="1100" dirty="0"/>
          </a:p>
        </p:txBody>
      </p:sp>
      <p:sp>
        <p:nvSpPr>
          <p:cNvPr id="11" name="Shape 9"/>
          <p:cNvSpPr/>
          <p:nvPr/>
        </p:nvSpPr>
        <p:spPr>
          <a:xfrm>
            <a:off x="2971800" y="5943600"/>
            <a:ext cx="2286000" cy="292608"/>
          </a:xfrm>
          <a:prstGeom prst="roundRect">
            <a:avLst>
              <a:gd name="adj" fmla="val 18750"/>
            </a:avLst>
          </a:prstGeom>
          <a:solidFill>
            <a:srgbClr val="7CE38B"/>
          </a:solidFill>
          <a:ln w="12700">
            <a:solidFill>
              <a:srgbClr val="7CE38B"/>
            </a:solidFill>
            <a:prstDash val="solid"/>
          </a:ln>
        </p:spPr>
      </p:sp>
      <p:sp>
        <p:nvSpPr>
          <p:cNvPr id="12" name="Text 10"/>
          <p:cNvSpPr/>
          <p:nvPr/>
        </p:nvSpPr>
        <p:spPr>
          <a:xfrm>
            <a:off x="2971800" y="5943600"/>
            <a:ext cx="2286000" cy="292608"/>
          </a:xfrm>
          <a:prstGeom prst="rect">
            <a:avLst/>
          </a:prstGeom>
          <a:noFill/>
          <a:ln/>
        </p:spPr>
        <p:txBody>
          <a:bodyPr wrap="square" lIns="0" tIns="0" rIns="0" bIns="0" rtlCol="0" anchor="ctr"/>
          <a:lstStyle/>
          <a:p>
            <a:pPr algn="ctr" indent="0" marL="0">
              <a:buNone/>
            </a:pPr>
            <a:r>
              <a:rPr lang="en-US" sz="1100" b="1" dirty="0">
                <a:solidFill>
                  <a:srgbClr val="0D1117"/>
                </a:solidFill>
                <a:latin typeface="Consolas" pitchFamily="34" charset="0"/>
                <a:ea typeface="Consolas" pitchFamily="34" charset="-122"/>
                <a:cs typeface="Consolas" pitchFamily="34" charset="-120"/>
              </a:rPr>
              <a:t>v10.12</a:t>
            </a:r>
            <a:endParaRPr lang="en-US" sz="1100" dirty="0"/>
          </a:p>
        </p:txBody>
      </p:sp>
      <p:sp>
        <p:nvSpPr>
          <p:cNvPr id="13" name="Shape 11"/>
          <p:cNvSpPr/>
          <p:nvPr/>
        </p:nvSpPr>
        <p:spPr>
          <a:xfrm>
            <a:off x="5394960" y="5943600"/>
            <a:ext cx="2286000" cy="292608"/>
          </a:xfrm>
          <a:prstGeom prst="roundRect">
            <a:avLst>
              <a:gd name="adj" fmla="val 18750"/>
            </a:avLst>
          </a:prstGeom>
          <a:solidFill>
            <a:srgbClr val="79C0FF"/>
          </a:solidFill>
          <a:ln w="12700">
            <a:solidFill>
              <a:srgbClr val="79C0FF"/>
            </a:solidFill>
            <a:prstDash val="solid"/>
          </a:ln>
        </p:spPr>
      </p:sp>
      <p:sp>
        <p:nvSpPr>
          <p:cNvPr id="14" name="Text 12"/>
          <p:cNvSpPr/>
          <p:nvPr/>
        </p:nvSpPr>
        <p:spPr>
          <a:xfrm>
            <a:off x="5394960" y="5943600"/>
            <a:ext cx="2286000" cy="292608"/>
          </a:xfrm>
          <a:prstGeom prst="rect">
            <a:avLst/>
          </a:prstGeom>
          <a:noFill/>
          <a:ln/>
        </p:spPr>
        <p:txBody>
          <a:bodyPr wrap="square" lIns="0" tIns="0" rIns="0" bIns="0" rtlCol="0" anchor="ctr"/>
          <a:lstStyle/>
          <a:p>
            <a:pPr algn="ctr" indent="0" marL="0">
              <a:buNone/>
            </a:pPr>
            <a:r>
              <a:rPr lang="en-US" sz="1100" b="1" dirty="0">
                <a:solidFill>
                  <a:srgbClr val="0D1117"/>
                </a:solidFill>
                <a:latin typeface="Consolas" pitchFamily="34" charset="0"/>
                <a:ea typeface="Consolas" pitchFamily="34" charset="-122"/>
                <a:cs typeface="Consolas" pitchFamily="34" charset="-120"/>
              </a:rPr>
              <a:t>tmux + opencode/claude</a:t>
            </a:r>
            <a:endParaRPr lang="en-US" sz="1100" dirty="0"/>
          </a:p>
        </p:txBody>
      </p:sp>
      <p:sp>
        <p:nvSpPr>
          <p:cNvPr id="15" name="Shape 13"/>
          <p:cNvSpPr/>
          <p:nvPr/>
        </p:nvSpPr>
        <p:spPr>
          <a:xfrm>
            <a:off x="7818120" y="5943600"/>
            <a:ext cx="2286000" cy="292608"/>
          </a:xfrm>
          <a:prstGeom prst="roundRect">
            <a:avLst>
              <a:gd name="adj" fmla="val 18750"/>
            </a:avLst>
          </a:prstGeom>
          <a:solidFill>
            <a:srgbClr val="D2A8FF"/>
          </a:solidFill>
          <a:ln w="12700">
            <a:solidFill>
              <a:srgbClr val="D2A8FF"/>
            </a:solidFill>
            <a:prstDash val="solid"/>
          </a:ln>
        </p:spPr>
      </p:sp>
      <p:sp>
        <p:nvSpPr>
          <p:cNvPr id="16" name="Text 14"/>
          <p:cNvSpPr/>
          <p:nvPr/>
        </p:nvSpPr>
        <p:spPr>
          <a:xfrm>
            <a:off x="7818120" y="5943600"/>
            <a:ext cx="2286000" cy="292608"/>
          </a:xfrm>
          <a:prstGeom prst="rect">
            <a:avLst/>
          </a:prstGeom>
          <a:noFill/>
          <a:ln/>
        </p:spPr>
        <p:txBody>
          <a:bodyPr wrap="square" lIns="0" tIns="0" rIns="0" bIns="0" rtlCol="0" anchor="ctr"/>
          <a:lstStyle/>
          <a:p>
            <a:pPr algn="ctr" indent="0" marL="0">
              <a:buNone/>
            </a:pPr>
            <a:r>
              <a:rPr lang="en-US" sz="1100" b="1" dirty="0">
                <a:solidFill>
                  <a:srgbClr val="0D1117"/>
                </a:solidFill>
                <a:latin typeface="Consolas" pitchFamily="34" charset="0"/>
                <a:ea typeface="Consolas" pitchFamily="34" charset="-122"/>
                <a:cs typeface="Consolas" pitchFamily="34" charset="-120"/>
              </a:rPr>
              <a:t>Tuan M. Pham</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32</Slides>
  <Notes>32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32</vt:i4>
      </vt:variant>
    </vt:vector>
  </HeadingPairs>
  <TitlesOfParts>
    <vt:vector size="3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Product Engineering Agent Framework — Onboarding</dc:title>
  <dc:subject>Multi-agent product engineering on tmux — OpenCode or Claude Code</dc:subject>
  <dc:creator>Tuan M. Pham</dc:creator>
  <cp:lastModifiedBy>Tuan M. Pham</cp:lastModifiedBy>
  <cp:revision>1</cp:revision>
  <dcterms:created xsi:type="dcterms:W3CDTF">2026-05-15T12:30:21Z</dcterms:created>
  <dcterms:modified xsi:type="dcterms:W3CDTF">2026-05-15T12:30:21Z</dcterms:modified>
</cp:coreProperties>
</file>